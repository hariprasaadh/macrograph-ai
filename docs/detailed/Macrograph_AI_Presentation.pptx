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1.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charts/chart2.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4944dd4e-1815-ebe4-21b3-84831e0f017e}">
          <p14:sldIdLst>
            <p14:sldId id="256"/>
            <p14:sldId id="257"/>
            <p14:sldId id="258"/>
            <p14:sldId id="259"/>
            <p14:sldId id="260"/>
          </p14:sldIdLst>
        </p14:section>
        <p14:section name="System design" id="{be367efa-6e74-0bf6-e587-35713cd4548e}">
          <p14:sldIdLst>
            <p14:sldId id="261"/>
            <p14:sldId id="262"/>
            <p14:sldId id="263"/>
            <p14:sldId id="264"/>
            <p14:sldId id="265"/>
          </p14:sldIdLst>
        </p14:section>
        <p14:section name="Causal intelligence" id="{c69616bb-6df9-50da-0a04-5a5a1e73a20d}">
          <p14:sldIdLst>
            <p14:sldId id="266"/>
            <p14:sldId id="267"/>
            <p14:sldId id="268"/>
            <p14:sldId id="269"/>
          </p14:sldIdLst>
        </p14:section>
        <p14:section name="Product and results" id="{590e02c2-0b4d-0c51-33fe-7e4af2a56bf5}">
          <p14:sldIdLst>
            <p14:sldId id="270"/>
            <p14:sldId id="271"/>
            <p14:sldId id="272"/>
            <p14:sldId id="273"/>
          </p14:sldIdLst>
        </p14:section>
        <p14:section name="Outlook" id="{13f8e5ff-d770-7a02-b426-af4897229bac}">
          <p14:sldIdLst>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chemeClr val="tx1"/>
                </a:solidFill>
                <a:latin typeface="+mn-lt"/>
              </a:defRPr>
            </a:pPr>
            <a:r>
              <a:rPr sz="1300" b="0" i="0" u="none" strike="noStrike">
                <a:solidFill>
                  <a:schemeClr val="tx1"/>
                </a:solidFill>
                <a:latin typeface="+mn-lt"/>
              </a:rPr>
              <a:t>Simulated change along the main chain, percentage points (Brent +$20/bbl)</a:t>
            </a:r>
          </a:p>
        </c:rich>
      </c:tx>
      <c:layout/>
      <c:overlay val="0"/>
    </c:title>
    <c:autoTitleDeleted val="0"/>
    <c:plotArea>
      <c:layout/>
      <c:barChart>
        <c:barDir val="col"/>
        <c:grouping val="clustered"/>
        <c:varyColors val="0"/>
        <c:ser>
          <c:idx val="0"/>
          <c:order val="0"/>
          <c:tx>
            <c:strRef>
              <c:f>Sheet1!$B$1</c:f>
              <c:strCache>
                <c:ptCount val="1"/>
                <c:pt idx="0">
                  <c:v>Simulated change (percentage points)</c:v>
                </c:pt>
              </c:strCache>
            </c:strRef>
          </c:tx>
          <c:spPr>
            <a:solidFill>
              <a:srgbClr val="F59E0B"/>
            </a:solidFill>
            <a:effectLst/>
          </c:spPr>
          <c:invertIfNegative val="0"/>
          <c:dLbls>
            <c:numFmt formatCode="+0.00;-0.00" sourceLinked="0"/>
            <c:txPr>
              <a:bodyPr/>
              <a:lstStyle/>
              <a:p>
                <a:pPr>
                  <a:defRPr b="1" i="0" strike="noStrike" sz="1200" u="none">
                    <a:solidFill>
                      <a:schemeClr val="tx1"/>
                    </a:solidFill>
                    <a:latin typeface="+mn-lt"/>
                  </a:defRPr>
                </a:pPr>
              </a:p>
            </c:txPr>
            <c:showLegendKey val="0"/>
            <c:showVal val="1"/>
            <c:showCatName val="0"/>
            <c:showSerName val="0"/>
            <c:showPercent val="0"/>
            <c:showBubbleSize val="0"/>
            <c:showLeaderLines val="0"/>
          </c:dLbls>
          <c:dPt>
            <c:idx val="0"/>
            <c:invertIfNegative val="0"/>
            <c:bubble3D val="0"/>
            <c:spPr>
              <a:solidFill>
                <a:srgbClr val="F59E0B"/>
              </a:solidFill>
              <a:effectLst/>
            </c:spPr>
          </c:dPt>
          <c:dPt>
            <c:idx val="1"/>
            <c:invertIfNegative val="0"/>
            <c:bubble3D val="0"/>
            <c:spPr>
              <a:solidFill>
                <a:srgbClr val="F59E0B"/>
              </a:solidFill>
              <a:effectLst/>
            </c:spPr>
          </c:dPt>
          <c:dPt>
            <c:idx val="2"/>
            <c:invertIfNegative val="0"/>
            <c:bubble3D val="0"/>
            <c:spPr>
              <a:solidFill>
                <a:srgbClr val="F59E0B"/>
              </a:solidFill>
              <a:effectLst/>
            </c:spPr>
          </c:dPt>
          <c:dPt>
            <c:idx val="3"/>
            <c:invertIfNegative val="0"/>
            <c:bubble3D val="0"/>
            <c:spPr>
              <a:solidFill>
                <a:srgbClr val="0F766E"/>
              </a:solidFill>
              <a:effectLst/>
            </c:spPr>
          </c:dPt>
          <c:dPt>
            <c:idx val="4"/>
            <c:invertIfNegative val="0"/>
            <c:bubble3D val="0"/>
            <c:spPr>
              <a:solidFill>
                <a:srgbClr val="0F766E"/>
              </a:solidFill>
              <a:effectLst/>
            </c:spPr>
          </c:dPt>
          <c:dPt>
            <c:idx val="5"/>
            <c:invertIfNegative val="0"/>
            <c:bubble3D val="0"/>
            <c:spPr>
              <a:solidFill>
                <a:srgbClr val="0F766E"/>
              </a:solidFill>
              <a:effectLst/>
            </c:spPr>
          </c:dPt>
          <c:cat>
            <c:multiLvlStrRef>
              <c:f>Sheet1!$A$2:$A$7</c:f>
              <c:multiLvlStrCache>
                <c:ptCount val="6"/>
                <c:lvl>
                  <c:pt idx="0">
                    <c:v>WPI · 1m</c:v>
                  </c:pt>
                  <c:pt idx="1">
                    <c:v>CPI · 3m</c:v>
                  </c:pt>
                  <c:pt idx="2">
                    <c:v>Repo · 4m</c:v>
                  </c:pt>
                  <c:pt idx="3">
                    <c:v>Credit · 7m</c:v>
                  </c:pt>
                  <c:pt idx="4">
                    <c:v>IIP · 9m</c:v>
                  </c:pt>
                  <c:pt idx="5">
                    <c:v>GDP · 10m</c:v>
                  </c:pt>
                </c:lvl>
              </c:multiLvlStrCache>
            </c:multiLvlStrRef>
          </c:cat>
          <c:val>
            <c:numRef>
              <c:f>Sheet1!$B$2:$B$7</c:f>
              <c:numCache>
                <c:formatCode>General</c:formatCode>
                <c:ptCount val="6"/>
                <c:pt idx="0">
                  <c:v>1.57</c:v>
                </c:pt>
                <c:pt idx="1">
                  <c:v>0.78</c:v>
                </c:pt>
                <c:pt idx="2">
                  <c:v>0.41</c:v>
                </c:pt>
                <c:pt idx="3">
                  <c:v>-0.2</c:v>
                </c:pt>
                <c:pt idx="4">
                  <c:v>-0.09</c:v>
                </c:pt>
                <c:pt idx="5">
                  <c:v>-0.05</c:v>
                </c:pt>
              </c:numCache>
            </c:numRef>
          </c:val>
        </c:ser>
        <c:dLbls>
          <c:numFmt formatCode="+0.00;-0.00" sourceLinked="0"/>
          <c:txPr>
            <a:bodyPr/>
            <a:lstStyle/>
            <a:p>
              <a:pPr>
                <a:defRPr b="1" i="0" strike="noStrike" sz="1200" u="none">
                  <a:solidFill>
                    <a:schemeClr val="tx1"/>
                  </a:solidFill>
                  <a:latin typeface="+mn-lt"/>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51607A"/>
            </a:solidFill>
            <a:prstDash val="solid"/>
            <a:round/>
          </a:ln>
        </c:spPr>
        <c:txPr>
          <a:bodyPr/>
          <a:lstStyle/>
          <a:p>
            <a:pPr>
              <a:defRPr sz="1200" b="0" i="0" u="none" strike="noStrike">
                <a:solidFill>
                  <a:schemeClr val="tx2"/>
                </a:solidFill>
                <a:latin typeface="+mn-lt"/>
              </a:defRPr>
            </a:pPr>
            <a:endParaRPr lang="en-US"/>
          </a:p>
        </c:txPr>
        <c:crossAx val="2094734552"/>
        <c:crosses val="autoZero"/>
        <c:auto val="1"/>
        <c:lblAlgn val="ctr"/>
        <c:noMultiLvlLbl val="1"/>
      </c:catAx>
      <c:valAx>
        <c:axId val="2094734552"/>
        <c:scaling>
          <c:orientation val="minMax"/>
          <c:max val="1.9"/>
          <c:min val="-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chemeClr val="tx1"/>
                </a:solidFill>
                <a:latin typeface="+mn-lt"/>
              </a:defRPr>
            </a:pPr>
            <a:r>
              <a:rPr sz="1300" b="0" i="0" u="none" strike="noStrike">
                <a:solidFill>
                  <a:schemeClr val="tx1"/>
                </a:solidFill>
                <a:latin typeface="+mn-lt"/>
              </a:rPr>
              <a:t>Test functions by area (455 in total)</a:t>
            </a:r>
          </a:p>
        </c:rich>
      </c:tx>
      <c:layout/>
      <c:overlay val="0"/>
    </c:title>
    <c:autoTitleDeleted val="0"/>
    <c:plotArea>
      <c:layout/>
      <c:barChart>
        <c:barDir val="bar"/>
        <c:grouping val="clustered"/>
        <c:varyColors val="0"/>
        <c:ser>
          <c:idx val="0"/>
          <c:order val="0"/>
          <c:tx>
            <c:strRef>
              <c:f>Sheet1!$B$1</c:f>
              <c:strCache>
                <c:ptCount val="1"/>
                <c:pt idx="0">
                  <c:v>Test functions</c:v>
                </c:pt>
              </c:strCache>
            </c:strRef>
          </c:tx>
          <c:spPr>
            <a:solidFill>
              <a:srgbClr val="0F766E"/>
            </a:solidFill>
            <a:effectLst/>
          </c:spPr>
          <c:invertIfNegative val="0"/>
          <c:dLbls>
            <c:numFmt formatCode="#,##0" sourceLinked="0"/>
            <c:txPr>
              <a:bodyPr/>
              <a:lstStyle/>
              <a:p>
                <a:pPr>
                  <a:defRPr b="0" i="0" strike="noStrike" sz="1100" u="none">
                    <a:solidFill>
                      <a:schemeClr val="tx1"/>
                    </a:solidFill>
                    <a:latin typeface="+mn-lt"/>
                  </a:defRPr>
                </a:pPr>
              </a:p>
            </c:txPr>
            <c:showLegendKey val="0"/>
            <c:showVal val="1"/>
            <c:showCatName val="0"/>
            <c:showSerName val="0"/>
            <c:showPercent val="0"/>
            <c:showBubbleSize val="0"/>
            <c:showLeaderLines val="0"/>
          </c:dLbls>
          <c:cat>
            <c:multiLvlStrRef>
              <c:f>Sheet1!$A$2:$A$11</c:f>
              <c:multiLvlStrCache>
                <c:ptCount val="10"/>
                <c:lvl>
                  <c:pt idx="0">
                    <c:v>Core and cross-cutting</c:v>
                  </c:pt>
                  <c:pt idx="1">
                    <c:v>Agriculture</c:v>
                  </c:pt>
                  <c:pt idx="2">
                    <c:v>External</c:v>
                  </c:pt>
                  <c:pt idx="3">
                    <c:v>Monetary</c:v>
                  </c:pt>
                  <c:pt idx="4">
                    <c:v>Services</c:v>
                  </c:pt>
                  <c:pt idx="5">
                    <c:v>Finance</c:v>
                  </c:pt>
                  <c:pt idx="6">
                    <c:v>Capital markets</c:v>
                  </c:pt>
                  <c:pt idx="7">
                    <c:v>Fiscal</c:v>
                  </c:pt>
                  <c:pt idx="8">
                    <c:v>Labour</c:v>
                  </c:pt>
                  <c:pt idx="9">
                    <c:v>Real</c:v>
                  </c:pt>
                </c:lvl>
              </c:multiLvlStrCache>
            </c:multiLvlStrRef>
          </c:cat>
          <c:val>
            <c:numRef>
              <c:f>Sheet1!$B$2:$B$11</c:f>
              <c:numCache>
                <c:formatCode>General</c:formatCode>
                <c:ptCount val="10"/>
                <c:pt idx="0">
                  <c:v>198</c:v>
                </c:pt>
                <c:pt idx="1">
                  <c:v>48</c:v>
                </c:pt>
                <c:pt idx="2">
                  <c:v>45</c:v>
                </c:pt>
                <c:pt idx="3">
                  <c:v>43</c:v>
                </c:pt>
                <c:pt idx="4">
                  <c:v>33</c:v>
                </c:pt>
                <c:pt idx="5">
                  <c:v>32</c:v>
                </c:pt>
                <c:pt idx="6">
                  <c:v>27</c:v>
                </c:pt>
                <c:pt idx="7">
                  <c:v>15</c:v>
                </c:pt>
                <c:pt idx="8">
                  <c:v>7</c:v>
                </c:pt>
                <c:pt idx="9">
                  <c:v>7</c:v>
                </c:pt>
              </c:numCache>
            </c:numRef>
          </c:val>
        </c:ser>
        <c:dLbls>
          <c:numFmt formatCode="#,##0" sourceLinked="0"/>
          <c:txPr>
            <a:bodyPr/>
            <a:lstStyle/>
            <a:p>
              <a:pPr>
                <a:defRPr b="0" i="0" strike="noStrike" sz="1100" u="none">
                  <a:solidFill>
                    <a:schemeClr val="tx1"/>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150" b="0" i="0" u="none" strike="noStrike">
                <a:solidFill>
                  <a:schemeClr val="tx2"/>
                </a:solidFill>
                <a:latin typeface="+mn-lt"/>
              </a:defRPr>
            </a:pPr>
            <a:endParaRPr lang="en-US"/>
          </a:p>
        </c:txPr>
        <c:crossAx val="2094734552"/>
        <c:crosses val="autoZero"/>
        <c:auto val="1"/>
        <c:lblAlgn val="ctr"/>
        <c:noMultiLvlLbl val="1"/>
      </c:catAx>
      <c:valAx>
        <c:axId val="2094734552"/>
        <c:scaling>
          <c:orientation val="minMax"/>
          <c:max val="23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We are Hariprasaadh K, SJ Arulprasaad and Nithish Kumar C S, guided by Dr. Tulasi Prasad Sariki, and our project is Macrograph AI: a multi-agent platform that answers questions about the Indian economy under one rule, no source, no answer. The graphic on the right is the real topology of the system: a LangGraph orchestrator that delegates to ten sector agents, and, in gold, the seven agent-to-agent peer edges that the protocol allows between sectors. Everything else is refused. In the next twenty minutes we will cover the problem, the design, the causal model, the product, what we measured, and what is still open.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for the review. We start with the problem and what the literature leaves open, and turn that into seven objectives. Then the system design: the ten sector agents, the layered architecture, the technology stack, the orchestrator and the agent-to-agent trust layer. The third part is the causal side: the knowledge graph, the scenario engine, the Causal Lab and the claim verification engine. Then we show the product, the measured results and our key contributions with a sample cited answer, and close with the conclusion and the bibliography. One rule runs through all of it: no source, no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one realistic question: how will a twenty-dollar rise in Brent crude travel through Indian inflation, interest rates and growth? To answer it, an analyst reads MoSPI for CPI and GDP, RBI DBIE for the repo rate and credit, CGA for fiscal data, DGCI&amp;S for trade, the exchanges for markets, and IMD and Agmarknet for the monsoon and food prices. Each publishes differently. Language models make this look easy, but they can produce a CPI number that exists in no release. If several agents fetch the same indicator independently they can disagree inside one answer. And the real question is about transmission across sectors, which no single series explains.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seven reference papers fall into two groups. LLM agents for economics and finance: Hao and Xie simulate heterogeneous households with several language models, Lin and colleagues simulate survey respondents, and TradingAgents models a trading firm with specialised roles. Knowledge graphs and retrieval: Yang and colleagues build a macro graph from literature, KG2RAG expands retrieval with a graph, the metadata RAG paper works on filings, and Kato's AI Economist grounds narratives in model runs, the closest work to ours, but for the U.S. Four gaps remain for our setting: nobody assigns an owner to each indicator, graph edges are not graded by evidence, numbers are not machine-checked, and Indian official sources are not covered.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gaps became seven objectives. O1, one data server and store per sector backed by official sources. O2, a typed agent-to-agent protocol with discovery, routing, loop protection and tracing. O3, answers grounded in sources, enforced by the protocol itself. O4, an explicit causal model of how shocks move between indicators. O5, full provenance on every observation. O6, research instruments that let us test the model against data. O7, an interface people can actually use. One rule governs all of them: no source, no answer. If a value cannot be retrieved, the system says it is unavailable instead of estimating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system decomposes the economy into ten sector agents. Each one owns its indicators: Prices owns CPI and WPI, Monetary owns the repo rate and M3, Finance owns bank credit and NPAs, Real owns GDP and IIP, and so on. Ownership means no other agent recomputes that number; if Fiscal needs CPI it must ask Prices. Each agent reads its own sources through its own FastMCP server: MoSPI's e-Sankhyiki server, RBI DBIE tables, CGA, DGCI&amp;S, yfinance and others. Three rules keep this clean: agents talk to each other only over A2A, data arrives only through MCP, and sector packages never import one another.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layered architecture, top to bottom. The React web app talks to a FastAPI gateway that streams chat over server-sent events. A LangGraph orchestrator with four nodes decomposes the question, delegates, enriches with the causal graph and synthesises. Beside it sits the causal intelligence layer: the knowledge graph, the scenario engine, the research lab, the daily brief and the claim verification library. The two teal bands are the key design decision. The A2A layer carries only reasoning between agents; the data layer carries only data, through one FastMCP server per sector backed by DuckDB stores. An agent never fetches another agent's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whole platform runs on open, typed tooling. LangGraph drives the four-node orchestrator. The agent-to-agent layer is our own implementation shaped after the A2A specification, with strict Pydantic envelopes. Each sector exposes its data through a FastMCP tool server, and FastAPI serves both REST and the streaming chat. DuckDB holds the sector and canonical stores, SQLite the claim audits. NetworkX and statsmodels power the graph queries and Granger tests. Language models come from Groq, the gpt-oss 20B and 120B models, and every stage has a deterministic offline fallback, so the system still answers without a key. The frontend is React with strict TypeScript. The engineering rules on the bottom line are enforced across the codebase.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orchestrator is a four-node LangGraph state graph. Decompose scores every Agent Card against the question; a language model is consulted only if no card matches, and its choice is intersected with registered agents. Delegate sends one sector_analysis request per agent concurrently, with at most one bounded follow-up round. Enrich finds shortest transmission paths between the observed indicators and can run a shock. Synthesise writes the report: an indicator matrix with provenance hashes, a causal diagram, path and scenario tables and a source table. In the worked run, a crude-oil question returned live CPI of 5.54 percent from MoSPI and a repo rate of 5.25 percent, reported M3 as unavailable instead of guessing, found three graph paths, and finished in about eleven seconds without an LLM key. Single-sector questions skip all of this and go straight to the owning agent.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Trust is enforced in code, not left to prompts. Every A2A request passes six checks in the server: loop guards limit depth to five and a conversation to twenty-five requests and reject cycles and duplicates; sector-to-sector calls are allowed only along seven declared edges, shown on the right; the task must appear in the receiver's Agent Card; envelopes are strict Pydantic models; requests time out; and, most importantly, a successful reply that carries no sources is rejected as an invalid response. That is No Source, No Answer at protocol level. Below the A2A layer, every value comes through MCP: live from the official source, else a cached snapshot tagged as cached, else a structured unavailable status, never an estimate.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causal layer is a knowledge graph of twenty canonical indicators and twelve directed transmission edges. The main chain reads left to right: Brent crude to wholesale prices, to CPI, to the repo rate, to bank credit, to industrial production and GDP, with branches to the trade balance, the rupee and Bank NIFTY, and separate chains for the monsoon and for public capital expenditure. Every edge carries a stable identifier, a lag in months, a sign, a confidence, a mechanism and its stated assumptions, and is typed on a five-tier evidence scale from economic theory up to a structural causal model. The ontology validates itself on load, NetworkX answers path and impact queries, and the graph can be mirrored to Neo4j. Five more indicators are already registered as nodes, ready for new edges.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Scenarios propagate along the graph. For each hop the signal is multiplied by the edge sign, a per-hop attenuation of 0.55 and the edge confidence, and a global scale of 0.15 turns it into a change. For the first hop, twenty dollars times 0.55 times 0.95 times 0.15 gives plus 1.57 on WPI. The chart follows the main chain: WPI rises 1.57 points after one month, CPI 0.78 after three, the repo rate 0.41 after four, and then credit, industrial production and GDP ease slightly, while path confidence moves from 0.95 to 0.57 over six hops. Because every hop is explicit, an analyst can see exactly where each number comes from, and every output is labelled as simulated. Inside the orchestrator, live observations replace the default baselines, so the live CPI of 5.54 percent gives a simulated peak of 6.32 percent.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Causal Lab lets analysts explore the model interactively, and every value in it is labelled as simulated or cached. Path finds the shortest transmission route between any two indicators. Shockwave, on the left, animates a shock month by month; here it is Brent crude plus twenty. Twin compares the base and shocked worlds and attributes the change to each hop. On the right, the MPC tab simulates a six-seat monetary policy committee with a deterministic rule baseline and optional LLM personas; in this run it voted four to two to hold, matching the rule. Radar flags unusual readings and checks whether connected indicators moved as well, and Edge audit grades each edge with Granger tests on live official series.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Grounding a model in retrieved data does not prove that the number it writes equals the retrieved one. Our claim verification engine closes that gap. Evidence is snapshotted with content-addressed identifiers. The server and the model may only propose typed claims, never free text. Every numerical claim is recomputed with Decimal arithmetic at the precision shown to the reader, and only verified wording is rendered; everything else is withheld and kept in an append-only, replayable audit. The table shows the five outcomes a claim can have, and focused tests cover the arithmetic, scope checks, negated quotations and exact audit replay.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product, not a mock-up; these are screenshots of the running application. The dashboard combines a live ticker, an early-warning brief and sector tabs, and every KPI states the table and period it came from. The finance tab reads RBI DBIE tables directly: non-food credit, gross NPAs, capital adequacy and provision coverage. The A2A registry lists each agent's card with its skills, the tasks it answers and the peer edges it may use. The app also has a streaming chat that shows the live A2A call tree for each answer, an evidence drawer, a knowledge-graph explorer, Google sign-in and a command palette.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what we measured. The full run of all ten sector test suites passed 550 of 551 cases from 455 test functions. A cross-sector crude-oil question returned a fully cited report with live official data in about eleven seconds, running in deterministic mode without any LLM key. The code base is about 49 thousand lines of Python and TypeScript, and all ten sector agents are registered and routable through their Agent Cards. On the research side, the anomaly radar scanned 18 series and classified a trade-balance reading from August 2024 as an isolated anomaly, and the simulated committee voted four to two to hold, in agreement with the rule baseline.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five contributions we want the panel to take away. First, ownership-enforced agents: every indicator has exactly one owner, and other agents can only obtain it over the seven declared agent-to-agent edges. Second, provenance enforced by the protocol itself: the A2A server refuses any successful reply that carries no source record. Third, an evidence-typed causal graph: twelve edges on a five-tier taxonomy, each with a stable identifier, lag, sign and confidence, plus an automated evidence audit. Fourth, deterministic claim verification, which recomputes typed numerical claims in Decimal arithmetic against content-addressed evidence. Fifth, end-to-end coverage of official Indian data through ten FastMCP servers. On the right is what keeps the platform reliable: a live, cached, unavailable data chain, a deterministic offline mode, and a full trace of every agent call, all backed by 550 passing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what a cited answer actually looks like, taken from the end-to-end run of the crude-oil question on 12 October 2026. The indicator matrix lists every observation with its canonical identifier, value, period, source and a provenance hash: CPI at 5.54 percent for September 2026 from the National Statistics Office, MoSPI, and the repo rate at 5.25 percent from RBI DBIE. The scenario table shows the Brent shock with live baselines: CPI moves from 5.54 to a simulated 6.32, and the repo rate from 5.25 to 5.66, each with its lag and band. The source provenance table records which agent fetched what and exactly when. On the right are the sections every orchestrator report contains, produced end to end in about eleven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conclude: all seven objectives are delivered. Macrograph AI is a complete, tested platform in which each number has one owner agent, travels with its official source, and is explained through a causal graph of the Indian economy, from crude oil to GDP. The next steps are to verify every claim before it is shown, estimate the causal edges from long official series, and benchmark the system against strong baselines. Thank you; we are happy to take questions and can show the live application.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main references behind the work: the two protocols we build on, MCP and A2A; the LLM-agent and knowledge-graph papers we compared ourselves with; the RAG and hallucination literature that motivates claim verification; the econometric methods we use and plan to use, Granger causality, local projections and false-discovery-rate control; and the official data services from MoSPI and the Reserve Bank of India. The complete list of thirty-one sources is in the project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MG_TITLE">
    <p:bg>
      <p:bgPr>
        <a:solidFill>
          <a:schemeClr val="tx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1143000" y="1591056"/>
            <a:ext cx="5303520" cy="365760"/>
          </a:xfrm>
          <a:prstGeom prst="rect">
            <a:avLst/>
          </a:prstGeom>
          <a:noFill/>
          <a:ln/>
        </p:spPr>
        <p:txBody>
          <a:bodyPr wrap="square" rtlCol="0"/>
          <a:lstStyle>
            <a:lvl1pPr indent="0" marL="0">
              <a:buNone/>
              <a:defRPr lang="en-US" sz="1200" b="1" dirty="0">
                <a:solidFill>
                  <a:schemeClr val="accent6"/>
                </a:solidFill>
              </a:defRPr>
            </a:lvl1pPr>
          </a:lstStyle>
          <a:p>
            <a:pPr indent="0" marL="0">
              <a:buNone/>
            </a:pPr>
            <a:endParaRPr lang="en-US" sz="1200" dirty="0"/>
          </a:p>
        </p:txBody>
      </p:sp>
      <p:sp>
        <p:nvSpPr>
          <p:cNvPr id="3" name="Text 0"/>
          <p:cNvSpPr/>
          <p:nvPr>
            <p:ph idx="101" type="title" hasCustomPrompt="1"/>
          </p:nvPr>
        </p:nvSpPr>
        <p:spPr>
          <a:xfrm>
            <a:off x="640080" y="2084832"/>
            <a:ext cx="5852160" cy="1005840"/>
          </a:xfrm>
          <a:prstGeom prst="rect">
            <a:avLst/>
          </a:prstGeom>
          <a:noFill/>
          <a:ln/>
        </p:spPr>
        <p:txBody>
          <a:bodyPr wrap="square" rtlCol="0"/>
          <a:lstStyle>
            <a:lvl1pPr algn="l" indent="0" marL="0">
              <a:buNone/>
              <a:defRPr lang="en-US" sz="6000" b="1" dirty="0">
                <a:solidFill>
                  <a:schemeClr val="bg1"/>
                </a:solidFill>
              </a:defRPr>
            </a:lvl1pPr>
          </a:lstStyle>
          <a:p>
            <a:pPr algn="l" indent="0" marL="0">
              <a:buNone/>
            </a:pPr>
            <a:endParaRPr lang="en-US" sz="6000" dirty="0"/>
          </a:p>
        </p:txBody>
      </p:sp>
      <p:sp>
        <p:nvSpPr>
          <p:cNvPr id="4" name="Text 0"/>
          <p:cNvSpPr/>
          <p:nvPr>
            <p:ph idx="102" type="body" hasCustomPrompt="1"/>
          </p:nvPr>
        </p:nvSpPr>
        <p:spPr>
          <a:xfrm>
            <a:off x="640080" y="3154680"/>
            <a:ext cx="5760720" cy="822960"/>
          </a:xfrm>
          <a:prstGeom prst="rect">
            <a:avLst/>
          </a:prstGeom>
          <a:noFill/>
          <a:ln/>
        </p:spPr>
        <p:txBody>
          <a:bodyPr wrap="square" rtlCol="0"/>
          <a:lstStyle>
            <a:lvl1pPr indent="0" marL="0">
              <a:buNone/>
              <a:defRPr lang="en-US" sz="1800" dirty="0">
                <a:solidFill>
                  <a:schemeClr val="bg1"/>
                </a:solidFill>
              </a:defRPr>
            </a:lvl1pPr>
          </a:lstStyle>
          <a:p>
            <a:pPr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MG_CONTENT">
    <p:bg>
      <p:bgPr>
        <a:solidFill>
          <a:schemeClr val="bg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rtlCol="0"/>
          <a:lstStyle>
            <a:lvl1pPr indent="0" marL="0">
              <a:buNone/>
              <a:defRPr lang="en-US" sz="1200" b="1" dirty="0">
                <a:solidFill>
                  <a:schemeClr val="accent1"/>
                </a:solidFill>
              </a:defRPr>
            </a:lvl1pPr>
          </a:lstStyle>
          <a:p>
            <a:pPr indent="0" marL="0">
              <a:buNone/>
            </a:pPr>
            <a:endParaRPr lang="en-US" sz="1200" dirty="0"/>
          </a:p>
        </p:txBody>
      </p:sp>
      <p:sp>
        <p:nvSpPr>
          <p:cNvPr id="3" name="Text 0"/>
          <p:cNvSpPr/>
          <p:nvPr>
            <p:ph idx="101" type="title" hasCustomPrompt="1"/>
          </p:nvPr>
        </p:nvSpPr>
        <p:spPr>
          <a:xfrm>
            <a:off x="548640" y="676656"/>
            <a:ext cx="11094415" cy="713232"/>
          </a:xfrm>
          <a:prstGeom prst="rect">
            <a:avLst/>
          </a:prstGeom>
          <a:noFill/>
          <a:ln/>
        </p:spPr>
        <p:txBody>
          <a:bodyPr wrap="square" rtlCol="0"/>
          <a:lstStyle>
            <a:lvl1pPr algn="l" indent="0" marL="0">
              <a:buNone/>
              <a:defRPr lang="en-US" sz="3600" b="1" dirty="0">
                <a:solidFill>
                  <a:schemeClr val="tx1"/>
                </a:solidFill>
              </a:defRPr>
            </a:lvl1pPr>
          </a:lstStyle>
          <a:p>
            <a:pPr algn="l" indent="0" marL="0">
              <a:buNone/>
            </a:pPr>
            <a:endParaRPr lang="en-US" sz="3600" dirty="0"/>
          </a:p>
        </p:txBody>
      </p:sp>
      <p:sp>
        <p:nvSpPr>
          <p:cNvPr id="4" name="Text 0"/>
          <p:cNvSpPr/>
          <p:nvPr/>
        </p:nvSpPr>
        <p:spPr>
          <a:xfrm>
            <a:off x="548640" y="6446520"/>
            <a:ext cx="6400800" cy="228600"/>
          </a:xfrm>
          <a:prstGeom prst="rect">
            <a:avLst/>
          </a:prstGeom>
          <a:noFill/>
          <a:ln/>
        </p:spPr>
        <p:txBody>
          <a:bodyPr wrap="square" lIns="0" tIns="0" rIns="0" bIns="0" rtlCol="0" anchor="t"/>
          <a:lstStyle/>
          <a:p>
            <a:pPr indent="0" marL="0">
              <a:buNone/>
            </a:pPr>
            <a:r>
              <a:rPr lang="en-US" sz="1000" dirty="0">
                <a:solidFill>
                  <a:schemeClr val="tx2"/>
                </a:solidFill>
              </a:rPr>
              <a:t>Macrograph AI  ·  BCSE497J Project 1  ·  VIT Chennai</a:t>
            </a:r>
            <a:endParaRPr lang="en-US" sz="1000" dirty="0"/>
          </a:p>
        </p:txBody>
      </p:sp>
      <p:sp>
        <p:nvSpPr>
          <p:cNvPr id="25" name="Slide Number Placeholder 0"/>
          <p:cNvSpPr>
            <a:spLocks noGrp="1"/>
          </p:cNvSpPr>
          <p:nvPr>
            <p:ph type="sldNum" sz="quarter" idx="4294967295"/>
          </p:nvPr>
        </p:nvSpPr>
        <p:spPr>
          <a:xfrm>
            <a:off x="11091672" y="6446520"/>
            <a:ext cx="548640" cy="22860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51607A"/>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MG_DARK">
    <p:bg>
      <p:bgPr>
        <a:solidFill>
          <a:schemeClr val="tx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rtlCol="0"/>
          <a:lstStyle>
            <a:lvl1pPr indent="0" marL="0">
              <a:buNone/>
              <a:defRPr lang="en-US" sz="1200" b="1" dirty="0">
                <a:solidFill>
                  <a:schemeClr val="accent6"/>
                </a:solidFill>
              </a:defRPr>
            </a:lvl1pPr>
          </a:lstStyle>
          <a:p>
            <a:pPr indent="0" marL="0">
              <a:buNone/>
            </a:pPr>
            <a:endParaRPr lang="en-US" sz="1200" dirty="0"/>
          </a:p>
        </p:txBody>
      </p:sp>
      <p:sp>
        <p:nvSpPr>
          <p:cNvPr id="3" name="Text 0"/>
          <p:cNvSpPr/>
          <p:nvPr>
            <p:ph idx="101" type="title" hasCustomPrompt="1"/>
          </p:nvPr>
        </p:nvSpPr>
        <p:spPr>
          <a:xfrm>
            <a:off x="548640" y="676656"/>
            <a:ext cx="11094415" cy="713232"/>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
        <p:nvSpPr>
          <p:cNvPr id="4" name="Text 0"/>
          <p:cNvSpPr/>
          <p:nvPr/>
        </p:nvSpPr>
        <p:spPr>
          <a:xfrm>
            <a:off x="548640" y="6446520"/>
            <a:ext cx="6400800" cy="228600"/>
          </a:xfrm>
          <a:prstGeom prst="rect">
            <a:avLst/>
          </a:prstGeom>
          <a:noFill/>
          <a:ln/>
        </p:spPr>
        <p:txBody>
          <a:bodyPr wrap="square" lIns="0" tIns="0" rIns="0" bIns="0" rtlCol="0" anchor="t"/>
          <a:lstStyle/>
          <a:p>
            <a:pPr indent="0" marL="0">
              <a:buNone/>
            </a:pPr>
            <a:r>
              <a:rPr lang="en-US" sz="1000" dirty="0">
                <a:solidFill>
                  <a:schemeClr val="bg1">
                    <a:alpha val="55000"/>
                  </a:schemeClr>
                </a:solidFill>
              </a:rPr>
              <a:t>Macrograph AI  ·  BCSE497J Project 1  ·  VIT Chennai</a:t>
            </a:r>
            <a:endParaRPr lang="en-US" sz="1000" dirty="0"/>
          </a:p>
        </p:txBody>
      </p:sp>
      <p:sp>
        <p:nvSpPr>
          <p:cNvPr id="25" name="Slide Number Placeholder 0"/>
          <p:cNvSpPr>
            <a:spLocks noGrp="1"/>
          </p:cNvSpPr>
          <p:nvPr>
            <p:ph type="sldNum" sz="quarter" idx="4294967295"/>
          </p:nvPr>
        </p:nvSpPr>
        <p:spPr>
          <a:xfrm>
            <a:off x="11091672" y="6446520"/>
            <a:ext cx="548640" cy="22860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FFFFFF"/>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46520"/>
            <a:ext cx="548640" cy="22860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51607A"/>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1-7.png"/><Relationship Id="rId8" Type="http://schemas.openxmlformats.org/officeDocument/2006/relationships/image" Target="../media/image-1-8.png"/><Relationship Id="rId9" Type="http://schemas.openxmlformats.org/officeDocument/2006/relationships/image" Target="../media/image-1-9.png"/><Relationship Id="rId10" Type="http://schemas.openxmlformats.org/officeDocument/2006/relationships/image" Target="../media/image-1-10.png"/><Relationship Id="rId11" Type="http://schemas.openxmlformats.org/officeDocument/2006/relationships/image" Target="../media/image-1-11.png"/><Relationship Id="rId12" Type="http://schemas.openxmlformats.org/officeDocument/2006/relationships/image" Target="../media/image-1-12.png"/><Relationship Id="rId13" Type="http://schemas.openxmlformats.org/officeDocument/2006/relationships/image" Target="../media/image-1-13.png"/><Relationship Id="rId14" Type="http://schemas.openxmlformats.org/officeDocument/2006/relationships/image" Target="../media/image-1-14.png"/><Relationship Id="rId15" Type="http://schemas.openxmlformats.org/officeDocument/2006/relationships/slideLayout" Target="../slideLayouts/slideLayout2.xml"/><Relationship Id="rId1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3.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3.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slideLayout" Target="../slideLayouts/slideLayout3.xml"/><Relationship Id="rId10"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image" Target="../media/image-6-8.png"/><Relationship Id="rId9" Type="http://schemas.openxmlformats.org/officeDocument/2006/relationships/image" Target="../media/image-6-9.png"/><Relationship Id="rId10" Type="http://schemas.openxmlformats.org/officeDocument/2006/relationships/image" Target="../media/image-6-10.png"/><Relationship Id="rId11" Type="http://schemas.openxmlformats.org/officeDocument/2006/relationships/image" Target="../media/image-6-11.png"/><Relationship Id="rId12" Type="http://schemas.openxmlformats.org/officeDocument/2006/relationships/image" Target="../media/image-6-12.png"/><Relationship Id="rId13" Type="http://schemas.openxmlformats.org/officeDocument/2006/relationships/image" Target="../media/image-6-13.png"/><Relationship Id="rId14" Type="http://schemas.openxmlformats.org/officeDocument/2006/relationships/slideLayout" Target="../slideLayouts/slideLayout3.xml"/><Relationship Id="rId1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slideLayout" Target="../slideLayouts/slideLayout3.xml"/><Relationship Id="rId9"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slideLayout" Target="../slideLayouts/slideLayout3.xml"/><Relationship Id="rId10"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3.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image-12-1.png"/><Relationship Id="rId3" Type="http://schemas.openxmlformats.org/officeDocument/2006/relationships/slideLayout" Target="../slideLayouts/slideLayout3.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3.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slideLayout" Target="../slideLayouts/slideLayout3.xml"/><Relationship Id="rId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4.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image" Target="../media/image-16-1.png"/><Relationship Id="rId3" Type="http://schemas.openxmlformats.org/officeDocument/2006/relationships/image" Target="../media/image-16-2.png"/><Relationship Id="rId4" Type="http://schemas.openxmlformats.org/officeDocument/2006/relationships/slideLayout" Target="../slideLayouts/slideLayout3.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slideLayout" Target="../slideLayouts/slideLayout3.xml"/><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4.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card-1"/>
          <p:cNvSpPr/>
          <p:nvPr/>
        </p:nvSpPr>
        <p:spPr>
          <a:xfrm>
            <a:off x="640080" y="502920"/>
            <a:ext cx="2011680" cy="713232"/>
          </a:xfrm>
          <a:prstGeom prst="roundRect">
            <a:avLst>
              <a:gd name="adj" fmla="val 10256"/>
            </a:avLst>
          </a:prstGeom>
          <a:solidFill>
            <a:schemeClr val="bg1"/>
          </a:solidFill>
          <a:ln/>
        </p:spPr>
      </p:sp>
      <p:pic>
        <p:nvPicPr>
          <p:cNvPr id="3" name="vit-logo" descr="Vellore Institute of Technology, Chennai">    </p:cNvPr>
          <p:cNvPicPr>
            <a:picLocks noChangeAspect="1"/>
          </p:cNvPicPr>
          <p:nvPr/>
        </p:nvPicPr>
        <p:blipFill>
          <a:blip r:embed="rId1"/>
          <a:stretch>
            <a:fillRect/>
          </a:stretch>
        </p:blipFill>
        <p:spPr>
          <a:xfrm>
            <a:off x="749808" y="561442"/>
            <a:ext cx="1792224" cy="597103"/>
          </a:xfrm>
          <a:prstGeom prst="rect">
            <a:avLst/>
          </a:prstGeom>
        </p:spPr>
      </p:pic>
      <p:pic>
        <p:nvPicPr>
          <p:cNvPr id="4" name="logo-mark" descr="Macrograph AI logo mark">    </p:cNvPr>
          <p:cNvPicPr>
            <a:picLocks noChangeAspect="1"/>
          </p:cNvPicPr>
          <p:nvPr/>
        </p:nvPicPr>
        <p:blipFill>
          <a:blip r:embed="rId2"/>
          <a:stretch>
            <a:fillRect/>
          </a:stretch>
        </p:blipFill>
        <p:spPr>
          <a:xfrm>
            <a:off x="640080" y="1581912"/>
            <a:ext cx="384048" cy="384048"/>
          </a:xfrm>
          <a:prstGeom prst="rect">
            <a:avLst/>
          </a:prstGeom>
        </p:spPr>
      </p:pic>
      <p:sp>
        <p:nvSpPr>
          <p:cNvPr id="5" name="Text 0"/>
          <p:cNvSpPr/>
          <p:nvPr>
            <p:ph idx="100" type="body" hasCustomPrompt="1"/>
          </p:nvPr>
        </p:nvSpPr>
        <p:spPr>
          <a:xfrm>
            <a:off x="1143000" y="1591056"/>
            <a:ext cx="5303520" cy="365760"/>
          </a:xfrm>
          <a:prstGeom prst="rect">
            <a:avLst/>
          </a:prstGeom>
          <a:noFill/>
          <a:ln/>
        </p:spPr>
        <p:txBody>
          <a:bodyPr wrap="square" lIns="0" tIns="0" rIns="0" bIns="0" rtlCol="0" anchor="ctr"/>
          <a:lstStyle/>
          <a:p>
            <a:pPr indent="0" marL="0">
              <a:buNone/>
            </a:pPr>
            <a:r>
              <a:rPr lang="en-US" sz="1200" b="1" spc="200" kern="0" dirty="0">
                <a:solidFill>
                  <a:schemeClr val="accent6"/>
                </a:solidFill>
              </a:rPr>
              <a:t>B.TECH CSE (AI &amp; ML)  ·  BCSE497J – PROJECT 1</a:t>
            </a:r>
            <a:endParaRPr lang="en-US" sz="1200" dirty="0"/>
          </a:p>
        </p:txBody>
      </p:sp>
      <p:sp>
        <p:nvSpPr>
          <p:cNvPr id="6" name="Text 0"/>
          <p:cNvSpPr/>
          <p:nvPr>
            <p:ph idx="101" type="title" hasCustomPrompt="1"/>
          </p:nvPr>
        </p:nvSpPr>
        <p:spPr>
          <a:xfrm>
            <a:off x="640080" y="2084832"/>
            <a:ext cx="5852160" cy="1005840"/>
          </a:xfrm>
          <a:prstGeom prst="rect">
            <a:avLst/>
          </a:prstGeom>
          <a:noFill/>
          <a:ln/>
        </p:spPr>
        <p:txBody>
          <a:bodyPr wrap="square" lIns="0" tIns="0" rIns="0" bIns="0" rtlCol="0" anchor="t"/>
          <a:lstStyle/>
          <a:p>
            <a:pPr algn="l" indent="0" marL="0">
              <a:buNone/>
            </a:pPr>
            <a:r>
              <a:rPr lang="en-US" sz="6000" b="1" dirty="0">
                <a:solidFill>
                  <a:schemeClr val="bg1"/>
                </a:solidFill>
              </a:rPr>
              <a:t>Macrograph AI</a:t>
            </a:r>
            <a:endParaRPr lang="en-US" sz="6000" dirty="0"/>
          </a:p>
        </p:txBody>
      </p:sp>
      <p:sp>
        <p:nvSpPr>
          <p:cNvPr id="7" name="Text 0"/>
          <p:cNvSpPr/>
          <p:nvPr>
            <p:ph idx="102" type="body" hasCustomPrompt="1"/>
          </p:nvPr>
        </p:nvSpPr>
        <p:spPr>
          <a:xfrm>
            <a:off x="640080" y="3154680"/>
            <a:ext cx="5760720" cy="822960"/>
          </a:xfrm>
          <a:prstGeom prst="rect">
            <a:avLst/>
          </a:prstGeom>
          <a:noFill/>
          <a:ln/>
        </p:spPr>
        <p:txBody>
          <a:bodyPr wrap="square" lIns="0" tIns="0" rIns="0" bIns="0" rtlCol="0" anchor="t"/>
          <a:lstStyle/>
          <a:p>
            <a:pPr indent="0" marL="0">
              <a:buNone/>
            </a:pPr>
            <a:r>
              <a:rPr lang="en-US" sz="1800" dirty="0">
                <a:solidFill>
                  <a:schemeClr val="bg1">
                    <a:alpha val="88000"/>
                  </a:schemeClr>
                </a:solidFill>
              </a:rPr>
              <a:t>Multi-agent intelligence for the Indian economy, where every number traces back to an official source</a:t>
            </a:r>
            <a:endParaRPr lang="en-US" sz="1800" dirty="0"/>
          </a:p>
        </p:txBody>
      </p:sp>
      <p:sp>
        <p:nvSpPr>
          <p:cNvPr id="8" name="card-2"/>
          <p:cNvSpPr/>
          <p:nvPr/>
        </p:nvSpPr>
        <p:spPr>
          <a:xfrm>
            <a:off x="640080" y="4160520"/>
            <a:ext cx="1572768" cy="329184"/>
          </a:xfrm>
          <a:prstGeom prst="roundRect">
            <a:avLst>
              <a:gd name="adj" fmla="val 50000"/>
            </a:avLst>
          </a:prstGeom>
          <a:solidFill>
            <a:schemeClr val="accent5"/>
          </a:solidFill>
          <a:ln/>
        </p:spPr>
      </p:sp>
      <p:sp>
        <p:nvSpPr>
          <p:cNvPr id="9" name="text-3"/>
          <p:cNvSpPr txBox="1"/>
          <p:nvPr/>
        </p:nvSpPr>
        <p:spPr>
          <a:xfrm>
            <a:off x="640080" y="4160520"/>
            <a:ext cx="1572768" cy="329184"/>
          </a:xfrm>
          <a:prstGeom prst="rect">
            <a:avLst/>
          </a:prstGeom>
          <a:noFill/>
          <a:ln/>
        </p:spPr>
        <p:txBody>
          <a:bodyPr wrap="square" lIns="0" tIns="0" rIns="0" bIns="0" rtlCol="0" anchor="ctr"/>
          <a:lstStyle/>
          <a:p>
            <a:pPr algn="ctr" indent="0" marL="0">
              <a:buNone/>
            </a:pPr>
            <a:r>
              <a:rPr lang="en-US" sz="1150" b="1" spc="50" kern="0" dirty="0">
                <a:solidFill>
                  <a:schemeClr val="accent6"/>
                </a:solidFill>
              </a:rPr>
              <a:t>10 sector agents</a:t>
            </a:r>
            <a:endParaRPr lang="en-US" sz="1150" dirty="0"/>
          </a:p>
        </p:txBody>
      </p:sp>
      <p:sp>
        <p:nvSpPr>
          <p:cNvPr id="10" name="card-4"/>
          <p:cNvSpPr/>
          <p:nvPr/>
        </p:nvSpPr>
        <p:spPr>
          <a:xfrm>
            <a:off x="2322576" y="4160520"/>
            <a:ext cx="1339596" cy="329184"/>
          </a:xfrm>
          <a:prstGeom prst="roundRect">
            <a:avLst>
              <a:gd name="adj" fmla="val 50000"/>
            </a:avLst>
          </a:prstGeom>
          <a:solidFill>
            <a:schemeClr val="accent5"/>
          </a:solidFill>
          <a:ln/>
        </p:spPr>
      </p:sp>
      <p:sp>
        <p:nvSpPr>
          <p:cNvPr id="11" name="text-5"/>
          <p:cNvSpPr txBox="1"/>
          <p:nvPr/>
        </p:nvSpPr>
        <p:spPr>
          <a:xfrm>
            <a:off x="2322576" y="4160520"/>
            <a:ext cx="1339596" cy="329184"/>
          </a:xfrm>
          <a:prstGeom prst="rect">
            <a:avLst/>
          </a:prstGeom>
          <a:noFill/>
          <a:ln/>
        </p:spPr>
        <p:txBody>
          <a:bodyPr wrap="square" lIns="0" tIns="0" rIns="0" bIns="0" rtlCol="0" anchor="ctr"/>
          <a:lstStyle/>
          <a:p>
            <a:pPr algn="ctr" indent="0" marL="0">
              <a:buNone/>
            </a:pPr>
            <a:r>
              <a:rPr lang="en-US" sz="1150" b="1" spc="50" kern="0" dirty="0">
                <a:solidFill>
                  <a:schemeClr val="accent6"/>
                </a:solidFill>
              </a:rPr>
              <a:t>A2A + FastMCP</a:t>
            </a:r>
            <a:endParaRPr lang="en-US" sz="1150" dirty="0"/>
          </a:p>
        </p:txBody>
      </p:sp>
      <p:sp>
        <p:nvSpPr>
          <p:cNvPr id="12" name="card-6"/>
          <p:cNvSpPr/>
          <p:nvPr/>
        </p:nvSpPr>
        <p:spPr>
          <a:xfrm>
            <a:off x="3771900" y="4160520"/>
            <a:ext cx="2039112" cy="329184"/>
          </a:xfrm>
          <a:prstGeom prst="roundRect">
            <a:avLst>
              <a:gd name="adj" fmla="val 50000"/>
            </a:avLst>
          </a:prstGeom>
          <a:solidFill>
            <a:schemeClr val="accent5"/>
          </a:solidFill>
          <a:ln/>
        </p:spPr>
      </p:sp>
      <p:sp>
        <p:nvSpPr>
          <p:cNvPr id="13" name="text-7"/>
          <p:cNvSpPr txBox="1"/>
          <p:nvPr/>
        </p:nvSpPr>
        <p:spPr>
          <a:xfrm>
            <a:off x="3771900" y="4160520"/>
            <a:ext cx="2039112" cy="329184"/>
          </a:xfrm>
          <a:prstGeom prst="rect">
            <a:avLst/>
          </a:prstGeom>
          <a:noFill/>
          <a:ln/>
        </p:spPr>
        <p:txBody>
          <a:bodyPr wrap="square" lIns="0" tIns="0" rIns="0" bIns="0" rtlCol="0" anchor="ctr"/>
          <a:lstStyle/>
          <a:p>
            <a:pPr algn="ctr" indent="0" marL="0">
              <a:buNone/>
            </a:pPr>
            <a:r>
              <a:rPr lang="en-US" sz="1150" b="1" spc="50" kern="0" dirty="0">
                <a:solidFill>
                  <a:schemeClr val="accent6"/>
                </a:solidFill>
              </a:rPr>
              <a:t>Causal knowledge graph</a:t>
            </a:r>
            <a:endParaRPr lang="en-US" sz="1150" dirty="0"/>
          </a:p>
        </p:txBody>
      </p:sp>
      <p:sp>
        <p:nvSpPr>
          <p:cNvPr id="14" name="text-8"/>
          <p:cNvSpPr txBox="1"/>
          <p:nvPr/>
        </p:nvSpPr>
        <p:spPr>
          <a:xfrm>
            <a:off x="640080" y="4736592"/>
            <a:ext cx="2743200" cy="201168"/>
          </a:xfrm>
          <a:prstGeom prst="rect">
            <a:avLst/>
          </a:prstGeom>
          <a:noFill/>
          <a:ln/>
        </p:spPr>
        <p:txBody>
          <a:bodyPr wrap="square" lIns="0" tIns="0" rIns="0" bIns="0" rtlCol="0" anchor="t"/>
          <a:lstStyle/>
          <a:p>
            <a:pPr indent="0" marL="0">
              <a:buNone/>
            </a:pPr>
            <a:r>
              <a:rPr lang="en-US" sz="1050" b="1" spc="200" kern="0" dirty="0">
                <a:solidFill>
                  <a:schemeClr val="accent6"/>
                </a:solidFill>
              </a:rPr>
              <a:t>PRESENTED BY</a:t>
            </a:r>
            <a:endParaRPr lang="en-US" sz="1050" dirty="0"/>
          </a:p>
        </p:txBody>
      </p:sp>
      <p:sp>
        <p:nvSpPr>
          <p:cNvPr id="15" name="text-9"/>
          <p:cNvSpPr txBox="1"/>
          <p:nvPr/>
        </p:nvSpPr>
        <p:spPr>
          <a:xfrm>
            <a:off x="640080" y="4974336"/>
            <a:ext cx="1874520" cy="274320"/>
          </a:xfrm>
          <a:prstGeom prst="rect">
            <a:avLst/>
          </a:prstGeom>
          <a:noFill/>
          <a:ln/>
        </p:spPr>
        <p:txBody>
          <a:bodyPr wrap="square" lIns="0" tIns="0" rIns="0" bIns="0" rtlCol="0" anchor="t"/>
          <a:lstStyle/>
          <a:p>
            <a:pPr indent="0" marL="0">
              <a:buNone/>
            </a:pPr>
            <a:r>
              <a:rPr lang="en-US" sz="1500" b="1" dirty="0">
                <a:solidFill>
                  <a:schemeClr val="bg1"/>
                </a:solidFill>
              </a:rPr>
              <a:t>Hariprasaadh K</a:t>
            </a:r>
            <a:endParaRPr lang="en-US" sz="1500" dirty="0"/>
          </a:p>
        </p:txBody>
      </p:sp>
      <p:sp>
        <p:nvSpPr>
          <p:cNvPr id="16" name="text-10"/>
          <p:cNvSpPr txBox="1"/>
          <p:nvPr/>
        </p:nvSpPr>
        <p:spPr>
          <a:xfrm>
            <a:off x="640080" y="5257800"/>
            <a:ext cx="1874520" cy="219456"/>
          </a:xfrm>
          <a:prstGeom prst="rect">
            <a:avLst/>
          </a:prstGeom>
          <a:noFill/>
          <a:ln/>
        </p:spPr>
        <p:txBody>
          <a:bodyPr wrap="square" lIns="0" tIns="0" rIns="0" bIns="0" rtlCol="0" anchor="t"/>
          <a:lstStyle/>
          <a:p>
            <a:pPr indent="0" marL="0">
              <a:buNone/>
            </a:pPr>
            <a:r>
              <a:rPr lang="en-US" sz="1200" dirty="0">
                <a:solidFill>
                  <a:schemeClr val="bg1">
                    <a:alpha val="70000"/>
                  </a:schemeClr>
                </a:solidFill>
              </a:rPr>
              <a:t>23BAI1061</a:t>
            </a:r>
            <a:endParaRPr lang="en-US" sz="1200" dirty="0"/>
          </a:p>
        </p:txBody>
      </p:sp>
      <p:sp>
        <p:nvSpPr>
          <p:cNvPr id="17" name="text-11"/>
          <p:cNvSpPr txBox="1"/>
          <p:nvPr/>
        </p:nvSpPr>
        <p:spPr>
          <a:xfrm>
            <a:off x="2578608" y="4974336"/>
            <a:ext cx="1874520" cy="274320"/>
          </a:xfrm>
          <a:prstGeom prst="rect">
            <a:avLst/>
          </a:prstGeom>
          <a:noFill/>
          <a:ln/>
        </p:spPr>
        <p:txBody>
          <a:bodyPr wrap="square" lIns="0" tIns="0" rIns="0" bIns="0" rtlCol="0" anchor="t"/>
          <a:lstStyle/>
          <a:p>
            <a:pPr indent="0" marL="0">
              <a:buNone/>
            </a:pPr>
            <a:r>
              <a:rPr lang="en-US" sz="1500" b="1" dirty="0">
                <a:solidFill>
                  <a:schemeClr val="bg1"/>
                </a:solidFill>
              </a:rPr>
              <a:t>SJ Arulprasaad</a:t>
            </a:r>
            <a:endParaRPr lang="en-US" sz="1500" dirty="0"/>
          </a:p>
        </p:txBody>
      </p:sp>
      <p:sp>
        <p:nvSpPr>
          <p:cNvPr id="18" name="text-12"/>
          <p:cNvSpPr txBox="1"/>
          <p:nvPr/>
        </p:nvSpPr>
        <p:spPr>
          <a:xfrm>
            <a:off x="2578608" y="5257800"/>
            <a:ext cx="1874520" cy="219456"/>
          </a:xfrm>
          <a:prstGeom prst="rect">
            <a:avLst/>
          </a:prstGeom>
          <a:noFill/>
          <a:ln/>
        </p:spPr>
        <p:txBody>
          <a:bodyPr wrap="square" lIns="0" tIns="0" rIns="0" bIns="0" rtlCol="0" anchor="t"/>
          <a:lstStyle/>
          <a:p>
            <a:pPr indent="0" marL="0">
              <a:buNone/>
            </a:pPr>
            <a:r>
              <a:rPr lang="en-US" sz="1200" dirty="0">
                <a:solidFill>
                  <a:schemeClr val="bg1">
                    <a:alpha val="70000"/>
                  </a:schemeClr>
                </a:solidFill>
              </a:rPr>
              <a:t>23BAI1089</a:t>
            </a:r>
            <a:endParaRPr lang="en-US" sz="1200" dirty="0"/>
          </a:p>
        </p:txBody>
      </p:sp>
      <p:sp>
        <p:nvSpPr>
          <p:cNvPr id="19" name="text-13"/>
          <p:cNvSpPr txBox="1"/>
          <p:nvPr/>
        </p:nvSpPr>
        <p:spPr>
          <a:xfrm>
            <a:off x="4517136" y="4974336"/>
            <a:ext cx="1874520" cy="274320"/>
          </a:xfrm>
          <a:prstGeom prst="rect">
            <a:avLst/>
          </a:prstGeom>
          <a:noFill/>
          <a:ln/>
        </p:spPr>
        <p:txBody>
          <a:bodyPr wrap="square" lIns="0" tIns="0" rIns="0" bIns="0" rtlCol="0" anchor="t"/>
          <a:lstStyle/>
          <a:p>
            <a:pPr indent="0" marL="0">
              <a:buNone/>
            </a:pPr>
            <a:r>
              <a:rPr lang="en-US" sz="1500" b="1" dirty="0">
                <a:solidFill>
                  <a:schemeClr val="bg1"/>
                </a:solidFill>
              </a:rPr>
              <a:t>Nithish Kumar CS</a:t>
            </a:r>
            <a:endParaRPr lang="en-US" sz="1500" dirty="0"/>
          </a:p>
        </p:txBody>
      </p:sp>
      <p:sp>
        <p:nvSpPr>
          <p:cNvPr id="20" name="text-14"/>
          <p:cNvSpPr txBox="1"/>
          <p:nvPr/>
        </p:nvSpPr>
        <p:spPr>
          <a:xfrm>
            <a:off x="4517136" y="5257800"/>
            <a:ext cx="1874520" cy="219456"/>
          </a:xfrm>
          <a:prstGeom prst="rect">
            <a:avLst/>
          </a:prstGeom>
          <a:noFill/>
          <a:ln/>
        </p:spPr>
        <p:txBody>
          <a:bodyPr wrap="square" lIns="0" tIns="0" rIns="0" bIns="0" rtlCol="0" anchor="t"/>
          <a:lstStyle/>
          <a:p>
            <a:pPr indent="0" marL="0">
              <a:buNone/>
            </a:pPr>
            <a:r>
              <a:rPr lang="en-US" sz="1200" dirty="0">
                <a:solidFill>
                  <a:schemeClr val="bg1">
                    <a:alpha val="70000"/>
                  </a:schemeClr>
                </a:solidFill>
              </a:rPr>
              <a:t>23BAI1035</a:t>
            </a:r>
            <a:endParaRPr lang="en-US" sz="1200" dirty="0"/>
          </a:p>
        </p:txBody>
      </p:sp>
      <p:sp>
        <p:nvSpPr>
          <p:cNvPr id="21" name="text-15"/>
          <p:cNvSpPr txBox="1"/>
          <p:nvPr/>
        </p:nvSpPr>
        <p:spPr>
          <a:xfrm>
            <a:off x="640080" y="5614416"/>
            <a:ext cx="5852160" cy="274320"/>
          </a:xfrm>
          <a:prstGeom prst="rect">
            <a:avLst/>
          </a:prstGeom>
          <a:noFill/>
          <a:ln/>
        </p:spPr>
        <p:txBody>
          <a:bodyPr wrap="square" lIns="0" tIns="0" rIns="0" bIns="0" rtlCol="0" anchor="t"/>
          <a:lstStyle/>
          <a:p>
            <a:pPr indent="0" marL="0">
              <a:buNone/>
            </a:pPr>
            <a:r>
              <a:rPr lang="en-US" sz="1400" b="1" dirty="0">
                <a:solidFill>
                  <a:schemeClr val="accent6"/>
                </a:solidFill>
              </a:rPr>
              <a:t>Guide  </a:t>
            </a:r>
            <a:pPr indent="0" marL="0">
              <a:buNone/>
            </a:pPr>
            <a:r>
              <a:rPr lang="en-US" sz="1400" b="1" dirty="0">
                <a:solidFill>
                  <a:schemeClr val="bg1"/>
                </a:solidFill>
              </a:rPr>
              <a:t>Dr. Tulasi Prasad Sariki</a:t>
            </a:r>
            <a:endParaRPr lang="en-US" sz="1400" dirty="0"/>
          </a:p>
        </p:txBody>
      </p:sp>
      <p:sp>
        <p:nvSpPr>
          <p:cNvPr id="22" name="text-16"/>
          <p:cNvSpPr txBox="1"/>
          <p:nvPr/>
        </p:nvSpPr>
        <p:spPr>
          <a:xfrm>
            <a:off x="640080" y="5925312"/>
            <a:ext cx="5852160" cy="237744"/>
          </a:xfrm>
          <a:prstGeom prst="rect">
            <a:avLst/>
          </a:prstGeom>
          <a:noFill/>
          <a:ln/>
        </p:spPr>
        <p:txBody>
          <a:bodyPr wrap="square" lIns="0" tIns="0" rIns="0" bIns="0" rtlCol="0" anchor="t"/>
          <a:lstStyle/>
          <a:p>
            <a:pPr indent="0" marL="0">
              <a:buNone/>
            </a:pPr>
            <a:r>
              <a:rPr lang="en-US" sz="1250" dirty="0">
                <a:solidFill>
                  <a:schemeClr val="bg1">
                    <a:alpha val="70000"/>
                  </a:schemeClr>
                </a:solidFill>
              </a:rPr>
              <a:t>School of Computer Science and Engineering, VIT Chennai</a:t>
            </a:r>
            <a:endParaRPr lang="en-US" sz="1250" dirty="0"/>
          </a:p>
        </p:txBody>
      </p:sp>
      <p:pic>
        <p:nvPicPr>
          <p:cNvPr id="23" name="mesh-glow" descr="preencoded.png">    </p:cNvPr>
          <p:cNvPicPr>
            <a:picLocks noChangeAspect="1"/>
          </p:cNvPicPr>
          <p:nvPr/>
        </p:nvPicPr>
        <p:blipFill>
          <a:blip r:embed="rId3"/>
          <a:stretch>
            <a:fillRect/>
          </a:stretch>
        </p:blipFill>
        <p:spPr>
          <a:xfrm>
            <a:off x="6446520" y="1051560"/>
            <a:ext cx="4937760" cy="4937760"/>
          </a:xfrm>
          <a:prstGeom prst="rect">
            <a:avLst/>
          </a:prstGeom>
        </p:spPr>
      </p:pic>
      <p:sp>
        <p:nvSpPr>
          <p:cNvPr id="24" name="mesh-orbit"/>
          <p:cNvSpPr/>
          <p:nvPr/>
        </p:nvSpPr>
        <p:spPr>
          <a:xfrm>
            <a:off x="7132320" y="1737360"/>
            <a:ext cx="3566160" cy="3566160"/>
          </a:xfrm>
          <a:prstGeom prst="ellipse">
            <a:avLst/>
          </a:prstGeom>
          <a:noFill/>
          <a:ln w="9525">
            <a:solidFill>
              <a:schemeClr val="accent6">
                <a:alpha val="28000"/>
              </a:schemeClr>
            </a:solidFill>
            <a:prstDash val="solid"/>
          </a:ln>
        </p:spPr>
      </p:sp>
      <p:sp>
        <p:nvSpPr>
          <p:cNvPr id="25" name="link-17"/>
          <p:cNvSpPr/>
          <p:nvPr/>
        </p:nvSpPr>
        <p:spPr>
          <a:xfrm flipV="1">
            <a:off x="8915400" y="1737360"/>
            <a:ext cx="0" cy="1783080"/>
          </a:xfrm>
          <a:prstGeom prst="line">
            <a:avLst/>
          </a:prstGeom>
          <a:noFill/>
          <a:ln w="12700">
            <a:solidFill>
              <a:schemeClr val="accent6">
                <a:alpha val="38000"/>
              </a:schemeClr>
            </a:solidFill>
            <a:prstDash val="solid"/>
          </a:ln>
        </p:spPr>
      </p:sp>
      <p:sp>
        <p:nvSpPr>
          <p:cNvPr id="26" name="link-18"/>
          <p:cNvSpPr/>
          <p:nvPr/>
        </p:nvSpPr>
        <p:spPr>
          <a:xfrm flipV="1">
            <a:off x="8915400" y="2077898"/>
            <a:ext cx="1048068" cy="1442542"/>
          </a:xfrm>
          <a:prstGeom prst="line">
            <a:avLst/>
          </a:prstGeom>
          <a:noFill/>
          <a:ln w="12700">
            <a:solidFill>
              <a:schemeClr val="accent6">
                <a:alpha val="38000"/>
              </a:schemeClr>
            </a:solidFill>
            <a:prstDash val="solid"/>
          </a:ln>
        </p:spPr>
      </p:sp>
      <p:sp>
        <p:nvSpPr>
          <p:cNvPr id="27" name="link-19"/>
          <p:cNvSpPr/>
          <p:nvPr/>
        </p:nvSpPr>
        <p:spPr>
          <a:xfrm flipV="1">
            <a:off x="8915400" y="2969438"/>
            <a:ext cx="1695810" cy="551002"/>
          </a:xfrm>
          <a:prstGeom prst="line">
            <a:avLst/>
          </a:prstGeom>
          <a:noFill/>
          <a:ln w="12700">
            <a:solidFill>
              <a:schemeClr val="accent6">
                <a:alpha val="38000"/>
              </a:schemeClr>
            </a:solidFill>
            <a:prstDash val="solid"/>
          </a:ln>
        </p:spPr>
      </p:sp>
      <p:sp>
        <p:nvSpPr>
          <p:cNvPr id="28" name="link-20"/>
          <p:cNvSpPr/>
          <p:nvPr/>
        </p:nvSpPr>
        <p:spPr>
          <a:xfrm>
            <a:off x="8915400" y="3520440"/>
            <a:ext cx="1695810" cy="551002"/>
          </a:xfrm>
          <a:prstGeom prst="line">
            <a:avLst/>
          </a:prstGeom>
          <a:noFill/>
          <a:ln w="12700">
            <a:solidFill>
              <a:schemeClr val="accent6">
                <a:alpha val="38000"/>
              </a:schemeClr>
            </a:solidFill>
            <a:prstDash val="solid"/>
          </a:ln>
        </p:spPr>
      </p:sp>
      <p:sp>
        <p:nvSpPr>
          <p:cNvPr id="29" name="link-21"/>
          <p:cNvSpPr/>
          <p:nvPr/>
        </p:nvSpPr>
        <p:spPr>
          <a:xfrm>
            <a:off x="8915400" y="3520440"/>
            <a:ext cx="1048068" cy="1442542"/>
          </a:xfrm>
          <a:prstGeom prst="line">
            <a:avLst/>
          </a:prstGeom>
          <a:noFill/>
          <a:ln w="12700">
            <a:solidFill>
              <a:schemeClr val="accent6">
                <a:alpha val="38000"/>
              </a:schemeClr>
            </a:solidFill>
            <a:prstDash val="solid"/>
          </a:ln>
        </p:spPr>
      </p:sp>
      <p:sp>
        <p:nvSpPr>
          <p:cNvPr id="30" name="link-22"/>
          <p:cNvSpPr/>
          <p:nvPr/>
        </p:nvSpPr>
        <p:spPr>
          <a:xfrm>
            <a:off x="8915400" y="3520440"/>
            <a:ext cx="0" cy="1783080"/>
          </a:xfrm>
          <a:prstGeom prst="line">
            <a:avLst/>
          </a:prstGeom>
          <a:noFill/>
          <a:ln w="12700">
            <a:solidFill>
              <a:schemeClr val="accent6">
                <a:alpha val="38000"/>
              </a:schemeClr>
            </a:solidFill>
            <a:prstDash val="solid"/>
          </a:ln>
        </p:spPr>
      </p:sp>
      <p:sp>
        <p:nvSpPr>
          <p:cNvPr id="31" name="link-23"/>
          <p:cNvSpPr/>
          <p:nvPr/>
        </p:nvSpPr>
        <p:spPr>
          <a:xfrm flipH="1">
            <a:off x="7867332" y="3520440"/>
            <a:ext cx="1048068" cy="1442542"/>
          </a:xfrm>
          <a:prstGeom prst="line">
            <a:avLst/>
          </a:prstGeom>
          <a:noFill/>
          <a:ln w="12700">
            <a:solidFill>
              <a:schemeClr val="accent6">
                <a:alpha val="38000"/>
              </a:schemeClr>
            </a:solidFill>
            <a:prstDash val="solid"/>
          </a:ln>
        </p:spPr>
      </p:sp>
      <p:sp>
        <p:nvSpPr>
          <p:cNvPr id="32" name="link-24"/>
          <p:cNvSpPr/>
          <p:nvPr/>
        </p:nvSpPr>
        <p:spPr>
          <a:xfrm flipH="1">
            <a:off x="7219590" y="3520440"/>
            <a:ext cx="1695810" cy="551002"/>
          </a:xfrm>
          <a:prstGeom prst="line">
            <a:avLst/>
          </a:prstGeom>
          <a:noFill/>
          <a:ln w="12700">
            <a:solidFill>
              <a:schemeClr val="accent6">
                <a:alpha val="38000"/>
              </a:schemeClr>
            </a:solidFill>
            <a:prstDash val="solid"/>
          </a:ln>
        </p:spPr>
      </p:sp>
      <p:sp>
        <p:nvSpPr>
          <p:cNvPr id="33" name="link-25"/>
          <p:cNvSpPr/>
          <p:nvPr/>
        </p:nvSpPr>
        <p:spPr>
          <a:xfrm flipH="1" flipV="1">
            <a:off x="7219590" y="2969438"/>
            <a:ext cx="1695810" cy="551002"/>
          </a:xfrm>
          <a:prstGeom prst="line">
            <a:avLst/>
          </a:prstGeom>
          <a:noFill/>
          <a:ln w="12700">
            <a:solidFill>
              <a:schemeClr val="accent6">
                <a:alpha val="38000"/>
              </a:schemeClr>
            </a:solidFill>
            <a:prstDash val="solid"/>
          </a:ln>
        </p:spPr>
      </p:sp>
      <p:sp>
        <p:nvSpPr>
          <p:cNvPr id="34" name="link-26"/>
          <p:cNvSpPr/>
          <p:nvPr/>
        </p:nvSpPr>
        <p:spPr>
          <a:xfrm flipH="1" flipV="1">
            <a:off x="7867332" y="2077898"/>
            <a:ext cx="1048068" cy="1442542"/>
          </a:xfrm>
          <a:prstGeom prst="line">
            <a:avLst/>
          </a:prstGeom>
          <a:noFill/>
          <a:ln w="12700">
            <a:solidFill>
              <a:schemeClr val="accent6">
                <a:alpha val="38000"/>
              </a:schemeClr>
            </a:solidFill>
            <a:prstDash val="solid"/>
          </a:ln>
        </p:spPr>
      </p:sp>
      <p:sp>
        <p:nvSpPr>
          <p:cNvPr id="35" name="link-27"/>
          <p:cNvSpPr/>
          <p:nvPr/>
        </p:nvSpPr>
        <p:spPr>
          <a:xfrm flipH="1" flipV="1">
            <a:off x="9963468" y="2077898"/>
            <a:ext cx="647742" cy="891540"/>
          </a:xfrm>
          <a:prstGeom prst="line">
            <a:avLst/>
          </a:prstGeom>
          <a:noFill/>
          <a:ln w="22225">
            <a:solidFill>
              <a:schemeClr val="accent2"/>
            </a:solidFill>
            <a:prstDash val="solid"/>
          </a:ln>
        </p:spPr>
      </p:sp>
      <p:sp>
        <p:nvSpPr>
          <p:cNvPr id="36" name="link-28"/>
          <p:cNvSpPr/>
          <p:nvPr/>
        </p:nvSpPr>
        <p:spPr>
          <a:xfrm flipH="1" flipV="1">
            <a:off x="8915400" y="1737360"/>
            <a:ext cx="1695810" cy="1232078"/>
          </a:xfrm>
          <a:prstGeom prst="line">
            <a:avLst/>
          </a:prstGeom>
          <a:noFill/>
          <a:ln w="22225">
            <a:solidFill>
              <a:schemeClr val="accent2"/>
            </a:solidFill>
            <a:prstDash val="solid"/>
          </a:ln>
        </p:spPr>
      </p:sp>
      <p:sp>
        <p:nvSpPr>
          <p:cNvPr id="37" name="link-29"/>
          <p:cNvSpPr/>
          <p:nvPr/>
        </p:nvSpPr>
        <p:spPr>
          <a:xfrm flipH="1" flipV="1">
            <a:off x="9963468" y="2077898"/>
            <a:ext cx="647742" cy="1993544"/>
          </a:xfrm>
          <a:prstGeom prst="line">
            <a:avLst/>
          </a:prstGeom>
          <a:noFill/>
          <a:ln w="22225">
            <a:solidFill>
              <a:schemeClr val="accent2"/>
            </a:solidFill>
            <a:prstDash val="solid"/>
          </a:ln>
        </p:spPr>
      </p:sp>
      <p:sp>
        <p:nvSpPr>
          <p:cNvPr id="38" name="link-30"/>
          <p:cNvSpPr/>
          <p:nvPr/>
        </p:nvSpPr>
        <p:spPr>
          <a:xfrm flipH="1" flipV="1">
            <a:off x="8915400" y="1737360"/>
            <a:ext cx="1695810" cy="2334082"/>
          </a:xfrm>
          <a:prstGeom prst="line">
            <a:avLst/>
          </a:prstGeom>
          <a:noFill/>
          <a:ln w="22225">
            <a:solidFill>
              <a:schemeClr val="accent2"/>
            </a:solidFill>
            <a:prstDash val="solid"/>
          </a:ln>
        </p:spPr>
      </p:sp>
      <p:sp>
        <p:nvSpPr>
          <p:cNvPr id="39" name="link-31"/>
          <p:cNvSpPr/>
          <p:nvPr/>
        </p:nvSpPr>
        <p:spPr>
          <a:xfrm flipV="1">
            <a:off x="10611210" y="2969438"/>
            <a:ext cx="0" cy="1102004"/>
          </a:xfrm>
          <a:prstGeom prst="line">
            <a:avLst/>
          </a:prstGeom>
          <a:noFill/>
          <a:ln w="22225">
            <a:solidFill>
              <a:schemeClr val="accent2"/>
            </a:solidFill>
            <a:prstDash val="solid"/>
          </a:ln>
        </p:spPr>
      </p:sp>
      <p:sp>
        <p:nvSpPr>
          <p:cNvPr id="40" name="link-32"/>
          <p:cNvSpPr/>
          <p:nvPr/>
        </p:nvSpPr>
        <p:spPr>
          <a:xfrm flipV="1">
            <a:off x="9963468" y="2077898"/>
            <a:ext cx="0" cy="2885084"/>
          </a:xfrm>
          <a:prstGeom prst="line">
            <a:avLst/>
          </a:prstGeom>
          <a:noFill/>
          <a:ln w="22225">
            <a:solidFill>
              <a:schemeClr val="accent2"/>
            </a:solidFill>
            <a:prstDash val="solid"/>
          </a:ln>
        </p:spPr>
      </p:sp>
      <p:sp>
        <p:nvSpPr>
          <p:cNvPr id="41" name="link-33"/>
          <p:cNvSpPr/>
          <p:nvPr/>
        </p:nvSpPr>
        <p:spPr>
          <a:xfrm flipH="1" flipV="1">
            <a:off x="8915400" y="1737360"/>
            <a:ext cx="1048068" cy="3225622"/>
          </a:xfrm>
          <a:prstGeom prst="line">
            <a:avLst/>
          </a:prstGeom>
          <a:noFill/>
          <a:ln w="22225">
            <a:solidFill>
              <a:schemeClr val="accent2"/>
            </a:solidFill>
            <a:prstDash val="solid"/>
          </a:ln>
        </p:spPr>
      </p:sp>
      <p:sp>
        <p:nvSpPr>
          <p:cNvPr id="42" name="agent-Prices"/>
          <p:cNvSpPr/>
          <p:nvPr/>
        </p:nvSpPr>
        <p:spPr>
          <a:xfrm>
            <a:off x="8586216" y="1408176"/>
            <a:ext cx="658368" cy="658368"/>
          </a:xfrm>
          <a:prstGeom prst="ellipse">
            <a:avLst/>
          </a:prstGeom>
          <a:solidFill>
            <a:schemeClr val="accent5"/>
          </a:solidFill>
          <a:ln w="15875">
            <a:solidFill>
              <a:schemeClr val="accent6"/>
            </a:solidFill>
            <a:prstDash val="solid"/>
          </a:ln>
        </p:spPr>
      </p:sp>
      <p:pic>
        <p:nvPicPr>
          <p:cNvPr id="43" name="icon-34" descr="Prices sector agent">    </p:cNvPr>
          <p:cNvPicPr>
            <a:picLocks noChangeAspect="1"/>
          </p:cNvPicPr>
          <p:nvPr/>
        </p:nvPicPr>
        <p:blipFill>
          <a:blip r:embed="rId4"/>
          <a:stretch>
            <a:fillRect/>
          </a:stretch>
        </p:blipFill>
        <p:spPr>
          <a:xfrm>
            <a:off x="8750808" y="1572768"/>
            <a:ext cx="329184" cy="329184"/>
          </a:xfrm>
          <a:prstGeom prst="rect">
            <a:avLst/>
          </a:prstGeom>
        </p:spPr>
      </p:pic>
      <p:sp>
        <p:nvSpPr>
          <p:cNvPr id="44" name="text-35"/>
          <p:cNvSpPr txBox="1"/>
          <p:nvPr/>
        </p:nvSpPr>
        <p:spPr>
          <a:xfrm>
            <a:off x="8229600" y="1097280"/>
            <a:ext cx="1371600" cy="256032"/>
          </a:xfrm>
          <a:prstGeom prst="rect">
            <a:avLst/>
          </a:prstGeom>
          <a:noFill/>
          <a:ln/>
        </p:spPr>
        <p:txBody>
          <a:bodyPr wrap="square" lIns="0" tIns="0" rIns="0" bIns="0" rtlCol="0" anchor="ctr"/>
          <a:lstStyle/>
          <a:p>
            <a:pPr algn="ctr" indent="0" marL="0">
              <a:buNone/>
            </a:pPr>
            <a:r>
              <a:rPr lang="en-US" sz="1200" dirty="0">
                <a:solidFill>
                  <a:schemeClr val="bg1">
                    <a:alpha val="92000"/>
                  </a:schemeClr>
                </a:solidFill>
              </a:rPr>
              <a:t>Prices</a:t>
            </a:r>
            <a:endParaRPr lang="en-US" sz="1200" dirty="0"/>
          </a:p>
        </p:txBody>
      </p:sp>
      <p:sp>
        <p:nvSpPr>
          <p:cNvPr id="45" name="agent-Monetary"/>
          <p:cNvSpPr/>
          <p:nvPr/>
        </p:nvSpPr>
        <p:spPr>
          <a:xfrm>
            <a:off x="9634284" y="1748714"/>
            <a:ext cx="658368" cy="658368"/>
          </a:xfrm>
          <a:prstGeom prst="ellipse">
            <a:avLst/>
          </a:prstGeom>
          <a:solidFill>
            <a:schemeClr val="accent5"/>
          </a:solidFill>
          <a:ln w="15875">
            <a:solidFill>
              <a:schemeClr val="accent6"/>
            </a:solidFill>
            <a:prstDash val="solid"/>
          </a:ln>
        </p:spPr>
      </p:sp>
      <p:pic>
        <p:nvPicPr>
          <p:cNvPr id="46" name="icon-36" descr="Monetary sector agent">    </p:cNvPr>
          <p:cNvPicPr>
            <a:picLocks noChangeAspect="1"/>
          </p:cNvPicPr>
          <p:nvPr/>
        </p:nvPicPr>
        <p:blipFill>
          <a:blip r:embed="rId5"/>
          <a:stretch>
            <a:fillRect/>
          </a:stretch>
        </p:blipFill>
        <p:spPr>
          <a:xfrm>
            <a:off x="9798876" y="1913306"/>
            <a:ext cx="329184" cy="329184"/>
          </a:xfrm>
          <a:prstGeom prst="rect">
            <a:avLst/>
          </a:prstGeom>
        </p:spPr>
      </p:pic>
      <p:sp>
        <p:nvSpPr>
          <p:cNvPr id="47" name="text-37"/>
          <p:cNvSpPr txBox="1"/>
          <p:nvPr/>
        </p:nvSpPr>
        <p:spPr>
          <a:xfrm>
            <a:off x="10384092" y="1949882"/>
            <a:ext cx="753466" cy="256032"/>
          </a:xfrm>
          <a:prstGeom prst="rect">
            <a:avLst/>
          </a:prstGeom>
          <a:noFill/>
          <a:ln/>
        </p:spPr>
        <p:txBody>
          <a:bodyPr wrap="square" lIns="0" tIns="0" rIns="0" bIns="0" rtlCol="0" anchor="ctr"/>
          <a:lstStyle/>
          <a:p>
            <a:pPr algn="l" indent="0" marL="0">
              <a:buNone/>
            </a:pPr>
            <a:r>
              <a:rPr lang="en-US" sz="1200" dirty="0">
                <a:solidFill>
                  <a:schemeClr val="bg1">
                    <a:alpha val="92000"/>
                  </a:schemeClr>
                </a:solidFill>
              </a:rPr>
              <a:t>Monetary</a:t>
            </a:r>
            <a:endParaRPr lang="en-US" sz="1200" dirty="0"/>
          </a:p>
        </p:txBody>
      </p:sp>
      <p:sp>
        <p:nvSpPr>
          <p:cNvPr id="48" name="agent-Finance"/>
          <p:cNvSpPr/>
          <p:nvPr/>
        </p:nvSpPr>
        <p:spPr>
          <a:xfrm>
            <a:off x="10282026" y="2640254"/>
            <a:ext cx="658368" cy="658368"/>
          </a:xfrm>
          <a:prstGeom prst="ellipse">
            <a:avLst/>
          </a:prstGeom>
          <a:solidFill>
            <a:schemeClr val="accent5"/>
          </a:solidFill>
          <a:ln w="15875">
            <a:solidFill>
              <a:schemeClr val="accent6"/>
            </a:solidFill>
            <a:prstDash val="solid"/>
          </a:ln>
        </p:spPr>
      </p:sp>
      <p:pic>
        <p:nvPicPr>
          <p:cNvPr id="49" name="icon-38" descr="Finance sector agent">    </p:cNvPr>
          <p:cNvPicPr>
            <a:picLocks noChangeAspect="1"/>
          </p:cNvPicPr>
          <p:nvPr/>
        </p:nvPicPr>
        <p:blipFill>
          <a:blip r:embed="rId6"/>
          <a:stretch>
            <a:fillRect/>
          </a:stretch>
        </p:blipFill>
        <p:spPr>
          <a:xfrm>
            <a:off x="10446618" y="2804846"/>
            <a:ext cx="329184" cy="329184"/>
          </a:xfrm>
          <a:prstGeom prst="rect">
            <a:avLst/>
          </a:prstGeom>
        </p:spPr>
      </p:pic>
      <p:sp>
        <p:nvSpPr>
          <p:cNvPr id="50" name="text-39"/>
          <p:cNvSpPr txBox="1"/>
          <p:nvPr/>
        </p:nvSpPr>
        <p:spPr>
          <a:xfrm>
            <a:off x="11031834" y="2841422"/>
            <a:ext cx="672998" cy="256032"/>
          </a:xfrm>
          <a:prstGeom prst="rect">
            <a:avLst/>
          </a:prstGeom>
          <a:noFill/>
          <a:ln/>
        </p:spPr>
        <p:txBody>
          <a:bodyPr wrap="square" lIns="0" tIns="0" rIns="0" bIns="0" rtlCol="0" anchor="ctr"/>
          <a:lstStyle/>
          <a:p>
            <a:pPr algn="l" indent="0" marL="0">
              <a:buNone/>
            </a:pPr>
            <a:r>
              <a:rPr lang="en-US" sz="1200" dirty="0">
                <a:solidFill>
                  <a:schemeClr val="bg1">
                    <a:alpha val="92000"/>
                  </a:schemeClr>
                </a:solidFill>
              </a:rPr>
              <a:t>Finance</a:t>
            </a:r>
            <a:endParaRPr lang="en-US" sz="1200" dirty="0"/>
          </a:p>
        </p:txBody>
      </p:sp>
      <p:sp>
        <p:nvSpPr>
          <p:cNvPr id="51" name="agent-Fiscal"/>
          <p:cNvSpPr/>
          <p:nvPr/>
        </p:nvSpPr>
        <p:spPr>
          <a:xfrm>
            <a:off x="10282026" y="3742258"/>
            <a:ext cx="658368" cy="658368"/>
          </a:xfrm>
          <a:prstGeom prst="ellipse">
            <a:avLst/>
          </a:prstGeom>
          <a:solidFill>
            <a:schemeClr val="accent5"/>
          </a:solidFill>
          <a:ln w="15875">
            <a:solidFill>
              <a:schemeClr val="accent6"/>
            </a:solidFill>
            <a:prstDash val="solid"/>
          </a:ln>
        </p:spPr>
      </p:sp>
      <p:pic>
        <p:nvPicPr>
          <p:cNvPr id="52" name="icon-40" descr="Fiscal sector agent">    </p:cNvPr>
          <p:cNvPicPr>
            <a:picLocks noChangeAspect="1"/>
          </p:cNvPicPr>
          <p:nvPr/>
        </p:nvPicPr>
        <p:blipFill>
          <a:blip r:embed="rId7"/>
          <a:stretch>
            <a:fillRect/>
          </a:stretch>
        </p:blipFill>
        <p:spPr>
          <a:xfrm>
            <a:off x="10446618" y="3906850"/>
            <a:ext cx="329184" cy="329184"/>
          </a:xfrm>
          <a:prstGeom prst="rect">
            <a:avLst/>
          </a:prstGeom>
        </p:spPr>
      </p:pic>
      <p:sp>
        <p:nvSpPr>
          <p:cNvPr id="53" name="text-41"/>
          <p:cNvSpPr txBox="1"/>
          <p:nvPr/>
        </p:nvSpPr>
        <p:spPr>
          <a:xfrm>
            <a:off x="11031834" y="3943426"/>
            <a:ext cx="592531" cy="256032"/>
          </a:xfrm>
          <a:prstGeom prst="rect">
            <a:avLst/>
          </a:prstGeom>
          <a:noFill/>
          <a:ln/>
        </p:spPr>
        <p:txBody>
          <a:bodyPr wrap="square" lIns="0" tIns="0" rIns="0" bIns="0" rtlCol="0" anchor="ctr"/>
          <a:lstStyle/>
          <a:p>
            <a:pPr algn="l" indent="0" marL="0">
              <a:buNone/>
            </a:pPr>
            <a:r>
              <a:rPr lang="en-US" sz="1200" dirty="0">
                <a:solidFill>
                  <a:schemeClr val="bg1">
                    <a:alpha val="92000"/>
                  </a:schemeClr>
                </a:solidFill>
              </a:rPr>
              <a:t>Fiscal</a:t>
            </a:r>
            <a:endParaRPr lang="en-US" sz="1200" dirty="0"/>
          </a:p>
        </p:txBody>
      </p:sp>
      <p:sp>
        <p:nvSpPr>
          <p:cNvPr id="54" name="agent-External"/>
          <p:cNvSpPr/>
          <p:nvPr/>
        </p:nvSpPr>
        <p:spPr>
          <a:xfrm>
            <a:off x="9634284" y="4633798"/>
            <a:ext cx="658368" cy="658368"/>
          </a:xfrm>
          <a:prstGeom prst="ellipse">
            <a:avLst/>
          </a:prstGeom>
          <a:solidFill>
            <a:schemeClr val="accent5"/>
          </a:solidFill>
          <a:ln w="15875">
            <a:solidFill>
              <a:schemeClr val="accent6"/>
            </a:solidFill>
            <a:prstDash val="solid"/>
          </a:ln>
        </p:spPr>
      </p:sp>
      <p:pic>
        <p:nvPicPr>
          <p:cNvPr id="55" name="icon-42" descr="External sector agent">    </p:cNvPr>
          <p:cNvPicPr>
            <a:picLocks noChangeAspect="1"/>
          </p:cNvPicPr>
          <p:nvPr/>
        </p:nvPicPr>
        <p:blipFill>
          <a:blip r:embed="rId8"/>
          <a:stretch>
            <a:fillRect/>
          </a:stretch>
        </p:blipFill>
        <p:spPr>
          <a:xfrm>
            <a:off x="9798876" y="4798390"/>
            <a:ext cx="329184" cy="329184"/>
          </a:xfrm>
          <a:prstGeom prst="rect">
            <a:avLst/>
          </a:prstGeom>
        </p:spPr>
      </p:pic>
      <p:sp>
        <p:nvSpPr>
          <p:cNvPr id="56" name="text-43"/>
          <p:cNvSpPr txBox="1"/>
          <p:nvPr/>
        </p:nvSpPr>
        <p:spPr>
          <a:xfrm>
            <a:off x="10384092" y="4834966"/>
            <a:ext cx="753466" cy="256032"/>
          </a:xfrm>
          <a:prstGeom prst="rect">
            <a:avLst/>
          </a:prstGeom>
          <a:noFill/>
          <a:ln/>
        </p:spPr>
        <p:txBody>
          <a:bodyPr wrap="square" lIns="0" tIns="0" rIns="0" bIns="0" rtlCol="0" anchor="ctr"/>
          <a:lstStyle/>
          <a:p>
            <a:pPr algn="l" indent="0" marL="0">
              <a:buNone/>
            </a:pPr>
            <a:r>
              <a:rPr lang="en-US" sz="1200" dirty="0">
                <a:solidFill>
                  <a:schemeClr val="bg1">
                    <a:alpha val="92000"/>
                  </a:schemeClr>
                </a:solidFill>
              </a:rPr>
              <a:t>External</a:t>
            </a:r>
            <a:endParaRPr lang="en-US" sz="1200" dirty="0"/>
          </a:p>
        </p:txBody>
      </p:sp>
      <p:sp>
        <p:nvSpPr>
          <p:cNvPr id="57" name="agent-Capital Markets"/>
          <p:cNvSpPr/>
          <p:nvPr/>
        </p:nvSpPr>
        <p:spPr>
          <a:xfrm>
            <a:off x="8586216" y="4974336"/>
            <a:ext cx="658368" cy="658368"/>
          </a:xfrm>
          <a:prstGeom prst="ellipse">
            <a:avLst/>
          </a:prstGeom>
          <a:solidFill>
            <a:schemeClr val="accent5"/>
          </a:solidFill>
          <a:ln w="15875">
            <a:solidFill>
              <a:schemeClr val="accent6"/>
            </a:solidFill>
            <a:prstDash val="solid"/>
          </a:ln>
        </p:spPr>
      </p:sp>
      <p:pic>
        <p:nvPicPr>
          <p:cNvPr id="58" name="icon-44" descr="Capital Markets sector agent">    </p:cNvPr>
          <p:cNvPicPr>
            <a:picLocks noChangeAspect="1"/>
          </p:cNvPicPr>
          <p:nvPr/>
        </p:nvPicPr>
        <p:blipFill>
          <a:blip r:embed="rId9"/>
          <a:stretch>
            <a:fillRect/>
          </a:stretch>
        </p:blipFill>
        <p:spPr>
          <a:xfrm>
            <a:off x="8750808" y="5138928"/>
            <a:ext cx="329184" cy="329184"/>
          </a:xfrm>
          <a:prstGeom prst="rect">
            <a:avLst/>
          </a:prstGeom>
        </p:spPr>
      </p:pic>
      <p:sp>
        <p:nvSpPr>
          <p:cNvPr id="59" name="text-45"/>
          <p:cNvSpPr txBox="1"/>
          <p:nvPr/>
        </p:nvSpPr>
        <p:spPr>
          <a:xfrm>
            <a:off x="8229600" y="5687568"/>
            <a:ext cx="1371600" cy="256032"/>
          </a:xfrm>
          <a:prstGeom prst="rect">
            <a:avLst/>
          </a:prstGeom>
          <a:noFill/>
          <a:ln/>
        </p:spPr>
        <p:txBody>
          <a:bodyPr wrap="square" lIns="0" tIns="0" rIns="0" bIns="0" rtlCol="0" anchor="ctr"/>
          <a:lstStyle/>
          <a:p>
            <a:pPr algn="ctr" indent="0" marL="0">
              <a:buNone/>
            </a:pPr>
            <a:r>
              <a:rPr lang="en-US" sz="1200" dirty="0">
                <a:solidFill>
                  <a:schemeClr val="bg1">
                    <a:alpha val="92000"/>
                  </a:schemeClr>
                </a:solidFill>
              </a:rPr>
              <a:t>Capital Markets</a:t>
            </a:r>
            <a:endParaRPr lang="en-US" sz="1200" dirty="0"/>
          </a:p>
        </p:txBody>
      </p:sp>
      <p:sp>
        <p:nvSpPr>
          <p:cNvPr id="60" name="agent-Services"/>
          <p:cNvSpPr/>
          <p:nvPr/>
        </p:nvSpPr>
        <p:spPr>
          <a:xfrm>
            <a:off x="7538148" y="4633798"/>
            <a:ext cx="658368" cy="658368"/>
          </a:xfrm>
          <a:prstGeom prst="ellipse">
            <a:avLst/>
          </a:prstGeom>
          <a:solidFill>
            <a:schemeClr val="accent5"/>
          </a:solidFill>
          <a:ln w="15875">
            <a:solidFill>
              <a:schemeClr val="accent6"/>
            </a:solidFill>
            <a:prstDash val="solid"/>
          </a:ln>
        </p:spPr>
      </p:sp>
      <p:pic>
        <p:nvPicPr>
          <p:cNvPr id="61" name="icon-46" descr="Services sector agent">    </p:cNvPr>
          <p:cNvPicPr>
            <a:picLocks noChangeAspect="1"/>
          </p:cNvPicPr>
          <p:nvPr/>
        </p:nvPicPr>
        <p:blipFill>
          <a:blip r:embed="rId10"/>
          <a:stretch>
            <a:fillRect/>
          </a:stretch>
        </p:blipFill>
        <p:spPr>
          <a:xfrm>
            <a:off x="7702740" y="4798390"/>
            <a:ext cx="329184" cy="329184"/>
          </a:xfrm>
          <a:prstGeom prst="rect">
            <a:avLst/>
          </a:prstGeom>
        </p:spPr>
      </p:pic>
      <p:sp>
        <p:nvSpPr>
          <p:cNvPr id="62" name="text-47"/>
          <p:cNvSpPr txBox="1"/>
          <p:nvPr/>
        </p:nvSpPr>
        <p:spPr>
          <a:xfrm>
            <a:off x="6693242" y="4834966"/>
            <a:ext cx="753466" cy="256032"/>
          </a:xfrm>
          <a:prstGeom prst="rect">
            <a:avLst/>
          </a:prstGeom>
          <a:noFill/>
          <a:ln/>
        </p:spPr>
        <p:txBody>
          <a:bodyPr wrap="square" lIns="0" tIns="0" rIns="0" bIns="0" rtlCol="0" anchor="ctr"/>
          <a:lstStyle/>
          <a:p>
            <a:pPr algn="r" indent="0" marL="0">
              <a:buNone/>
            </a:pPr>
            <a:r>
              <a:rPr lang="en-US" sz="1200" dirty="0">
                <a:solidFill>
                  <a:schemeClr val="bg1">
                    <a:alpha val="92000"/>
                  </a:schemeClr>
                </a:solidFill>
              </a:rPr>
              <a:t>Services</a:t>
            </a:r>
            <a:endParaRPr lang="en-US" sz="1200" dirty="0"/>
          </a:p>
        </p:txBody>
      </p:sp>
      <p:sp>
        <p:nvSpPr>
          <p:cNvPr id="63" name="agent-Labour"/>
          <p:cNvSpPr/>
          <p:nvPr/>
        </p:nvSpPr>
        <p:spPr>
          <a:xfrm>
            <a:off x="6890406" y="3742258"/>
            <a:ext cx="658368" cy="658368"/>
          </a:xfrm>
          <a:prstGeom prst="ellipse">
            <a:avLst/>
          </a:prstGeom>
          <a:solidFill>
            <a:schemeClr val="accent5"/>
          </a:solidFill>
          <a:ln w="15875">
            <a:solidFill>
              <a:schemeClr val="accent6"/>
            </a:solidFill>
            <a:prstDash val="solid"/>
          </a:ln>
        </p:spPr>
      </p:sp>
      <p:pic>
        <p:nvPicPr>
          <p:cNvPr id="64" name="icon-48" descr="Labour sector agent">    </p:cNvPr>
          <p:cNvPicPr>
            <a:picLocks noChangeAspect="1"/>
          </p:cNvPicPr>
          <p:nvPr/>
        </p:nvPicPr>
        <p:blipFill>
          <a:blip r:embed="rId11"/>
          <a:stretch>
            <a:fillRect/>
          </a:stretch>
        </p:blipFill>
        <p:spPr>
          <a:xfrm>
            <a:off x="7054998" y="3906850"/>
            <a:ext cx="329184" cy="329184"/>
          </a:xfrm>
          <a:prstGeom prst="rect">
            <a:avLst/>
          </a:prstGeom>
        </p:spPr>
      </p:pic>
      <p:sp>
        <p:nvSpPr>
          <p:cNvPr id="65" name="text-49"/>
          <p:cNvSpPr txBox="1"/>
          <p:nvPr/>
        </p:nvSpPr>
        <p:spPr>
          <a:xfrm>
            <a:off x="6206435" y="3943426"/>
            <a:ext cx="592531" cy="256032"/>
          </a:xfrm>
          <a:prstGeom prst="rect">
            <a:avLst/>
          </a:prstGeom>
          <a:noFill/>
          <a:ln/>
        </p:spPr>
        <p:txBody>
          <a:bodyPr wrap="square" lIns="0" tIns="0" rIns="0" bIns="0" rtlCol="0" anchor="ctr"/>
          <a:lstStyle/>
          <a:p>
            <a:pPr algn="r" indent="0" marL="0">
              <a:buNone/>
            </a:pPr>
            <a:r>
              <a:rPr lang="en-US" sz="1200" dirty="0">
                <a:solidFill>
                  <a:schemeClr val="bg1">
                    <a:alpha val="92000"/>
                  </a:schemeClr>
                </a:solidFill>
              </a:rPr>
              <a:t>Labour</a:t>
            </a:r>
            <a:endParaRPr lang="en-US" sz="1200" dirty="0"/>
          </a:p>
        </p:txBody>
      </p:sp>
      <p:sp>
        <p:nvSpPr>
          <p:cNvPr id="66" name="agent-Real"/>
          <p:cNvSpPr/>
          <p:nvPr/>
        </p:nvSpPr>
        <p:spPr>
          <a:xfrm>
            <a:off x="6890406" y="2640254"/>
            <a:ext cx="658368" cy="658368"/>
          </a:xfrm>
          <a:prstGeom prst="ellipse">
            <a:avLst/>
          </a:prstGeom>
          <a:solidFill>
            <a:schemeClr val="accent5"/>
          </a:solidFill>
          <a:ln w="15875">
            <a:solidFill>
              <a:schemeClr val="accent6"/>
            </a:solidFill>
            <a:prstDash val="solid"/>
          </a:ln>
        </p:spPr>
      </p:sp>
      <p:pic>
        <p:nvPicPr>
          <p:cNvPr id="67" name="icon-50" descr="Real sector agent">    </p:cNvPr>
          <p:cNvPicPr>
            <a:picLocks noChangeAspect="1"/>
          </p:cNvPicPr>
          <p:nvPr/>
        </p:nvPicPr>
        <p:blipFill>
          <a:blip r:embed="rId12"/>
          <a:stretch>
            <a:fillRect/>
          </a:stretch>
        </p:blipFill>
        <p:spPr>
          <a:xfrm>
            <a:off x="7054998" y="2804846"/>
            <a:ext cx="329184" cy="329184"/>
          </a:xfrm>
          <a:prstGeom prst="rect">
            <a:avLst/>
          </a:prstGeom>
        </p:spPr>
      </p:pic>
      <p:sp>
        <p:nvSpPr>
          <p:cNvPr id="68" name="text-51"/>
          <p:cNvSpPr txBox="1"/>
          <p:nvPr/>
        </p:nvSpPr>
        <p:spPr>
          <a:xfrm>
            <a:off x="6367369" y="2841422"/>
            <a:ext cx="431597" cy="256032"/>
          </a:xfrm>
          <a:prstGeom prst="rect">
            <a:avLst/>
          </a:prstGeom>
          <a:noFill/>
          <a:ln/>
        </p:spPr>
        <p:txBody>
          <a:bodyPr wrap="square" lIns="0" tIns="0" rIns="0" bIns="0" rtlCol="0" anchor="ctr"/>
          <a:lstStyle/>
          <a:p>
            <a:pPr algn="r" indent="0" marL="0">
              <a:buNone/>
            </a:pPr>
            <a:r>
              <a:rPr lang="en-US" sz="1200" dirty="0">
                <a:solidFill>
                  <a:schemeClr val="bg1">
                    <a:alpha val="92000"/>
                  </a:schemeClr>
                </a:solidFill>
              </a:rPr>
              <a:t>Real</a:t>
            </a:r>
            <a:endParaRPr lang="en-US" sz="1200" dirty="0"/>
          </a:p>
        </p:txBody>
      </p:sp>
      <p:sp>
        <p:nvSpPr>
          <p:cNvPr id="69" name="agent-Agriculture"/>
          <p:cNvSpPr/>
          <p:nvPr/>
        </p:nvSpPr>
        <p:spPr>
          <a:xfrm>
            <a:off x="7538148" y="1748714"/>
            <a:ext cx="658368" cy="658368"/>
          </a:xfrm>
          <a:prstGeom prst="ellipse">
            <a:avLst/>
          </a:prstGeom>
          <a:solidFill>
            <a:schemeClr val="accent5"/>
          </a:solidFill>
          <a:ln w="15875">
            <a:solidFill>
              <a:schemeClr val="accent6"/>
            </a:solidFill>
            <a:prstDash val="solid"/>
          </a:ln>
        </p:spPr>
      </p:sp>
      <p:pic>
        <p:nvPicPr>
          <p:cNvPr id="70" name="icon-52" descr="Agriculture sector agent">    </p:cNvPr>
          <p:cNvPicPr>
            <a:picLocks noChangeAspect="1"/>
          </p:cNvPicPr>
          <p:nvPr/>
        </p:nvPicPr>
        <p:blipFill>
          <a:blip r:embed="rId13"/>
          <a:stretch>
            <a:fillRect/>
          </a:stretch>
        </p:blipFill>
        <p:spPr>
          <a:xfrm>
            <a:off x="7702740" y="1913306"/>
            <a:ext cx="329184" cy="329184"/>
          </a:xfrm>
          <a:prstGeom prst="rect">
            <a:avLst/>
          </a:prstGeom>
        </p:spPr>
      </p:pic>
      <p:sp>
        <p:nvSpPr>
          <p:cNvPr id="71" name="text-53"/>
          <p:cNvSpPr txBox="1"/>
          <p:nvPr/>
        </p:nvSpPr>
        <p:spPr>
          <a:xfrm>
            <a:off x="6451841" y="1949882"/>
            <a:ext cx="994867" cy="256032"/>
          </a:xfrm>
          <a:prstGeom prst="rect">
            <a:avLst/>
          </a:prstGeom>
          <a:noFill/>
          <a:ln/>
        </p:spPr>
        <p:txBody>
          <a:bodyPr wrap="square" lIns="0" tIns="0" rIns="0" bIns="0" rtlCol="0" anchor="ctr"/>
          <a:lstStyle/>
          <a:p>
            <a:pPr algn="r" indent="0" marL="0">
              <a:buNone/>
            </a:pPr>
            <a:r>
              <a:rPr lang="en-US" sz="1200" dirty="0">
                <a:solidFill>
                  <a:schemeClr val="bg1">
                    <a:alpha val="92000"/>
                  </a:schemeClr>
                </a:solidFill>
              </a:rPr>
              <a:t>Agriculture</a:t>
            </a:r>
            <a:endParaRPr lang="en-US" sz="1200" dirty="0"/>
          </a:p>
        </p:txBody>
      </p:sp>
      <p:sp>
        <p:nvSpPr>
          <p:cNvPr id="72" name="orchestrator-hub"/>
          <p:cNvSpPr/>
          <p:nvPr/>
        </p:nvSpPr>
        <p:spPr>
          <a:xfrm>
            <a:off x="8275320" y="2880360"/>
            <a:ext cx="1280160" cy="1280160"/>
          </a:xfrm>
          <a:prstGeom prst="ellipse">
            <a:avLst/>
          </a:prstGeom>
          <a:solidFill>
            <a:schemeClr val="accent6"/>
          </a:solidFill>
          <a:ln/>
        </p:spPr>
      </p:sp>
      <p:pic>
        <p:nvPicPr>
          <p:cNvPr id="73" name="icon-54" descr="Orchestrator">    </p:cNvPr>
          <p:cNvPicPr>
            <a:picLocks noChangeAspect="1"/>
          </p:cNvPicPr>
          <p:nvPr/>
        </p:nvPicPr>
        <p:blipFill>
          <a:blip r:embed="rId14"/>
          <a:stretch>
            <a:fillRect/>
          </a:stretch>
        </p:blipFill>
        <p:spPr>
          <a:xfrm>
            <a:off x="8723376" y="3090672"/>
            <a:ext cx="384048" cy="384048"/>
          </a:xfrm>
          <a:prstGeom prst="rect">
            <a:avLst/>
          </a:prstGeom>
        </p:spPr>
      </p:pic>
      <p:sp>
        <p:nvSpPr>
          <p:cNvPr id="74" name="text-55"/>
          <p:cNvSpPr txBox="1"/>
          <p:nvPr/>
        </p:nvSpPr>
        <p:spPr>
          <a:xfrm>
            <a:off x="8275320" y="3547872"/>
            <a:ext cx="1280160" cy="274320"/>
          </a:xfrm>
          <a:prstGeom prst="rect">
            <a:avLst/>
          </a:prstGeom>
          <a:noFill/>
          <a:ln/>
        </p:spPr>
        <p:txBody>
          <a:bodyPr wrap="square" lIns="0" tIns="0" rIns="0" bIns="0" rtlCol="0" anchor="ctr"/>
          <a:lstStyle/>
          <a:p>
            <a:pPr algn="ctr" indent="0" marL="0">
              <a:buNone/>
            </a:pPr>
            <a:r>
              <a:rPr lang="en-US" sz="1200" b="1" dirty="0">
                <a:solidFill>
                  <a:schemeClr val="tx1"/>
                </a:solidFill>
              </a:rPr>
              <a:t>Orchestrator</a:t>
            </a:r>
            <a:endParaRPr lang="en-US" sz="1200" dirty="0"/>
          </a:p>
        </p:txBody>
      </p:sp>
      <p:sp>
        <p:nvSpPr>
          <p:cNvPr id="75" name="link-56"/>
          <p:cNvSpPr/>
          <p:nvPr/>
        </p:nvSpPr>
        <p:spPr>
          <a:xfrm>
            <a:off x="7543800" y="6382512"/>
            <a:ext cx="365760" cy="0"/>
          </a:xfrm>
          <a:prstGeom prst="line">
            <a:avLst/>
          </a:prstGeom>
          <a:noFill/>
          <a:ln w="22225">
            <a:solidFill>
              <a:schemeClr val="accent2"/>
            </a:solidFill>
            <a:prstDash val="solid"/>
          </a:ln>
        </p:spPr>
      </p:sp>
      <p:sp>
        <p:nvSpPr>
          <p:cNvPr id="76" name="text-57"/>
          <p:cNvSpPr txBox="1"/>
          <p:nvPr/>
        </p:nvSpPr>
        <p:spPr>
          <a:xfrm>
            <a:off x="7982712" y="6272784"/>
            <a:ext cx="1737360" cy="228600"/>
          </a:xfrm>
          <a:prstGeom prst="rect">
            <a:avLst/>
          </a:prstGeom>
          <a:noFill/>
          <a:ln/>
        </p:spPr>
        <p:txBody>
          <a:bodyPr wrap="square" lIns="0" tIns="0" rIns="0" bIns="0" rtlCol="0" anchor="ctr"/>
          <a:lstStyle/>
          <a:p>
            <a:pPr indent="0" marL="0">
              <a:buNone/>
            </a:pPr>
            <a:r>
              <a:rPr lang="en-US" sz="1050" dirty="0">
                <a:solidFill>
                  <a:schemeClr val="bg1">
                    <a:alpha val="70000"/>
                  </a:schemeClr>
                </a:solidFill>
              </a:rPr>
              <a:t>declared A2A peer edge</a:t>
            </a:r>
            <a:endParaRPr lang="en-US" sz="1050" dirty="0"/>
          </a:p>
        </p:txBody>
      </p:sp>
      <p:sp>
        <p:nvSpPr>
          <p:cNvPr id="77" name="link-58"/>
          <p:cNvSpPr/>
          <p:nvPr/>
        </p:nvSpPr>
        <p:spPr>
          <a:xfrm>
            <a:off x="9784080" y="6382512"/>
            <a:ext cx="365760" cy="0"/>
          </a:xfrm>
          <a:prstGeom prst="line">
            <a:avLst/>
          </a:prstGeom>
          <a:noFill/>
          <a:ln w="12700">
            <a:solidFill>
              <a:schemeClr val="accent6">
                <a:alpha val="60000"/>
              </a:schemeClr>
            </a:solidFill>
            <a:prstDash val="solid"/>
          </a:ln>
        </p:spPr>
      </p:sp>
      <p:sp>
        <p:nvSpPr>
          <p:cNvPr id="78" name="text-59"/>
          <p:cNvSpPr txBox="1"/>
          <p:nvPr/>
        </p:nvSpPr>
        <p:spPr>
          <a:xfrm>
            <a:off x="10222992" y="6272784"/>
            <a:ext cx="1463040" cy="228600"/>
          </a:xfrm>
          <a:prstGeom prst="rect">
            <a:avLst/>
          </a:prstGeom>
          <a:noFill/>
          <a:ln/>
        </p:spPr>
        <p:txBody>
          <a:bodyPr wrap="square" lIns="0" tIns="0" rIns="0" bIns="0" rtlCol="0" anchor="ctr"/>
          <a:lstStyle/>
          <a:p>
            <a:pPr indent="0" marL="0">
              <a:buNone/>
            </a:pPr>
            <a:r>
              <a:rPr lang="en-US" sz="1050" dirty="0">
                <a:solidFill>
                  <a:schemeClr val="bg1">
                    <a:alpha val="70000"/>
                  </a:schemeClr>
                </a:solidFill>
              </a:rPr>
              <a:t>orchestrator delegation</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ctr"/>
          <a:lstStyle/>
          <a:p>
            <a:pPr indent="0" marL="0">
              <a:buNone/>
            </a:pPr>
            <a:r>
              <a:rPr lang="en-US" sz="1200" b="1" spc="200" kern="0" dirty="0">
                <a:solidFill>
                  <a:schemeClr val="accent1"/>
                </a:solidFill>
              </a:rPr>
              <a:t>AGENDA</a:t>
            </a:r>
            <a:endParaRPr lang="en-US" sz="1200" dirty="0"/>
          </a:p>
        </p:txBody>
      </p:sp>
      <p:sp>
        <p:nvSpPr>
          <p:cNvPr id="3" name="Text 0"/>
          <p:cNvSpPr/>
          <p:nvPr>
            <p:ph idx="101" type="title" hasCustomPrompt="1"/>
          </p:nvPr>
        </p:nvSpPr>
        <p:spPr>
          <a:xfrm>
            <a:off x="548640" y="676656"/>
            <a:ext cx="11094415" cy="713232"/>
          </a:xfrm>
          <a:prstGeom prst="rect">
            <a:avLst/>
          </a:prstGeom>
          <a:noFill/>
          <a:ln/>
        </p:spPr>
        <p:txBody>
          <a:bodyPr wrap="square" lIns="0" tIns="0" rIns="0" bIns="0" rtlCol="0" anchor="t"/>
          <a:lstStyle/>
          <a:p>
            <a:pPr algn="l" indent="0" marL="0">
              <a:buNone/>
            </a:pPr>
            <a:r>
              <a:rPr lang="en-US" sz="3600" b="1" dirty="0">
                <a:solidFill>
                  <a:schemeClr val="tx1"/>
                </a:solidFill>
              </a:rPr>
              <a:t>What this review covers</a:t>
            </a:r>
            <a:endParaRPr lang="en-US" sz="3600" dirty="0"/>
          </a:p>
        </p:txBody>
      </p:sp>
      <p:sp>
        <p:nvSpPr>
          <p:cNvPr id="4" name="card-60"/>
          <p:cNvSpPr/>
          <p:nvPr/>
        </p:nvSpPr>
        <p:spPr>
          <a:xfrm>
            <a:off x="548640" y="1600200"/>
            <a:ext cx="2057400" cy="3429000"/>
          </a:xfrm>
          <a:prstGeom prst="roundRect">
            <a:avLst>
              <a:gd name="adj" fmla="val 5333"/>
            </a:avLst>
          </a:prstGeom>
          <a:solidFill>
            <a:schemeClr val="bg2"/>
          </a:solidFill>
          <a:ln/>
        </p:spPr>
      </p:sp>
      <p:sp>
        <p:nvSpPr>
          <p:cNvPr id="5" name="text-61"/>
          <p:cNvSpPr txBox="1"/>
          <p:nvPr/>
        </p:nvSpPr>
        <p:spPr>
          <a:xfrm>
            <a:off x="749808" y="1764792"/>
            <a:ext cx="914400" cy="548640"/>
          </a:xfrm>
          <a:prstGeom prst="rect">
            <a:avLst/>
          </a:prstGeom>
          <a:noFill/>
          <a:ln/>
        </p:spPr>
        <p:txBody>
          <a:bodyPr wrap="square" lIns="0" tIns="0" rIns="0" bIns="0" rtlCol="0" anchor="t"/>
          <a:lstStyle/>
          <a:p>
            <a:pPr indent="0" marL="0">
              <a:buNone/>
            </a:pPr>
            <a:r>
              <a:rPr lang="en-US" sz="3200" b="1" dirty="0">
                <a:solidFill>
                  <a:schemeClr val="accent1"/>
                </a:solidFill>
                <a:latin typeface="+mj-lt" pitchFamily="34" charset="0"/>
                <a:ea typeface="+mj-lt" pitchFamily="34" charset="-122"/>
                <a:cs typeface="+mj-lt" pitchFamily="34" charset="-120"/>
              </a:rPr>
              <a:t>01</a:t>
            </a:r>
            <a:endParaRPr lang="en-US" sz="3200" dirty="0"/>
          </a:p>
        </p:txBody>
      </p:sp>
      <p:sp>
        <p:nvSpPr>
          <p:cNvPr id="6" name="text-62"/>
          <p:cNvSpPr txBox="1"/>
          <p:nvPr/>
        </p:nvSpPr>
        <p:spPr>
          <a:xfrm>
            <a:off x="749808" y="2386584"/>
            <a:ext cx="1728216" cy="292608"/>
          </a:xfrm>
          <a:prstGeom prst="rect">
            <a:avLst/>
          </a:prstGeom>
          <a:noFill/>
          <a:ln/>
        </p:spPr>
        <p:txBody>
          <a:bodyPr wrap="square" lIns="0" tIns="0" rIns="0" bIns="0" rtlCol="0" anchor="t"/>
          <a:lstStyle/>
          <a:p>
            <a:pPr indent="0" marL="0">
              <a:buNone/>
            </a:pPr>
            <a:r>
              <a:rPr lang="en-US" sz="1600" b="1" dirty="0">
                <a:solidFill>
                  <a:schemeClr val="tx1"/>
                </a:solidFill>
              </a:rPr>
              <a:t>Introduction</a:t>
            </a:r>
            <a:endParaRPr lang="en-US" sz="1600" dirty="0"/>
          </a:p>
        </p:txBody>
      </p:sp>
      <p:sp>
        <p:nvSpPr>
          <p:cNvPr id="7" name="text-63"/>
          <p:cNvSpPr txBox="1"/>
          <p:nvPr/>
        </p:nvSpPr>
        <p:spPr>
          <a:xfrm>
            <a:off x="749808" y="2697480"/>
            <a:ext cx="1728216" cy="438912"/>
          </a:xfrm>
          <a:prstGeom prst="rect">
            <a:avLst/>
          </a:prstGeom>
          <a:noFill/>
          <a:ln/>
        </p:spPr>
        <p:txBody>
          <a:bodyPr wrap="square" lIns="0" tIns="0" rIns="0" bIns="0" rtlCol="0" anchor="t"/>
          <a:lstStyle/>
          <a:p>
            <a:pPr indent="0" marL="0">
              <a:buNone/>
            </a:pPr>
            <a:r>
              <a:rPr lang="en-US" sz="1200" i="1" dirty="0">
                <a:solidFill>
                  <a:schemeClr val="accent1"/>
                </a:solidFill>
              </a:rPr>
              <a:t>Why answers need sources</a:t>
            </a:r>
            <a:endParaRPr lang="en-US" sz="1200" dirty="0"/>
          </a:p>
        </p:txBody>
      </p:sp>
      <p:sp>
        <p:nvSpPr>
          <p:cNvPr id="8" name="text-64"/>
          <p:cNvSpPr txBox="1"/>
          <p:nvPr/>
        </p:nvSpPr>
        <p:spPr>
          <a:xfrm>
            <a:off x="749808" y="3227832"/>
            <a:ext cx="329184" cy="256032"/>
          </a:xfrm>
          <a:prstGeom prst="rect">
            <a:avLst/>
          </a:prstGeom>
          <a:noFill/>
          <a:ln/>
        </p:spPr>
        <p:txBody>
          <a:bodyPr wrap="square" lIns="0" tIns="0" rIns="0" bIns="0" rtlCol="0" anchor="ctr"/>
          <a:lstStyle/>
          <a:p>
            <a:pPr indent="0" marL="0">
              <a:buNone/>
            </a:pPr>
            <a:r>
              <a:rPr lang="en-US" sz="1100" b="1" dirty="0">
                <a:solidFill>
                  <a:schemeClr val="tx2"/>
                </a:solidFill>
              </a:rPr>
              <a:t>03</a:t>
            </a:r>
            <a:endParaRPr lang="en-US" sz="1100" dirty="0"/>
          </a:p>
        </p:txBody>
      </p:sp>
      <p:sp>
        <p:nvSpPr>
          <p:cNvPr id="9" name="text-65"/>
          <p:cNvSpPr txBox="1"/>
          <p:nvPr/>
        </p:nvSpPr>
        <p:spPr>
          <a:xfrm>
            <a:off x="1097280" y="3227832"/>
            <a:ext cx="1399032" cy="256032"/>
          </a:xfrm>
          <a:prstGeom prst="rect">
            <a:avLst/>
          </a:prstGeom>
          <a:noFill/>
          <a:ln/>
        </p:spPr>
        <p:txBody>
          <a:bodyPr wrap="square" lIns="0" tIns="0" rIns="0" bIns="0" rtlCol="0" anchor="ctr"/>
          <a:lstStyle/>
          <a:p>
            <a:pPr indent="0" marL="0">
              <a:buNone/>
            </a:pPr>
            <a:r>
              <a:rPr lang="en-US" sz="1250" dirty="0">
                <a:solidFill>
                  <a:schemeClr val="tx1"/>
                </a:solidFill>
              </a:rPr>
              <a:t>Problem statement</a:t>
            </a:r>
            <a:endParaRPr lang="en-US" sz="1250" dirty="0"/>
          </a:p>
        </p:txBody>
      </p:sp>
      <p:sp>
        <p:nvSpPr>
          <p:cNvPr id="10" name="text-66"/>
          <p:cNvSpPr txBox="1"/>
          <p:nvPr/>
        </p:nvSpPr>
        <p:spPr>
          <a:xfrm>
            <a:off x="749808" y="3566160"/>
            <a:ext cx="329184" cy="256032"/>
          </a:xfrm>
          <a:prstGeom prst="rect">
            <a:avLst/>
          </a:prstGeom>
          <a:noFill/>
          <a:ln/>
        </p:spPr>
        <p:txBody>
          <a:bodyPr wrap="square" lIns="0" tIns="0" rIns="0" bIns="0" rtlCol="0" anchor="ctr"/>
          <a:lstStyle/>
          <a:p>
            <a:pPr indent="0" marL="0">
              <a:buNone/>
            </a:pPr>
            <a:r>
              <a:rPr lang="en-US" sz="1100" b="1" dirty="0">
                <a:solidFill>
                  <a:schemeClr val="tx2"/>
                </a:solidFill>
              </a:rPr>
              <a:t>04</a:t>
            </a:r>
            <a:endParaRPr lang="en-US" sz="1100" dirty="0"/>
          </a:p>
        </p:txBody>
      </p:sp>
      <p:sp>
        <p:nvSpPr>
          <p:cNvPr id="11" name="text-67"/>
          <p:cNvSpPr txBox="1"/>
          <p:nvPr/>
        </p:nvSpPr>
        <p:spPr>
          <a:xfrm>
            <a:off x="1097280" y="3566160"/>
            <a:ext cx="1399032" cy="256032"/>
          </a:xfrm>
          <a:prstGeom prst="rect">
            <a:avLst/>
          </a:prstGeom>
          <a:noFill/>
          <a:ln/>
        </p:spPr>
        <p:txBody>
          <a:bodyPr wrap="square" lIns="0" tIns="0" rIns="0" bIns="0" rtlCol="0" anchor="ctr"/>
          <a:lstStyle/>
          <a:p>
            <a:pPr indent="0" marL="0">
              <a:buNone/>
            </a:pPr>
            <a:r>
              <a:rPr lang="en-US" sz="1250" dirty="0">
                <a:solidFill>
                  <a:schemeClr val="tx1"/>
                </a:solidFill>
              </a:rPr>
              <a:t>Literature survey</a:t>
            </a:r>
            <a:endParaRPr lang="en-US" sz="1250" dirty="0"/>
          </a:p>
        </p:txBody>
      </p:sp>
      <p:sp>
        <p:nvSpPr>
          <p:cNvPr id="12" name="text-68"/>
          <p:cNvSpPr txBox="1"/>
          <p:nvPr/>
        </p:nvSpPr>
        <p:spPr>
          <a:xfrm>
            <a:off x="749808" y="3904488"/>
            <a:ext cx="329184" cy="256032"/>
          </a:xfrm>
          <a:prstGeom prst="rect">
            <a:avLst/>
          </a:prstGeom>
          <a:noFill/>
          <a:ln/>
        </p:spPr>
        <p:txBody>
          <a:bodyPr wrap="square" lIns="0" tIns="0" rIns="0" bIns="0" rtlCol="0" anchor="ctr"/>
          <a:lstStyle/>
          <a:p>
            <a:pPr indent="0" marL="0">
              <a:buNone/>
            </a:pPr>
            <a:r>
              <a:rPr lang="en-US" sz="1100" b="1" dirty="0">
                <a:solidFill>
                  <a:schemeClr val="tx2"/>
                </a:solidFill>
              </a:rPr>
              <a:t>05</a:t>
            </a:r>
            <a:endParaRPr lang="en-US" sz="1100" dirty="0"/>
          </a:p>
        </p:txBody>
      </p:sp>
      <p:sp>
        <p:nvSpPr>
          <p:cNvPr id="13" name="text-69"/>
          <p:cNvSpPr txBox="1"/>
          <p:nvPr/>
        </p:nvSpPr>
        <p:spPr>
          <a:xfrm>
            <a:off x="1097280" y="3904488"/>
            <a:ext cx="1399032" cy="256032"/>
          </a:xfrm>
          <a:prstGeom prst="rect">
            <a:avLst/>
          </a:prstGeom>
          <a:noFill/>
          <a:ln/>
        </p:spPr>
        <p:txBody>
          <a:bodyPr wrap="square" lIns="0" tIns="0" rIns="0" bIns="0" rtlCol="0" anchor="ctr"/>
          <a:lstStyle/>
          <a:p>
            <a:pPr indent="0" marL="0">
              <a:buNone/>
            </a:pPr>
            <a:r>
              <a:rPr lang="en-US" sz="1250" dirty="0">
                <a:solidFill>
                  <a:schemeClr val="tx1"/>
                </a:solidFill>
              </a:rPr>
              <a:t>Objectives</a:t>
            </a:r>
            <a:endParaRPr lang="en-US" sz="1250" dirty="0"/>
          </a:p>
        </p:txBody>
      </p:sp>
      <p:sp>
        <p:nvSpPr>
          <p:cNvPr id="14" name="card-70"/>
          <p:cNvSpPr/>
          <p:nvPr/>
        </p:nvSpPr>
        <p:spPr>
          <a:xfrm>
            <a:off x="2807894" y="1600200"/>
            <a:ext cx="2057400" cy="3429000"/>
          </a:xfrm>
          <a:prstGeom prst="roundRect">
            <a:avLst>
              <a:gd name="adj" fmla="val 5333"/>
            </a:avLst>
          </a:prstGeom>
          <a:solidFill>
            <a:schemeClr val="bg2"/>
          </a:solidFill>
          <a:ln/>
        </p:spPr>
      </p:sp>
      <p:sp>
        <p:nvSpPr>
          <p:cNvPr id="15" name="text-71"/>
          <p:cNvSpPr txBox="1"/>
          <p:nvPr/>
        </p:nvSpPr>
        <p:spPr>
          <a:xfrm>
            <a:off x="3009062" y="1764792"/>
            <a:ext cx="914400" cy="548640"/>
          </a:xfrm>
          <a:prstGeom prst="rect">
            <a:avLst/>
          </a:prstGeom>
          <a:noFill/>
          <a:ln/>
        </p:spPr>
        <p:txBody>
          <a:bodyPr wrap="square" lIns="0" tIns="0" rIns="0" bIns="0" rtlCol="0" anchor="t"/>
          <a:lstStyle/>
          <a:p>
            <a:pPr indent="0" marL="0">
              <a:buNone/>
            </a:pPr>
            <a:r>
              <a:rPr lang="en-US" sz="3200" b="1" dirty="0">
                <a:solidFill>
                  <a:schemeClr val="accent1"/>
                </a:solidFill>
                <a:latin typeface="+mj-lt" pitchFamily="34" charset="0"/>
                <a:ea typeface="+mj-lt" pitchFamily="34" charset="-122"/>
                <a:cs typeface="+mj-lt" pitchFamily="34" charset="-120"/>
              </a:rPr>
              <a:t>02</a:t>
            </a:r>
            <a:endParaRPr lang="en-US" sz="3200" dirty="0"/>
          </a:p>
        </p:txBody>
      </p:sp>
      <p:sp>
        <p:nvSpPr>
          <p:cNvPr id="16" name="text-72"/>
          <p:cNvSpPr txBox="1"/>
          <p:nvPr/>
        </p:nvSpPr>
        <p:spPr>
          <a:xfrm>
            <a:off x="3009062" y="2386584"/>
            <a:ext cx="1728216" cy="292608"/>
          </a:xfrm>
          <a:prstGeom prst="rect">
            <a:avLst/>
          </a:prstGeom>
          <a:noFill/>
          <a:ln/>
        </p:spPr>
        <p:txBody>
          <a:bodyPr wrap="square" lIns="0" tIns="0" rIns="0" bIns="0" rtlCol="0" anchor="t"/>
          <a:lstStyle/>
          <a:p>
            <a:pPr indent="0" marL="0">
              <a:buNone/>
            </a:pPr>
            <a:r>
              <a:rPr lang="en-US" sz="1600" b="1" dirty="0">
                <a:solidFill>
                  <a:schemeClr val="tx1"/>
                </a:solidFill>
              </a:rPr>
              <a:t>System design</a:t>
            </a:r>
            <a:endParaRPr lang="en-US" sz="1600" dirty="0"/>
          </a:p>
        </p:txBody>
      </p:sp>
      <p:sp>
        <p:nvSpPr>
          <p:cNvPr id="17" name="text-73"/>
          <p:cNvSpPr txBox="1"/>
          <p:nvPr/>
        </p:nvSpPr>
        <p:spPr>
          <a:xfrm>
            <a:off x="3009062" y="2697480"/>
            <a:ext cx="1728216" cy="438912"/>
          </a:xfrm>
          <a:prstGeom prst="rect">
            <a:avLst/>
          </a:prstGeom>
          <a:noFill/>
          <a:ln/>
        </p:spPr>
        <p:txBody>
          <a:bodyPr wrap="square" lIns="0" tIns="0" rIns="0" bIns="0" rtlCol="0" anchor="t"/>
          <a:lstStyle/>
          <a:p>
            <a:pPr indent="0" marL="0">
              <a:buNone/>
            </a:pPr>
            <a:r>
              <a:rPr lang="en-US" sz="1200" i="1" dirty="0">
                <a:solidFill>
                  <a:schemeClr val="accent1"/>
                </a:solidFill>
              </a:rPr>
              <a:t>How the agents are built</a:t>
            </a:r>
            <a:endParaRPr lang="en-US" sz="1200" dirty="0"/>
          </a:p>
        </p:txBody>
      </p:sp>
      <p:sp>
        <p:nvSpPr>
          <p:cNvPr id="18" name="text-74"/>
          <p:cNvSpPr txBox="1"/>
          <p:nvPr/>
        </p:nvSpPr>
        <p:spPr>
          <a:xfrm>
            <a:off x="3009062" y="3227832"/>
            <a:ext cx="329184" cy="256032"/>
          </a:xfrm>
          <a:prstGeom prst="rect">
            <a:avLst/>
          </a:prstGeom>
          <a:noFill/>
          <a:ln/>
        </p:spPr>
        <p:txBody>
          <a:bodyPr wrap="square" lIns="0" tIns="0" rIns="0" bIns="0" rtlCol="0" anchor="ctr"/>
          <a:lstStyle/>
          <a:p>
            <a:pPr indent="0" marL="0">
              <a:buNone/>
            </a:pPr>
            <a:r>
              <a:rPr lang="en-US" sz="1100" b="1" dirty="0">
                <a:solidFill>
                  <a:schemeClr val="tx2"/>
                </a:solidFill>
              </a:rPr>
              <a:t>06</a:t>
            </a:r>
            <a:endParaRPr lang="en-US" sz="1100" dirty="0"/>
          </a:p>
        </p:txBody>
      </p:sp>
      <p:sp>
        <p:nvSpPr>
          <p:cNvPr id="19" name="text-75"/>
          <p:cNvSpPr txBox="1"/>
          <p:nvPr/>
        </p:nvSpPr>
        <p:spPr>
          <a:xfrm>
            <a:off x="3356534" y="3227832"/>
            <a:ext cx="1399032" cy="256032"/>
          </a:xfrm>
          <a:prstGeom prst="rect">
            <a:avLst/>
          </a:prstGeom>
          <a:noFill/>
          <a:ln/>
        </p:spPr>
        <p:txBody>
          <a:bodyPr wrap="square" lIns="0" tIns="0" rIns="0" bIns="0" rtlCol="0" anchor="ctr"/>
          <a:lstStyle/>
          <a:p>
            <a:pPr indent="0" marL="0">
              <a:buNone/>
            </a:pPr>
            <a:r>
              <a:rPr lang="en-US" sz="1250" dirty="0">
                <a:solidFill>
                  <a:schemeClr val="tx1"/>
                </a:solidFill>
              </a:rPr>
              <a:t>Ten sector agents</a:t>
            </a:r>
            <a:endParaRPr lang="en-US" sz="1250" dirty="0"/>
          </a:p>
        </p:txBody>
      </p:sp>
      <p:sp>
        <p:nvSpPr>
          <p:cNvPr id="20" name="text-76"/>
          <p:cNvSpPr txBox="1"/>
          <p:nvPr/>
        </p:nvSpPr>
        <p:spPr>
          <a:xfrm>
            <a:off x="3009062" y="3566160"/>
            <a:ext cx="329184" cy="256032"/>
          </a:xfrm>
          <a:prstGeom prst="rect">
            <a:avLst/>
          </a:prstGeom>
          <a:noFill/>
          <a:ln/>
        </p:spPr>
        <p:txBody>
          <a:bodyPr wrap="square" lIns="0" tIns="0" rIns="0" bIns="0" rtlCol="0" anchor="ctr"/>
          <a:lstStyle/>
          <a:p>
            <a:pPr indent="0" marL="0">
              <a:buNone/>
            </a:pPr>
            <a:r>
              <a:rPr lang="en-US" sz="1100" b="1" dirty="0">
                <a:solidFill>
                  <a:schemeClr val="tx2"/>
                </a:solidFill>
              </a:rPr>
              <a:t>07</a:t>
            </a:r>
            <a:endParaRPr lang="en-US" sz="1100" dirty="0"/>
          </a:p>
        </p:txBody>
      </p:sp>
      <p:sp>
        <p:nvSpPr>
          <p:cNvPr id="21" name="text-77"/>
          <p:cNvSpPr txBox="1"/>
          <p:nvPr/>
        </p:nvSpPr>
        <p:spPr>
          <a:xfrm>
            <a:off x="3356534" y="3566160"/>
            <a:ext cx="1399032" cy="256032"/>
          </a:xfrm>
          <a:prstGeom prst="rect">
            <a:avLst/>
          </a:prstGeom>
          <a:noFill/>
          <a:ln/>
        </p:spPr>
        <p:txBody>
          <a:bodyPr wrap="square" lIns="0" tIns="0" rIns="0" bIns="0" rtlCol="0" anchor="ctr"/>
          <a:lstStyle/>
          <a:p>
            <a:pPr indent="0" marL="0">
              <a:buNone/>
            </a:pPr>
            <a:r>
              <a:rPr lang="en-US" sz="1250" dirty="0">
                <a:solidFill>
                  <a:schemeClr val="tx1"/>
                </a:solidFill>
              </a:rPr>
              <a:t>Architecture</a:t>
            </a:r>
            <a:endParaRPr lang="en-US" sz="1250" dirty="0"/>
          </a:p>
        </p:txBody>
      </p:sp>
      <p:sp>
        <p:nvSpPr>
          <p:cNvPr id="22" name="text-78"/>
          <p:cNvSpPr txBox="1"/>
          <p:nvPr/>
        </p:nvSpPr>
        <p:spPr>
          <a:xfrm>
            <a:off x="3009062" y="3904488"/>
            <a:ext cx="329184" cy="256032"/>
          </a:xfrm>
          <a:prstGeom prst="rect">
            <a:avLst/>
          </a:prstGeom>
          <a:noFill/>
          <a:ln/>
        </p:spPr>
        <p:txBody>
          <a:bodyPr wrap="square" lIns="0" tIns="0" rIns="0" bIns="0" rtlCol="0" anchor="ctr"/>
          <a:lstStyle/>
          <a:p>
            <a:pPr indent="0" marL="0">
              <a:buNone/>
            </a:pPr>
            <a:r>
              <a:rPr lang="en-US" sz="1100" b="1" dirty="0">
                <a:solidFill>
                  <a:schemeClr val="tx2"/>
                </a:solidFill>
              </a:rPr>
              <a:t>08</a:t>
            </a:r>
            <a:endParaRPr lang="en-US" sz="1100" dirty="0"/>
          </a:p>
        </p:txBody>
      </p:sp>
      <p:sp>
        <p:nvSpPr>
          <p:cNvPr id="23" name="text-79"/>
          <p:cNvSpPr txBox="1"/>
          <p:nvPr/>
        </p:nvSpPr>
        <p:spPr>
          <a:xfrm>
            <a:off x="3356534" y="3904488"/>
            <a:ext cx="1399032" cy="256032"/>
          </a:xfrm>
          <a:prstGeom prst="rect">
            <a:avLst/>
          </a:prstGeom>
          <a:noFill/>
          <a:ln/>
        </p:spPr>
        <p:txBody>
          <a:bodyPr wrap="square" lIns="0" tIns="0" rIns="0" bIns="0" rtlCol="0" anchor="ctr"/>
          <a:lstStyle/>
          <a:p>
            <a:pPr indent="0" marL="0">
              <a:buNone/>
            </a:pPr>
            <a:r>
              <a:rPr lang="en-US" sz="1250" dirty="0">
                <a:solidFill>
                  <a:schemeClr val="tx1"/>
                </a:solidFill>
              </a:rPr>
              <a:t>Technology stack</a:t>
            </a:r>
            <a:endParaRPr lang="en-US" sz="1250" dirty="0"/>
          </a:p>
        </p:txBody>
      </p:sp>
      <p:sp>
        <p:nvSpPr>
          <p:cNvPr id="24" name="text-80"/>
          <p:cNvSpPr txBox="1"/>
          <p:nvPr/>
        </p:nvSpPr>
        <p:spPr>
          <a:xfrm>
            <a:off x="3009062" y="4242816"/>
            <a:ext cx="329184" cy="256032"/>
          </a:xfrm>
          <a:prstGeom prst="rect">
            <a:avLst/>
          </a:prstGeom>
          <a:noFill/>
          <a:ln/>
        </p:spPr>
        <p:txBody>
          <a:bodyPr wrap="square" lIns="0" tIns="0" rIns="0" bIns="0" rtlCol="0" anchor="ctr"/>
          <a:lstStyle/>
          <a:p>
            <a:pPr indent="0" marL="0">
              <a:buNone/>
            </a:pPr>
            <a:r>
              <a:rPr lang="en-US" sz="1100" b="1" dirty="0">
                <a:solidFill>
                  <a:schemeClr val="tx2"/>
                </a:solidFill>
              </a:rPr>
              <a:t>09</a:t>
            </a:r>
            <a:endParaRPr lang="en-US" sz="1100" dirty="0"/>
          </a:p>
        </p:txBody>
      </p:sp>
      <p:sp>
        <p:nvSpPr>
          <p:cNvPr id="25" name="text-81"/>
          <p:cNvSpPr txBox="1"/>
          <p:nvPr/>
        </p:nvSpPr>
        <p:spPr>
          <a:xfrm>
            <a:off x="3356534" y="4242816"/>
            <a:ext cx="1399032" cy="256032"/>
          </a:xfrm>
          <a:prstGeom prst="rect">
            <a:avLst/>
          </a:prstGeom>
          <a:noFill/>
          <a:ln/>
        </p:spPr>
        <p:txBody>
          <a:bodyPr wrap="square" lIns="0" tIns="0" rIns="0" bIns="0" rtlCol="0" anchor="ctr"/>
          <a:lstStyle/>
          <a:p>
            <a:pPr indent="0" marL="0">
              <a:buNone/>
            </a:pPr>
            <a:r>
              <a:rPr lang="en-US" sz="1250" dirty="0">
                <a:solidFill>
                  <a:schemeClr val="tx1"/>
                </a:solidFill>
              </a:rPr>
              <a:t>Orchestration</a:t>
            </a:r>
            <a:endParaRPr lang="en-US" sz="1250" dirty="0"/>
          </a:p>
        </p:txBody>
      </p:sp>
      <p:sp>
        <p:nvSpPr>
          <p:cNvPr id="26" name="text-82"/>
          <p:cNvSpPr txBox="1"/>
          <p:nvPr/>
        </p:nvSpPr>
        <p:spPr>
          <a:xfrm>
            <a:off x="3009062" y="4581144"/>
            <a:ext cx="329184" cy="256032"/>
          </a:xfrm>
          <a:prstGeom prst="rect">
            <a:avLst/>
          </a:prstGeom>
          <a:noFill/>
          <a:ln/>
        </p:spPr>
        <p:txBody>
          <a:bodyPr wrap="square" lIns="0" tIns="0" rIns="0" bIns="0" rtlCol="0" anchor="ctr"/>
          <a:lstStyle/>
          <a:p>
            <a:pPr indent="0" marL="0">
              <a:buNone/>
            </a:pPr>
            <a:r>
              <a:rPr lang="en-US" sz="1100" b="1" dirty="0">
                <a:solidFill>
                  <a:schemeClr val="tx2"/>
                </a:solidFill>
              </a:rPr>
              <a:t>10</a:t>
            </a:r>
            <a:endParaRPr lang="en-US" sz="1100" dirty="0"/>
          </a:p>
        </p:txBody>
      </p:sp>
      <p:sp>
        <p:nvSpPr>
          <p:cNvPr id="27" name="text-83"/>
          <p:cNvSpPr txBox="1"/>
          <p:nvPr/>
        </p:nvSpPr>
        <p:spPr>
          <a:xfrm>
            <a:off x="3356534" y="4581144"/>
            <a:ext cx="1399032" cy="256032"/>
          </a:xfrm>
          <a:prstGeom prst="rect">
            <a:avLst/>
          </a:prstGeom>
          <a:noFill/>
          <a:ln/>
        </p:spPr>
        <p:txBody>
          <a:bodyPr wrap="square" lIns="0" tIns="0" rIns="0" bIns="0" rtlCol="0" anchor="ctr"/>
          <a:lstStyle/>
          <a:p>
            <a:pPr indent="0" marL="0">
              <a:buNone/>
            </a:pPr>
            <a:r>
              <a:rPr lang="en-US" sz="1250" dirty="0">
                <a:solidFill>
                  <a:schemeClr val="tx1"/>
                </a:solidFill>
              </a:rPr>
              <a:t>A2A trust layer</a:t>
            </a:r>
            <a:endParaRPr lang="en-US" sz="1250" dirty="0"/>
          </a:p>
        </p:txBody>
      </p:sp>
      <p:sp>
        <p:nvSpPr>
          <p:cNvPr id="28" name="card-84"/>
          <p:cNvSpPr/>
          <p:nvPr/>
        </p:nvSpPr>
        <p:spPr>
          <a:xfrm>
            <a:off x="5067148" y="1600200"/>
            <a:ext cx="2057400" cy="3429000"/>
          </a:xfrm>
          <a:prstGeom prst="roundRect">
            <a:avLst>
              <a:gd name="adj" fmla="val 5333"/>
            </a:avLst>
          </a:prstGeom>
          <a:solidFill>
            <a:schemeClr val="bg2"/>
          </a:solidFill>
          <a:ln/>
        </p:spPr>
      </p:sp>
      <p:sp>
        <p:nvSpPr>
          <p:cNvPr id="29" name="text-85"/>
          <p:cNvSpPr txBox="1"/>
          <p:nvPr/>
        </p:nvSpPr>
        <p:spPr>
          <a:xfrm>
            <a:off x="5268316" y="1764792"/>
            <a:ext cx="914400" cy="548640"/>
          </a:xfrm>
          <a:prstGeom prst="rect">
            <a:avLst/>
          </a:prstGeom>
          <a:noFill/>
          <a:ln/>
        </p:spPr>
        <p:txBody>
          <a:bodyPr wrap="square" lIns="0" tIns="0" rIns="0" bIns="0" rtlCol="0" anchor="t"/>
          <a:lstStyle/>
          <a:p>
            <a:pPr indent="0" marL="0">
              <a:buNone/>
            </a:pPr>
            <a:r>
              <a:rPr lang="en-US" sz="3200" b="1" dirty="0">
                <a:solidFill>
                  <a:schemeClr val="accent1"/>
                </a:solidFill>
                <a:latin typeface="+mj-lt" pitchFamily="34" charset="0"/>
                <a:ea typeface="+mj-lt" pitchFamily="34" charset="-122"/>
                <a:cs typeface="+mj-lt" pitchFamily="34" charset="-120"/>
              </a:rPr>
              <a:t>03</a:t>
            </a:r>
            <a:endParaRPr lang="en-US" sz="3200" dirty="0"/>
          </a:p>
        </p:txBody>
      </p:sp>
      <p:sp>
        <p:nvSpPr>
          <p:cNvPr id="30" name="text-86"/>
          <p:cNvSpPr txBox="1"/>
          <p:nvPr/>
        </p:nvSpPr>
        <p:spPr>
          <a:xfrm>
            <a:off x="5268316" y="2386584"/>
            <a:ext cx="1728216" cy="292608"/>
          </a:xfrm>
          <a:prstGeom prst="rect">
            <a:avLst/>
          </a:prstGeom>
          <a:noFill/>
          <a:ln/>
        </p:spPr>
        <p:txBody>
          <a:bodyPr wrap="square" lIns="0" tIns="0" rIns="0" bIns="0" rtlCol="0" anchor="t"/>
          <a:lstStyle/>
          <a:p>
            <a:pPr indent="0" marL="0">
              <a:buNone/>
            </a:pPr>
            <a:r>
              <a:rPr lang="en-US" sz="1600" b="1" dirty="0">
                <a:solidFill>
                  <a:schemeClr val="tx1"/>
                </a:solidFill>
              </a:rPr>
              <a:t>Causal intelligence</a:t>
            </a:r>
            <a:endParaRPr lang="en-US" sz="1600" dirty="0"/>
          </a:p>
        </p:txBody>
      </p:sp>
      <p:sp>
        <p:nvSpPr>
          <p:cNvPr id="31" name="text-87"/>
          <p:cNvSpPr txBox="1"/>
          <p:nvPr/>
        </p:nvSpPr>
        <p:spPr>
          <a:xfrm>
            <a:off x="5268316" y="2697480"/>
            <a:ext cx="1728216" cy="438912"/>
          </a:xfrm>
          <a:prstGeom prst="rect">
            <a:avLst/>
          </a:prstGeom>
          <a:noFill/>
          <a:ln/>
        </p:spPr>
        <p:txBody>
          <a:bodyPr wrap="square" lIns="0" tIns="0" rIns="0" bIns="0" rtlCol="0" anchor="t"/>
          <a:lstStyle/>
          <a:p>
            <a:pPr indent="0" marL="0">
              <a:buNone/>
            </a:pPr>
            <a:r>
              <a:rPr lang="en-US" sz="1200" i="1" dirty="0">
                <a:solidFill>
                  <a:schemeClr val="accent1"/>
                </a:solidFill>
              </a:rPr>
              <a:t>How shocks are explained</a:t>
            </a:r>
            <a:endParaRPr lang="en-US" sz="1200" dirty="0"/>
          </a:p>
        </p:txBody>
      </p:sp>
      <p:sp>
        <p:nvSpPr>
          <p:cNvPr id="32" name="text-88"/>
          <p:cNvSpPr txBox="1"/>
          <p:nvPr/>
        </p:nvSpPr>
        <p:spPr>
          <a:xfrm>
            <a:off x="5268316" y="3227832"/>
            <a:ext cx="329184" cy="256032"/>
          </a:xfrm>
          <a:prstGeom prst="rect">
            <a:avLst/>
          </a:prstGeom>
          <a:noFill/>
          <a:ln/>
        </p:spPr>
        <p:txBody>
          <a:bodyPr wrap="square" lIns="0" tIns="0" rIns="0" bIns="0" rtlCol="0" anchor="ctr"/>
          <a:lstStyle/>
          <a:p>
            <a:pPr indent="0" marL="0">
              <a:buNone/>
            </a:pPr>
            <a:r>
              <a:rPr lang="en-US" sz="1100" b="1" dirty="0">
                <a:solidFill>
                  <a:schemeClr val="tx2"/>
                </a:solidFill>
              </a:rPr>
              <a:t>11</a:t>
            </a:r>
            <a:endParaRPr lang="en-US" sz="1100" dirty="0"/>
          </a:p>
        </p:txBody>
      </p:sp>
      <p:sp>
        <p:nvSpPr>
          <p:cNvPr id="33" name="text-89"/>
          <p:cNvSpPr txBox="1"/>
          <p:nvPr/>
        </p:nvSpPr>
        <p:spPr>
          <a:xfrm>
            <a:off x="5615788" y="3227832"/>
            <a:ext cx="1399032" cy="256032"/>
          </a:xfrm>
          <a:prstGeom prst="rect">
            <a:avLst/>
          </a:prstGeom>
          <a:noFill/>
          <a:ln/>
        </p:spPr>
        <p:txBody>
          <a:bodyPr wrap="square" lIns="0" tIns="0" rIns="0" bIns="0" rtlCol="0" anchor="ctr"/>
          <a:lstStyle/>
          <a:p>
            <a:pPr indent="0" marL="0">
              <a:buNone/>
            </a:pPr>
            <a:r>
              <a:rPr lang="en-US" sz="1250" dirty="0">
                <a:solidFill>
                  <a:schemeClr val="tx1"/>
                </a:solidFill>
              </a:rPr>
              <a:t>Knowledge graph</a:t>
            </a:r>
            <a:endParaRPr lang="en-US" sz="1250" dirty="0"/>
          </a:p>
        </p:txBody>
      </p:sp>
      <p:sp>
        <p:nvSpPr>
          <p:cNvPr id="34" name="text-90"/>
          <p:cNvSpPr txBox="1"/>
          <p:nvPr/>
        </p:nvSpPr>
        <p:spPr>
          <a:xfrm>
            <a:off x="5268316" y="3566160"/>
            <a:ext cx="329184" cy="256032"/>
          </a:xfrm>
          <a:prstGeom prst="rect">
            <a:avLst/>
          </a:prstGeom>
          <a:noFill/>
          <a:ln/>
        </p:spPr>
        <p:txBody>
          <a:bodyPr wrap="square" lIns="0" tIns="0" rIns="0" bIns="0" rtlCol="0" anchor="ctr"/>
          <a:lstStyle/>
          <a:p>
            <a:pPr indent="0" marL="0">
              <a:buNone/>
            </a:pPr>
            <a:r>
              <a:rPr lang="en-US" sz="1100" b="1" dirty="0">
                <a:solidFill>
                  <a:schemeClr val="tx2"/>
                </a:solidFill>
              </a:rPr>
              <a:t>12</a:t>
            </a:r>
            <a:endParaRPr lang="en-US" sz="1100" dirty="0"/>
          </a:p>
        </p:txBody>
      </p:sp>
      <p:sp>
        <p:nvSpPr>
          <p:cNvPr id="35" name="text-91"/>
          <p:cNvSpPr txBox="1"/>
          <p:nvPr/>
        </p:nvSpPr>
        <p:spPr>
          <a:xfrm>
            <a:off x="5615788" y="3566160"/>
            <a:ext cx="1399032" cy="256032"/>
          </a:xfrm>
          <a:prstGeom prst="rect">
            <a:avLst/>
          </a:prstGeom>
          <a:noFill/>
          <a:ln/>
        </p:spPr>
        <p:txBody>
          <a:bodyPr wrap="square" lIns="0" tIns="0" rIns="0" bIns="0" rtlCol="0" anchor="ctr"/>
          <a:lstStyle/>
          <a:p>
            <a:pPr indent="0" marL="0">
              <a:buNone/>
            </a:pPr>
            <a:r>
              <a:rPr lang="en-US" sz="1250" dirty="0">
                <a:solidFill>
                  <a:schemeClr val="tx1"/>
                </a:solidFill>
              </a:rPr>
              <a:t>Scenario engine</a:t>
            </a:r>
            <a:endParaRPr lang="en-US" sz="1250" dirty="0"/>
          </a:p>
        </p:txBody>
      </p:sp>
      <p:sp>
        <p:nvSpPr>
          <p:cNvPr id="36" name="text-92"/>
          <p:cNvSpPr txBox="1"/>
          <p:nvPr/>
        </p:nvSpPr>
        <p:spPr>
          <a:xfrm>
            <a:off x="5268316" y="3904488"/>
            <a:ext cx="329184" cy="256032"/>
          </a:xfrm>
          <a:prstGeom prst="rect">
            <a:avLst/>
          </a:prstGeom>
          <a:noFill/>
          <a:ln/>
        </p:spPr>
        <p:txBody>
          <a:bodyPr wrap="square" lIns="0" tIns="0" rIns="0" bIns="0" rtlCol="0" anchor="ctr"/>
          <a:lstStyle/>
          <a:p>
            <a:pPr indent="0" marL="0">
              <a:buNone/>
            </a:pPr>
            <a:r>
              <a:rPr lang="en-US" sz="1100" b="1" dirty="0">
                <a:solidFill>
                  <a:schemeClr val="tx2"/>
                </a:solidFill>
              </a:rPr>
              <a:t>13</a:t>
            </a:r>
            <a:endParaRPr lang="en-US" sz="1100" dirty="0"/>
          </a:p>
        </p:txBody>
      </p:sp>
      <p:sp>
        <p:nvSpPr>
          <p:cNvPr id="37" name="text-93"/>
          <p:cNvSpPr txBox="1"/>
          <p:nvPr/>
        </p:nvSpPr>
        <p:spPr>
          <a:xfrm>
            <a:off x="5615788" y="3904488"/>
            <a:ext cx="1399032" cy="256032"/>
          </a:xfrm>
          <a:prstGeom prst="rect">
            <a:avLst/>
          </a:prstGeom>
          <a:noFill/>
          <a:ln/>
        </p:spPr>
        <p:txBody>
          <a:bodyPr wrap="square" lIns="0" tIns="0" rIns="0" bIns="0" rtlCol="0" anchor="ctr"/>
          <a:lstStyle/>
          <a:p>
            <a:pPr indent="0" marL="0">
              <a:buNone/>
            </a:pPr>
            <a:r>
              <a:rPr lang="en-US" sz="1250" dirty="0">
                <a:solidFill>
                  <a:schemeClr val="tx1"/>
                </a:solidFill>
              </a:rPr>
              <a:t>Causal Lab</a:t>
            </a:r>
            <a:endParaRPr lang="en-US" sz="1250" dirty="0"/>
          </a:p>
        </p:txBody>
      </p:sp>
      <p:sp>
        <p:nvSpPr>
          <p:cNvPr id="38" name="text-94"/>
          <p:cNvSpPr txBox="1"/>
          <p:nvPr/>
        </p:nvSpPr>
        <p:spPr>
          <a:xfrm>
            <a:off x="5268316" y="4242816"/>
            <a:ext cx="329184" cy="256032"/>
          </a:xfrm>
          <a:prstGeom prst="rect">
            <a:avLst/>
          </a:prstGeom>
          <a:noFill/>
          <a:ln/>
        </p:spPr>
        <p:txBody>
          <a:bodyPr wrap="square" lIns="0" tIns="0" rIns="0" bIns="0" rtlCol="0" anchor="ctr"/>
          <a:lstStyle/>
          <a:p>
            <a:pPr indent="0" marL="0">
              <a:buNone/>
            </a:pPr>
            <a:r>
              <a:rPr lang="en-US" sz="1100" b="1" dirty="0">
                <a:solidFill>
                  <a:schemeClr val="tx2"/>
                </a:solidFill>
              </a:rPr>
              <a:t>14</a:t>
            </a:r>
            <a:endParaRPr lang="en-US" sz="1100" dirty="0"/>
          </a:p>
        </p:txBody>
      </p:sp>
      <p:sp>
        <p:nvSpPr>
          <p:cNvPr id="39" name="text-95"/>
          <p:cNvSpPr txBox="1"/>
          <p:nvPr/>
        </p:nvSpPr>
        <p:spPr>
          <a:xfrm>
            <a:off x="5615788" y="4242816"/>
            <a:ext cx="1399032" cy="256032"/>
          </a:xfrm>
          <a:prstGeom prst="rect">
            <a:avLst/>
          </a:prstGeom>
          <a:noFill/>
          <a:ln/>
        </p:spPr>
        <p:txBody>
          <a:bodyPr wrap="square" lIns="0" tIns="0" rIns="0" bIns="0" rtlCol="0" anchor="ctr"/>
          <a:lstStyle/>
          <a:p>
            <a:pPr indent="0" marL="0">
              <a:buNone/>
            </a:pPr>
            <a:r>
              <a:rPr lang="en-US" sz="1250" dirty="0">
                <a:solidFill>
                  <a:schemeClr val="tx1"/>
                </a:solidFill>
              </a:rPr>
              <a:t>Claim verification</a:t>
            </a:r>
            <a:endParaRPr lang="en-US" sz="1250" dirty="0"/>
          </a:p>
        </p:txBody>
      </p:sp>
      <p:sp>
        <p:nvSpPr>
          <p:cNvPr id="40" name="card-96"/>
          <p:cNvSpPr/>
          <p:nvPr/>
        </p:nvSpPr>
        <p:spPr>
          <a:xfrm>
            <a:off x="7326401" y="1600200"/>
            <a:ext cx="2057400" cy="3429000"/>
          </a:xfrm>
          <a:prstGeom prst="roundRect">
            <a:avLst>
              <a:gd name="adj" fmla="val 5333"/>
            </a:avLst>
          </a:prstGeom>
          <a:solidFill>
            <a:schemeClr val="bg2"/>
          </a:solidFill>
          <a:ln/>
        </p:spPr>
      </p:sp>
      <p:sp>
        <p:nvSpPr>
          <p:cNvPr id="41" name="text-97"/>
          <p:cNvSpPr txBox="1"/>
          <p:nvPr/>
        </p:nvSpPr>
        <p:spPr>
          <a:xfrm>
            <a:off x="7527569" y="1764792"/>
            <a:ext cx="914400" cy="548640"/>
          </a:xfrm>
          <a:prstGeom prst="rect">
            <a:avLst/>
          </a:prstGeom>
          <a:noFill/>
          <a:ln/>
        </p:spPr>
        <p:txBody>
          <a:bodyPr wrap="square" lIns="0" tIns="0" rIns="0" bIns="0" rtlCol="0" anchor="t"/>
          <a:lstStyle/>
          <a:p>
            <a:pPr indent="0" marL="0">
              <a:buNone/>
            </a:pPr>
            <a:r>
              <a:rPr lang="en-US" sz="3200" b="1" dirty="0">
                <a:solidFill>
                  <a:schemeClr val="accent1"/>
                </a:solidFill>
                <a:latin typeface="+mj-lt" pitchFamily="34" charset="0"/>
                <a:ea typeface="+mj-lt" pitchFamily="34" charset="-122"/>
                <a:cs typeface="+mj-lt" pitchFamily="34" charset="-120"/>
              </a:rPr>
              <a:t>04</a:t>
            </a:r>
            <a:endParaRPr lang="en-US" sz="3200" dirty="0"/>
          </a:p>
        </p:txBody>
      </p:sp>
      <p:sp>
        <p:nvSpPr>
          <p:cNvPr id="42" name="text-98"/>
          <p:cNvSpPr txBox="1"/>
          <p:nvPr/>
        </p:nvSpPr>
        <p:spPr>
          <a:xfrm>
            <a:off x="7527569" y="2386584"/>
            <a:ext cx="1728216" cy="292608"/>
          </a:xfrm>
          <a:prstGeom prst="rect">
            <a:avLst/>
          </a:prstGeom>
          <a:noFill/>
          <a:ln/>
        </p:spPr>
        <p:txBody>
          <a:bodyPr wrap="square" lIns="0" tIns="0" rIns="0" bIns="0" rtlCol="0" anchor="t"/>
          <a:lstStyle/>
          <a:p>
            <a:pPr indent="0" marL="0">
              <a:buNone/>
            </a:pPr>
            <a:r>
              <a:rPr lang="en-US" sz="1600" b="1" dirty="0">
                <a:solidFill>
                  <a:schemeClr val="tx1"/>
                </a:solidFill>
              </a:rPr>
              <a:t>Product and results</a:t>
            </a:r>
            <a:endParaRPr lang="en-US" sz="1600" dirty="0"/>
          </a:p>
        </p:txBody>
      </p:sp>
      <p:sp>
        <p:nvSpPr>
          <p:cNvPr id="43" name="text-99"/>
          <p:cNvSpPr txBox="1"/>
          <p:nvPr/>
        </p:nvSpPr>
        <p:spPr>
          <a:xfrm>
            <a:off x="7527569" y="2697480"/>
            <a:ext cx="1728216" cy="438912"/>
          </a:xfrm>
          <a:prstGeom prst="rect">
            <a:avLst/>
          </a:prstGeom>
          <a:noFill/>
          <a:ln/>
        </p:spPr>
        <p:txBody>
          <a:bodyPr wrap="square" lIns="0" tIns="0" rIns="0" bIns="0" rtlCol="0" anchor="t"/>
          <a:lstStyle/>
          <a:p>
            <a:pPr indent="0" marL="0">
              <a:buNone/>
            </a:pPr>
            <a:r>
              <a:rPr lang="en-US" sz="1200" i="1" dirty="0">
                <a:solidFill>
                  <a:schemeClr val="accent1"/>
                </a:solidFill>
              </a:rPr>
              <a:t>What runs and works</a:t>
            </a:r>
            <a:endParaRPr lang="en-US" sz="1200" dirty="0"/>
          </a:p>
        </p:txBody>
      </p:sp>
      <p:sp>
        <p:nvSpPr>
          <p:cNvPr id="44" name="text-100"/>
          <p:cNvSpPr txBox="1"/>
          <p:nvPr/>
        </p:nvSpPr>
        <p:spPr>
          <a:xfrm>
            <a:off x="7527569" y="3227832"/>
            <a:ext cx="329184" cy="256032"/>
          </a:xfrm>
          <a:prstGeom prst="rect">
            <a:avLst/>
          </a:prstGeom>
          <a:noFill/>
          <a:ln/>
        </p:spPr>
        <p:txBody>
          <a:bodyPr wrap="square" lIns="0" tIns="0" rIns="0" bIns="0" rtlCol="0" anchor="ctr"/>
          <a:lstStyle/>
          <a:p>
            <a:pPr indent="0" marL="0">
              <a:buNone/>
            </a:pPr>
            <a:r>
              <a:rPr lang="en-US" sz="1100" b="1" dirty="0">
                <a:solidFill>
                  <a:schemeClr val="tx2"/>
                </a:solidFill>
              </a:rPr>
              <a:t>15</a:t>
            </a:r>
            <a:endParaRPr lang="en-US" sz="1100" dirty="0"/>
          </a:p>
        </p:txBody>
      </p:sp>
      <p:sp>
        <p:nvSpPr>
          <p:cNvPr id="45" name="text-101"/>
          <p:cNvSpPr txBox="1"/>
          <p:nvPr/>
        </p:nvSpPr>
        <p:spPr>
          <a:xfrm>
            <a:off x="7875041" y="3227832"/>
            <a:ext cx="1399032" cy="256032"/>
          </a:xfrm>
          <a:prstGeom prst="rect">
            <a:avLst/>
          </a:prstGeom>
          <a:noFill/>
          <a:ln/>
        </p:spPr>
        <p:txBody>
          <a:bodyPr wrap="square" lIns="0" tIns="0" rIns="0" bIns="0" rtlCol="0" anchor="ctr"/>
          <a:lstStyle/>
          <a:p>
            <a:pPr indent="0" marL="0">
              <a:buNone/>
            </a:pPr>
            <a:r>
              <a:rPr lang="en-US" sz="1250" dirty="0">
                <a:solidFill>
                  <a:schemeClr val="tx1"/>
                </a:solidFill>
              </a:rPr>
              <a:t>Product showcase</a:t>
            </a:r>
            <a:endParaRPr lang="en-US" sz="1250" dirty="0"/>
          </a:p>
        </p:txBody>
      </p:sp>
      <p:sp>
        <p:nvSpPr>
          <p:cNvPr id="46" name="text-102"/>
          <p:cNvSpPr txBox="1"/>
          <p:nvPr/>
        </p:nvSpPr>
        <p:spPr>
          <a:xfrm>
            <a:off x="7527569" y="3566160"/>
            <a:ext cx="329184" cy="256032"/>
          </a:xfrm>
          <a:prstGeom prst="rect">
            <a:avLst/>
          </a:prstGeom>
          <a:noFill/>
          <a:ln/>
        </p:spPr>
        <p:txBody>
          <a:bodyPr wrap="square" lIns="0" tIns="0" rIns="0" bIns="0" rtlCol="0" anchor="ctr"/>
          <a:lstStyle/>
          <a:p>
            <a:pPr indent="0" marL="0">
              <a:buNone/>
            </a:pPr>
            <a:r>
              <a:rPr lang="en-US" sz="1100" b="1" dirty="0">
                <a:solidFill>
                  <a:schemeClr val="tx2"/>
                </a:solidFill>
              </a:rPr>
              <a:t>16</a:t>
            </a:r>
            <a:endParaRPr lang="en-US" sz="1100" dirty="0"/>
          </a:p>
        </p:txBody>
      </p:sp>
      <p:sp>
        <p:nvSpPr>
          <p:cNvPr id="47" name="text-103"/>
          <p:cNvSpPr txBox="1"/>
          <p:nvPr/>
        </p:nvSpPr>
        <p:spPr>
          <a:xfrm>
            <a:off x="7875041" y="3566160"/>
            <a:ext cx="1399032" cy="256032"/>
          </a:xfrm>
          <a:prstGeom prst="rect">
            <a:avLst/>
          </a:prstGeom>
          <a:noFill/>
          <a:ln/>
        </p:spPr>
        <p:txBody>
          <a:bodyPr wrap="square" lIns="0" tIns="0" rIns="0" bIns="0" rtlCol="0" anchor="ctr"/>
          <a:lstStyle/>
          <a:p>
            <a:pPr indent="0" marL="0">
              <a:buNone/>
            </a:pPr>
            <a:r>
              <a:rPr lang="en-US" sz="1250" dirty="0">
                <a:solidFill>
                  <a:schemeClr val="tx1"/>
                </a:solidFill>
              </a:rPr>
              <a:t>Measured results</a:t>
            </a:r>
            <a:endParaRPr lang="en-US" sz="1250" dirty="0"/>
          </a:p>
        </p:txBody>
      </p:sp>
      <p:sp>
        <p:nvSpPr>
          <p:cNvPr id="48" name="text-104"/>
          <p:cNvSpPr txBox="1"/>
          <p:nvPr/>
        </p:nvSpPr>
        <p:spPr>
          <a:xfrm>
            <a:off x="7527569" y="3904488"/>
            <a:ext cx="329184" cy="256032"/>
          </a:xfrm>
          <a:prstGeom prst="rect">
            <a:avLst/>
          </a:prstGeom>
          <a:noFill/>
          <a:ln/>
        </p:spPr>
        <p:txBody>
          <a:bodyPr wrap="square" lIns="0" tIns="0" rIns="0" bIns="0" rtlCol="0" anchor="ctr"/>
          <a:lstStyle/>
          <a:p>
            <a:pPr indent="0" marL="0">
              <a:buNone/>
            </a:pPr>
            <a:r>
              <a:rPr lang="en-US" sz="1100" b="1" dirty="0">
                <a:solidFill>
                  <a:schemeClr val="tx2"/>
                </a:solidFill>
              </a:rPr>
              <a:t>17</a:t>
            </a:r>
            <a:endParaRPr lang="en-US" sz="1100" dirty="0"/>
          </a:p>
        </p:txBody>
      </p:sp>
      <p:sp>
        <p:nvSpPr>
          <p:cNvPr id="49" name="text-105"/>
          <p:cNvSpPr txBox="1"/>
          <p:nvPr/>
        </p:nvSpPr>
        <p:spPr>
          <a:xfrm>
            <a:off x="7875041" y="3904488"/>
            <a:ext cx="1399032" cy="256032"/>
          </a:xfrm>
          <a:prstGeom prst="rect">
            <a:avLst/>
          </a:prstGeom>
          <a:noFill/>
          <a:ln/>
        </p:spPr>
        <p:txBody>
          <a:bodyPr wrap="square" lIns="0" tIns="0" rIns="0" bIns="0" rtlCol="0" anchor="ctr"/>
          <a:lstStyle/>
          <a:p>
            <a:pPr indent="0" marL="0">
              <a:buNone/>
            </a:pPr>
            <a:r>
              <a:rPr lang="en-US" sz="1250" dirty="0">
                <a:solidFill>
                  <a:schemeClr val="tx1"/>
                </a:solidFill>
              </a:rPr>
              <a:t>Key contributions</a:t>
            </a:r>
            <a:endParaRPr lang="en-US" sz="1250" dirty="0"/>
          </a:p>
        </p:txBody>
      </p:sp>
      <p:sp>
        <p:nvSpPr>
          <p:cNvPr id="50" name="text-106"/>
          <p:cNvSpPr txBox="1"/>
          <p:nvPr/>
        </p:nvSpPr>
        <p:spPr>
          <a:xfrm>
            <a:off x="7527569" y="4242816"/>
            <a:ext cx="329184" cy="256032"/>
          </a:xfrm>
          <a:prstGeom prst="rect">
            <a:avLst/>
          </a:prstGeom>
          <a:noFill/>
          <a:ln/>
        </p:spPr>
        <p:txBody>
          <a:bodyPr wrap="square" lIns="0" tIns="0" rIns="0" bIns="0" rtlCol="0" anchor="ctr"/>
          <a:lstStyle/>
          <a:p>
            <a:pPr indent="0" marL="0">
              <a:buNone/>
            </a:pPr>
            <a:r>
              <a:rPr lang="en-US" sz="1100" b="1" dirty="0">
                <a:solidFill>
                  <a:schemeClr val="tx2"/>
                </a:solidFill>
              </a:rPr>
              <a:t>18</a:t>
            </a:r>
            <a:endParaRPr lang="en-US" sz="1100" dirty="0"/>
          </a:p>
        </p:txBody>
      </p:sp>
      <p:sp>
        <p:nvSpPr>
          <p:cNvPr id="51" name="text-107"/>
          <p:cNvSpPr txBox="1"/>
          <p:nvPr/>
        </p:nvSpPr>
        <p:spPr>
          <a:xfrm>
            <a:off x="7875041" y="4242816"/>
            <a:ext cx="1399032" cy="256032"/>
          </a:xfrm>
          <a:prstGeom prst="rect">
            <a:avLst/>
          </a:prstGeom>
          <a:noFill/>
          <a:ln/>
        </p:spPr>
        <p:txBody>
          <a:bodyPr wrap="square" lIns="0" tIns="0" rIns="0" bIns="0" rtlCol="0" anchor="ctr"/>
          <a:lstStyle/>
          <a:p>
            <a:pPr indent="0" marL="0">
              <a:buNone/>
            </a:pPr>
            <a:r>
              <a:rPr lang="en-US" sz="1250" dirty="0">
                <a:solidFill>
                  <a:schemeClr val="tx1"/>
                </a:solidFill>
              </a:rPr>
              <a:t>Sample cited answer</a:t>
            </a:r>
            <a:endParaRPr lang="en-US" sz="1250" dirty="0"/>
          </a:p>
        </p:txBody>
      </p:sp>
      <p:sp>
        <p:nvSpPr>
          <p:cNvPr id="52" name="card-108"/>
          <p:cNvSpPr/>
          <p:nvPr/>
        </p:nvSpPr>
        <p:spPr>
          <a:xfrm>
            <a:off x="9585655" y="1600200"/>
            <a:ext cx="2057400" cy="3429000"/>
          </a:xfrm>
          <a:prstGeom prst="roundRect">
            <a:avLst>
              <a:gd name="adj" fmla="val 5333"/>
            </a:avLst>
          </a:prstGeom>
          <a:solidFill>
            <a:schemeClr val="bg2"/>
          </a:solidFill>
          <a:ln/>
        </p:spPr>
      </p:sp>
      <p:sp>
        <p:nvSpPr>
          <p:cNvPr id="53" name="text-109"/>
          <p:cNvSpPr txBox="1"/>
          <p:nvPr/>
        </p:nvSpPr>
        <p:spPr>
          <a:xfrm>
            <a:off x="9786823" y="1764792"/>
            <a:ext cx="914400" cy="548640"/>
          </a:xfrm>
          <a:prstGeom prst="rect">
            <a:avLst/>
          </a:prstGeom>
          <a:noFill/>
          <a:ln/>
        </p:spPr>
        <p:txBody>
          <a:bodyPr wrap="square" lIns="0" tIns="0" rIns="0" bIns="0" rtlCol="0" anchor="t"/>
          <a:lstStyle/>
          <a:p>
            <a:pPr indent="0" marL="0">
              <a:buNone/>
            </a:pPr>
            <a:r>
              <a:rPr lang="en-US" sz="3200" b="1" dirty="0">
                <a:solidFill>
                  <a:schemeClr val="accent1"/>
                </a:solidFill>
                <a:latin typeface="+mj-lt" pitchFamily="34" charset="0"/>
                <a:ea typeface="+mj-lt" pitchFamily="34" charset="-122"/>
                <a:cs typeface="+mj-lt" pitchFamily="34" charset="-120"/>
              </a:rPr>
              <a:t>05</a:t>
            </a:r>
            <a:endParaRPr lang="en-US" sz="3200" dirty="0"/>
          </a:p>
        </p:txBody>
      </p:sp>
      <p:sp>
        <p:nvSpPr>
          <p:cNvPr id="54" name="text-110"/>
          <p:cNvSpPr txBox="1"/>
          <p:nvPr/>
        </p:nvSpPr>
        <p:spPr>
          <a:xfrm>
            <a:off x="9786823" y="2386584"/>
            <a:ext cx="1728216" cy="292608"/>
          </a:xfrm>
          <a:prstGeom prst="rect">
            <a:avLst/>
          </a:prstGeom>
          <a:noFill/>
          <a:ln/>
        </p:spPr>
        <p:txBody>
          <a:bodyPr wrap="square" lIns="0" tIns="0" rIns="0" bIns="0" rtlCol="0" anchor="t"/>
          <a:lstStyle/>
          <a:p>
            <a:pPr indent="0" marL="0">
              <a:buNone/>
            </a:pPr>
            <a:r>
              <a:rPr lang="en-US" sz="1600" b="1" dirty="0">
                <a:solidFill>
                  <a:schemeClr val="tx1"/>
                </a:solidFill>
              </a:rPr>
              <a:t>Outlook</a:t>
            </a:r>
            <a:endParaRPr lang="en-US" sz="1600" dirty="0"/>
          </a:p>
        </p:txBody>
      </p:sp>
      <p:sp>
        <p:nvSpPr>
          <p:cNvPr id="55" name="text-111"/>
          <p:cNvSpPr txBox="1"/>
          <p:nvPr/>
        </p:nvSpPr>
        <p:spPr>
          <a:xfrm>
            <a:off x="9786823" y="2697480"/>
            <a:ext cx="1728216" cy="438912"/>
          </a:xfrm>
          <a:prstGeom prst="rect">
            <a:avLst/>
          </a:prstGeom>
          <a:noFill/>
          <a:ln/>
        </p:spPr>
        <p:txBody>
          <a:bodyPr wrap="square" lIns="0" tIns="0" rIns="0" bIns="0" rtlCol="0" anchor="t"/>
          <a:lstStyle/>
          <a:p>
            <a:pPr indent="0" marL="0">
              <a:buNone/>
            </a:pPr>
            <a:r>
              <a:rPr lang="en-US" sz="1200" i="1" dirty="0">
                <a:solidFill>
                  <a:schemeClr val="accent1"/>
                </a:solidFill>
              </a:rPr>
              <a:t>Where it all lands</a:t>
            </a:r>
            <a:endParaRPr lang="en-US" sz="1200" dirty="0"/>
          </a:p>
        </p:txBody>
      </p:sp>
      <p:sp>
        <p:nvSpPr>
          <p:cNvPr id="56" name="text-112"/>
          <p:cNvSpPr txBox="1"/>
          <p:nvPr/>
        </p:nvSpPr>
        <p:spPr>
          <a:xfrm>
            <a:off x="9786823" y="3227832"/>
            <a:ext cx="329184" cy="256032"/>
          </a:xfrm>
          <a:prstGeom prst="rect">
            <a:avLst/>
          </a:prstGeom>
          <a:noFill/>
          <a:ln/>
        </p:spPr>
        <p:txBody>
          <a:bodyPr wrap="square" lIns="0" tIns="0" rIns="0" bIns="0" rtlCol="0" anchor="ctr"/>
          <a:lstStyle/>
          <a:p>
            <a:pPr indent="0" marL="0">
              <a:buNone/>
            </a:pPr>
            <a:r>
              <a:rPr lang="en-US" sz="1100" b="1" dirty="0">
                <a:solidFill>
                  <a:schemeClr val="tx2"/>
                </a:solidFill>
              </a:rPr>
              <a:t>19</a:t>
            </a:r>
            <a:endParaRPr lang="en-US" sz="1100" dirty="0"/>
          </a:p>
        </p:txBody>
      </p:sp>
      <p:sp>
        <p:nvSpPr>
          <p:cNvPr id="57" name="text-113"/>
          <p:cNvSpPr txBox="1"/>
          <p:nvPr/>
        </p:nvSpPr>
        <p:spPr>
          <a:xfrm>
            <a:off x="10134295" y="3227832"/>
            <a:ext cx="1399032" cy="256032"/>
          </a:xfrm>
          <a:prstGeom prst="rect">
            <a:avLst/>
          </a:prstGeom>
          <a:noFill/>
          <a:ln/>
        </p:spPr>
        <p:txBody>
          <a:bodyPr wrap="square" lIns="0" tIns="0" rIns="0" bIns="0" rtlCol="0" anchor="ctr"/>
          <a:lstStyle/>
          <a:p>
            <a:pPr indent="0" marL="0">
              <a:buNone/>
            </a:pPr>
            <a:r>
              <a:rPr lang="en-US" sz="1250" dirty="0">
                <a:solidFill>
                  <a:schemeClr val="tx1"/>
                </a:solidFill>
              </a:rPr>
              <a:t>Conclusion</a:t>
            </a:r>
            <a:endParaRPr lang="en-US" sz="1250" dirty="0"/>
          </a:p>
        </p:txBody>
      </p:sp>
      <p:sp>
        <p:nvSpPr>
          <p:cNvPr id="58" name="text-114"/>
          <p:cNvSpPr txBox="1"/>
          <p:nvPr/>
        </p:nvSpPr>
        <p:spPr>
          <a:xfrm>
            <a:off x="9786823" y="3566160"/>
            <a:ext cx="329184" cy="256032"/>
          </a:xfrm>
          <a:prstGeom prst="rect">
            <a:avLst/>
          </a:prstGeom>
          <a:noFill/>
          <a:ln/>
        </p:spPr>
        <p:txBody>
          <a:bodyPr wrap="square" lIns="0" tIns="0" rIns="0" bIns="0" rtlCol="0" anchor="ctr"/>
          <a:lstStyle/>
          <a:p>
            <a:pPr indent="0" marL="0">
              <a:buNone/>
            </a:pPr>
            <a:r>
              <a:rPr lang="en-US" sz="1100" b="1" dirty="0">
                <a:solidFill>
                  <a:schemeClr val="tx2"/>
                </a:solidFill>
              </a:rPr>
              <a:t>20</a:t>
            </a:r>
            <a:endParaRPr lang="en-US" sz="1100" dirty="0"/>
          </a:p>
        </p:txBody>
      </p:sp>
      <p:sp>
        <p:nvSpPr>
          <p:cNvPr id="59" name="text-115"/>
          <p:cNvSpPr txBox="1"/>
          <p:nvPr/>
        </p:nvSpPr>
        <p:spPr>
          <a:xfrm>
            <a:off x="10134295" y="3566160"/>
            <a:ext cx="1399032" cy="256032"/>
          </a:xfrm>
          <a:prstGeom prst="rect">
            <a:avLst/>
          </a:prstGeom>
          <a:noFill/>
          <a:ln/>
        </p:spPr>
        <p:txBody>
          <a:bodyPr wrap="square" lIns="0" tIns="0" rIns="0" bIns="0" rtlCol="0" anchor="ctr"/>
          <a:lstStyle/>
          <a:p>
            <a:pPr indent="0" marL="0">
              <a:buNone/>
            </a:pPr>
            <a:r>
              <a:rPr lang="en-US" sz="1250" dirty="0">
                <a:solidFill>
                  <a:schemeClr val="tx1"/>
                </a:solidFill>
              </a:rPr>
              <a:t>Bibliography</a:t>
            </a:r>
            <a:endParaRPr lang="en-US" sz="1250" dirty="0"/>
          </a:p>
        </p:txBody>
      </p:sp>
      <p:sp>
        <p:nvSpPr>
          <p:cNvPr id="60" name="card-116"/>
          <p:cNvSpPr/>
          <p:nvPr/>
        </p:nvSpPr>
        <p:spPr>
          <a:xfrm>
            <a:off x="548640" y="5285232"/>
            <a:ext cx="11094415" cy="822960"/>
          </a:xfrm>
          <a:prstGeom prst="roundRect">
            <a:avLst>
              <a:gd name="adj" fmla="val 15556"/>
            </a:avLst>
          </a:prstGeom>
          <a:solidFill>
            <a:schemeClr val="tx1"/>
          </a:solidFill>
          <a:ln/>
        </p:spPr>
      </p:sp>
      <p:sp>
        <p:nvSpPr>
          <p:cNvPr id="61" name="card-117"/>
          <p:cNvSpPr/>
          <p:nvPr/>
        </p:nvSpPr>
        <p:spPr>
          <a:xfrm>
            <a:off x="777240" y="5468112"/>
            <a:ext cx="457200" cy="457200"/>
          </a:xfrm>
          <a:prstGeom prst="roundRect">
            <a:avLst>
              <a:gd name="adj" fmla="val 22000"/>
            </a:avLst>
          </a:prstGeom>
          <a:solidFill>
            <a:schemeClr val="accent2"/>
          </a:solidFill>
          <a:ln/>
        </p:spPr>
      </p:sp>
      <p:pic>
        <p:nvPicPr>
          <p:cNvPr id="62" name="icon-118" descr="BadgeCheck icon">    </p:cNvPr>
          <p:cNvPicPr>
            <a:picLocks noChangeAspect="1"/>
          </p:cNvPicPr>
          <p:nvPr/>
        </p:nvPicPr>
        <p:blipFill>
          <a:blip r:embed="rId1"/>
          <a:stretch>
            <a:fillRect/>
          </a:stretch>
        </p:blipFill>
        <p:spPr>
          <a:xfrm>
            <a:off x="877824" y="5568696"/>
            <a:ext cx="256032" cy="256032"/>
          </a:xfrm>
          <a:prstGeom prst="rect">
            <a:avLst/>
          </a:prstGeom>
        </p:spPr>
      </p:pic>
      <p:sp>
        <p:nvSpPr>
          <p:cNvPr id="63" name="text-119"/>
          <p:cNvSpPr txBox="1"/>
          <p:nvPr/>
        </p:nvSpPr>
        <p:spPr>
          <a:xfrm>
            <a:off x="1417320" y="5358384"/>
            <a:ext cx="6583680" cy="365760"/>
          </a:xfrm>
          <a:prstGeom prst="rect">
            <a:avLst/>
          </a:prstGeom>
          <a:noFill/>
          <a:ln/>
        </p:spPr>
        <p:txBody>
          <a:bodyPr wrap="square" lIns="0" tIns="0" rIns="0" bIns="0" rtlCol="0" anchor="ctr"/>
          <a:lstStyle/>
          <a:p>
            <a:pPr indent="0" marL="0">
              <a:buNone/>
            </a:pPr>
            <a:r>
              <a:rPr lang="en-US" sz="1700" dirty="0">
                <a:solidFill>
                  <a:schemeClr val="bg1"/>
                </a:solidFill>
              </a:rPr>
              <a:t>One rule runs through every section:  </a:t>
            </a:r>
            <a:pPr indent="0" marL="0">
              <a:buNone/>
            </a:pPr>
            <a:r>
              <a:rPr lang="en-US" sz="1700" b="1" dirty="0">
                <a:solidFill>
                  <a:schemeClr val="accent2"/>
                </a:solidFill>
              </a:rPr>
              <a:t>no source, no answer.</a:t>
            </a:r>
            <a:endParaRPr lang="en-US" sz="1700" dirty="0"/>
          </a:p>
        </p:txBody>
      </p:sp>
      <p:sp>
        <p:nvSpPr>
          <p:cNvPr id="64" name="text-120"/>
          <p:cNvSpPr txBox="1"/>
          <p:nvPr/>
        </p:nvSpPr>
        <p:spPr>
          <a:xfrm>
            <a:off x="1417320" y="5705856"/>
            <a:ext cx="9966960" cy="274320"/>
          </a:xfrm>
          <a:prstGeom prst="rect">
            <a:avLst/>
          </a:prstGeom>
          <a:noFill/>
          <a:ln/>
        </p:spPr>
        <p:txBody>
          <a:bodyPr wrap="square" lIns="0" tIns="0" rIns="0" bIns="0" rtlCol="0" anchor="t"/>
          <a:lstStyle/>
          <a:p>
            <a:pPr indent="0" marL="0">
              <a:buNone/>
            </a:pPr>
            <a:r>
              <a:rPr lang="en-US" sz="1250" dirty="0">
                <a:solidFill>
                  <a:schemeClr val="bg1">
                    <a:alpha val="78000"/>
                  </a:schemeClr>
                </a:solidFill>
              </a:rPr>
              <a:t>Every figure on these slides names its agent, official table and observation period, and every simulated value says so.</a:t>
            </a:r>
            <a:endParaRPr lang="en-US" sz="1250" dirty="0"/>
          </a:p>
        </p:txBody>
      </p:sp>
      <p:sp>
        <p:nvSpPr>
          <p:cNvPr id="25" name="Slide Number Placeholder 0"/>
          <p:cNvSpPr>
            <a:spLocks noGrp="1"/>
          </p:cNvSpPr>
          <p:nvPr>
            <p:ph type="sldNum" sz="quarter" idx="4294967295"/>
          </p:nvPr>
        </p:nvSpPr>
        <p:spPr>
          <a:xfrm>
            <a:off x="11091672" y="6446520"/>
            <a:ext cx="548640" cy="22860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51607A"/>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ctr"/>
          <a:lstStyle/>
          <a:p>
            <a:pPr indent="0" marL="0">
              <a:buNone/>
            </a:pPr>
            <a:r>
              <a:rPr lang="en-US" sz="1200" b="1" spc="200" kern="0" dirty="0">
                <a:solidFill>
                  <a:schemeClr val="accent1"/>
                </a:solidFill>
              </a:rPr>
              <a:t>THE PROBLEM</a:t>
            </a:r>
            <a:endParaRPr lang="en-US" sz="1200" dirty="0"/>
          </a:p>
        </p:txBody>
      </p:sp>
      <p:sp>
        <p:nvSpPr>
          <p:cNvPr id="3" name="Text 0"/>
          <p:cNvSpPr/>
          <p:nvPr>
            <p:ph idx="101" type="title" hasCustomPrompt="1"/>
          </p:nvPr>
        </p:nvSpPr>
        <p:spPr>
          <a:xfrm>
            <a:off x="548640" y="676656"/>
            <a:ext cx="11094415" cy="713232"/>
          </a:xfrm>
          <a:prstGeom prst="rect">
            <a:avLst/>
          </a:prstGeom>
          <a:noFill/>
          <a:ln/>
        </p:spPr>
        <p:txBody>
          <a:bodyPr wrap="square" lIns="0" tIns="0" rIns="0" bIns="0" rtlCol="0" anchor="t"/>
          <a:lstStyle/>
          <a:p>
            <a:pPr algn="l" indent="0" marL="0">
              <a:buNone/>
            </a:pPr>
            <a:r>
              <a:rPr lang="en-US" sz="3600" b="1" dirty="0">
                <a:solidFill>
                  <a:schemeClr val="tx1"/>
                </a:solidFill>
              </a:rPr>
              <a:t>Scattered sources, invented numbers</a:t>
            </a:r>
            <a:endParaRPr lang="en-US" sz="3600" dirty="0"/>
          </a:p>
        </p:txBody>
      </p:sp>
      <p:sp>
        <p:nvSpPr>
          <p:cNvPr id="4" name="card-121"/>
          <p:cNvSpPr/>
          <p:nvPr/>
        </p:nvSpPr>
        <p:spPr>
          <a:xfrm>
            <a:off x="548640" y="1600200"/>
            <a:ext cx="4709160" cy="4526280"/>
          </a:xfrm>
          <a:prstGeom prst="roundRect">
            <a:avLst>
              <a:gd name="adj" fmla="val 2828"/>
            </a:avLst>
          </a:prstGeom>
          <a:solidFill>
            <a:schemeClr val="tx1"/>
          </a:solidFill>
          <a:ln/>
        </p:spPr>
      </p:sp>
      <p:sp>
        <p:nvSpPr>
          <p:cNvPr id="5" name="text-122"/>
          <p:cNvSpPr txBox="1"/>
          <p:nvPr/>
        </p:nvSpPr>
        <p:spPr>
          <a:xfrm>
            <a:off x="868680" y="1847088"/>
            <a:ext cx="4114800" cy="228600"/>
          </a:xfrm>
          <a:prstGeom prst="rect">
            <a:avLst/>
          </a:prstGeom>
          <a:noFill/>
          <a:ln/>
        </p:spPr>
        <p:txBody>
          <a:bodyPr wrap="square" lIns="0" tIns="0" rIns="0" bIns="0" rtlCol="0" anchor="t"/>
          <a:lstStyle/>
          <a:p>
            <a:pPr indent="0" marL="0">
              <a:buNone/>
            </a:pPr>
            <a:r>
              <a:rPr lang="en-US" sz="1100" b="1" spc="200" kern="0" dirty="0">
                <a:solidFill>
                  <a:schemeClr val="accent6"/>
                </a:solidFill>
              </a:rPr>
              <a:t>A TYPICAL ANALYST QUESTION</a:t>
            </a:r>
            <a:endParaRPr lang="en-US" sz="1100" dirty="0"/>
          </a:p>
        </p:txBody>
      </p:sp>
      <p:sp>
        <p:nvSpPr>
          <p:cNvPr id="6" name="text-123"/>
          <p:cNvSpPr txBox="1"/>
          <p:nvPr/>
        </p:nvSpPr>
        <p:spPr>
          <a:xfrm>
            <a:off x="868680" y="2157984"/>
            <a:ext cx="4114800" cy="1417320"/>
          </a:xfrm>
          <a:prstGeom prst="rect">
            <a:avLst/>
          </a:prstGeom>
          <a:noFill/>
          <a:ln/>
        </p:spPr>
        <p:txBody>
          <a:bodyPr wrap="square" lIns="0" tIns="0" rIns="0" bIns="0" rtlCol="0" anchor="t"/>
          <a:lstStyle/>
          <a:p>
            <a:pPr indent="0" marL="0">
              <a:buNone/>
            </a:pPr>
            <a:r>
              <a:rPr lang="en-US" sz="2100" i="1" dirty="0">
                <a:solidFill>
                  <a:schemeClr val="bg1"/>
                </a:solidFill>
                <a:latin typeface="+mj-lt" pitchFamily="34" charset="0"/>
                <a:ea typeface="+mj-lt" pitchFamily="34" charset="-122"/>
                <a:cs typeface="+mj-lt" pitchFamily="34" charset="-120"/>
              </a:rPr>
              <a:t>“How will a $20 rise in Brent crude travel through India’s inflation, interest rates and growth?”</a:t>
            </a:r>
            <a:endParaRPr lang="en-US" sz="2100" dirty="0"/>
          </a:p>
        </p:txBody>
      </p:sp>
      <p:sp>
        <p:nvSpPr>
          <p:cNvPr id="7" name="text-124"/>
          <p:cNvSpPr txBox="1"/>
          <p:nvPr/>
        </p:nvSpPr>
        <p:spPr>
          <a:xfrm>
            <a:off x="868680" y="3730752"/>
            <a:ext cx="4114800" cy="228600"/>
          </a:xfrm>
          <a:prstGeom prst="rect">
            <a:avLst/>
          </a:prstGeom>
          <a:noFill/>
          <a:ln/>
        </p:spPr>
        <p:txBody>
          <a:bodyPr wrap="square" lIns="0" tIns="0" rIns="0" bIns="0" rtlCol="0" anchor="t"/>
          <a:lstStyle/>
          <a:p>
            <a:pPr indent="0" marL="0">
              <a:buNone/>
            </a:pPr>
            <a:r>
              <a:rPr lang="en-US" sz="1100" b="1" spc="200" kern="0" dirty="0">
                <a:solidFill>
                  <a:schemeClr val="accent6"/>
                </a:solidFill>
              </a:rPr>
              <a:t>THE ANSWER NEEDS DATA FROM</a:t>
            </a:r>
            <a:endParaRPr lang="en-US" sz="1100" dirty="0"/>
          </a:p>
        </p:txBody>
      </p:sp>
      <p:sp>
        <p:nvSpPr>
          <p:cNvPr id="8" name="card-125"/>
          <p:cNvSpPr/>
          <p:nvPr/>
        </p:nvSpPr>
        <p:spPr>
          <a:xfrm>
            <a:off x="868680" y="4050792"/>
            <a:ext cx="1965960" cy="347472"/>
          </a:xfrm>
          <a:prstGeom prst="roundRect">
            <a:avLst>
              <a:gd name="adj" fmla="val 21053"/>
            </a:avLst>
          </a:prstGeom>
          <a:solidFill>
            <a:schemeClr val="accent5"/>
          </a:solidFill>
          <a:ln/>
        </p:spPr>
      </p:sp>
      <p:sp>
        <p:nvSpPr>
          <p:cNvPr id="9" name="text-126"/>
          <p:cNvSpPr txBox="1"/>
          <p:nvPr/>
        </p:nvSpPr>
        <p:spPr>
          <a:xfrm>
            <a:off x="978408" y="4050792"/>
            <a:ext cx="1828800" cy="347472"/>
          </a:xfrm>
          <a:prstGeom prst="rect">
            <a:avLst/>
          </a:prstGeom>
          <a:noFill/>
          <a:ln/>
        </p:spPr>
        <p:txBody>
          <a:bodyPr wrap="square" lIns="0" tIns="0" rIns="0" bIns="0" rtlCol="0" anchor="ctr"/>
          <a:lstStyle/>
          <a:p>
            <a:pPr indent="0" marL="0">
              <a:buNone/>
            </a:pPr>
            <a:r>
              <a:rPr lang="en-US" sz="1150" b="1" dirty="0">
                <a:solidFill>
                  <a:schemeClr val="bg1"/>
                </a:solidFill>
              </a:rPr>
              <a:t>MoSPI  </a:t>
            </a:r>
            <a:pPr indent="0" marL="0">
              <a:buNone/>
            </a:pPr>
            <a:r>
              <a:rPr lang="en-US" sz="1150" dirty="0">
                <a:solidFill>
                  <a:schemeClr val="bg1">
                    <a:alpha val="70000"/>
                  </a:schemeClr>
                </a:solidFill>
              </a:rPr>
              <a:t>CPI, GDP, IIP</a:t>
            </a:r>
            <a:endParaRPr lang="en-US" sz="1150" dirty="0"/>
          </a:p>
        </p:txBody>
      </p:sp>
      <p:sp>
        <p:nvSpPr>
          <p:cNvPr id="10" name="card-127"/>
          <p:cNvSpPr/>
          <p:nvPr/>
        </p:nvSpPr>
        <p:spPr>
          <a:xfrm>
            <a:off x="2971800" y="4050792"/>
            <a:ext cx="1965960" cy="347472"/>
          </a:xfrm>
          <a:prstGeom prst="roundRect">
            <a:avLst>
              <a:gd name="adj" fmla="val 21053"/>
            </a:avLst>
          </a:prstGeom>
          <a:solidFill>
            <a:schemeClr val="accent5"/>
          </a:solidFill>
          <a:ln/>
        </p:spPr>
      </p:sp>
      <p:sp>
        <p:nvSpPr>
          <p:cNvPr id="11" name="text-128"/>
          <p:cNvSpPr txBox="1"/>
          <p:nvPr/>
        </p:nvSpPr>
        <p:spPr>
          <a:xfrm>
            <a:off x="3081528" y="4050792"/>
            <a:ext cx="1828800" cy="347472"/>
          </a:xfrm>
          <a:prstGeom prst="rect">
            <a:avLst/>
          </a:prstGeom>
          <a:noFill/>
          <a:ln/>
        </p:spPr>
        <p:txBody>
          <a:bodyPr wrap="square" lIns="0" tIns="0" rIns="0" bIns="0" rtlCol="0" anchor="ctr"/>
          <a:lstStyle/>
          <a:p>
            <a:pPr indent="0" marL="0">
              <a:buNone/>
            </a:pPr>
            <a:r>
              <a:rPr lang="en-US" sz="1150" b="1" dirty="0">
                <a:solidFill>
                  <a:schemeClr val="bg1"/>
                </a:solidFill>
              </a:rPr>
              <a:t>RBI DBIE  </a:t>
            </a:r>
            <a:pPr indent="0" marL="0">
              <a:buNone/>
            </a:pPr>
            <a:r>
              <a:rPr lang="en-US" sz="1150" dirty="0">
                <a:solidFill>
                  <a:schemeClr val="bg1">
                    <a:alpha val="70000"/>
                  </a:schemeClr>
                </a:solidFill>
              </a:rPr>
              <a:t>repo, credit</a:t>
            </a:r>
            <a:endParaRPr lang="en-US" sz="1150" dirty="0"/>
          </a:p>
        </p:txBody>
      </p:sp>
      <p:sp>
        <p:nvSpPr>
          <p:cNvPr id="12" name="card-129"/>
          <p:cNvSpPr/>
          <p:nvPr/>
        </p:nvSpPr>
        <p:spPr>
          <a:xfrm>
            <a:off x="868680" y="4480560"/>
            <a:ext cx="1965960" cy="347472"/>
          </a:xfrm>
          <a:prstGeom prst="roundRect">
            <a:avLst>
              <a:gd name="adj" fmla="val 21053"/>
            </a:avLst>
          </a:prstGeom>
          <a:solidFill>
            <a:schemeClr val="accent5"/>
          </a:solidFill>
          <a:ln/>
        </p:spPr>
      </p:sp>
      <p:sp>
        <p:nvSpPr>
          <p:cNvPr id="13" name="text-130"/>
          <p:cNvSpPr txBox="1"/>
          <p:nvPr/>
        </p:nvSpPr>
        <p:spPr>
          <a:xfrm>
            <a:off x="978408" y="4480560"/>
            <a:ext cx="1828800" cy="347472"/>
          </a:xfrm>
          <a:prstGeom prst="rect">
            <a:avLst/>
          </a:prstGeom>
          <a:noFill/>
          <a:ln/>
        </p:spPr>
        <p:txBody>
          <a:bodyPr wrap="square" lIns="0" tIns="0" rIns="0" bIns="0" rtlCol="0" anchor="ctr"/>
          <a:lstStyle/>
          <a:p>
            <a:pPr indent="0" marL="0">
              <a:buNone/>
            </a:pPr>
            <a:r>
              <a:rPr lang="en-US" sz="1150" b="1" dirty="0">
                <a:solidFill>
                  <a:schemeClr val="bg1"/>
                </a:solidFill>
              </a:rPr>
              <a:t>CGA  </a:t>
            </a:r>
            <a:pPr indent="0" marL="0">
              <a:buNone/>
            </a:pPr>
            <a:r>
              <a:rPr lang="en-US" sz="1150" dirty="0">
                <a:solidFill>
                  <a:schemeClr val="bg1">
                    <a:alpha val="70000"/>
                  </a:schemeClr>
                </a:solidFill>
              </a:rPr>
              <a:t>deficit, capex</a:t>
            </a:r>
            <a:endParaRPr lang="en-US" sz="1150" dirty="0"/>
          </a:p>
        </p:txBody>
      </p:sp>
      <p:sp>
        <p:nvSpPr>
          <p:cNvPr id="14" name="card-131"/>
          <p:cNvSpPr/>
          <p:nvPr/>
        </p:nvSpPr>
        <p:spPr>
          <a:xfrm>
            <a:off x="2971800" y="4480560"/>
            <a:ext cx="1965960" cy="347472"/>
          </a:xfrm>
          <a:prstGeom prst="roundRect">
            <a:avLst>
              <a:gd name="adj" fmla="val 21053"/>
            </a:avLst>
          </a:prstGeom>
          <a:solidFill>
            <a:schemeClr val="accent5"/>
          </a:solidFill>
          <a:ln/>
        </p:spPr>
      </p:sp>
      <p:sp>
        <p:nvSpPr>
          <p:cNvPr id="15" name="text-132"/>
          <p:cNvSpPr txBox="1"/>
          <p:nvPr/>
        </p:nvSpPr>
        <p:spPr>
          <a:xfrm>
            <a:off x="3081528" y="4480560"/>
            <a:ext cx="1828800" cy="347472"/>
          </a:xfrm>
          <a:prstGeom prst="rect">
            <a:avLst/>
          </a:prstGeom>
          <a:noFill/>
          <a:ln/>
        </p:spPr>
        <p:txBody>
          <a:bodyPr wrap="square" lIns="0" tIns="0" rIns="0" bIns="0" rtlCol="0" anchor="ctr"/>
          <a:lstStyle/>
          <a:p>
            <a:pPr indent="0" marL="0">
              <a:buNone/>
            </a:pPr>
            <a:r>
              <a:rPr lang="en-US" sz="1150" b="1" dirty="0">
                <a:solidFill>
                  <a:schemeClr val="bg1"/>
                </a:solidFill>
              </a:rPr>
              <a:t>DGCI&amp;S  </a:t>
            </a:r>
            <a:pPr indent="0" marL="0">
              <a:buNone/>
            </a:pPr>
            <a:r>
              <a:rPr lang="en-US" sz="1150" dirty="0">
                <a:solidFill>
                  <a:schemeClr val="bg1">
                    <a:alpha val="70000"/>
                  </a:schemeClr>
                </a:solidFill>
              </a:rPr>
              <a:t>trade</a:t>
            </a:r>
            <a:endParaRPr lang="en-US" sz="1150" dirty="0"/>
          </a:p>
        </p:txBody>
      </p:sp>
      <p:sp>
        <p:nvSpPr>
          <p:cNvPr id="16" name="card-133"/>
          <p:cNvSpPr/>
          <p:nvPr/>
        </p:nvSpPr>
        <p:spPr>
          <a:xfrm>
            <a:off x="868680" y="4910328"/>
            <a:ext cx="1965960" cy="347472"/>
          </a:xfrm>
          <a:prstGeom prst="roundRect">
            <a:avLst>
              <a:gd name="adj" fmla="val 21053"/>
            </a:avLst>
          </a:prstGeom>
          <a:solidFill>
            <a:schemeClr val="accent5"/>
          </a:solidFill>
          <a:ln/>
        </p:spPr>
      </p:sp>
      <p:sp>
        <p:nvSpPr>
          <p:cNvPr id="17" name="text-134"/>
          <p:cNvSpPr txBox="1"/>
          <p:nvPr/>
        </p:nvSpPr>
        <p:spPr>
          <a:xfrm>
            <a:off x="978408" y="4910328"/>
            <a:ext cx="1828800" cy="347472"/>
          </a:xfrm>
          <a:prstGeom prst="rect">
            <a:avLst/>
          </a:prstGeom>
          <a:noFill/>
          <a:ln/>
        </p:spPr>
        <p:txBody>
          <a:bodyPr wrap="square" lIns="0" tIns="0" rIns="0" bIns="0" rtlCol="0" anchor="ctr"/>
          <a:lstStyle/>
          <a:p>
            <a:pPr indent="0" marL="0">
              <a:buNone/>
            </a:pPr>
            <a:r>
              <a:rPr lang="en-US" sz="1150" b="1" dirty="0">
                <a:solidFill>
                  <a:schemeClr val="bg1"/>
                </a:solidFill>
              </a:rPr>
              <a:t>NSE / BSE  </a:t>
            </a:r>
            <a:pPr indent="0" marL="0">
              <a:buNone/>
            </a:pPr>
            <a:r>
              <a:rPr lang="en-US" sz="1150" dirty="0">
                <a:solidFill>
                  <a:schemeClr val="bg1">
                    <a:alpha val="70000"/>
                  </a:schemeClr>
                </a:solidFill>
              </a:rPr>
              <a:t>markets</a:t>
            </a:r>
            <a:endParaRPr lang="en-US" sz="1150" dirty="0"/>
          </a:p>
        </p:txBody>
      </p:sp>
      <p:sp>
        <p:nvSpPr>
          <p:cNvPr id="18" name="card-135"/>
          <p:cNvSpPr/>
          <p:nvPr/>
        </p:nvSpPr>
        <p:spPr>
          <a:xfrm>
            <a:off x="2971800" y="4910328"/>
            <a:ext cx="1965960" cy="347472"/>
          </a:xfrm>
          <a:prstGeom prst="roundRect">
            <a:avLst>
              <a:gd name="adj" fmla="val 21053"/>
            </a:avLst>
          </a:prstGeom>
          <a:solidFill>
            <a:schemeClr val="accent5"/>
          </a:solidFill>
          <a:ln/>
        </p:spPr>
      </p:sp>
      <p:sp>
        <p:nvSpPr>
          <p:cNvPr id="19" name="text-136"/>
          <p:cNvSpPr txBox="1"/>
          <p:nvPr/>
        </p:nvSpPr>
        <p:spPr>
          <a:xfrm>
            <a:off x="3081528" y="4910328"/>
            <a:ext cx="1828800" cy="347472"/>
          </a:xfrm>
          <a:prstGeom prst="rect">
            <a:avLst/>
          </a:prstGeom>
          <a:noFill/>
          <a:ln/>
        </p:spPr>
        <p:txBody>
          <a:bodyPr wrap="square" lIns="0" tIns="0" rIns="0" bIns="0" rtlCol="0" anchor="ctr"/>
          <a:lstStyle/>
          <a:p>
            <a:pPr indent="0" marL="0">
              <a:buNone/>
            </a:pPr>
            <a:r>
              <a:rPr lang="en-US" sz="1150" b="1" dirty="0">
                <a:solidFill>
                  <a:schemeClr val="bg1"/>
                </a:solidFill>
              </a:rPr>
              <a:t>IMD  </a:t>
            </a:r>
            <a:pPr indent="0" marL="0">
              <a:buNone/>
            </a:pPr>
            <a:r>
              <a:rPr lang="en-US" sz="1150" dirty="0">
                <a:solidFill>
                  <a:schemeClr val="bg1">
                    <a:alpha val="70000"/>
                  </a:schemeClr>
                </a:solidFill>
              </a:rPr>
              <a:t>monsoon</a:t>
            </a:r>
            <a:endParaRPr lang="en-US" sz="1150" dirty="0"/>
          </a:p>
        </p:txBody>
      </p:sp>
      <p:sp>
        <p:nvSpPr>
          <p:cNvPr id="20" name="card-137"/>
          <p:cNvSpPr/>
          <p:nvPr/>
        </p:nvSpPr>
        <p:spPr>
          <a:xfrm>
            <a:off x="868680" y="5340096"/>
            <a:ext cx="1965960" cy="347472"/>
          </a:xfrm>
          <a:prstGeom prst="roundRect">
            <a:avLst>
              <a:gd name="adj" fmla="val 21053"/>
            </a:avLst>
          </a:prstGeom>
          <a:solidFill>
            <a:schemeClr val="accent5"/>
          </a:solidFill>
          <a:ln/>
        </p:spPr>
      </p:sp>
      <p:sp>
        <p:nvSpPr>
          <p:cNvPr id="21" name="text-138"/>
          <p:cNvSpPr txBox="1"/>
          <p:nvPr/>
        </p:nvSpPr>
        <p:spPr>
          <a:xfrm>
            <a:off x="978408" y="5340096"/>
            <a:ext cx="1828800" cy="347472"/>
          </a:xfrm>
          <a:prstGeom prst="rect">
            <a:avLst/>
          </a:prstGeom>
          <a:noFill/>
          <a:ln/>
        </p:spPr>
        <p:txBody>
          <a:bodyPr wrap="square" lIns="0" tIns="0" rIns="0" bIns="0" rtlCol="0" anchor="ctr"/>
          <a:lstStyle/>
          <a:p>
            <a:pPr indent="0" marL="0">
              <a:buNone/>
            </a:pPr>
            <a:r>
              <a:rPr lang="en-US" sz="1150" b="1" dirty="0">
                <a:solidFill>
                  <a:schemeClr val="bg1"/>
                </a:solidFill>
              </a:rPr>
              <a:t>Agmarknet  </a:t>
            </a:r>
            <a:pPr indent="0" marL="0">
              <a:buNone/>
            </a:pPr>
            <a:r>
              <a:rPr lang="en-US" sz="1150" dirty="0">
                <a:solidFill>
                  <a:schemeClr val="bg1">
                    <a:alpha val="70000"/>
                  </a:schemeClr>
                </a:solidFill>
              </a:rPr>
              <a:t>mandi prices</a:t>
            </a:r>
            <a:endParaRPr lang="en-US" sz="1150" dirty="0"/>
          </a:p>
        </p:txBody>
      </p:sp>
      <p:sp>
        <p:nvSpPr>
          <p:cNvPr id="22" name="card-139"/>
          <p:cNvSpPr/>
          <p:nvPr/>
        </p:nvSpPr>
        <p:spPr>
          <a:xfrm>
            <a:off x="2971800" y="5340096"/>
            <a:ext cx="1965960" cy="347472"/>
          </a:xfrm>
          <a:prstGeom prst="roundRect">
            <a:avLst>
              <a:gd name="adj" fmla="val 21053"/>
            </a:avLst>
          </a:prstGeom>
          <a:solidFill>
            <a:schemeClr val="accent5"/>
          </a:solidFill>
          <a:ln/>
        </p:spPr>
      </p:sp>
      <p:sp>
        <p:nvSpPr>
          <p:cNvPr id="23" name="text-140"/>
          <p:cNvSpPr txBox="1"/>
          <p:nvPr/>
        </p:nvSpPr>
        <p:spPr>
          <a:xfrm>
            <a:off x="3081528" y="5340096"/>
            <a:ext cx="1828800" cy="347472"/>
          </a:xfrm>
          <a:prstGeom prst="rect">
            <a:avLst/>
          </a:prstGeom>
          <a:noFill/>
          <a:ln/>
        </p:spPr>
        <p:txBody>
          <a:bodyPr wrap="square" lIns="0" tIns="0" rIns="0" bIns="0" rtlCol="0" anchor="ctr"/>
          <a:lstStyle/>
          <a:p>
            <a:pPr indent="0" marL="0">
              <a:buNone/>
            </a:pPr>
            <a:r>
              <a:rPr lang="en-US" sz="1150" b="1" dirty="0">
                <a:solidFill>
                  <a:schemeClr val="bg1"/>
                </a:solidFill>
              </a:rPr>
              <a:t>EPFO  </a:t>
            </a:r>
            <a:pPr indent="0" marL="0">
              <a:buNone/>
            </a:pPr>
            <a:r>
              <a:rPr lang="en-US" sz="1150" dirty="0">
                <a:solidFill>
                  <a:schemeClr val="bg1">
                    <a:alpha val="70000"/>
                  </a:schemeClr>
                </a:solidFill>
              </a:rPr>
              <a:t>payroll</a:t>
            </a:r>
            <a:endParaRPr lang="en-US" sz="1150" dirty="0"/>
          </a:p>
        </p:txBody>
      </p:sp>
      <p:sp>
        <p:nvSpPr>
          <p:cNvPr id="24" name="text-141"/>
          <p:cNvSpPr txBox="1"/>
          <p:nvPr/>
        </p:nvSpPr>
        <p:spPr>
          <a:xfrm>
            <a:off x="868680" y="5779008"/>
            <a:ext cx="4206240" cy="228600"/>
          </a:xfrm>
          <a:prstGeom prst="rect">
            <a:avLst/>
          </a:prstGeom>
          <a:noFill/>
          <a:ln/>
        </p:spPr>
        <p:txBody>
          <a:bodyPr wrap="square" lIns="0" tIns="0" rIns="0" bIns="0" rtlCol="0" anchor="t"/>
          <a:lstStyle/>
          <a:p>
            <a:pPr indent="0" marL="0">
              <a:buNone/>
            </a:pPr>
            <a:r>
              <a:rPr lang="en-US" sz="1100" dirty="0">
                <a:solidFill>
                  <a:schemeClr val="bg1">
                    <a:alpha val="65000"/>
                  </a:schemeClr>
                </a:solidFill>
              </a:rPr>
              <a:t>Different formats, frequencies, base years and release calendars</a:t>
            </a:r>
            <a:endParaRPr lang="en-US" sz="1100" dirty="0"/>
          </a:p>
        </p:txBody>
      </p:sp>
      <p:sp>
        <p:nvSpPr>
          <p:cNvPr id="25" name="card-142"/>
          <p:cNvSpPr/>
          <p:nvPr/>
        </p:nvSpPr>
        <p:spPr>
          <a:xfrm>
            <a:off x="5577840" y="1691640"/>
            <a:ext cx="566928" cy="566928"/>
          </a:xfrm>
          <a:prstGeom prst="roundRect">
            <a:avLst>
              <a:gd name="adj" fmla="val 22000"/>
            </a:avLst>
          </a:prstGeom>
          <a:solidFill>
            <a:schemeClr val="accent1"/>
          </a:solidFill>
          <a:ln/>
        </p:spPr>
      </p:sp>
      <p:pic>
        <p:nvPicPr>
          <p:cNvPr id="26" name="icon-143" descr="Unlink icon">    </p:cNvPr>
          <p:cNvPicPr>
            <a:picLocks noChangeAspect="1"/>
          </p:cNvPicPr>
          <p:nvPr/>
        </p:nvPicPr>
        <p:blipFill>
          <a:blip r:embed="rId1"/>
          <a:stretch>
            <a:fillRect/>
          </a:stretch>
        </p:blipFill>
        <p:spPr>
          <a:xfrm>
            <a:off x="5702564" y="1816364"/>
            <a:ext cx="317480" cy="317480"/>
          </a:xfrm>
          <a:prstGeom prst="rect">
            <a:avLst/>
          </a:prstGeom>
        </p:spPr>
      </p:pic>
      <p:sp>
        <p:nvSpPr>
          <p:cNvPr id="27" name="text-144"/>
          <p:cNvSpPr txBox="1"/>
          <p:nvPr/>
        </p:nvSpPr>
        <p:spPr>
          <a:xfrm>
            <a:off x="6355080" y="1673352"/>
            <a:ext cx="5285232" cy="310896"/>
          </a:xfrm>
          <a:prstGeom prst="rect">
            <a:avLst/>
          </a:prstGeom>
          <a:noFill/>
          <a:ln/>
        </p:spPr>
        <p:txBody>
          <a:bodyPr wrap="square" lIns="0" tIns="0" rIns="0" bIns="0" rtlCol="0" anchor="t"/>
          <a:lstStyle/>
          <a:p>
            <a:pPr indent="0" marL="0">
              <a:buNone/>
            </a:pPr>
            <a:r>
              <a:rPr lang="en-US" sz="1700" b="1" dirty="0">
                <a:solidFill>
                  <a:schemeClr val="tx1"/>
                </a:solidFill>
              </a:rPr>
              <a:t>Fragmented data</a:t>
            </a:r>
            <a:endParaRPr lang="en-US" sz="1700" dirty="0"/>
          </a:p>
        </p:txBody>
      </p:sp>
      <p:sp>
        <p:nvSpPr>
          <p:cNvPr id="28" name="text-145"/>
          <p:cNvSpPr txBox="1"/>
          <p:nvPr/>
        </p:nvSpPr>
        <p:spPr>
          <a:xfrm>
            <a:off x="6355080" y="2020824"/>
            <a:ext cx="5285232" cy="658368"/>
          </a:xfrm>
          <a:prstGeom prst="rect">
            <a:avLst/>
          </a:prstGeom>
          <a:noFill/>
          <a:ln/>
        </p:spPr>
        <p:txBody>
          <a:bodyPr wrap="square" lIns="0" tIns="0" rIns="0" bIns="0" rtlCol="0" anchor="t"/>
          <a:lstStyle/>
          <a:p>
            <a:pPr indent="0" marL="0">
              <a:buNone/>
            </a:pPr>
            <a:r>
              <a:rPr lang="en-US" sz="1400" dirty="0">
                <a:solidFill>
                  <a:schemeClr val="tx2"/>
                </a:solidFill>
              </a:rPr>
              <a:t>MoSPI, RBI, CGA and DGCI&amp;S publish through APIs, spreadsheets and PDF bulletins, each with its own units, base years and release calendar.</a:t>
            </a:r>
            <a:endParaRPr lang="en-US" sz="1400" dirty="0"/>
          </a:p>
        </p:txBody>
      </p:sp>
      <p:sp>
        <p:nvSpPr>
          <p:cNvPr id="29" name="card-146"/>
          <p:cNvSpPr/>
          <p:nvPr/>
        </p:nvSpPr>
        <p:spPr>
          <a:xfrm>
            <a:off x="5577840" y="2816352"/>
            <a:ext cx="566928" cy="566928"/>
          </a:xfrm>
          <a:prstGeom prst="roundRect">
            <a:avLst>
              <a:gd name="adj" fmla="val 22000"/>
            </a:avLst>
          </a:prstGeom>
          <a:solidFill>
            <a:schemeClr val="accent1"/>
          </a:solidFill>
          <a:ln/>
        </p:spPr>
      </p:sp>
      <p:pic>
        <p:nvPicPr>
          <p:cNvPr id="30" name="icon-147" descr="TriangleAlert icon">    </p:cNvPr>
          <p:cNvPicPr>
            <a:picLocks noChangeAspect="1"/>
          </p:cNvPicPr>
          <p:nvPr/>
        </p:nvPicPr>
        <p:blipFill>
          <a:blip r:embed="rId2"/>
          <a:stretch>
            <a:fillRect/>
          </a:stretch>
        </p:blipFill>
        <p:spPr>
          <a:xfrm>
            <a:off x="5702564" y="2941076"/>
            <a:ext cx="317480" cy="317480"/>
          </a:xfrm>
          <a:prstGeom prst="rect">
            <a:avLst/>
          </a:prstGeom>
        </p:spPr>
      </p:pic>
      <p:sp>
        <p:nvSpPr>
          <p:cNvPr id="31" name="text-148"/>
          <p:cNvSpPr txBox="1"/>
          <p:nvPr/>
        </p:nvSpPr>
        <p:spPr>
          <a:xfrm>
            <a:off x="6355080" y="2798064"/>
            <a:ext cx="5285232" cy="310896"/>
          </a:xfrm>
          <a:prstGeom prst="rect">
            <a:avLst/>
          </a:prstGeom>
          <a:noFill/>
          <a:ln/>
        </p:spPr>
        <p:txBody>
          <a:bodyPr wrap="square" lIns="0" tIns="0" rIns="0" bIns="0" rtlCol="0" anchor="t"/>
          <a:lstStyle/>
          <a:p>
            <a:pPr indent="0" marL="0">
              <a:buNone/>
            </a:pPr>
            <a:r>
              <a:rPr lang="en-US" sz="1700" b="1" dirty="0">
                <a:solidFill>
                  <a:schemeClr val="tx1"/>
                </a:solidFill>
              </a:rPr>
              <a:t>Fluent, unsourced numbers</a:t>
            </a:r>
            <a:endParaRPr lang="en-US" sz="1700" dirty="0"/>
          </a:p>
        </p:txBody>
      </p:sp>
      <p:sp>
        <p:nvSpPr>
          <p:cNvPr id="32" name="text-149"/>
          <p:cNvSpPr txBox="1"/>
          <p:nvPr/>
        </p:nvSpPr>
        <p:spPr>
          <a:xfrm>
            <a:off x="6355080" y="3145536"/>
            <a:ext cx="5285232" cy="658368"/>
          </a:xfrm>
          <a:prstGeom prst="rect">
            <a:avLst/>
          </a:prstGeom>
          <a:noFill/>
          <a:ln/>
        </p:spPr>
        <p:txBody>
          <a:bodyPr wrap="square" lIns="0" tIns="0" rIns="0" bIns="0" rtlCol="0" anchor="t"/>
          <a:lstStyle/>
          <a:p>
            <a:pPr indent="0" marL="0">
              <a:buNone/>
            </a:pPr>
            <a:r>
              <a:rPr lang="en-US" sz="1400" dirty="0">
                <a:solidFill>
                  <a:schemeClr val="tx2"/>
                </a:solidFill>
              </a:rPr>
              <a:t>A language model can quote a CPI figure that appears in no official release; because it looks plausible, it is hard to catch.</a:t>
            </a:r>
            <a:endParaRPr lang="en-US" sz="1400" dirty="0"/>
          </a:p>
        </p:txBody>
      </p:sp>
      <p:sp>
        <p:nvSpPr>
          <p:cNvPr id="33" name="card-150"/>
          <p:cNvSpPr/>
          <p:nvPr/>
        </p:nvSpPr>
        <p:spPr>
          <a:xfrm>
            <a:off x="5577840" y="3941064"/>
            <a:ext cx="566928" cy="566928"/>
          </a:xfrm>
          <a:prstGeom prst="roundRect">
            <a:avLst>
              <a:gd name="adj" fmla="val 22000"/>
            </a:avLst>
          </a:prstGeom>
          <a:solidFill>
            <a:schemeClr val="accent1"/>
          </a:solidFill>
          <a:ln/>
        </p:spPr>
      </p:sp>
      <p:pic>
        <p:nvPicPr>
          <p:cNvPr id="34" name="icon-151" descr="Split icon">    </p:cNvPr>
          <p:cNvPicPr>
            <a:picLocks noChangeAspect="1"/>
          </p:cNvPicPr>
          <p:nvPr/>
        </p:nvPicPr>
        <p:blipFill>
          <a:blip r:embed="rId3"/>
          <a:stretch>
            <a:fillRect/>
          </a:stretch>
        </p:blipFill>
        <p:spPr>
          <a:xfrm>
            <a:off x="5702564" y="4065788"/>
            <a:ext cx="317480" cy="317480"/>
          </a:xfrm>
          <a:prstGeom prst="rect">
            <a:avLst/>
          </a:prstGeom>
        </p:spPr>
      </p:pic>
      <p:sp>
        <p:nvSpPr>
          <p:cNvPr id="35" name="text-152"/>
          <p:cNvSpPr txBox="1"/>
          <p:nvPr/>
        </p:nvSpPr>
        <p:spPr>
          <a:xfrm>
            <a:off x="6355080" y="3922776"/>
            <a:ext cx="5285232" cy="310896"/>
          </a:xfrm>
          <a:prstGeom prst="rect">
            <a:avLst/>
          </a:prstGeom>
          <a:noFill/>
          <a:ln/>
        </p:spPr>
        <p:txBody>
          <a:bodyPr wrap="square" lIns="0" tIns="0" rIns="0" bIns="0" rtlCol="0" anchor="t"/>
          <a:lstStyle/>
          <a:p>
            <a:pPr indent="0" marL="0">
              <a:buNone/>
            </a:pPr>
            <a:r>
              <a:rPr lang="en-US" sz="1700" b="1" dirty="0">
                <a:solidFill>
                  <a:schemeClr val="tx1"/>
                </a:solidFill>
              </a:rPr>
              <a:t>Conflicting values</a:t>
            </a:r>
            <a:endParaRPr lang="en-US" sz="1700" dirty="0"/>
          </a:p>
        </p:txBody>
      </p:sp>
      <p:sp>
        <p:nvSpPr>
          <p:cNvPr id="36" name="text-153"/>
          <p:cNvSpPr txBox="1"/>
          <p:nvPr/>
        </p:nvSpPr>
        <p:spPr>
          <a:xfrm>
            <a:off x="6355080" y="4270248"/>
            <a:ext cx="5285232" cy="658368"/>
          </a:xfrm>
          <a:prstGeom prst="rect">
            <a:avLst/>
          </a:prstGeom>
          <a:noFill/>
          <a:ln/>
        </p:spPr>
        <p:txBody>
          <a:bodyPr wrap="square" lIns="0" tIns="0" rIns="0" bIns="0" rtlCol="0" anchor="t"/>
          <a:lstStyle/>
          <a:p>
            <a:pPr indent="0" marL="0">
              <a:buNone/>
            </a:pPr>
            <a:r>
              <a:rPr lang="en-US" sz="1400" dirty="0">
                <a:solidFill>
                  <a:schemeClr val="tx2"/>
                </a:solidFill>
              </a:rPr>
              <a:t>When several agents fetch the same indicator on their own, one report can carry two different vintages of it.</a:t>
            </a:r>
            <a:endParaRPr lang="en-US" sz="1400" dirty="0"/>
          </a:p>
        </p:txBody>
      </p:sp>
      <p:sp>
        <p:nvSpPr>
          <p:cNvPr id="37" name="card-154"/>
          <p:cNvSpPr/>
          <p:nvPr/>
        </p:nvSpPr>
        <p:spPr>
          <a:xfrm>
            <a:off x="5577840" y="5065776"/>
            <a:ext cx="566928" cy="566928"/>
          </a:xfrm>
          <a:prstGeom prst="roundRect">
            <a:avLst>
              <a:gd name="adj" fmla="val 22000"/>
            </a:avLst>
          </a:prstGeom>
          <a:solidFill>
            <a:schemeClr val="accent1"/>
          </a:solidFill>
          <a:ln/>
        </p:spPr>
      </p:sp>
      <p:pic>
        <p:nvPicPr>
          <p:cNvPr id="38" name="icon-155" descr="Waypoints icon">    </p:cNvPr>
          <p:cNvPicPr>
            <a:picLocks noChangeAspect="1"/>
          </p:cNvPicPr>
          <p:nvPr/>
        </p:nvPicPr>
        <p:blipFill>
          <a:blip r:embed="rId4"/>
          <a:stretch>
            <a:fillRect/>
          </a:stretch>
        </p:blipFill>
        <p:spPr>
          <a:xfrm>
            <a:off x="5702564" y="5190500"/>
            <a:ext cx="317480" cy="317480"/>
          </a:xfrm>
          <a:prstGeom prst="rect">
            <a:avLst/>
          </a:prstGeom>
        </p:spPr>
      </p:pic>
      <p:sp>
        <p:nvSpPr>
          <p:cNvPr id="39" name="text-156"/>
          <p:cNvSpPr txBox="1"/>
          <p:nvPr/>
        </p:nvSpPr>
        <p:spPr>
          <a:xfrm>
            <a:off x="6355080" y="5047488"/>
            <a:ext cx="5285232" cy="310896"/>
          </a:xfrm>
          <a:prstGeom prst="rect">
            <a:avLst/>
          </a:prstGeom>
          <a:noFill/>
          <a:ln/>
        </p:spPr>
        <p:txBody>
          <a:bodyPr wrap="square" lIns="0" tIns="0" rIns="0" bIns="0" rtlCol="0" anchor="t"/>
          <a:lstStyle/>
          <a:p>
            <a:pPr indent="0" marL="0">
              <a:buNone/>
            </a:pPr>
            <a:r>
              <a:rPr lang="en-US" sz="1700" b="1" dirty="0">
                <a:solidFill>
                  <a:schemeClr val="tx1"/>
                </a:solidFill>
              </a:rPr>
              <a:t>Hidden transmission</a:t>
            </a:r>
            <a:endParaRPr lang="en-US" sz="1700" dirty="0"/>
          </a:p>
        </p:txBody>
      </p:sp>
      <p:sp>
        <p:nvSpPr>
          <p:cNvPr id="40" name="text-157"/>
          <p:cNvSpPr txBox="1"/>
          <p:nvPr/>
        </p:nvSpPr>
        <p:spPr>
          <a:xfrm>
            <a:off x="6355080" y="5394960"/>
            <a:ext cx="5285232" cy="658368"/>
          </a:xfrm>
          <a:prstGeom prst="rect">
            <a:avLst/>
          </a:prstGeom>
          <a:noFill/>
          <a:ln/>
        </p:spPr>
        <p:txBody>
          <a:bodyPr wrap="square" lIns="0" tIns="0" rIns="0" bIns="0" rtlCol="0" anchor="t"/>
          <a:lstStyle/>
          <a:p>
            <a:pPr indent="0" marL="0">
              <a:buNone/>
            </a:pPr>
            <a:r>
              <a:rPr lang="en-US" sz="1400" dirty="0">
                <a:solidFill>
                  <a:schemeClr val="tx2"/>
                </a:solidFill>
              </a:rPr>
              <a:t>Shocks move across sectors with lags and signs; describing each series alone cannot explain how a shock travels.</a:t>
            </a:r>
            <a:endParaRPr lang="en-US" sz="1400" dirty="0"/>
          </a:p>
        </p:txBody>
      </p:sp>
      <p:sp>
        <p:nvSpPr>
          <p:cNvPr id="25" name="Slide Number Placeholder 0"/>
          <p:cNvSpPr>
            <a:spLocks noGrp="1"/>
          </p:cNvSpPr>
          <p:nvPr>
            <p:ph type="sldNum" sz="quarter" idx="4294967295"/>
          </p:nvPr>
        </p:nvSpPr>
        <p:spPr>
          <a:xfrm>
            <a:off x="11091672" y="6446520"/>
            <a:ext cx="548640" cy="22860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51607A"/>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ctr"/>
          <a:lstStyle/>
          <a:p>
            <a:pPr indent="0" marL="0">
              <a:buNone/>
            </a:pPr>
            <a:r>
              <a:rPr lang="en-US" sz="1200" b="1" spc="200" kern="0" dirty="0">
                <a:solidFill>
                  <a:schemeClr val="accent1"/>
                </a:solidFill>
              </a:rPr>
              <a:t>LITERATURE SURVEY</a:t>
            </a:r>
            <a:endParaRPr lang="en-US" sz="1200" dirty="0"/>
          </a:p>
        </p:txBody>
      </p:sp>
      <p:sp>
        <p:nvSpPr>
          <p:cNvPr id="3" name="Text 0"/>
          <p:cNvSpPr/>
          <p:nvPr>
            <p:ph idx="101" type="title" hasCustomPrompt="1"/>
          </p:nvPr>
        </p:nvSpPr>
        <p:spPr>
          <a:xfrm>
            <a:off x="548640" y="676656"/>
            <a:ext cx="11094415" cy="713232"/>
          </a:xfrm>
          <a:prstGeom prst="rect">
            <a:avLst/>
          </a:prstGeom>
          <a:noFill/>
          <a:ln/>
        </p:spPr>
        <p:txBody>
          <a:bodyPr wrap="square" lIns="0" tIns="0" rIns="0" bIns="0" rtlCol="0" anchor="t"/>
          <a:lstStyle/>
          <a:p>
            <a:pPr algn="l" indent="0" marL="0">
              <a:buNone/>
            </a:pPr>
            <a:r>
              <a:rPr lang="en-US" sz="3600" b="1" dirty="0">
                <a:solidFill>
                  <a:schemeClr val="tx1"/>
                </a:solidFill>
              </a:rPr>
              <a:t>What prior work leaves open</a:t>
            </a:r>
            <a:endParaRPr lang="en-US" sz="3600" dirty="0"/>
          </a:p>
        </p:txBody>
      </p:sp>
      <p:graphicFrame>
        <p:nvGraphicFramePr>
          <p:cNvPr id="5" name="literature-table"/>
          <p:cNvGraphicFramePr>
            <a:graphicFrameLocks noGrp="1"/>
          </p:cNvGraphicFramePr>
          <p:nvPr>
            <p:extLst>
              <p:ext uri="{D42A27DB-BD31-4B8C-83A1-F6EECF244321}">
                <p14:modId xmlns:p14="http://schemas.microsoft.com/office/powerpoint/2010/main" val="1579011935"/>
              </p:ext>
            </p:extLst>
          </p:nvPr>
        </p:nvGraphicFramePr>
        <p:xfrm>
          <a:off x="548640" y="1600200"/>
          <a:ext cx="6858000" cy="914400"/>
        </p:xfrm>
        <a:graphic>
          <a:graphicData uri="http://schemas.openxmlformats.org/drawingml/2006/table">
            <a:tbl>
              <a:tblPr/>
              <a:tblGrid>
                <a:gridCol w="1828800"/>
                <a:gridCol w="2240280"/>
                <a:gridCol w="2788920"/>
              </a:tblGrid>
              <a:tr h="384048">
                <a:tc>
                  <a:txBody>
                    <a:bodyPr/>
                    <a:lstStyle/>
                    <a:p>
                      <a:pPr indent="0" marL="0">
                        <a:buNone/>
                      </a:pPr>
                      <a:r>
                        <a:rPr lang="en-US" sz="1250" b="1" dirty="0">
                          <a:solidFill>
                            <a:schemeClr val="bg1"/>
                          </a:solidFill>
                        </a:rPr>
                        <a:t>Work</a:t>
                      </a:r>
                      <a:endParaRPr lang="en-US" sz="1250" dirty="0"/>
                    </a:p>
                  </a:txBody>
                  <a:tcPr marL="91440" marR="91440" marT="36576" marB="36576" anchor="ctr">
                    <a:lnL w="0" cap="flat" cmpd="sng" algn="ctr">
                      <a:noFill/>
                    </a:lnL>
                    <a:lnR w="0" cap="flat" cmpd="sng" algn="ctr">
                      <a:noFill/>
                    </a:lnR>
                    <a:lnT w="0" cap="flat" cmpd="sng" algn="ctr">
                      <a:noFill/>
                    </a:lnT>
                    <a:lnB w="0" cap="flat" cmpd="sng" algn="ctr">
                      <a:noFill/>
                    </a:lnB>
                    <a:solidFill>
                      <a:schemeClr val="tx1"/>
                    </a:solidFill>
                  </a:tcPr>
                </a:tc>
                <a:tc>
                  <a:txBody>
                    <a:bodyPr/>
                    <a:lstStyle/>
                    <a:p>
                      <a:pPr indent="0" marL="0">
                        <a:buNone/>
                      </a:pPr>
                      <a:r>
                        <a:rPr lang="en-US" sz="1250" b="1" dirty="0">
                          <a:solidFill>
                            <a:schemeClr val="bg1"/>
                          </a:solidFill>
                        </a:rPr>
                        <a:t>Approach</a:t>
                      </a:r>
                      <a:endParaRPr lang="en-US" sz="1250" dirty="0"/>
                    </a:p>
                  </a:txBody>
                  <a:tcPr marL="91440" marR="91440" marT="36576" marB="36576" anchor="ctr">
                    <a:lnL w="0" cap="flat" cmpd="sng" algn="ctr">
                      <a:noFill/>
                    </a:lnL>
                    <a:lnR w="0" cap="flat" cmpd="sng" algn="ctr">
                      <a:noFill/>
                    </a:lnR>
                    <a:lnT w="0" cap="flat" cmpd="sng" algn="ctr">
                      <a:noFill/>
                    </a:lnT>
                    <a:lnB w="0" cap="flat" cmpd="sng" algn="ctr">
                      <a:noFill/>
                    </a:lnB>
                    <a:solidFill>
                      <a:schemeClr val="tx1"/>
                    </a:solidFill>
                  </a:tcPr>
                </a:tc>
                <a:tc>
                  <a:txBody>
                    <a:bodyPr/>
                    <a:lstStyle/>
                    <a:p>
                      <a:pPr indent="0" marL="0">
                        <a:buNone/>
                      </a:pPr>
                      <a:r>
                        <a:rPr lang="en-US" sz="1250" b="1" dirty="0">
                          <a:solidFill>
                            <a:schemeClr val="bg1"/>
                          </a:solidFill>
                        </a:rPr>
                        <a:t>Gap for Indian macro answers</a:t>
                      </a:r>
                      <a:endParaRPr lang="en-US" sz="1250" dirty="0"/>
                    </a:p>
                  </a:txBody>
                  <a:tcPr marL="91440" marR="91440" marT="36576" marB="36576" anchor="ctr">
                    <a:lnL w="0" cap="flat" cmpd="sng" algn="ctr">
                      <a:noFill/>
                    </a:lnL>
                    <a:lnR w="0" cap="flat" cmpd="sng" algn="ctr">
                      <a:noFill/>
                    </a:lnR>
                    <a:lnT w="0" cap="flat" cmpd="sng" algn="ctr">
                      <a:noFill/>
                    </a:lnT>
                    <a:lnB w="0" cap="flat" cmpd="sng" algn="ctr">
                      <a:noFill/>
                    </a:lnB>
                    <a:solidFill>
                      <a:schemeClr val="tx1"/>
                    </a:solidFill>
                  </a:tcPr>
                </a:tc>
              </a:tr>
              <a:tr h="566928">
                <a:tc>
                  <a:txBody>
                    <a:bodyPr/>
                    <a:lstStyle/>
                    <a:p>
                      <a:pPr indent="0" marL="0">
                        <a:buNone/>
                      </a:pPr>
                      <a:r>
                        <a:rPr lang="en-US" sz="1300" b="1" dirty="0">
                          <a:solidFill>
                            <a:schemeClr val="tx1"/>
                          </a:solidFill>
                        </a:rPr>
                        <a:t>Hao &amp; Xie (2025)</a:t>
                      </a:r>
                      <a:endParaRPr lang="en-US" sz="1300" dirty="0"/>
                    </a:p>
                  </a:txBody>
                  <a:tcPr marL="91440" marR="91440"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300" dirty="0">
                          <a:solidFill>
                            <a:schemeClr val="tx2"/>
                          </a:solidFill>
                        </a:rPr>
                        <a:t>Several LLMs act as heterogeneous households</a:t>
                      </a:r>
                      <a:endParaRPr lang="en-US" sz="1300" dirty="0"/>
                    </a:p>
                  </a:txBody>
                  <a:tcPr marL="91440" marR="91440"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300" dirty="0">
                          <a:solidFill>
                            <a:schemeClr val="tx1"/>
                          </a:solidFill>
                        </a:rPr>
                        <a:t>Stylised tasks, no observed data</a:t>
                      </a:r>
                      <a:endParaRPr lang="en-US" sz="1300" dirty="0"/>
                    </a:p>
                  </a:txBody>
                  <a:tcPr marL="91440" marR="91440" marT="36576" marB="36576" anchor="ctr">
                    <a:lnL w="0" cap="flat" cmpd="sng" algn="ctr">
                      <a:noFill/>
                    </a:lnL>
                    <a:lnR w="0" cap="flat" cmpd="sng" algn="ctr">
                      <a:noFill/>
                    </a:lnR>
                    <a:lnT w="0" cap="flat" cmpd="sng" algn="ctr">
                      <a:noFill/>
                    </a:lnT>
                    <a:lnB w="0" cap="flat" cmpd="sng" algn="ctr">
                      <a:noFill/>
                    </a:lnB>
                    <a:solidFill>
                      <a:schemeClr val="bg1"/>
                    </a:solidFill>
                  </a:tcPr>
                </a:tc>
              </a:tr>
              <a:tr h="566928">
                <a:tc>
                  <a:txBody>
                    <a:bodyPr/>
                    <a:lstStyle/>
                    <a:p>
                      <a:pPr indent="0" marL="0">
                        <a:buNone/>
                      </a:pPr>
                      <a:r>
                        <a:rPr lang="en-US" sz="1300" b="1" dirty="0">
                          <a:solidFill>
                            <a:schemeClr val="tx1"/>
                          </a:solidFill>
                        </a:rPr>
                        <a:t>Lin et al. (2026)</a:t>
                      </a:r>
                      <a:endParaRPr lang="en-US" sz="1300" dirty="0"/>
                    </a:p>
                  </a:txBody>
                  <a:tcPr marL="91440" marR="91440"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300" dirty="0">
                          <a:solidFill>
                            <a:schemeClr val="tx2"/>
                          </a:solidFill>
                        </a:rPr>
                        <a:t>LLM agents simulate macro expectation surveys</a:t>
                      </a:r>
                      <a:endParaRPr lang="en-US" sz="1300" dirty="0"/>
                    </a:p>
                  </a:txBody>
                  <a:tcPr marL="91440" marR="91440"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300" dirty="0">
                          <a:solidFill>
                            <a:schemeClr val="tx1"/>
                          </a:solidFill>
                        </a:rPr>
                        <a:t>Simulated survey answers only</a:t>
                      </a:r>
                      <a:endParaRPr lang="en-US" sz="1300" dirty="0"/>
                    </a:p>
                  </a:txBody>
                  <a:tcPr marL="91440" marR="91440" marT="36576" marB="36576" anchor="ctr">
                    <a:lnL w="0" cap="flat" cmpd="sng" algn="ctr">
                      <a:noFill/>
                    </a:lnL>
                    <a:lnR w="0" cap="flat" cmpd="sng" algn="ctr">
                      <a:noFill/>
                    </a:lnR>
                    <a:lnT w="0" cap="flat" cmpd="sng" algn="ctr">
                      <a:noFill/>
                    </a:lnT>
                    <a:lnB w="0" cap="flat" cmpd="sng" algn="ctr">
                      <a:noFill/>
                    </a:lnB>
                    <a:solidFill>
                      <a:schemeClr val="bg2"/>
                    </a:solidFill>
                  </a:tcPr>
                </a:tc>
              </a:tr>
              <a:tr h="566928">
                <a:tc>
                  <a:txBody>
                    <a:bodyPr/>
                    <a:lstStyle/>
                    <a:p>
                      <a:pPr indent="0" marL="0">
                        <a:buNone/>
                      </a:pPr>
                      <a:r>
                        <a:rPr lang="en-US" sz="1300" b="1" dirty="0">
                          <a:solidFill>
                            <a:schemeClr val="tx1"/>
                          </a:solidFill>
                        </a:rPr>
                        <a:t>Xiao et al. (2025) TradingAgents</a:t>
                      </a:r>
                      <a:endParaRPr lang="en-US" sz="1300" dirty="0"/>
                    </a:p>
                  </a:txBody>
                  <a:tcPr marL="91440" marR="91440"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300" dirty="0">
                          <a:solidFill>
                            <a:schemeClr val="tx2"/>
                          </a:solidFill>
                        </a:rPr>
                        <a:t>Analyst, researcher and trader agent roles</a:t>
                      </a:r>
                      <a:endParaRPr lang="en-US" sz="1300" dirty="0"/>
                    </a:p>
                  </a:txBody>
                  <a:tcPr marL="91440" marR="91440"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300" dirty="0">
                          <a:solidFill>
                            <a:schemeClr val="tx1"/>
                          </a:solidFill>
                        </a:rPr>
                        <a:t>One shared data feed, no owners</a:t>
                      </a:r>
                      <a:endParaRPr lang="en-US" sz="1300" dirty="0"/>
                    </a:p>
                  </a:txBody>
                  <a:tcPr marL="91440" marR="91440" marT="36576" marB="36576" anchor="ctr">
                    <a:lnL w="0" cap="flat" cmpd="sng" algn="ctr">
                      <a:noFill/>
                    </a:lnL>
                    <a:lnR w="0" cap="flat" cmpd="sng" algn="ctr">
                      <a:noFill/>
                    </a:lnR>
                    <a:lnT w="0" cap="flat" cmpd="sng" algn="ctr">
                      <a:noFill/>
                    </a:lnT>
                    <a:lnB w="0" cap="flat" cmpd="sng" algn="ctr">
                      <a:noFill/>
                    </a:lnB>
                    <a:solidFill>
                      <a:schemeClr val="bg1"/>
                    </a:solidFill>
                  </a:tcPr>
                </a:tc>
              </a:tr>
              <a:tr h="566928">
                <a:tc>
                  <a:txBody>
                    <a:bodyPr/>
                    <a:lstStyle/>
                    <a:p>
                      <a:pPr indent="0" marL="0">
                        <a:buNone/>
                      </a:pPr>
                      <a:r>
                        <a:rPr lang="en-US" sz="1300" b="1" dirty="0">
                          <a:solidFill>
                            <a:schemeClr val="tx1"/>
                          </a:solidFill>
                        </a:rPr>
                        <a:t>Yang et al. (2020)</a:t>
                      </a:r>
                      <a:endParaRPr lang="en-US" sz="1300" dirty="0"/>
                    </a:p>
                  </a:txBody>
                  <a:tcPr marL="91440" marR="91440"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300" dirty="0">
                          <a:solidFill>
                            <a:schemeClr val="tx2"/>
                          </a:solidFill>
                        </a:rPr>
                        <a:t>Macro knowledge graph mined from literature</a:t>
                      </a:r>
                      <a:endParaRPr lang="en-US" sz="1300" dirty="0"/>
                    </a:p>
                  </a:txBody>
                  <a:tcPr marL="91440" marR="91440"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300" dirty="0">
                          <a:solidFill>
                            <a:schemeClr val="tx1"/>
                          </a:solidFill>
                        </a:rPr>
                        <a:t>Links not re-tested on data</a:t>
                      </a:r>
                      <a:endParaRPr lang="en-US" sz="1300" dirty="0"/>
                    </a:p>
                  </a:txBody>
                  <a:tcPr marL="91440" marR="91440" marT="36576" marB="36576" anchor="ctr">
                    <a:lnL w="0" cap="flat" cmpd="sng" algn="ctr">
                      <a:noFill/>
                    </a:lnL>
                    <a:lnR w="0" cap="flat" cmpd="sng" algn="ctr">
                      <a:noFill/>
                    </a:lnR>
                    <a:lnT w="0" cap="flat" cmpd="sng" algn="ctr">
                      <a:noFill/>
                    </a:lnT>
                    <a:lnB w="0" cap="flat" cmpd="sng" algn="ctr">
                      <a:noFill/>
                    </a:lnB>
                    <a:solidFill>
                      <a:schemeClr val="bg2"/>
                    </a:solidFill>
                  </a:tcPr>
                </a:tc>
              </a:tr>
              <a:tr h="566928">
                <a:tc>
                  <a:txBody>
                    <a:bodyPr/>
                    <a:lstStyle/>
                    <a:p>
                      <a:pPr indent="0" marL="0">
                        <a:buNone/>
                      </a:pPr>
                      <a:r>
                        <a:rPr lang="en-US" sz="1300" b="1" dirty="0">
                          <a:solidFill>
                            <a:schemeClr val="tx1"/>
                          </a:solidFill>
                        </a:rPr>
                        <a:t>Zhu et al. (2025) KG2RAG</a:t>
                      </a:r>
                      <a:endParaRPr lang="en-US" sz="1300" dirty="0"/>
                    </a:p>
                  </a:txBody>
                  <a:tcPr marL="91440" marR="91440"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300" dirty="0">
                          <a:solidFill>
                            <a:schemeClr val="tx2"/>
                          </a:solidFill>
                        </a:rPr>
                        <a:t>Graph-guided expansion of retrieved chunks</a:t>
                      </a:r>
                      <a:endParaRPr lang="en-US" sz="1300" dirty="0"/>
                    </a:p>
                  </a:txBody>
                  <a:tcPr marL="91440" marR="91440"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300" dirty="0">
                          <a:solidFill>
                            <a:schemeClr val="tx1"/>
                          </a:solidFill>
                        </a:rPr>
                        <a:t>The model still writes numbers</a:t>
                      </a:r>
                      <a:endParaRPr lang="en-US" sz="1300" dirty="0"/>
                    </a:p>
                  </a:txBody>
                  <a:tcPr marL="91440" marR="91440" marT="36576" marB="36576" anchor="ctr">
                    <a:lnL w="0" cap="flat" cmpd="sng" algn="ctr">
                      <a:noFill/>
                    </a:lnL>
                    <a:lnR w="0" cap="flat" cmpd="sng" algn="ctr">
                      <a:noFill/>
                    </a:lnR>
                    <a:lnT w="0" cap="flat" cmpd="sng" algn="ctr">
                      <a:noFill/>
                    </a:lnT>
                    <a:lnB w="0" cap="flat" cmpd="sng" algn="ctr">
                      <a:noFill/>
                    </a:lnB>
                    <a:solidFill>
                      <a:schemeClr val="bg1"/>
                    </a:solidFill>
                  </a:tcPr>
                </a:tc>
              </a:tr>
              <a:tr h="566928">
                <a:tc>
                  <a:txBody>
                    <a:bodyPr/>
                    <a:lstStyle/>
                    <a:p>
                      <a:pPr indent="0" marL="0">
                        <a:buNone/>
                      </a:pPr>
                      <a:r>
                        <a:rPr lang="en-US" sz="1300" b="1" dirty="0">
                          <a:solidFill>
                            <a:schemeClr val="tx1"/>
                          </a:solidFill>
                        </a:rPr>
                        <a:t>Dadopoulos et al. (2025)</a:t>
                      </a:r>
                      <a:endParaRPr lang="en-US" sz="1300" dirty="0"/>
                    </a:p>
                  </a:txBody>
                  <a:tcPr marL="91440" marR="91440"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300" dirty="0">
                          <a:solidFill>
                            <a:schemeClr val="tx2"/>
                          </a:solidFill>
                        </a:rPr>
                        <a:t>Metadata-driven RAG over financial filings</a:t>
                      </a:r>
                      <a:endParaRPr lang="en-US" sz="1300" dirty="0"/>
                    </a:p>
                  </a:txBody>
                  <a:tcPr marL="91440" marR="91440"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300" dirty="0">
                          <a:solidFill>
                            <a:schemeClr val="tx1"/>
                          </a:solidFill>
                        </a:rPr>
                        <a:t>No claim-level verification</a:t>
                      </a:r>
                      <a:endParaRPr lang="en-US" sz="1300" dirty="0"/>
                    </a:p>
                  </a:txBody>
                  <a:tcPr marL="91440" marR="91440" marT="36576" marB="36576" anchor="ctr">
                    <a:lnL w="0" cap="flat" cmpd="sng" algn="ctr">
                      <a:noFill/>
                    </a:lnL>
                    <a:lnR w="0" cap="flat" cmpd="sng" algn="ctr">
                      <a:noFill/>
                    </a:lnR>
                    <a:lnT w="0" cap="flat" cmpd="sng" algn="ctr">
                      <a:noFill/>
                    </a:lnT>
                    <a:lnB w="0" cap="flat" cmpd="sng" algn="ctr">
                      <a:noFill/>
                    </a:lnB>
                    <a:solidFill>
                      <a:schemeClr val="bg2"/>
                    </a:solidFill>
                  </a:tcPr>
                </a:tc>
              </a:tr>
              <a:tr h="566928">
                <a:tc>
                  <a:txBody>
                    <a:bodyPr/>
                    <a:lstStyle/>
                    <a:p>
                      <a:pPr indent="0" marL="0">
                        <a:buNone/>
                      </a:pPr>
                      <a:r>
                        <a:rPr lang="en-US" sz="1300" b="1" dirty="0">
                          <a:solidFill>
                            <a:schemeClr val="tx1"/>
                          </a:solidFill>
                        </a:rPr>
                        <a:t>Kato (2026) AI Economist Agent</a:t>
                      </a:r>
                      <a:endParaRPr lang="en-US" sz="1300" dirty="0"/>
                    </a:p>
                  </a:txBody>
                  <a:tcPr marL="91440" marR="91440"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300" dirty="0">
                          <a:solidFill>
                            <a:schemeClr val="tx2"/>
                          </a:solidFill>
                        </a:rPr>
                        <a:t>Reports grounded in executed model runs</a:t>
                      </a:r>
                      <a:endParaRPr lang="en-US" sz="1300" dirty="0"/>
                    </a:p>
                  </a:txBody>
                  <a:tcPr marL="91440" marR="91440"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300" dirty="0">
                          <a:solidFill>
                            <a:schemeClr val="tx1"/>
                          </a:solidFill>
                        </a:rPr>
                        <a:t>U.S. only; no Indian sources</a:t>
                      </a:r>
                      <a:endParaRPr lang="en-US" sz="1300" dirty="0"/>
                    </a:p>
                  </a:txBody>
                  <a:tcPr marL="91440" marR="91440" marT="36576" marB="36576" anchor="ctr">
                    <a:lnL w="0" cap="flat" cmpd="sng" algn="ctr">
                      <a:noFill/>
                    </a:lnL>
                    <a:lnR w="0" cap="flat" cmpd="sng" algn="ctr">
                      <a:noFill/>
                    </a:lnR>
                    <a:lnT w="0" cap="flat" cmpd="sng" algn="ctr">
                      <a:noFill/>
                    </a:lnT>
                    <a:lnB w="0" cap="flat" cmpd="sng" algn="ctr">
                      <a:noFill/>
                    </a:lnB>
                    <a:solidFill>
                      <a:schemeClr val="bg1"/>
                    </a:solidFill>
                  </a:tcPr>
                </a:tc>
              </a:tr>
            </a:tbl>
          </a:graphicData>
        </a:graphic>
      </p:graphicFrame>
      <p:sp>
        <p:nvSpPr>
          <p:cNvPr id="5" name="text-158"/>
          <p:cNvSpPr txBox="1"/>
          <p:nvPr/>
        </p:nvSpPr>
        <p:spPr>
          <a:xfrm>
            <a:off x="7726680" y="1600200"/>
            <a:ext cx="3913632" cy="310896"/>
          </a:xfrm>
          <a:prstGeom prst="rect">
            <a:avLst/>
          </a:prstGeom>
          <a:noFill/>
          <a:ln/>
        </p:spPr>
        <p:txBody>
          <a:bodyPr wrap="square" lIns="0" tIns="0" rIns="0" bIns="0" rtlCol="0" anchor="t"/>
          <a:lstStyle/>
          <a:p>
            <a:pPr indent="0" marL="0">
              <a:buNone/>
            </a:pPr>
            <a:r>
              <a:rPr lang="en-US" sz="1600" b="1" dirty="0">
                <a:solidFill>
                  <a:schemeClr val="tx1"/>
                </a:solidFill>
              </a:rPr>
              <a:t>Gaps this project targets</a:t>
            </a:r>
            <a:endParaRPr lang="en-US" sz="1600" dirty="0"/>
          </a:p>
        </p:txBody>
      </p:sp>
      <p:sp>
        <p:nvSpPr>
          <p:cNvPr id="6" name="card-159"/>
          <p:cNvSpPr/>
          <p:nvPr/>
        </p:nvSpPr>
        <p:spPr>
          <a:xfrm>
            <a:off x="7726680" y="2011680"/>
            <a:ext cx="3913632" cy="914400"/>
          </a:xfrm>
          <a:prstGeom prst="roundRect">
            <a:avLst>
              <a:gd name="adj" fmla="val 10000"/>
            </a:avLst>
          </a:prstGeom>
          <a:solidFill>
            <a:schemeClr val="bg2"/>
          </a:solidFill>
          <a:ln/>
        </p:spPr>
      </p:sp>
      <p:sp>
        <p:nvSpPr>
          <p:cNvPr id="7" name="card-160"/>
          <p:cNvSpPr/>
          <p:nvPr/>
        </p:nvSpPr>
        <p:spPr>
          <a:xfrm>
            <a:off x="7891272" y="2231136"/>
            <a:ext cx="475488" cy="475488"/>
          </a:xfrm>
          <a:prstGeom prst="roundRect">
            <a:avLst>
              <a:gd name="adj" fmla="val 22000"/>
            </a:avLst>
          </a:prstGeom>
          <a:solidFill>
            <a:schemeClr val="accent1"/>
          </a:solidFill>
          <a:ln/>
        </p:spPr>
      </p:sp>
      <p:pic>
        <p:nvPicPr>
          <p:cNvPr id="8" name="icon-161" descr="KeyRound icon">    </p:cNvPr>
          <p:cNvPicPr>
            <a:picLocks noChangeAspect="1"/>
          </p:cNvPicPr>
          <p:nvPr/>
        </p:nvPicPr>
        <p:blipFill>
          <a:blip r:embed="rId1"/>
          <a:stretch>
            <a:fillRect/>
          </a:stretch>
        </p:blipFill>
        <p:spPr>
          <a:xfrm>
            <a:off x="7995879" y="2335743"/>
            <a:ext cx="266273" cy="266273"/>
          </a:xfrm>
          <a:prstGeom prst="rect">
            <a:avLst/>
          </a:prstGeom>
        </p:spPr>
      </p:pic>
      <p:sp>
        <p:nvSpPr>
          <p:cNvPr id="9" name="text-162"/>
          <p:cNvSpPr txBox="1"/>
          <p:nvPr/>
        </p:nvSpPr>
        <p:spPr>
          <a:xfrm>
            <a:off x="8522208" y="2121408"/>
            <a:ext cx="3017520" cy="274320"/>
          </a:xfrm>
          <a:prstGeom prst="rect">
            <a:avLst/>
          </a:prstGeom>
          <a:noFill/>
          <a:ln/>
        </p:spPr>
        <p:txBody>
          <a:bodyPr wrap="square" lIns="0" tIns="0" rIns="0" bIns="0" rtlCol="0" anchor="t"/>
          <a:lstStyle/>
          <a:p>
            <a:pPr indent="0" marL="0">
              <a:buNone/>
            </a:pPr>
            <a:r>
              <a:rPr lang="en-US" sz="1500" b="1" dirty="0">
                <a:solidFill>
                  <a:schemeClr val="tx1"/>
                </a:solidFill>
              </a:rPr>
              <a:t>Data ownership across agents</a:t>
            </a:r>
            <a:endParaRPr lang="en-US" sz="1500" dirty="0"/>
          </a:p>
        </p:txBody>
      </p:sp>
      <p:sp>
        <p:nvSpPr>
          <p:cNvPr id="10" name="text-163"/>
          <p:cNvSpPr txBox="1"/>
          <p:nvPr/>
        </p:nvSpPr>
        <p:spPr>
          <a:xfrm>
            <a:off x="8522208" y="2423160"/>
            <a:ext cx="3017520" cy="457200"/>
          </a:xfrm>
          <a:prstGeom prst="rect">
            <a:avLst/>
          </a:prstGeom>
          <a:noFill/>
          <a:ln/>
        </p:spPr>
        <p:txBody>
          <a:bodyPr wrap="square" lIns="0" tIns="0" rIns="0" bIns="0" rtlCol="0" anchor="t"/>
          <a:lstStyle/>
          <a:p>
            <a:pPr indent="0" marL="0">
              <a:buNone/>
            </a:pPr>
            <a:r>
              <a:rPr lang="en-US" sz="1350" dirty="0">
                <a:solidFill>
                  <a:schemeClr val="accent1"/>
                </a:solidFill>
              </a:rPr>
              <a:t>One owner per indicator,</a:t>
            </a:r>
            <a:endParaRPr lang="en-US" sz="1350" dirty="0"/>
          </a:p>
          <a:p>
            <a:pPr indent="0" marL="0">
              <a:buNone/>
            </a:pPr>
            <a:r>
              <a:rPr lang="en-US" sz="1350" dirty="0">
                <a:solidFill>
                  <a:schemeClr val="accent1"/>
                </a:solidFill>
              </a:rPr>
              <a:t>enforced by the A2A server</a:t>
            </a:r>
            <a:endParaRPr lang="en-US" sz="1350" dirty="0"/>
          </a:p>
        </p:txBody>
      </p:sp>
      <p:sp>
        <p:nvSpPr>
          <p:cNvPr id="11" name="card-164"/>
          <p:cNvSpPr/>
          <p:nvPr/>
        </p:nvSpPr>
        <p:spPr>
          <a:xfrm>
            <a:off x="7726680" y="3044952"/>
            <a:ext cx="3913632" cy="914400"/>
          </a:xfrm>
          <a:prstGeom prst="roundRect">
            <a:avLst>
              <a:gd name="adj" fmla="val 10000"/>
            </a:avLst>
          </a:prstGeom>
          <a:solidFill>
            <a:schemeClr val="bg2"/>
          </a:solidFill>
          <a:ln/>
        </p:spPr>
      </p:sp>
      <p:sp>
        <p:nvSpPr>
          <p:cNvPr id="12" name="card-165"/>
          <p:cNvSpPr/>
          <p:nvPr/>
        </p:nvSpPr>
        <p:spPr>
          <a:xfrm>
            <a:off x="7891272" y="3264408"/>
            <a:ext cx="475488" cy="475488"/>
          </a:xfrm>
          <a:prstGeom prst="roundRect">
            <a:avLst>
              <a:gd name="adj" fmla="val 22000"/>
            </a:avLst>
          </a:prstGeom>
          <a:solidFill>
            <a:schemeClr val="accent1"/>
          </a:solidFill>
          <a:ln/>
        </p:spPr>
      </p:sp>
      <p:pic>
        <p:nvPicPr>
          <p:cNvPr id="13" name="icon-166" descr="Scale icon">    </p:cNvPr>
          <p:cNvPicPr>
            <a:picLocks noChangeAspect="1"/>
          </p:cNvPicPr>
          <p:nvPr/>
        </p:nvPicPr>
        <p:blipFill>
          <a:blip r:embed="rId2"/>
          <a:stretch>
            <a:fillRect/>
          </a:stretch>
        </p:blipFill>
        <p:spPr>
          <a:xfrm>
            <a:off x="7995879" y="3369015"/>
            <a:ext cx="266273" cy="266273"/>
          </a:xfrm>
          <a:prstGeom prst="rect">
            <a:avLst/>
          </a:prstGeom>
        </p:spPr>
      </p:pic>
      <p:sp>
        <p:nvSpPr>
          <p:cNvPr id="14" name="text-167"/>
          <p:cNvSpPr txBox="1"/>
          <p:nvPr/>
        </p:nvSpPr>
        <p:spPr>
          <a:xfrm>
            <a:off x="8522208" y="3154680"/>
            <a:ext cx="3017520" cy="274320"/>
          </a:xfrm>
          <a:prstGeom prst="rect">
            <a:avLst/>
          </a:prstGeom>
          <a:noFill/>
          <a:ln/>
        </p:spPr>
        <p:txBody>
          <a:bodyPr wrap="square" lIns="0" tIns="0" rIns="0" bIns="0" rtlCol="0" anchor="t"/>
          <a:lstStyle/>
          <a:p>
            <a:pPr indent="0" marL="0">
              <a:buNone/>
            </a:pPr>
            <a:r>
              <a:rPr lang="en-US" sz="1500" b="1" dirty="0">
                <a:solidFill>
                  <a:schemeClr val="tx1"/>
                </a:solidFill>
              </a:rPr>
              <a:t>Evidence grades for causal edges</a:t>
            </a:r>
            <a:endParaRPr lang="en-US" sz="1500" dirty="0"/>
          </a:p>
        </p:txBody>
      </p:sp>
      <p:sp>
        <p:nvSpPr>
          <p:cNvPr id="15" name="text-168"/>
          <p:cNvSpPr txBox="1"/>
          <p:nvPr/>
        </p:nvSpPr>
        <p:spPr>
          <a:xfrm>
            <a:off x="8522208" y="3456432"/>
            <a:ext cx="3017520" cy="457200"/>
          </a:xfrm>
          <a:prstGeom prst="rect">
            <a:avLst/>
          </a:prstGeom>
          <a:noFill/>
          <a:ln/>
        </p:spPr>
        <p:txBody>
          <a:bodyPr wrap="square" lIns="0" tIns="0" rIns="0" bIns="0" rtlCol="0" anchor="t"/>
          <a:lstStyle/>
          <a:p>
            <a:pPr indent="0" marL="0">
              <a:buNone/>
            </a:pPr>
            <a:r>
              <a:rPr lang="en-US" sz="1350" dirty="0">
                <a:solidFill>
                  <a:schemeClr val="accent1"/>
                </a:solidFill>
              </a:rPr>
              <a:t>Edge audit grades every edge</a:t>
            </a:r>
            <a:endParaRPr lang="en-US" sz="1350" dirty="0"/>
          </a:p>
          <a:p>
            <a:pPr indent="0" marL="0">
              <a:buNone/>
            </a:pPr>
            <a:r>
              <a:rPr lang="en-US" sz="1350" dirty="0">
                <a:solidFill>
                  <a:schemeClr val="accent1"/>
                </a:solidFill>
              </a:rPr>
              <a:t>against live official series</a:t>
            </a:r>
            <a:endParaRPr lang="en-US" sz="1350" dirty="0"/>
          </a:p>
        </p:txBody>
      </p:sp>
      <p:sp>
        <p:nvSpPr>
          <p:cNvPr id="16" name="card-169"/>
          <p:cNvSpPr/>
          <p:nvPr/>
        </p:nvSpPr>
        <p:spPr>
          <a:xfrm>
            <a:off x="7726680" y="4078224"/>
            <a:ext cx="3913632" cy="914400"/>
          </a:xfrm>
          <a:prstGeom prst="roundRect">
            <a:avLst>
              <a:gd name="adj" fmla="val 10000"/>
            </a:avLst>
          </a:prstGeom>
          <a:solidFill>
            <a:schemeClr val="bg2"/>
          </a:solidFill>
          <a:ln/>
        </p:spPr>
      </p:sp>
      <p:sp>
        <p:nvSpPr>
          <p:cNvPr id="17" name="card-170"/>
          <p:cNvSpPr/>
          <p:nvPr/>
        </p:nvSpPr>
        <p:spPr>
          <a:xfrm>
            <a:off x="7891272" y="4297680"/>
            <a:ext cx="475488" cy="475488"/>
          </a:xfrm>
          <a:prstGeom prst="roundRect">
            <a:avLst>
              <a:gd name="adj" fmla="val 22000"/>
            </a:avLst>
          </a:prstGeom>
          <a:solidFill>
            <a:schemeClr val="accent1"/>
          </a:solidFill>
          <a:ln/>
        </p:spPr>
      </p:sp>
      <p:pic>
        <p:nvPicPr>
          <p:cNvPr id="18" name="icon-171" descr="Calculator icon">    </p:cNvPr>
          <p:cNvPicPr>
            <a:picLocks noChangeAspect="1"/>
          </p:cNvPicPr>
          <p:nvPr/>
        </p:nvPicPr>
        <p:blipFill>
          <a:blip r:embed="rId3"/>
          <a:stretch>
            <a:fillRect/>
          </a:stretch>
        </p:blipFill>
        <p:spPr>
          <a:xfrm>
            <a:off x="7995879" y="4402287"/>
            <a:ext cx="266273" cy="266273"/>
          </a:xfrm>
          <a:prstGeom prst="rect">
            <a:avLst/>
          </a:prstGeom>
        </p:spPr>
      </p:pic>
      <p:sp>
        <p:nvSpPr>
          <p:cNvPr id="19" name="text-172"/>
          <p:cNvSpPr txBox="1"/>
          <p:nvPr/>
        </p:nvSpPr>
        <p:spPr>
          <a:xfrm>
            <a:off x="8522208" y="4187952"/>
            <a:ext cx="3017520" cy="274320"/>
          </a:xfrm>
          <a:prstGeom prst="rect">
            <a:avLst/>
          </a:prstGeom>
          <a:noFill/>
          <a:ln/>
        </p:spPr>
        <p:txBody>
          <a:bodyPr wrap="square" lIns="0" tIns="0" rIns="0" bIns="0" rtlCol="0" anchor="t"/>
          <a:lstStyle/>
          <a:p>
            <a:pPr indent="0" marL="0">
              <a:buNone/>
            </a:pPr>
            <a:r>
              <a:rPr lang="en-US" sz="1500" b="1" dirty="0">
                <a:solidFill>
                  <a:schemeClr val="tx1"/>
                </a:solidFill>
              </a:rPr>
              <a:t>Machine-checked numbers</a:t>
            </a:r>
            <a:endParaRPr lang="en-US" sz="1500" dirty="0"/>
          </a:p>
        </p:txBody>
      </p:sp>
      <p:sp>
        <p:nvSpPr>
          <p:cNvPr id="20" name="text-173"/>
          <p:cNvSpPr txBox="1"/>
          <p:nvPr/>
        </p:nvSpPr>
        <p:spPr>
          <a:xfrm>
            <a:off x="8522208" y="4489704"/>
            <a:ext cx="3017520" cy="457200"/>
          </a:xfrm>
          <a:prstGeom prst="rect">
            <a:avLst/>
          </a:prstGeom>
          <a:noFill/>
          <a:ln/>
        </p:spPr>
        <p:txBody>
          <a:bodyPr wrap="square" lIns="0" tIns="0" rIns="0" bIns="0" rtlCol="0" anchor="t"/>
          <a:lstStyle/>
          <a:p>
            <a:pPr indent="0" marL="0">
              <a:buNone/>
            </a:pPr>
            <a:r>
              <a:rPr lang="en-US" sz="1350" dirty="0">
                <a:solidFill>
                  <a:schemeClr val="accent1"/>
                </a:solidFill>
              </a:rPr>
              <a:t>Decimal claim verifier against</a:t>
            </a:r>
            <a:endParaRPr lang="en-US" sz="1350" dirty="0"/>
          </a:p>
          <a:p>
            <a:pPr indent="0" marL="0">
              <a:buNone/>
            </a:pPr>
            <a:r>
              <a:rPr lang="en-US" sz="1350" dirty="0">
                <a:solidFill>
                  <a:schemeClr val="accent1"/>
                </a:solidFill>
              </a:rPr>
              <a:t>content-addressed evidence</a:t>
            </a:r>
            <a:endParaRPr lang="en-US" sz="1350" dirty="0"/>
          </a:p>
        </p:txBody>
      </p:sp>
      <p:sp>
        <p:nvSpPr>
          <p:cNvPr id="21" name="card-174"/>
          <p:cNvSpPr/>
          <p:nvPr/>
        </p:nvSpPr>
        <p:spPr>
          <a:xfrm>
            <a:off x="7726680" y="5111496"/>
            <a:ext cx="3913632" cy="914400"/>
          </a:xfrm>
          <a:prstGeom prst="roundRect">
            <a:avLst>
              <a:gd name="adj" fmla="val 10000"/>
            </a:avLst>
          </a:prstGeom>
          <a:solidFill>
            <a:schemeClr val="bg2"/>
          </a:solidFill>
          <a:ln/>
        </p:spPr>
      </p:sp>
      <p:sp>
        <p:nvSpPr>
          <p:cNvPr id="22" name="card-175"/>
          <p:cNvSpPr/>
          <p:nvPr/>
        </p:nvSpPr>
        <p:spPr>
          <a:xfrm>
            <a:off x="7891272" y="5330952"/>
            <a:ext cx="475488" cy="475488"/>
          </a:xfrm>
          <a:prstGeom prst="roundRect">
            <a:avLst>
              <a:gd name="adj" fmla="val 22000"/>
            </a:avLst>
          </a:prstGeom>
          <a:solidFill>
            <a:schemeClr val="accent1"/>
          </a:solidFill>
          <a:ln/>
        </p:spPr>
      </p:sp>
      <p:pic>
        <p:nvPicPr>
          <p:cNvPr id="23" name="icon-176" descr="IndianRupee icon">    </p:cNvPr>
          <p:cNvPicPr>
            <a:picLocks noChangeAspect="1"/>
          </p:cNvPicPr>
          <p:nvPr/>
        </p:nvPicPr>
        <p:blipFill>
          <a:blip r:embed="rId4"/>
          <a:stretch>
            <a:fillRect/>
          </a:stretch>
        </p:blipFill>
        <p:spPr>
          <a:xfrm>
            <a:off x="7995879" y="5435559"/>
            <a:ext cx="266273" cy="266273"/>
          </a:xfrm>
          <a:prstGeom prst="rect">
            <a:avLst/>
          </a:prstGeom>
        </p:spPr>
      </p:pic>
      <p:sp>
        <p:nvSpPr>
          <p:cNvPr id="24" name="text-177"/>
          <p:cNvSpPr txBox="1"/>
          <p:nvPr/>
        </p:nvSpPr>
        <p:spPr>
          <a:xfrm>
            <a:off x="8522208" y="5221224"/>
            <a:ext cx="3017520" cy="274320"/>
          </a:xfrm>
          <a:prstGeom prst="rect">
            <a:avLst/>
          </a:prstGeom>
          <a:noFill/>
          <a:ln/>
        </p:spPr>
        <p:txBody>
          <a:bodyPr wrap="square" lIns="0" tIns="0" rIns="0" bIns="0" rtlCol="0" anchor="t"/>
          <a:lstStyle/>
          <a:p>
            <a:pPr indent="0" marL="0">
              <a:buNone/>
            </a:pPr>
            <a:r>
              <a:rPr lang="en-US" sz="1500" b="1" dirty="0">
                <a:solidFill>
                  <a:schemeClr val="tx1"/>
                </a:solidFill>
              </a:rPr>
              <a:t>Coverage of India</a:t>
            </a:r>
            <a:endParaRPr lang="en-US" sz="1500" dirty="0"/>
          </a:p>
        </p:txBody>
      </p:sp>
      <p:sp>
        <p:nvSpPr>
          <p:cNvPr id="25" name="text-178"/>
          <p:cNvSpPr txBox="1"/>
          <p:nvPr/>
        </p:nvSpPr>
        <p:spPr>
          <a:xfrm>
            <a:off x="8522208" y="5522976"/>
            <a:ext cx="3017520" cy="457200"/>
          </a:xfrm>
          <a:prstGeom prst="rect">
            <a:avLst/>
          </a:prstGeom>
          <a:noFill/>
          <a:ln/>
        </p:spPr>
        <p:txBody>
          <a:bodyPr wrap="square" lIns="0" tIns="0" rIns="0" bIns="0" rtlCol="0" anchor="t"/>
          <a:lstStyle/>
          <a:p>
            <a:pPr indent="0" marL="0">
              <a:buNone/>
            </a:pPr>
            <a:r>
              <a:rPr lang="en-US" sz="1350" dirty="0">
                <a:solidFill>
                  <a:schemeClr val="accent1"/>
                </a:solidFill>
              </a:rPr>
              <a:t>MoSPI, RBI DBIE, CGA, DGCI&amp;S</a:t>
            </a:r>
            <a:endParaRPr lang="en-US" sz="1350" dirty="0"/>
          </a:p>
          <a:p>
            <a:pPr indent="0" marL="0">
              <a:buNone/>
            </a:pPr>
            <a:r>
              <a:rPr lang="en-US" sz="1350" dirty="0">
                <a:solidFill>
                  <a:schemeClr val="accent1"/>
                </a:solidFill>
              </a:rPr>
              <a:t>behind sector FastMCP servers</a:t>
            </a:r>
            <a:endParaRPr lang="en-US" sz="1350" dirty="0"/>
          </a:p>
        </p:txBody>
      </p:sp>
      <p:sp>
        <p:nvSpPr>
          <p:cNvPr id="25" name="Slide Number Placeholder 0"/>
          <p:cNvSpPr>
            <a:spLocks noGrp="1"/>
          </p:cNvSpPr>
          <p:nvPr>
            <p:ph type="sldNum" sz="quarter" idx="4294967295"/>
          </p:nvPr>
        </p:nvSpPr>
        <p:spPr>
          <a:xfrm>
            <a:off x="11091672" y="6446520"/>
            <a:ext cx="548640" cy="22860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51607A"/>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ctr"/>
          <a:lstStyle/>
          <a:p>
            <a:pPr indent="0" marL="0">
              <a:buNone/>
            </a:pPr>
            <a:r>
              <a:rPr lang="en-US" sz="1200" b="1" spc="200" kern="0" dirty="0">
                <a:solidFill>
                  <a:schemeClr val="accent1"/>
                </a:solidFill>
              </a:rPr>
              <a:t>OBJECTIVES</a:t>
            </a:r>
            <a:endParaRPr lang="en-US" sz="1200" dirty="0"/>
          </a:p>
        </p:txBody>
      </p:sp>
      <p:sp>
        <p:nvSpPr>
          <p:cNvPr id="3" name="Text 0"/>
          <p:cNvSpPr/>
          <p:nvPr>
            <p:ph idx="101" type="title" hasCustomPrompt="1"/>
          </p:nvPr>
        </p:nvSpPr>
        <p:spPr>
          <a:xfrm>
            <a:off x="548640" y="676656"/>
            <a:ext cx="11094415" cy="713232"/>
          </a:xfrm>
          <a:prstGeom prst="rect">
            <a:avLst/>
          </a:prstGeom>
          <a:noFill/>
          <a:ln/>
        </p:spPr>
        <p:txBody>
          <a:bodyPr wrap="square" lIns="0" tIns="0" rIns="0" bIns="0" rtlCol="0" anchor="t"/>
          <a:lstStyle/>
          <a:p>
            <a:pPr algn="l" indent="0" marL="0">
              <a:buNone/>
            </a:pPr>
            <a:r>
              <a:rPr lang="en-US" sz="3600" b="1" dirty="0">
                <a:solidFill>
                  <a:schemeClr val="tx1"/>
                </a:solidFill>
              </a:rPr>
              <a:t>Seven objectives, one rule</a:t>
            </a:r>
            <a:endParaRPr lang="en-US" sz="3600" dirty="0"/>
          </a:p>
        </p:txBody>
      </p:sp>
      <p:sp>
        <p:nvSpPr>
          <p:cNvPr id="4" name="card-179"/>
          <p:cNvSpPr/>
          <p:nvPr/>
        </p:nvSpPr>
        <p:spPr>
          <a:xfrm>
            <a:off x="548640" y="1600200"/>
            <a:ext cx="2587752" cy="2103120"/>
          </a:xfrm>
          <a:prstGeom prst="roundRect">
            <a:avLst>
              <a:gd name="adj" fmla="val 5217"/>
            </a:avLst>
          </a:prstGeom>
          <a:solidFill>
            <a:schemeClr val="bg2"/>
          </a:solidFill>
          <a:ln/>
        </p:spPr>
      </p:sp>
      <p:sp>
        <p:nvSpPr>
          <p:cNvPr id="5" name="card-180"/>
          <p:cNvSpPr/>
          <p:nvPr/>
        </p:nvSpPr>
        <p:spPr>
          <a:xfrm>
            <a:off x="777240" y="1828800"/>
            <a:ext cx="475488" cy="475488"/>
          </a:xfrm>
          <a:prstGeom prst="roundRect">
            <a:avLst>
              <a:gd name="adj" fmla="val 22000"/>
            </a:avLst>
          </a:prstGeom>
          <a:solidFill>
            <a:schemeClr val="accent1"/>
          </a:solidFill>
          <a:ln/>
        </p:spPr>
      </p:sp>
      <p:pic>
        <p:nvPicPr>
          <p:cNvPr id="6" name="icon-181" descr="Database icon">    </p:cNvPr>
          <p:cNvPicPr>
            <a:picLocks noChangeAspect="1"/>
          </p:cNvPicPr>
          <p:nvPr/>
        </p:nvPicPr>
        <p:blipFill>
          <a:blip r:embed="rId1"/>
          <a:stretch>
            <a:fillRect/>
          </a:stretch>
        </p:blipFill>
        <p:spPr>
          <a:xfrm>
            <a:off x="881847" y="1933407"/>
            <a:ext cx="266273" cy="266273"/>
          </a:xfrm>
          <a:prstGeom prst="rect">
            <a:avLst/>
          </a:prstGeom>
        </p:spPr>
      </p:pic>
      <p:sp>
        <p:nvSpPr>
          <p:cNvPr id="7" name="text-182"/>
          <p:cNvSpPr txBox="1"/>
          <p:nvPr/>
        </p:nvSpPr>
        <p:spPr>
          <a:xfrm>
            <a:off x="2221992" y="1801368"/>
            <a:ext cx="685800" cy="420624"/>
          </a:xfrm>
          <a:prstGeom prst="rect">
            <a:avLst/>
          </a:prstGeom>
          <a:noFill/>
          <a:ln/>
        </p:spPr>
        <p:txBody>
          <a:bodyPr wrap="square" lIns="0" tIns="0" rIns="0" bIns="0" rtlCol="0" anchor="t"/>
          <a:lstStyle/>
          <a:p>
            <a:pPr algn="r" indent="0" marL="0">
              <a:buNone/>
            </a:pPr>
            <a:r>
              <a:rPr lang="en-US" sz="2400" b="1" dirty="0">
                <a:solidFill>
                  <a:schemeClr val="accent1">
                    <a:alpha val="55000"/>
                  </a:schemeClr>
                </a:solidFill>
              </a:rPr>
              <a:t>O1</a:t>
            </a:r>
            <a:endParaRPr lang="en-US" sz="2400" dirty="0"/>
          </a:p>
        </p:txBody>
      </p:sp>
      <p:sp>
        <p:nvSpPr>
          <p:cNvPr id="8" name="text-183"/>
          <p:cNvSpPr txBox="1"/>
          <p:nvPr/>
        </p:nvSpPr>
        <p:spPr>
          <a:xfrm>
            <a:off x="777240" y="2450592"/>
            <a:ext cx="2176272" cy="512064"/>
          </a:xfrm>
          <a:prstGeom prst="rect">
            <a:avLst/>
          </a:prstGeom>
          <a:noFill/>
          <a:ln/>
        </p:spPr>
        <p:txBody>
          <a:bodyPr wrap="square" lIns="0" tIns="0" rIns="0" bIns="0" rtlCol="0" anchor="b"/>
          <a:lstStyle/>
          <a:p>
            <a:pPr indent="0" marL="0">
              <a:buNone/>
            </a:pPr>
            <a:r>
              <a:rPr lang="en-US" sz="1600" b="1" dirty="0">
                <a:solidFill>
                  <a:schemeClr val="tx1"/>
                </a:solidFill>
              </a:rPr>
              <a:t>Sector-wise data access</a:t>
            </a:r>
            <a:endParaRPr lang="en-US" sz="1600" dirty="0"/>
          </a:p>
        </p:txBody>
      </p:sp>
      <p:sp>
        <p:nvSpPr>
          <p:cNvPr id="9" name="text-184"/>
          <p:cNvSpPr txBox="1"/>
          <p:nvPr/>
        </p:nvSpPr>
        <p:spPr>
          <a:xfrm>
            <a:off x="777240" y="2990088"/>
            <a:ext cx="2176272" cy="658368"/>
          </a:xfrm>
          <a:prstGeom prst="rect">
            <a:avLst/>
          </a:prstGeom>
          <a:noFill/>
          <a:ln/>
        </p:spPr>
        <p:txBody>
          <a:bodyPr wrap="square" lIns="0" tIns="0" rIns="0" bIns="0" rtlCol="0" anchor="t"/>
          <a:lstStyle/>
          <a:p>
            <a:pPr indent="0" marL="0">
              <a:buNone/>
            </a:pPr>
            <a:r>
              <a:rPr lang="en-US" sz="1300" dirty="0">
                <a:solidFill>
                  <a:schemeClr val="tx2"/>
                </a:solidFill>
              </a:rPr>
              <a:t>One FastMCP server and local store per sector, fed by official sources</a:t>
            </a:r>
            <a:endParaRPr lang="en-US" sz="1300" dirty="0"/>
          </a:p>
        </p:txBody>
      </p:sp>
      <p:sp>
        <p:nvSpPr>
          <p:cNvPr id="10" name="card-185"/>
          <p:cNvSpPr/>
          <p:nvPr/>
        </p:nvSpPr>
        <p:spPr>
          <a:xfrm>
            <a:off x="3384194" y="1600200"/>
            <a:ext cx="2587752" cy="2103120"/>
          </a:xfrm>
          <a:prstGeom prst="roundRect">
            <a:avLst>
              <a:gd name="adj" fmla="val 5217"/>
            </a:avLst>
          </a:prstGeom>
          <a:solidFill>
            <a:schemeClr val="bg2"/>
          </a:solidFill>
          <a:ln/>
        </p:spPr>
      </p:sp>
      <p:sp>
        <p:nvSpPr>
          <p:cNvPr id="11" name="card-186"/>
          <p:cNvSpPr/>
          <p:nvPr/>
        </p:nvSpPr>
        <p:spPr>
          <a:xfrm>
            <a:off x="3612794" y="1828800"/>
            <a:ext cx="475488" cy="475488"/>
          </a:xfrm>
          <a:prstGeom prst="roundRect">
            <a:avLst>
              <a:gd name="adj" fmla="val 22000"/>
            </a:avLst>
          </a:prstGeom>
          <a:solidFill>
            <a:schemeClr val="accent1"/>
          </a:solidFill>
          <a:ln/>
        </p:spPr>
      </p:sp>
      <p:pic>
        <p:nvPicPr>
          <p:cNvPr id="12" name="icon-187" descr="Network icon">    </p:cNvPr>
          <p:cNvPicPr>
            <a:picLocks noChangeAspect="1"/>
          </p:cNvPicPr>
          <p:nvPr/>
        </p:nvPicPr>
        <p:blipFill>
          <a:blip r:embed="rId2"/>
          <a:stretch>
            <a:fillRect/>
          </a:stretch>
        </p:blipFill>
        <p:spPr>
          <a:xfrm>
            <a:off x="3717402" y="1933407"/>
            <a:ext cx="266273" cy="266273"/>
          </a:xfrm>
          <a:prstGeom prst="rect">
            <a:avLst/>
          </a:prstGeom>
        </p:spPr>
      </p:pic>
      <p:sp>
        <p:nvSpPr>
          <p:cNvPr id="13" name="text-188"/>
          <p:cNvSpPr txBox="1"/>
          <p:nvPr/>
        </p:nvSpPr>
        <p:spPr>
          <a:xfrm>
            <a:off x="5057546" y="1801368"/>
            <a:ext cx="685800" cy="420624"/>
          </a:xfrm>
          <a:prstGeom prst="rect">
            <a:avLst/>
          </a:prstGeom>
          <a:noFill/>
          <a:ln/>
        </p:spPr>
        <p:txBody>
          <a:bodyPr wrap="square" lIns="0" tIns="0" rIns="0" bIns="0" rtlCol="0" anchor="t"/>
          <a:lstStyle/>
          <a:p>
            <a:pPr algn="r" indent="0" marL="0">
              <a:buNone/>
            </a:pPr>
            <a:r>
              <a:rPr lang="en-US" sz="2400" b="1" dirty="0">
                <a:solidFill>
                  <a:schemeClr val="accent1">
                    <a:alpha val="55000"/>
                  </a:schemeClr>
                </a:solidFill>
              </a:rPr>
              <a:t>O2</a:t>
            </a:r>
            <a:endParaRPr lang="en-US" sz="2400" dirty="0"/>
          </a:p>
        </p:txBody>
      </p:sp>
      <p:sp>
        <p:nvSpPr>
          <p:cNvPr id="14" name="text-189"/>
          <p:cNvSpPr txBox="1"/>
          <p:nvPr/>
        </p:nvSpPr>
        <p:spPr>
          <a:xfrm>
            <a:off x="3612794" y="2450592"/>
            <a:ext cx="2176272" cy="512064"/>
          </a:xfrm>
          <a:prstGeom prst="rect">
            <a:avLst/>
          </a:prstGeom>
          <a:noFill/>
          <a:ln/>
        </p:spPr>
        <p:txBody>
          <a:bodyPr wrap="square" lIns="0" tIns="0" rIns="0" bIns="0" rtlCol="0" anchor="b"/>
          <a:lstStyle/>
          <a:p>
            <a:pPr indent="0" marL="0">
              <a:buNone/>
            </a:pPr>
            <a:r>
              <a:rPr lang="en-US" sz="1600" b="1" dirty="0">
                <a:solidFill>
                  <a:schemeClr val="tx1"/>
                </a:solidFill>
              </a:rPr>
              <a:t>Coordinated multi-agent reasoning</a:t>
            </a:r>
            <a:endParaRPr lang="en-US" sz="1600" dirty="0"/>
          </a:p>
        </p:txBody>
      </p:sp>
      <p:sp>
        <p:nvSpPr>
          <p:cNvPr id="15" name="text-190"/>
          <p:cNvSpPr txBox="1"/>
          <p:nvPr/>
        </p:nvSpPr>
        <p:spPr>
          <a:xfrm>
            <a:off x="3612794" y="2990088"/>
            <a:ext cx="2176272" cy="658368"/>
          </a:xfrm>
          <a:prstGeom prst="rect">
            <a:avLst/>
          </a:prstGeom>
          <a:noFill/>
          <a:ln/>
        </p:spPr>
        <p:txBody>
          <a:bodyPr wrap="square" lIns="0" tIns="0" rIns="0" bIns="0" rtlCol="0" anchor="t"/>
          <a:lstStyle/>
          <a:p>
            <a:pPr indent="0" marL="0">
              <a:buNone/>
            </a:pPr>
            <a:r>
              <a:rPr lang="en-US" sz="1300" dirty="0">
                <a:solidFill>
                  <a:schemeClr val="tx2"/>
                </a:solidFill>
              </a:rPr>
              <a:t>Typed A2A protocol with discovery, routing, loop guards and tracing</a:t>
            </a:r>
            <a:endParaRPr lang="en-US" sz="1300" dirty="0"/>
          </a:p>
        </p:txBody>
      </p:sp>
      <p:sp>
        <p:nvSpPr>
          <p:cNvPr id="16" name="card-191"/>
          <p:cNvSpPr/>
          <p:nvPr/>
        </p:nvSpPr>
        <p:spPr>
          <a:xfrm>
            <a:off x="6219749" y="1600200"/>
            <a:ext cx="2587752" cy="2103120"/>
          </a:xfrm>
          <a:prstGeom prst="roundRect">
            <a:avLst>
              <a:gd name="adj" fmla="val 5217"/>
            </a:avLst>
          </a:prstGeom>
          <a:solidFill>
            <a:schemeClr val="bg2"/>
          </a:solidFill>
          <a:ln/>
        </p:spPr>
      </p:sp>
      <p:sp>
        <p:nvSpPr>
          <p:cNvPr id="17" name="card-192"/>
          <p:cNvSpPr/>
          <p:nvPr/>
        </p:nvSpPr>
        <p:spPr>
          <a:xfrm>
            <a:off x="6448349" y="1828800"/>
            <a:ext cx="475488" cy="475488"/>
          </a:xfrm>
          <a:prstGeom prst="roundRect">
            <a:avLst>
              <a:gd name="adj" fmla="val 22000"/>
            </a:avLst>
          </a:prstGeom>
          <a:solidFill>
            <a:schemeClr val="accent1"/>
          </a:solidFill>
          <a:ln/>
        </p:spPr>
      </p:sp>
      <p:pic>
        <p:nvPicPr>
          <p:cNvPr id="18" name="icon-193" descr="ShieldCheck icon">    </p:cNvPr>
          <p:cNvPicPr>
            <a:picLocks noChangeAspect="1"/>
          </p:cNvPicPr>
          <p:nvPr/>
        </p:nvPicPr>
        <p:blipFill>
          <a:blip r:embed="rId3"/>
          <a:stretch>
            <a:fillRect/>
          </a:stretch>
        </p:blipFill>
        <p:spPr>
          <a:xfrm>
            <a:off x="6552956" y="1933407"/>
            <a:ext cx="266273" cy="266273"/>
          </a:xfrm>
          <a:prstGeom prst="rect">
            <a:avLst/>
          </a:prstGeom>
        </p:spPr>
      </p:pic>
      <p:sp>
        <p:nvSpPr>
          <p:cNvPr id="19" name="text-194"/>
          <p:cNvSpPr txBox="1"/>
          <p:nvPr/>
        </p:nvSpPr>
        <p:spPr>
          <a:xfrm>
            <a:off x="7893101" y="1801368"/>
            <a:ext cx="685800" cy="420624"/>
          </a:xfrm>
          <a:prstGeom prst="rect">
            <a:avLst/>
          </a:prstGeom>
          <a:noFill/>
          <a:ln/>
        </p:spPr>
        <p:txBody>
          <a:bodyPr wrap="square" lIns="0" tIns="0" rIns="0" bIns="0" rtlCol="0" anchor="t"/>
          <a:lstStyle/>
          <a:p>
            <a:pPr algn="r" indent="0" marL="0">
              <a:buNone/>
            </a:pPr>
            <a:r>
              <a:rPr lang="en-US" sz="2400" b="1" dirty="0">
                <a:solidFill>
                  <a:schemeClr val="accent1">
                    <a:alpha val="55000"/>
                  </a:schemeClr>
                </a:solidFill>
              </a:rPr>
              <a:t>O3</a:t>
            </a:r>
            <a:endParaRPr lang="en-US" sz="2400" dirty="0"/>
          </a:p>
        </p:txBody>
      </p:sp>
      <p:sp>
        <p:nvSpPr>
          <p:cNvPr id="20" name="text-195"/>
          <p:cNvSpPr txBox="1"/>
          <p:nvPr/>
        </p:nvSpPr>
        <p:spPr>
          <a:xfrm>
            <a:off x="6448349" y="2450592"/>
            <a:ext cx="2176272" cy="512064"/>
          </a:xfrm>
          <a:prstGeom prst="rect">
            <a:avLst/>
          </a:prstGeom>
          <a:noFill/>
          <a:ln/>
        </p:spPr>
        <p:txBody>
          <a:bodyPr wrap="square" lIns="0" tIns="0" rIns="0" bIns="0" rtlCol="0" anchor="b"/>
          <a:lstStyle/>
          <a:p>
            <a:pPr indent="0" marL="0">
              <a:buNone/>
            </a:pPr>
            <a:r>
              <a:rPr lang="en-US" sz="1600" b="1" dirty="0">
                <a:solidFill>
                  <a:schemeClr val="tx1"/>
                </a:solidFill>
              </a:rPr>
              <a:t>Source-grounded answers</a:t>
            </a:r>
            <a:endParaRPr lang="en-US" sz="1600" dirty="0"/>
          </a:p>
        </p:txBody>
      </p:sp>
      <p:sp>
        <p:nvSpPr>
          <p:cNvPr id="21" name="text-196"/>
          <p:cNvSpPr txBox="1"/>
          <p:nvPr/>
        </p:nvSpPr>
        <p:spPr>
          <a:xfrm>
            <a:off x="6448349" y="2990088"/>
            <a:ext cx="2176272" cy="658368"/>
          </a:xfrm>
          <a:prstGeom prst="rect">
            <a:avLst/>
          </a:prstGeom>
          <a:noFill/>
          <a:ln/>
        </p:spPr>
        <p:txBody>
          <a:bodyPr wrap="square" lIns="0" tIns="0" rIns="0" bIns="0" rtlCol="0" anchor="t"/>
          <a:lstStyle/>
          <a:p>
            <a:pPr indent="0" marL="0">
              <a:buNone/>
            </a:pPr>
            <a:r>
              <a:rPr lang="en-US" sz="1300" dirty="0">
                <a:solidFill>
                  <a:schemeClr val="tx2"/>
                </a:solidFill>
              </a:rPr>
              <a:t>Provenance enforced in the protocol; missing data reported, not estimated</a:t>
            </a:r>
            <a:endParaRPr lang="en-US" sz="1300" dirty="0"/>
          </a:p>
        </p:txBody>
      </p:sp>
      <p:sp>
        <p:nvSpPr>
          <p:cNvPr id="22" name="card-197"/>
          <p:cNvSpPr/>
          <p:nvPr/>
        </p:nvSpPr>
        <p:spPr>
          <a:xfrm>
            <a:off x="9055303" y="1600200"/>
            <a:ext cx="2587752" cy="2103120"/>
          </a:xfrm>
          <a:prstGeom prst="roundRect">
            <a:avLst>
              <a:gd name="adj" fmla="val 5217"/>
            </a:avLst>
          </a:prstGeom>
          <a:solidFill>
            <a:schemeClr val="bg2"/>
          </a:solidFill>
          <a:ln/>
        </p:spPr>
      </p:sp>
      <p:sp>
        <p:nvSpPr>
          <p:cNvPr id="23" name="card-198"/>
          <p:cNvSpPr/>
          <p:nvPr/>
        </p:nvSpPr>
        <p:spPr>
          <a:xfrm>
            <a:off x="9283903" y="1828800"/>
            <a:ext cx="475488" cy="475488"/>
          </a:xfrm>
          <a:prstGeom prst="roundRect">
            <a:avLst>
              <a:gd name="adj" fmla="val 22000"/>
            </a:avLst>
          </a:prstGeom>
          <a:solidFill>
            <a:schemeClr val="accent1"/>
          </a:solidFill>
          <a:ln/>
        </p:spPr>
      </p:sp>
      <p:pic>
        <p:nvPicPr>
          <p:cNvPr id="24" name="icon-199" descr="Waypoints icon">    </p:cNvPr>
          <p:cNvPicPr>
            <a:picLocks noChangeAspect="1"/>
          </p:cNvPicPr>
          <p:nvPr/>
        </p:nvPicPr>
        <p:blipFill>
          <a:blip r:embed="rId4"/>
          <a:stretch>
            <a:fillRect/>
          </a:stretch>
        </p:blipFill>
        <p:spPr>
          <a:xfrm>
            <a:off x="9388511" y="1933407"/>
            <a:ext cx="266273" cy="266273"/>
          </a:xfrm>
          <a:prstGeom prst="rect">
            <a:avLst/>
          </a:prstGeom>
        </p:spPr>
      </p:pic>
      <p:sp>
        <p:nvSpPr>
          <p:cNvPr id="25" name="text-200"/>
          <p:cNvSpPr txBox="1"/>
          <p:nvPr/>
        </p:nvSpPr>
        <p:spPr>
          <a:xfrm>
            <a:off x="10728655" y="1801368"/>
            <a:ext cx="685800" cy="420624"/>
          </a:xfrm>
          <a:prstGeom prst="rect">
            <a:avLst/>
          </a:prstGeom>
          <a:noFill/>
          <a:ln/>
        </p:spPr>
        <p:txBody>
          <a:bodyPr wrap="square" lIns="0" tIns="0" rIns="0" bIns="0" rtlCol="0" anchor="t"/>
          <a:lstStyle/>
          <a:p>
            <a:pPr algn="r" indent="0" marL="0">
              <a:buNone/>
            </a:pPr>
            <a:r>
              <a:rPr lang="en-US" sz="2400" b="1" dirty="0">
                <a:solidFill>
                  <a:schemeClr val="accent1">
                    <a:alpha val="55000"/>
                  </a:schemeClr>
                </a:solidFill>
              </a:rPr>
              <a:t>O4</a:t>
            </a:r>
            <a:endParaRPr lang="en-US" sz="2400" dirty="0"/>
          </a:p>
        </p:txBody>
      </p:sp>
      <p:sp>
        <p:nvSpPr>
          <p:cNvPr id="26" name="text-201"/>
          <p:cNvSpPr txBox="1"/>
          <p:nvPr/>
        </p:nvSpPr>
        <p:spPr>
          <a:xfrm>
            <a:off x="9283903" y="2450592"/>
            <a:ext cx="2176272" cy="512064"/>
          </a:xfrm>
          <a:prstGeom prst="rect">
            <a:avLst/>
          </a:prstGeom>
          <a:noFill/>
          <a:ln/>
        </p:spPr>
        <p:txBody>
          <a:bodyPr wrap="square" lIns="0" tIns="0" rIns="0" bIns="0" rtlCol="0" anchor="b"/>
          <a:lstStyle/>
          <a:p>
            <a:pPr indent="0" marL="0">
              <a:buNone/>
            </a:pPr>
            <a:r>
              <a:rPr lang="en-US" sz="1600" b="1" dirty="0">
                <a:solidFill>
                  <a:schemeClr val="tx1"/>
                </a:solidFill>
              </a:rPr>
              <a:t>Explicit causal model</a:t>
            </a:r>
            <a:endParaRPr lang="en-US" sz="1600" dirty="0"/>
          </a:p>
        </p:txBody>
      </p:sp>
      <p:sp>
        <p:nvSpPr>
          <p:cNvPr id="27" name="text-202"/>
          <p:cNvSpPr txBox="1"/>
          <p:nvPr/>
        </p:nvSpPr>
        <p:spPr>
          <a:xfrm>
            <a:off x="9283903" y="2990088"/>
            <a:ext cx="2176272" cy="658368"/>
          </a:xfrm>
          <a:prstGeom prst="rect">
            <a:avLst/>
          </a:prstGeom>
          <a:noFill/>
          <a:ln/>
        </p:spPr>
        <p:txBody>
          <a:bodyPr wrap="square" lIns="0" tIns="0" rIns="0" bIns="0" rtlCol="0" anchor="t"/>
          <a:lstStyle/>
          <a:p>
            <a:pPr indent="0" marL="0">
              <a:buNone/>
            </a:pPr>
            <a:r>
              <a:rPr lang="en-US" sz="1300" dirty="0">
                <a:solidFill>
                  <a:schemeClr val="tx2"/>
                </a:solidFill>
              </a:rPr>
              <a:t>Knowledge graph of transmission channels with lag, sign and evidence class</a:t>
            </a:r>
            <a:endParaRPr lang="en-US" sz="1300" dirty="0"/>
          </a:p>
        </p:txBody>
      </p:sp>
      <p:sp>
        <p:nvSpPr>
          <p:cNvPr id="28" name="card-203"/>
          <p:cNvSpPr/>
          <p:nvPr/>
        </p:nvSpPr>
        <p:spPr>
          <a:xfrm>
            <a:off x="548640" y="3950208"/>
            <a:ext cx="2587752" cy="2103120"/>
          </a:xfrm>
          <a:prstGeom prst="roundRect">
            <a:avLst>
              <a:gd name="adj" fmla="val 5217"/>
            </a:avLst>
          </a:prstGeom>
          <a:solidFill>
            <a:schemeClr val="bg2"/>
          </a:solidFill>
          <a:ln/>
        </p:spPr>
      </p:sp>
      <p:sp>
        <p:nvSpPr>
          <p:cNvPr id="29" name="card-204"/>
          <p:cNvSpPr/>
          <p:nvPr/>
        </p:nvSpPr>
        <p:spPr>
          <a:xfrm>
            <a:off x="777240" y="4178808"/>
            <a:ext cx="475488" cy="475488"/>
          </a:xfrm>
          <a:prstGeom prst="roundRect">
            <a:avLst>
              <a:gd name="adj" fmla="val 22000"/>
            </a:avLst>
          </a:prstGeom>
          <a:solidFill>
            <a:schemeClr val="accent1"/>
          </a:solidFill>
          <a:ln/>
        </p:spPr>
      </p:sp>
      <p:pic>
        <p:nvPicPr>
          <p:cNvPr id="30" name="icon-205" descr="Fingerprint icon">    </p:cNvPr>
          <p:cNvPicPr>
            <a:picLocks noChangeAspect="1"/>
          </p:cNvPicPr>
          <p:nvPr/>
        </p:nvPicPr>
        <p:blipFill>
          <a:blip r:embed="rId5"/>
          <a:stretch>
            <a:fillRect/>
          </a:stretch>
        </p:blipFill>
        <p:spPr>
          <a:xfrm>
            <a:off x="881847" y="4283415"/>
            <a:ext cx="266273" cy="266273"/>
          </a:xfrm>
          <a:prstGeom prst="rect">
            <a:avLst/>
          </a:prstGeom>
        </p:spPr>
      </p:pic>
      <p:sp>
        <p:nvSpPr>
          <p:cNvPr id="31" name="text-206"/>
          <p:cNvSpPr txBox="1"/>
          <p:nvPr/>
        </p:nvSpPr>
        <p:spPr>
          <a:xfrm>
            <a:off x="2221992" y="4151376"/>
            <a:ext cx="685800" cy="420624"/>
          </a:xfrm>
          <a:prstGeom prst="rect">
            <a:avLst/>
          </a:prstGeom>
          <a:noFill/>
          <a:ln/>
        </p:spPr>
        <p:txBody>
          <a:bodyPr wrap="square" lIns="0" tIns="0" rIns="0" bIns="0" rtlCol="0" anchor="t"/>
          <a:lstStyle/>
          <a:p>
            <a:pPr algn="r" indent="0" marL="0">
              <a:buNone/>
            </a:pPr>
            <a:r>
              <a:rPr lang="en-US" sz="2400" b="1" dirty="0">
                <a:solidFill>
                  <a:schemeClr val="accent1">
                    <a:alpha val="55000"/>
                  </a:schemeClr>
                </a:solidFill>
              </a:rPr>
              <a:t>O5</a:t>
            </a:r>
            <a:endParaRPr lang="en-US" sz="2400" dirty="0"/>
          </a:p>
        </p:txBody>
      </p:sp>
      <p:sp>
        <p:nvSpPr>
          <p:cNvPr id="32" name="text-207"/>
          <p:cNvSpPr txBox="1"/>
          <p:nvPr/>
        </p:nvSpPr>
        <p:spPr>
          <a:xfrm>
            <a:off x="777240" y="4800600"/>
            <a:ext cx="2176272" cy="512064"/>
          </a:xfrm>
          <a:prstGeom prst="rect">
            <a:avLst/>
          </a:prstGeom>
          <a:noFill/>
          <a:ln/>
        </p:spPr>
        <p:txBody>
          <a:bodyPr wrap="square" lIns="0" tIns="0" rIns="0" bIns="0" rtlCol="0" anchor="b"/>
          <a:lstStyle/>
          <a:p>
            <a:pPr indent="0" marL="0">
              <a:buNone/>
            </a:pPr>
            <a:r>
              <a:rPr lang="en-US" sz="1600" b="1" dirty="0">
                <a:solidFill>
                  <a:schemeClr val="tx1"/>
                </a:solidFill>
              </a:rPr>
              <a:t>Traceable provenance</a:t>
            </a:r>
            <a:endParaRPr lang="en-US" sz="1600" dirty="0"/>
          </a:p>
        </p:txBody>
      </p:sp>
      <p:sp>
        <p:nvSpPr>
          <p:cNvPr id="33" name="text-208"/>
          <p:cNvSpPr txBox="1"/>
          <p:nvPr/>
        </p:nvSpPr>
        <p:spPr>
          <a:xfrm>
            <a:off x="777240" y="5340096"/>
            <a:ext cx="2176272" cy="658368"/>
          </a:xfrm>
          <a:prstGeom prst="rect">
            <a:avLst/>
          </a:prstGeom>
          <a:noFill/>
          <a:ln/>
        </p:spPr>
        <p:txBody>
          <a:bodyPr wrap="square" lIns="0" tIns="0" rIns="0" bIns="0" rtlCol="0" anchor="t"/>
          <a:lstStyle/>
          <a:p>
            <a:pPr indent="0" marL="0">
              <a:buNone/>
            </a:pPr>
            <a:r>
              <a:rPr lang="en-US" sz="1300" dirty="0">
                <a:solidFill>
                  <a:schemeClr val="tx2"/>
                </a:solidFill>
              </a:rPr>
              <a:t>Source, table, period, retrieval time and hash on every observation</a:t>
            </a:r>
            <a:endParaRPr lang="en-US" sz="1300" dirty="0"/>
          </a:p>
        </p:txBody>
      </p:sp>
      <p:sp>
        <p:nvSpPr>
          <p:cNvPr id="34" name="card-209"/>
          <p:cNvSpPr/>
          <p:nvPr/>
        </p:nvSpPr>
        <p:spPr>
          <a:xfrm>
            <a:off x="3384194" y="3950208"/>
            <a:ext cx="2587752" cy="2103120"/>
          </a:xfrm>
          <a:prstGeom prst="roundRect">
            <a:avLst>
              <a:gd name="adj" fmla="val 5217"/>
            </a:avLst>
          </a:prstGeom>
          <a:solidFill>
            <a:schemeClr val="bg2"/>
          </a:solidFill>
          <a:ln/>
        </p:spPr>
      </p:sp>
      <p:sp>
        <p:nvSpPr>
          <p:cNvPr id="35" name="card-210"/>
          <p:cNvSpPr/>
          <p:nvPr/>
        </p:nvSpPr>
        <p:spPr>
          <a:xfrm>
            <a:off x="3612794" y="4178808"/>
            <a:ext cx="475488" cy="475488"/>
          </a:xfrm>
          <a:prstGeom prst="roundRect">
            <a:avLst>
              <a:gd name="adj" fmla="val 22000"/>
            </a:avLst>
          </a:prstGeom>
          <a:solidFill>
            <a:schemeClr val="accent1"/>
          </a:solidFill>
          <a:ln/>
        </p:spPr>
      </p:sp>
      <p:pic>
        <p:nvPicPr>
          <p:cNvPr id="36" name="icon-211" descr="FlaskConical icon">    </p:cNvPr>
          <p:cNvPicPr>
            <a:picLocks noChangeAspect="1"/>
          </p:cNvPicPr>
          <p:nvPr/>
        </p:nvPicPr>
        <p:blipFill>
          <a:blip r:embed="rId6"/>
          <a:stretch>
            <a:fillRect/>
          </a:stretch>
        </p:blipFill>
        <p:spPr>
          <a:xfrm>
            <a:off x="3717402" y="4283415"/>
            <a:ext cx="266273" cy="266273"/>
          </a:xfrm>
          <a:prstGeom prst="rect">
            <a:avLst/>
          </a:prstGeom>
        </p:spPr>
      </p:pic>
      <p:sp>
        <p:nvSpPr>
          <p:cNvPr id="37" name="text-212"/>
          <p:cNvSpPr txBox="1"/>
          <p:nvPr/>
        </p:nvSpPr>
        <p:spPr>
          <a:xfrm>
            <a:off x="5057546" y="4151376"/>
            <a:ext cx="685800" cy="420624"/>
          </a:xfrm>
          <a:prstGeom prst="rect">
            <a:avLst/>
          </a:prstGeom>
          <a:noFill/>
          <a:ln/>
        </p:spPr>
        <p:txBody>
          <a:bodyPr wrap="square" lIns="0" tIns="0" rIns="0" bIns="0" rtlCol="0" anchor="t"/>
          <a:lstStyle/>
          <a:p>
            <a:pPr algn="r" indent="0" marL="0">
              <a:buNone/>
            </a:pPr>
            <a:r>
              <a:rPr lang="en-US" sz="2400" b="1" dirty="0">
                <a:solidFill>
                  <a:schemeClr val="accent1">
                    <a:alpha val="55000"/>
                  </a:schemeClr>
                </a:solidFill>
              </a:rPr>
              <a:t>O6</a:t>
            </a:r>
            <a:endParaRPr lang="en-US" sz="2400" dirty="0"/>
          </a:p>
        </p:txBody>
      </p:sp>
      <p:sp>
        <p:nvSpPr>
          <p:cNvPr id="38" name="text-213"/>
          <p:cNvSpPr txBox="1"/>
          <p:nvPr/>
        </p:nvSpPr>
        <p:spPr>
          <a:xfrm>
            <a:off x="3612794" y="4800600"/>
            <a:ext cx="2176272" cy="512064"/>
          </a:xfrm>
          <a:prstGeom prst="rect">
            <a:avLst/>
          </a:prstGeom>
          <a:noFill/>
          <a:ln/>
        </p:spPr>
        <p:txBody>
          <a:bodyPr wrap="square" lIns="0" tIns="0" rIns="0" bIns="0" rtlCol="0" anchor="b"/>
          <a:lstStyle/>
          <a:p>
            <a:pPr indent="0" marL="0">
              <a:buNone/>
            </a:pPr>
            <a:r>
              <a:rPr lang="en-US" sz="1600" b="1" dirty="0">
                <a:solidFill>
                  <a:schemeClr val="tx1"/>
                </a:solidFill>
              </a:rPr>
              <a:t>Research instruments</a:t>
            </a:r>
            <a:endParaRPr lang="en-US" sz="1600" dirty="0"/>
          </a:p>
        </p:txBody>
      </p:sp>
      <p:sp>
        <p:nvSpPr>
          <p:cNvPr id="39" name="text-214"/>
          <p:cNvSpPr txBox="1"/>
          <p:nvPr/>
        </p:nvSpPr>
        <p:spPr>
          <a:xfrm>
            <a:off x="3612794" y="5340096"/>
            <a:ext cx="2176272" cy="658368"/>
          </a:xfrm>
          <a:prstGeom prst="rect">
            <a:avLst/>
          </a:prstGeom>
          <a:noFill/>
          <a:ln/>
        </p:spPr>
        <p:txBody>
          <a:bodyPr wrap="square" lIns="0" tIns="0" rIns="0" bIns="0" rtlCol="0" anchor="t"/>
          <a:lstStyle/>
          <a:p>
            <a:pPr indent="0" marL="0">
              <a:buNone/>
            </a:pPr>
            <a:r>
              <a:rPr lang="en-US" sz="1300" dirty="0">
                <a:solidFill>
                  <a:schemeClr val="tx2"/>
                </a:solidFill>
              </a:rPr>
              <a:t>Edge audit, anomaly radar, trajectory, twin, MPC and claim verification</a:t>
            </a:r>
            <a:endParaRPr lang="en-US" sz="1300" dirty="0"/>
          </a:p>
        </p:txBody>
      </p:sp>
      <p:sp>
        <p:nvSpPr>
          <p:cNvPr id="40" name="card-215"/>
          <p:cNvSpPr/>
          <p:nvPr/>
        </p:nvSpPr>
        <p:spPr>
          <a:xfrm>
            <a:off x="6219749" y="3950208"/>
            <a:ext cx="2587752" cy="2103120"/>
          </a:xfrm>
          <a:prstGeom prst="roundRect">
            <a:avLst>
              <a:gd name="adj" fmla="val 5217"/>
            </a:avLst>
          </a:prstGeom>
          <a:solidFill>
            <a:schemeClr val="bg2"/>
          </a:solidFill>
          <a:ln/>
        </p:spPr>
      </p:sp>
      <p:sp>
        <p:nvSpPr>
          <p:cNvPr id="41" name="card-216"/>
          <p:cNvSpPr/>
          <p:nvPr/>
        </p:nvSpPr>
        <p:spPr>
          <a:xfrm>
            <a:off x="6448349" y="4178808"/>
            <a:ext cx="475488" cy="475488"/>
          </a:xfrm>
          <a:prstGeom prst="roundRect">
            <a:avLst>
              <a:gd name="adj" fmla="val 22000"/>
            </a:avLst>
          </a:prstGeom>
          <a:solidFill>
            <a:schemeClr val="accent1"/>
          </a:solidFill>
          <a:ln/>
        </p:spPr>
      </p:sp>
      <p:pic>
        <p:nvPicPr>
          <p:cNvPr id="42" name="icon-217" descr="LayoutDashboard icon">    </p:cNvPr>
          <p:cNvPicPr>
            <a:picLocks noChangeAspect="1"/>
          </p:cNvPicPr>
          <p:nvPr/>
        </p:nvPicPr>
        <p:blipFill>
          <a:blip r:embed="rId7"/>
          <a:stretch>
            <a:fillRect/>
          </a:stretch>
        </p:blipFill>
        <p:spPr>
          <a:xfrm>
            <a:off x="6552956" y="4283415"/>
            <a:ext cx="266273" cy="266273"/>
          </a:xfrm>
          <a:prstGeom prst="rect">
            <a:avLst/>
          </a:prstGeom>
        </p:spPr>
      </p:pic>
      <p:sp>
        <p:nvSpPr>
          <p:cNvPr id="43" name="text-218"/>
          <p:cNvSpPr txBox="1"/>
          <p:nvPr/>
        </p:nvSpPr>
        <p:spPr>
          <a:xfrm>
            <a:off x="7893101" y="4151376"/>
            <a:ext cx="685800" cy="420624"/>
          </a:xfrm>
          <a:prstGeom prst="rect">
            <a:avLst/>
          </a:prstGeom>
          <a:noFill/>
          <a:ln/>
        </p:spPr>
        <p:txBody>
          <a:bodyPr wrap="square" lIns="0" tIns="0" rIns="0" bIns="0" rtlCol="0" anchor="t"/>
          <a:lstStyle/>
          <a:p>
            <a:pPr algn="r" indent="0" marL="0">
              <a:buNone/>
            </a:pPr>
            <a:r>
              <a:rPr lang="en-US" sz="2400" b="1" dirty="0">
                <a:solidFill>
                  <a:schemeClr val="accent1">
                    <a:alpha val="55000"/>
                  </a:schemeClr>
                </a:solidFill>
              </a:rPr>
              <a:t>O7</a:t>
            </a:r>
            <a:endParaRPr lang="en-US" sz="2400" dirty="0"/>
          </a:p>
        </p:txBody>
      </p:sp>
      <p:sp>
        <p:nvSpPr>
          <p:cNvPr id="44" name="text-219"/>
          <p:cNvSpPr txBox="1"/>
          <p:nvPr/>
        </p:nvSpPr>
        <p:spPr>
          <a:xfrm>
            <a:off x="6448349" y="4800600"/>
            <a:ext cx="2176272" cy="512064"/>
          </a:xfrm>
          <a:prstGeom prst="rect">
            <a:avLst/>
          </a:prstGeom>
          <a:noFill/>
          <a:ln/>
        </p:spPr>
        <p:txBody>
          <a:bodyPr wrap="square" lIns="0" tIns="0" rIns="0" bIns="0" rtlCol="0" anchor="b"/>
          <a:lstStyle/>
          <a:p>
            <a:pPr indent="0" marL="0">
              <a:buNone/>
            </a:pPr>
            <a:r>
              <a:rPr lang="en-US" sz="1600" b="1" dirty="0">
                <a:solidFill>
                  <a:schemeClr val="tx1"/>
                </a:solidFill>
              </a:rPr>
              <a:t>Usable interface</a:t>
            </a:r>
            <a:endParaRPr lang="en-US" sz="1600" dirty="0"/>
          </a:p>
        </p:txBody>
      </p:sp>
      <p:sp>
        <p:nvSpPr>
          <p:cNvPr id="45" name="text-220"/>
          <p:cNvSpPr txBox="1"/>
          <p:nvPr/>
        </p:nvSpPr>
        <p:spPr>
          <a:xfrm>
            <a:off x="6448349" y="5340096"/>
            <a:ext cx="2176272" cy="658368"/>
          </a:xfrm>
          <a:prstGeom prst="rect">
            <a:avLst/>
          </a:prstGeom>
          <a:noFill/>
          <a:ln/>
        </p:spPr>
        <p:txBody>
          <a:bodyPr wrap="square" lIns="0" tIns="0" rIns="0" bIns="0" rtlCol="0" anchor="t"/>
          <a:lstStyle/>
          <a:p>
            <a:pPr indent="0" marL="0">
              <a:buNone/>
            </a:pPr>
            <a:r>
              <a:rPr lang="en-US" sz="1300" dirty="0">
                <a:solidFill>
                  <a:schemeClr val="tx2"/>
                </a:solidFill>
              </a:rPr>
              <a:t>Cited dashboard, streaming chat, causal lab and agent registry</a:t>
            </a:r>
            <a:endParaRPr lang="en-US" sz="1300" dirty="0"/>
          </a:p>
        </p:txBody>
      </p:sp>
      <p:sp>
        <p:nvSpPr>
          <p:cNvPr id="46" name="card-221"/>
          <p:cNvSpPr/>
          <p:nvPr/>
        </p:nvSpPr>
        <p:spPr>
          <a:xfrm>
            <a:off x="9055303" y="3950208"/>
            <a:ext cx="2587752" cy="2103120"/>
          </a:xfrm>
          <a:prstGeom prst="roundRect">
            <a:avLst>
              <a:gd name="adj" fmla="val 5217"/>
            </a:avLst>
          </a:prstGeom>
          <a:solidFill>
            <a:schemeClr val="tx1"/>
          </a:solidFill>
          <a:ln/>
        </p:spPr>
      </p:sp>
      <p:sp>
        <p:nvSpPr>
          <p:cNvPr id="47" name="card-222"/>
          <p:cNvSpPr/>
          <p:nvPr/>
        </p:nvSpPr>
        <p:spPr>
          <a:xfrm>
            <a:off x="9283903" y="4178808"/>
            <a:ext cx="475488" cy="475488"/>
          </a:xfrm>
          <a:prstGeom prst="roundRect">
            <a:avLst>
              <a:gd name="adj" fmla="val 22000"/>
            </a:avLst>
          </a:prstGeom>
          <a:solidFill>
            <a:schemeClr val="accent2"/>
          </a:solidFill>
          <a:ln/>
        </p:spPr>
      </p:sp>
      <p:pic>
        <p:nvPicPr>
          <p:cNvPr id="48" name="icon-223" descr="BadgeCheck icon">    </p:cNvPr>
          <p:cNvPicPr>
            <a:picLocks noChangeAspect="1"/>
          </p:cNvPicPr>
          <p:nvPr/>
        </p:nvPicPr>
        <p:blipFill>
          <a:blip r:embed="rId8"/>
          <a:stretch>
            <a:fillRect/>
          </a:stretch>
        </p:blipFill>
        <p:spPr>
          <a:xfrm>
            <a:off x="9388511" y="4283415"/>
            <a:ext cx="266273" cy="266273"/>
          </a:xfrm>
          <a:prstGeom prst="rect">
            <a:avLst/>
          </a:prstGeom>
        </p:spPr>
      </p:pic>
      <p:sp>
        <p:nvSpPr>
          <p:cNvPr id="49" name="text-224"/>
          <p:cNvSpPr txBox="1"/>
          <p:nvPr/>
        </p:nvSpPr>
        <p:spPr>
          <a:xfrm>
            <a:off x="9283903" y="4709160"/>
            <a:ext cx="2176272" cy="603504"/>
          </a:xfrm>
          <a:prstGeom prst="rect">
            <a:avLst/>
          </a:prstGeom>
          <a:noFill/>
          <a:ln/>
        </p:spPr>
        <p:txBody>
          <a:bodyPr wrap="square" lIns="0" tIns="0" rIns="0" bIns="0" rtlCol="0" anchor="b"/>
          <a:lstStyle/>
          <a:p>
            <a:pPr indent="0" marL="0">
              <a:buNone/>
            </a:pPr>
            <a:r>
              <a:rPr lang="en-US" sz="1900" b="1" dirty="0">
                <a:solidFill>
                  <a:schemeClr val="accent2"/>
                </a:solidFill>
                <a:latin typeface="+mj-lt" pitchFamily="34" charset="0"/>
                <a:ea typeface="+mj-lt" pitchFamily="34" charset="-122"/>
                <a:cs typeface="+mj-lt" pitchFamily="34" charset="-120"/>
              </a:rPr>
              <a:t>No source,</a:t>
            </a:r>
            <a:endParaRPr lang="en-US" sz="1900" dirty="0"/>
          </a:p>
          <a:p>
            <a:pPr indent="0" marL="0">
              <a:buNone/>
            </a:pPr>
            <a:r>
              <a:rPr lang="en-US" sz="1900" b="1" dirty="0">
                <a:solidFill>
                  <a:schemeClr val="accent2"/>
                </a:solidFill>
                <a:latin typeface="+mj-lt" pitchFamily="34" charset="0"/>
                <a:ea typeface="+mj-lt" pitchFamily="34" charset="-122"/>
                <a:cs typeface="+mj-lt" pitchFamily="34" charset="-120"/>
              </a:rPr>
              <a:t>no answer</a:t>
            </a:r>
            <a:endParaRPr lang="en-US" sz="1900" dirty="0"/>
          </a:p>
        </p:txBody>
      </p:sp>
      <p:sp>
        <p:nvSpPr>
          <p:cNvPr id="50" name="text-225"/>
          <p:cNvSpPr txBox="1"/>
          <p:nvPr/>
        </p:nvSpPr>
        <p:spPr>
          <a:xfrm>
            <a:off x="9283903" y="5340096"/>
            <a:ext cx="2176272" cy="658368"/>
          </a:xfrm>
          <a:prstGeom prst="rect">
            <a:avLst/>
          </a:prstGeom>
          <a:noFill/>
          <a:ln/>
        </p:spPr>
        <p:txBody>
          <a:bodyPr wrap="square" lIns="0" tIns="0" rIns="0" bIns="0" rtlCol="0" anchor="t"/>
          <a:lstStyle/>
          <a:p>
            <a:pPr indent="0" marL="0">
              <a:buNone/>
            </a:pPr>
            <a:r>
              <a:rPr lang="en-US" sz="1300" dirty="0">
                <a:solidFill>
                  <a:schemeClr val="bg1"/>
                </a:solidFill>
              </a:rPr>
              <a:t>Every figure carries agent, table and period; gaps are shown as unavailable</a:t>
            </a:r>
            <a:endParaRPr lang="en-US" sz="1300" dirty="0"/>
          </a:p>
        </p:txBody>
      </p:sp>
      <p:sp>
        <p:nvSpPr>
          <p:cNvPr id="25" name="Slide Number Placeholder 0"/>
          <p:cNvSpPr>
            <a:spLocks noGrp="1"/>
          </p:cNvSpPr>
          <p:nvPr>
            <p:ph type="sldNum" sz="quarter" idx="4294967295"/>
          </p:nvPr>
        </p:nvSpPr>
        <p:spPr>
          <a:xfrm>
            <a:off x="11091672" y="6446520"/>
            <a:ext cx="548640" cy="22860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51607A"/>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ctr"/>
          <a:lstStyle/>
          <a:p>
            <a:pPr indent="0" marL="0">
              <a:buNone/>
            </a:pPr>
            <a:r>
              <a:rPr lang="en-US" sz="1200" b="1" spc="200" kern="0" dirty="0">
                <a:solidFill>
                  <a:schemeClr val="accent1"/>
                </a:solidFill>
              </a:rPr>
              <a:t>PROPOSED SYSTEM</a:t>
            </a:r>
            <a:endParaRPr lang="en-US" sz="1200" dirty="0"/>
          </a:p>
        </p:txBody>
      </p:sp>
      <p:sp>
        <p:nvSpPr>
          <p:cNvPr id="3" name="Text 0"/>
          <p:cNvSpPr/>
          <p:nvPr>
            <p:ph idx="101" type="title" hasCustomPrompt="1"/>
          </p:nvPr>
        </p:nvSpPr>
        <p:spPr>
          <a:xfrm>
            <a:off x="548640" y="676656"/>
            <a:ext cx="11094415" cy="713232"/>
          </a:xfrm>
          <a:prstGeom prst="rect">
            <a:avLst/>
          </a:prstGeom>
          <a:noFill/>
          <a:ln/>
        </p:spPr>
        <p:txBody>
          <a:bodyPr wrap="square" lIns="0" tIns="0" rIns="0" bIns="0" rtlCol="0" anchor="t"/>
          <a:lstStyle/>
          <a:p>
            <a:pPr algn="l" indent="0" marL="0">
              <a:buNone/>
            </a:pPr>
            <a:r>
              <a:rPr lang="en-US" sz="3600" b="1" dirty="0">
                <a:solidFill>
                  <a:schemeClr val="tx1"/>
                </a:solidFill>
              </a:rPr>
              <a:t>Ten sector agents, one owner per number</a:t>
            </a:r>
            <a:endParaRPr lang="en-US" sz="3600" dirty="0"/>
          </a:p>
        </p:txBody>
      </p:sp>
      <p:sp>
        <p:nvSpPr>
          <p:cNvPr id="4" name="card-226"/>
          <p:cNvSpPr/>
          <p:nvPr/>
        </p:nvSpPr>
        <p:spPr>
          <a:xfrm>
            <a:off x="548640" y="1600200"/>
            <a:ext cx="2075688" cy="1828800"/>
          </a:xfrm>
          <a:prstGeom prst="roundRect">
            <a:avLst>
              <a:gd name="adj" fmla="val 5000"/>
            </a:avLst>
          </a:prstGeom>
          <a:solidFill>
            <a:schemeClr val="bg2"/>
          </a:solidFill>
          <a:ln/>
        </p:spPr>
      </p:sp>
      <p:sp>
        <p:nvSpPr>
          <p:cNvPr id="5" name="card-227"/>
          <p:cNvSpPr/>
          <p:nvPr/>
        </p:nvSpPr>
        <p:spPr>
          <a:xfrm>
            <a:off x="731520" y="1783080"/>
            <a:ext cx="438912" cy="438912"/>
          </a:xfrm>
          <a:prstGeom prst="roundRect">
            <a:avLst>
              <a:gd name="adj" fmla="val 22000"/>
            </a:avLst>
          </a:prstGeom>
          <a:solidFill>
            <a:schemeClr val="accent1"/>
          </a:solidFill>
          <a:ln/>
        </p:spPr>
      </p:sp>
      <p:pic>
        <p:nvPicPr>
          <p:cNvPr id="6" name="icon-228" descr="Factory icon">    </p:cNvPr>
          <p:cNvPicPr>
            <a:picLocks noChangeAspect="1"/>
          </p:cNvPicPr>
          <p:nvPr/>
        </p:nvPicPr>
        <p:blipFill>
          <a:blip r:embed="rId1"/>
          <a:stretch>
            <a:fillRect/>
          </a:stretch>
        </p:blipFill>
        <p:spPr>
          <a:xfrm>
            <a:off x="828081" y="1879641"/>
            <a:ext cx="245791" cy="245791"/>
          </a:xfrm>
          <a:prstGeom prst="rect">
            <a:avLst/>
          </a:prstGeom>
        </p:spPr>
      </p:pic>
      <p:sp>
        <p:nvSpPr>
          <p:cNvPr id="7" name="text-229"/>
          <p:cNvSpPr txBox="1"/>
          <p:nvPr/>
        </p:nvSpPr>
        <p:spPr>
          <a:xfrm>
            <a:off x="731520" y="2313432"/>
            <a:ext cx="1783080" cy="292608"/>
          </a:xfrm>
          <a:prstGeom prst="rect">
            <a:avLst/>
          </a:prstGeom>
          <a:noFill/>
          <a:ln/>
        </p:spPr>
        <p:txBody>
          <a:bodyPr wrap="square" lIns="0" tIns="0" rIns="0" bIns="0" rtlCol="0" anchor="t"/>
          <a:lstStyle/>
          <a:p>
            <a:pPr indent="0" marL="0">
              <a:buNone/>
            </a:pPr>
            <a:r>
              <a:rPr lang="en-US" sz="1600" b="1" dirty="0">
                <a:solidFill>
                  <a:schemeClr val="tx1"/>
                </a:solidFill>
              </a:rPr>
              <a:t>Real</a:t>
            </a:r>
            <a:endParaRPr lang="en-US" sz="1600" dirty="0"/>
          </a:p>
        </p:txBody>
      </p:sp>
      <p:sp>
        <p:nvSpPr>
          <p:cNvPr id="8" name="text-230"/>
          <p:cNvSpPr txBox="1"/>
          <p:nvPr/>
        </p:nvSpPr>
        <p:spPr>
          <a:xfrm>
            <a:off x="731520" y="2606040"/>
            <a:ext cx="1783080" cy="420624"/>
          </a:xfrm>
          <a:prstGeom prst="rect">
            <a:avLst/>
          </a:prstGeom>
          <a:noFill/>
          <a:ln/>
        </p:spPr>
        <p:txBody>
          <a:bodyPr wrap="square" lIns="0" tIns="0" rIns="0" bIns="0" rtlCol="0" anchor="t"/>
          <a:lstStyle/>
          <a:p>
            <a:pPr indent="0" marL="0">
              <a:buNone/>
            </a:pPr>
            <a:r>
              <a:rPr lang="en-US" sz="1250" dirty="0">
                <a:solidFill>
                  <a:schemeClr val="tx2"/>
                </a:solidFill>
              </a:rPr>
              <a:t>GDP, GVA, IIP, GFCF</a:t>
            </a:r>
            <a:endParaRPr lang="en-US" sz="1250" dirty="0"/>
          </a:p>
        </p:txBody>
      </p:sp>
      <p:sp>
        <p:nvSpPr>
          <p:cNvPr id="9" name="card-231"/>
          <p:cNvSpPr/>
          <p:nvPr/>
        </p:nvSpPr>
        <p:spPr>
          <a:xfrm>
            <a:off x="731520" y="3081528"/>
            <a:ext cx="1356970" cy="237744"/>
          </a:xfrm>
          <a:prstGeom prst="roundRect">
            <a:avLst>
              <a:gd name="adj" fmla="val 50000"/>
            </a:avLst>
          </a:prstGeom>
          <a:solidFill>
            <a:schemeClr val="bg1"/>
          </a:solidFill>
          <a:ln/>
        </p:spPr>
      </p:sp>
      <p:sp>
        <p:nvSpPr>
          <p:cNvPr id="10" name="text-232"/>
          <p:cNvSpPr txBox="1"/>
          <p:nvPr/>
        </p:nvSpPr>
        <p:spPr>
          <a:xfrm>
            <a:off x="731520" y="3081528"/>
            <a:ext cx="1356970" cy="237744"/>
          </a:xfrm>
          <a:prstGeom prst="rect">
            <a:avLst/>
          </a:prstGeom>
          <a:noFill/>
          <a:ln/>
        </p:spPr>
        <p:txBody>
          <a:bodyPr wrap="square" lIns="0" tIns="0" rIns="0" bIns="0" rtlCol="0" anchor="ctr"/>
          <a:lstStyle/>
          <a:p>
            <a:pPr algn="ctr" indent="0" marL="0">
              <a:buNone/>
            </a:pPr>
            <a:r>
              <a:rPr lang="en-US" sz="1000" b="1" spc="50" kern="0" dirty="0">
                <a:solidFill>
                  <a:schemeClr val="accent1"/>
                </a:solidFill>
              </a:rPr>
              <a:t>MoSPI e-Sankhyiki</a:t>
            </a:r>
            <a:endParaRPr lang="en-US" sz="1000" dirty="0"/>
          </a:p>
        </p:txBody>
      </p:sp>
      <p:sp>
        <p:nvSpPr>
          <p:cNvPr id="11" name="card-233"/>
          <p:cNvSpPr/>
          <p:nvPr/>
        </p:nvSpPr>
        <p:spPr>
          <a:xfrm>
            <a:off x="2803322" y="1600200"/>
            <a:ext cx="2075688" cy="1828800"/>
          </a:xfrm>
          <a:prstGeom prst="roundRect">
            <a:avLst>
              <a:gd name="adj" fmla="val 5000"/>
            </a:avLst>
          </a:prstGeom>
          <a:solidFill>
            <a:schemeClr val="bg2"/>
          </a:solidFill>
          <a:ln/>
        </p:spPr>
      </p:sp>
      <p:sp>
        <p:nvSpPr>
          <p:cNvPr id="12" name="card-234"/>
          <p:cNvSpPr/>
          <p:nvPr/>
        </p:nvSpPr>
        <p:spPr>
          <a:xfrm>
            <a:off x="2986202" y="1783080"/>
            <a:ext cx="438912" cy="438912"/>
          </a:xfrm>
          <a:prstGeom prst="roundRect">
            <a:avLst>
              <a:gd name="adj" fmla="val 22000"/>
            </a:avLst>
          </a:prstGeom>
          <a:solidFill>
            <a:schemeClr val="accent1"/>
          </a:solidFill>
          <a:ln/>
        </p:spPr>
      </p:sp>
      <p:pic>
        <p:nvPicPr>
          <p:cNvPr id="13" name="icon-235" descr="Wheat icon">    </p:cNvPr>
          <p:cNvPicPr>
            <a:picLocks noChangeAspect="1"/>
          </p:cNvPicPr>
          <p:nvPr/>
        </p:nvPicPr>
        <p:blipFill>
          <a:blip r:embed="rId2"/>
          <a:stretch>
            <a:fillRect/>
          </a:stretch>
        </p:blipFill>
        <p:spPr>
          <a:xfrm>
            <a:off x="3082762" y="1879641"/>
            <a:ext cx="245791" cy="245791"/>
          </a:xfrm>
          <a:prstGeom prst="rect">
            <a:avLst/>
          </a:prstGeom>
        </p:spPr>
      </p:pic>
      <p:sp>
        <p:nvSpPr>
          <p:cNvPr id="14" name="text-236"/>
          <p:cNvSpPr txBox="1"/>
          <p:nvPr/>
        </p:nvSpPr>
        <p:spPr>
          <a:xfrm>
            <a:off x="2986202" y="2313432"/>
            <a:ext cx="1783080" cy="292608"/>
          </a:xfrm>
          <a:prstGeom prst="rect">
            <a:avLst/>
          </a:prstGeom>
          <a:noFill/>
          <a:ln/>
        </p:spPr>
        <p:txBody>
          <a:bodyPr wrap="square" lIns="0" tIns="0" rIns="0" bIns="0" rtlCol="0" anchor="t"/>
          <a:lstStyle/>
          <a:p>
            <a:pPr indent="0" marL="0">
              <a:buNone/>
            </a:pPr>
            <a:r>
              <a:rPr lang="en-US" sz="1600" b="1" dirty="0">
                <a:solidFill>
                  <a:schemeClr val="tx1"/>
                </a:solidFill>
              </a:rPr>
              <a:t>Agriculture</a:t>
            </a:r>
            <a:endParaRPr lang="en-US" sz="1600" dirty="0"/>
          </a:p>
        </p:txBody>
      </p:sp>
      <p:sp>
        <p:nvSpPr>
          <p:cNvPr id="15" name="text-237"/>
          <p:cNvSpPr txBox="1"/>
          <p:nvPr/>
        </p:nvSpPr>
        <p:spPr>
          <a:xfrm>
            <a:off x="2986202" y="2606040"/>
            <a:ext cx="1783080" cy="420624"/>
          </a:xfrm>
          <a:prstGeom prst="rect">
            <a:avLst/>
          </a:prstGeom>
          <a:noFill/>
          <a:ln/>
        </p:spPr>
        <p:txBody>
          <a:bodyPr wrap="square" lIns="0" tIns="0" rIns="0" bIns="0" rtlCol="0" anchor="t"/>
          <a:lstStyle/>
          <a:p>
            <a:pPr indent="0" marL="0">
              <a:buNone/>
            </a:pPr>
            <a:r>
              <a:rPr lang="en-US" sz="1250" dirty="0">
                <a:solidFill>
                  <a:schemeClr val="tx2"/>
                </a:solidFill>
              </a:rPr>
              <a:t>Crops, MSP, monsoon,</a:t>
            </a:r>
            <a:endParaRPr lang="en-US" sz="1250" dirty="0"/>
          </a:p>
          <a:p>
            <a:pPr indent="0" marL="0">
              <a:buNone/>
            </a:pPr>
            <a:r>
              <a:rPr lang="en-US" sz="1250" dirty="0">
                <a:solidFill>
                  <a:schemeClr val="tx2"/>
                </a:solidFill>
              </a:rPr>
              <a:t>mandi prices</a:t>
            </a:r>
            <a:endParaRPr lang="en-US" sz="1250" dirty="0"/>
          </a:p>
        </p:txBody>
      </p:sp>
      <p:sp>
        <p:nvSpPr>
          <p:cNvPr id="16" name="card-238"/>
          <p:cNvSpPr/>
          <p:nvPr/>
        </p:nvSpPr>
        <p:spPr>
          <a:xfrm>
            <a:off x="2986202" y="3081528"/>
            <a:ext cx="1225296" cy="237744"/>
          </a:xfrm>
          <a:prstGeom prst="roundRect">
            <a:avLst>
              <a:gd name="adj" fmla="val 50000"/>
            </a:avLst>
          </a:prstGeom>
          <a:solidFill>
            <a:schemeClr val="bg1"/>
          </a:solidFill>
          <a:ln/>
        </p:spPr>
      </p:sp>
      <p:sp>
        <p:nvSpPr>
          <p:cNvPr id="17" name="text-239"/>
          <p:cNvSpPr txBox="1"/>
          <p:nvPr/>
        </p:nvSpPr>
        <p:spPr>
          <a:xfrm>
            <a:off x="2986202" y="3081528"/>
            <a:ext cx="1225296" cy="237744"/>
          </a:xfrm>
          <a:prstGeom prst="rect">
            <a:avLst/>
          </a:prstGeom>
          <a:noFill/>
          <a:ln/>
        </p:spPr>
        <p:txBody>
          <a:bodyPr wrap="square" lIns="0" tIns="0" rIns="0" bIns="0" rtlCol="0" anchor="ctr"/>
          <a:lstStyle/>
          <a:p>
            <a:pPr algn="ctr" indent="0" marL="0">
              <a:buNone/>
            </a:pPr>
            <a:r>
              <a:rPr lang="en-US" sz="1000" b="1" spc="50" kern="0" dirty="0">
                <a:solidFill>
                  <a:schemeClr val="accent1"/>
                </a:solidFill>
              </a:rPr>
              <a:t>Agmarknet · IMD</a:t>
            </a:r>
            <a:endParaRPr lang="en-US" sz="1000" dirty="0"/>
          </a:p>
        </p:txBody>
      </p:sp>
      <p:sp>
        <p:nvSpPr>
          <p:cNvPr id="18" name="card-240"/>
          <p:cNvSpPr/>
          <p:nvPr/>
        </p:nvSpPr>
        <p:spPr>
          <a:xfrm>
            <a:off x="5058004" y="1600200"/>
            <a:ext cx="2075688" cy="1828800"/>
          </a:xfrm>
          <a:prstGeom prst="roundRect">
            <a:avLst>
              <a:gd name="adj" fmla="val 5000"/>
            </a:avLst>
          </a:prstGeom>
          <a:solidFill>
            <a:schemeClr val="bg2"/>
          </a:solidFill>
          <a:ln/>
        </p:spPr>
      </p:sp>
      <p:sp>
        <p:nvSpPr>
          <p:cNvPr id="19" name="card-241"/>
          <p:cNvSpPr/>
          <p:nvPr/>
        </p:nvSpPr>
        <p:spPr>
          <a:xfrm>
            <a:off x="5240884" y="1783080"/>
            <a:ext cx="438912" cy="438912"/>
          </a:xfrm>
          <a:prstGeom prst="roundRect">
            <a:avLst>
              <a:gd name="adj" fmla="val 22000"/>
            </a:avLst>
          </a:prstGeom>
          <a:solidFill>
            <a:schemeClr val="accent1"/>
          </a:solidFill>
          <a:ln/>
        </p:spPr>
      </p:sp>
      <p:pic>
        <p:nvPicPr>
          <p:cNvPr id="20" name="icon-242" descr="Tag icon">    </p:cNvPr>
          <p:cNvPicPr>
            <a:picLocks noChangeAspect="1"/>
          </p:cNvPicPr>
          <p:nvPr/>
        </p:nvPicPr>
        <p:blipFill>
          <a:blip r:embed="rId3"/>
          <a:stretch>
            <a:fillRect/>
          </a:stretch>
        </p:blipFill>
        <p:spPr>
          <a:xfrm>
            <a:off x="5337444" y="1879641"/>
            <a:ext cx="245791" cy="245791"/>
          </a:xfrm>
          <a:prstGeom prst="rect">
            <a:avLst/>
          </a:prstGeom>
        </p:spPr>
      </p:pic>
      <p:sp>
        <p:nvSpPr>
          <p:cNvPr id="21" name="text-243"/>
          <p:cNvSpPr txBox="1"/>
          <p:nvPr/>
        </p:nvSpPr>
        <p:spPr>
          <a:xfrm>
            <a:off x="5240884" y="2313432"/>
            <a:ext cx="1783080" cy="292608"/>
          </a:xfrm>
          <a:prstGeom prst="rect">
            <a:avLst/>
          </a:prstGeom>
          <a:noFill/>
          <a:ln/>
        </p:spPr>
        <p:txBody>
          <a:bodyPr wrap="square" lIns="0" tIns="0" rIns="0" bIns="0" rtlCol="0" anchor="t"/>
          <a:lstStyle/>
          <a:p>
            <a:pPr indent="0" marL="0">
              <a:buNone/>
            </a:pPr>
            <a:r>
              <a:rPr lang="en-US" sz="1600" b="1" dirty="0">
                <a:solidFill>
                  <a:schemeClr val="tx1"/>
                </a:solidFill>
              </a:rPr>
              <a:t>Prices</a:t>
            </a:r>
            <a:endParaRPr lang="en-US" sz="1600" dirty="0"/>
          </a:p>
        </p:txBody>
      </p:sp>
      <p:sp>
        <p:nvSpPr>
          <p:cNvPr id="22" name="text-244"/>
          <p:cNvSpPr txBox="1"/>
          <p:nvPr/>
        </p:nvSpPr>
        <p:spPr>
          <a:xfrm>
            <a:off x="5240884" y="2606040"/>
            <a:ext cx="1783080" cy="420624"/>
          </a:xfrm>
          <a:prstGeom prst="rect">
            <a:avLst/>
          </a:prstGeom>
          <a:noFill/>
          <a:ln/>
        </p:spPr>
        <p:txBody>
          <a:bodyPr wrap="square" lIns="0" tIns="0" rIns="0" bIns="0" rtlCol="0" anchor="t"/>
          <a:lstStyle/>
          <a:p>
            <a:pPr indent="0" marL="0">
              <a:buNone/>
            </a:pPr>
            <a:r>
              <a:rPr lang="en-US" sz="1250" dirty="0">
                <a:solidFill>
                  <a:schemeClr val="tx2"/>
                </a:solidFill>
              </a:rPr>
              <a:t>CPI and WPI inflation,</a:t>
            </a:r>
            <a:endParaRPr lang="en-US" sz="1250" dirty="0"/>
          </a:p>
          <a:p>
            <a:pPr indent="0" marL="0">
              <a:buNone/>
            </a:pPr>
            <a:r>
              <a:rPr lang="en-US" sz="1250" dirty="0">
                <a:solidFill>
                  <a:schemeClr val="tx2"/>
                </a:solidFill>
              </a:rPr>
              <a:t>food, fuel and core</a:t>
            </a:r>
            <a:endParaRPr lang="en-US" sz="1250" dirty="0"/>
          </a:p>
        </p:txBody>
      </p:sp>
      <p:sp>
        <p:nvSpPr>
          <p:cNvPr id="23" name="card-245"/>
          <p:cNvSpPr/>
          <p:nvPr/>
        </p:nvSpPr>
        <p:spPr>
          <a:xfrm>
            <a:off x="5240884" y="3081528"/>
            <a:ext cx="1356970" cy="237744"/>
          </a:xfrm>
          <a:prstGeom prst="roundRect">
            <a:avLst>
              <a:gd name="adj" fmla="val 50000"/>
            </a:avLst>
          </a:prstGeom>
          <a:solidFill>
            <a:schemeClr val="bg1"/>
          </a:solidFill>
          <a:ln/>
        </p:spPr>
      </p:sp>
      <p:sp>
        <p:nvSpPr>
          <p:cNvPr id="24" name="text-246"/>
          <p:cNvSpPr txBox="1"/>
          <p:nvPr/>
        </p:nvSpPr>
        <p:spPr>
          <a:xfrm>
            <a:off x="5240884" y="3081528"/>
            <a:ext cx="1356970" cy="237744"/>
          </a:xfrm>
          <a:prstGeom prst="rect">
            <a:avLst/>
          </a:prstGeom>
          <a:noFill/>
          <a:ln/>
        </p:spPr>
        <p:txBody>
          <a:bodyPr wrap="square" lIns="0" tIns="0" rIns="0" bIns="0" rtlCol="0" anchor="ctr"/>
          <a:lstStyle/>
          <a:p>
            <a:pPr algn="ctr" indent="0" marL="0">
              <a:buNone/>
            </a:pPr>
            <a:r>
              <a:rPr lang="en-US" sz="1000" b="1" spc="50" kern="0" dirty="0">
                <a:solidFill>
                  <a:schemeClr val="accent1"/>
                </a:solidFill>
              </a:rPr>
              <a:t>MoSPI e-Sankhyiki</a:t>
            </a:r>
            <a:endParaRPr lang="en-US" sz="1000" dirty="0"/>
          </a:p>
        </p:txBody>
      </p:sp>
      <p:sp>
        <p:nvSpPr>
          <p:cNvPr id="25" name="card-247"/>
          <p:cNvSpPr/>
          <p:nvPr/>
        </p:nvSpPr>
        <p:spPr>
          <a:xfrm>
            <a:off x="7312685" y="1600200"/>
            <a:ext cx="2075688" cy="1828800"/>
          </a:xfrm>
          <a:prstGeom prst="roundRect">
            <a:avLst>
              <a:gd name="adj" fmla="val 5000"/>
            </a:avLst>
          </a:prstGeom>
          <a:solidFill>
            <a:schemeClr val="bg2"/>
          </a:solidFill>
          <a:ln/>
        </p:spPr>
      </p:sp>
      <p:sp>
        <p:nvSpPr>
          <p:cNvPr id="26" name="card-248"/>
          <p:cNvSpPr/>
          <p:nvPr/>
        </p:nvSpPr>
        <p:spPr>
          <a:xfrm>
            <a:off x="7495565" y="1783080"/>
            <a:ext cx="438912" cy="438912"/>
          </a:xfrm>
          <a:prstGeom prst="roundRect">
            <a:avLst>
              <a:gd name="adj" fmla="val 22000"/>
            </a:avLst>
          </a:prstGeom>
          <a:solidFill>
            <a:schemeClr val="accent1"/>
          </a:solidFill>
          <a:ln/>
        </p:spPr>
      </p:sp>
      <p:pic>
        <p:nvPicPr>
          <p:cNvPr id="27" name="icon-249" descr="Landmark icon">    </p:cNvPr>
          <p:cNvPicPr>
            <a:picLocks noChangeAspect="1"/>
          </p:cNvPicPr>
          <p:nvPr/>
        </p:nvPicPr>
        <p:blipFill>
          <a:blip r:embed="rId4"/>
          <a:stretch>
            <a:fillRect/>
          </a:stretch>
        </p:blipFill>
        <p:spPr>
          <a:xfrm>
            <a:off x="7592126" y="1879641"/>
            <a:ext cx="245791" cy="245791"/>
          </a:xfrm>
          <a:prstGeom prst="rect">
            <a:avLst/>
          </a:prstGeom>
        </p:spPr>
      </p:pic>
      <p:sp>
        <p:nvSpPr>
          <p:cNvPr id="28" name="text-250"/>
          <p:cNvSpPr txBox="1"/>
          <p:nvPr/>
        </p:nvSpPr>
        <p:spPr>
          <a:xfrm>
            <a:off x="7495565" y="2313432"/>
            <a:ext cx="1783080" cy="292608"/>
          </a:xfrm>
          <a:prstGeom prst="rect">
            <a:avLst/>
          </a:prstGeom>
          <a:noFill/>
          <a:ln/>
        </p:spPr>
        <p:txBody>
          <a:bodyPr wrap="square" lIns="0" tIns="0" rIns="0" bIns="0" rtlCol="0" anchor="t"/>
          <a:lstStyle/>
          <a:p>
            <a:pPr indent="0" marL="0">
              <a:buNone/>
            </a:pPr>
            <a:r>
              <a:rPr lang="en-US" sz="1600" b="1" dirty="0">
                <a:solidFill>
                  <a:schemeClr val="tx1"/>
                </a:solidFill>
              </a:rPr>
              <a:t>Monetary</a:t>
            </a:r>
            <a:endParaRPr lang="en-US" sz="1600" dirty="0"/>
          </a:p>
        </p:txBody>
      </p:sp>
      <p:sp>
        <p:nvSpPr>
          <p:cNvPr id="29" name="text-251"/>
          <p:cNvSpPr txBox="1"/>
          <p:nvPr/>
        </p:nvSpPr>
        <p:spPr>
          <a:xfrm>
            <a:off x="7495565" y="2606040"/>
            <a:ext cx="1783080" cy="420624"/>
          </a:xfrm>
          <a:prstGeom prst="rect">
            <a:avLst/>
          </a:prstGeom>
          <a:noFill/>
          <a:ln/>
        </p:spPr>
        <p:txBody>
          <a:bodyPr wrap="square" lIns="0" tIns="0" rIns="0" bIns="0" rtlCol="0" anchor="t"/>
          <a:lstStyle/>
          <a:p>
            <a:pPr indent="0" marL="0">
              <a:buNone/>
            </a:pPr>
            <a:r>
              <a:rPr lang="en-US" sz="1250" dirty="0">
                <a:solidFill>
                  <a:schemeClr val="tx2"/>
                </a:solidFill>
              </a:rPr>
              <a:t>Repo corridor, M3,</a:t>
            </a:r>
            <a:endParaRPr lang="en-US" sz="1250" dirty="0"/>
          </a:p>
          <a:p>
            <a:pPr indent="0" marL="0">
              <a:buNone/>
            </a:pPr>
            <a:r>
              <a:rPr lang="en-US" sz="1250" dirty="0">
                <a:solidFill>
                  <a:schemeClr val="tx2"/>
                </a:solidFill>
              </a:rPr>
              <a:t>liquidity, stance</a:t>
            </a:r>
            <a:endParaRPr lang="en-US" sz="1250" dirty="0"/>
          </a:p>
        </p:txBody>
      </p:sp>
      <p:sp>
        <p:nvSpPr>
          <p:cNvPr id="30" name="card-252"/>
          <p:cNvSpPr/>
          <p:nvPr/>
        </p:nvSpPr>
        <p:spPr>
          <a:xfrm>
            <a:off x="7495565" y="3081528"/>
            <a:ext cx="764438" cy="237744"/>
          </a:xfrm>
          <a:prstGeom prst="roundRect">
            <a:avLst>
              <a:gd name="adj" fmla="val 50000"/>
            </a:avLst>
          </a:prstGeom>
          <a:solidFill>
            <a:schemeClr val="bg1"/>
          </a:solidFill>
          <a:ln/>
        </p:spPr>
      </p:sp>
      <p:sp>
        <p:nvSpPr>
          <p:cNvPr id="31" name="text-253"/>
          <p:cNvSpPr txBox="1"/>
          <p:nvPr/>
        </p:nvSpPr>
        <p:spPr>
          <a:xfrm>
            <a:off x="7495565" y="3081528"/>
            <a:ext cx="764438" cy="237744"/>
          </a:xfrm>
          <a:prstGeom prst="rect">
            <a:avLst/>
          </a:prstGeom>
          <a:noFill/>
          <a:ln/>
        </p:spPr>
        <p:txBody>
          <a:bodyPr wrap="square" lIns="0" tIns="0" rIns="0" bIns="0" rtlCol="0" anchor="ctr"/>
          <a:lstStyle/>
          <a:p>
            <a:pPr algn="ctr" indent="0" marL="0">
              <a:buNone/>
            </a:pPr>
            <a:r>
              <a:rPr lang="en-US" sz="1000" b="1" spc="50" kern="0" dirty="0">
                <a:solidFill>
                  <a:schemeClr val="accent1"/>
                </a:solidFill>
              </a:rPr>
              <a:t>RBI DBIE</a:t>
            </a:r>
            <a:endParaRPr lang="en-US" sz="1000" dirty="0"/>
          </a:p>
        </p:txBody>
      </p:sp>
      <p:sp>
        <p:nvSpPr>
          <p:cNvPr id="32" name="card-254"/>
          <p:cNvSpPr/>
          <p:nvPr/>
        </p:nvSpPr>
        <p:spPr>
          <a:xfrm>
            <a:off x="9567367" y="1600200"/>
            <a:ext cx="2075688" cy="1828800"/>
          </a:xfrm>
          <a:prstGeom prst="roundRect">
            <a:avLst>
              <a:gd name="adj" fmla="val 5000"/>
            </a:avLst>
          </a:prstGeom>
          <a:solidFill>
            <a:schemeClr val="bg2"/>
          </a:solidFill>
          <a:ln/>
        </p:spPr>
      </p:sp>
      <p:sp>
        <p:nvSpPr>
          <p:cNvPr id="33" name="card-255"/>
          <p:cNvSpPr/>
          <p:nvPr/>
        </p:nvSpPr>
        <p:spPr>
          <a:xfrm>
            <a:off x="9750247" y="1783080"/>
            <a:ext cx="438912" cy="438912"/>
          </a:xfrm>
          <a:prstGeom prst="roundRect">
            <a:avLst>
              <a:gd name="adj" fmla="val 22000"/>
            </a:avLst>
          </a:prstGeom>
          <a:solidFill>
            <a:schemeClr val="accent1"/>
          </a:solidFill>
          <a:ln/>
        </p:spPr>
      </p:sp>
      <p:pic>
        <p:nvPicPr>
          <p:cNvPr id="34" name="icon-256" descr="PiggyBank icon">    </p:cNvPr>
          <p:cNvPicPr>
            <a:picLocks noChangeAspect="1"/>
          </p:cNvPicPr>
          <p:nvPr/>
        </p:nvPicPr>
        <p:blipFill>
          <a:blip r:embed="rId5"/>
          <a:stretch>
            <a:fillRect/>
          </a:stretch>
        </p:blipFill>
        <p:spPr>
          <a:xfrm>
            <a:off x="9846808" y="1879641"/>
            <a:ext cx="245791" cy="245791"/>
          </a:xfrm>
          <a:prstGeom prst="rect">
            <a:avLst/>
          </a:prstGeom>
        </p:spPr>
      </p:pic>
      <p:sp>
        <p:nvSpPr>
          <p:cNvPr id="35" name="text-257"/>
          <p:cNvSpPr txBox="1"/>
          <p:nvPr/>
        </p:nvSpPr>
        <p:spPr>
          <a:xfrm>
            <a:off x="9750247" y="2313432"/>
            <a:ext cx="1783080" cy="292608"/>
          </a:xfrm>
          <a:prstGeom prst="rect">
            <a:avLst/>
          </a:prstGeom>
          <a:noFill/>
          <a:ln/>
        </p:spPr>
        <p:txBody>
          <a:bodyPr wrap="square" lIns="0" tIns="0" rIns="0" bIns="0" rtlCol="0" anchor="t"/>
          <a:lstStyle/>
          <a:p>
            <a:pPr indent="0" marL="0">
              <a:buNone/>
            </a:pPr>
            <a:r>
              <a:rPr lang="en-US" sz="1600" b="1" dirty="0">
                <a:solidFill>
                  <a:schemeClr val="tx1"/>
                </a:solidFill>
              </a:rPr>
              <a:t>Finance</a:t>
            </a:r>
            <a:endParaRPr lang="en-US" sz="1600" dirty="0"/>
          </a:p>
        </p:txBody>
      </p:sp>
      <p:sp>
        <p:nvSpPr>
          <p:cNvPr id="36" name="text-258"/>
          <p:cNvSpPr txBox="1"/>
          <p:nvPr/>
        </p:nvSpPr>
        <p:spPr>
          <a:xfrm>
            <a:off x="9750247" y="2606040"/>
            <a:ext cx="1783080" cy="420624"/>
          </a:xfrm>
          <a:prstGeom prst="rect">
            <a:avLst/>
          </a:prstGeom>
          <a:noFill/>
          <a:ln/>
        </p:spPr>
        <p:txBody>
          <a:bodyPr wrap="square" lIns="0" tIns="0" rIns="0" bIns="0" rtlCol="0" anchor="t"/>
          <a:lstStyle/>
          <a:p>
            <a:pPr indent="0" marL="0">
              <a:buNone/>
            </a:pPr>
            <a:r>
              <a:rPr lang="en-US" sz="1250" dirty="0">
                <a:solidFill>
                  <a:schemeClr val="tx2"/>
                </a:solidFill>
              </a:rPr>
              <a:t>Bank credit, GNPA,</a:t>
            </a:r>
            <a:endParaRPr lang="en-US" sz="1250" dirty="0"/>
          </a:p>
          <a:p>
            <a:pPr indent="0" marL="0">
              <a:buNone/>
            </a:pPr>
            <a:r>
              <a:rPr lang="en-US" sz="1250" dirty="0">
                <a:solidFill>
                  <a:schemeClr val="tx2"/>
                </a:solidFill>
              </a:rPr>
              <a:t>WALR and MCLR</a:t>
            </a:r>
            <a:endParaRPr lang="en-US" sz="1250" dirty="0"/>
          </a:p>
        </p:txBody>
      </p:sp>
      <p:sp>
        <p:nvSpPr>
          <p:cNvPr id="37" name="card-259"/>
          <p:cNvSpPr/>
          <p:nvPr/>
        </p:nvSpPr>
        <p:spPr>
          <a:xfrm>
            <a:off x="9750247" y="3081528"/>
            <a:ext cx="1225296" cy="237744"/>
          </a:xfrm>
          <a:prstGeom prst="roundRect">
            <a:avLst>
              <a:gd name="adj" fmla="val 50000"/>
            </a:avLst>
          </a:prstGeom>
          <a:solidFill>
            <a:schemeClr val="bg1"/>
          </a:solidFill>
          <a:ln/>
        </p:spPr>
      </p:sp>
      <p:sp>
        <p:nvSpPr>
          <p:cNvPr id="38" name="text-260"/>
          <p:cNvSpPr txBox="1"/>
          <p:nvPr/>
        </p:nvSpPr>
        <p:spPr>
          <a:xfrm>
            <a:off x="9750247" y="3081528"/>
            <a:ext cx="1225296" cy="237744"/>
          </a:xfrm>
          <a:prstGeom prst="rect">
            <a:avLst/>
          </a:prstGeom>
          <a:noFill/>
          <a:ln/>
        </p:spPr>
        <p:txBody>
          <a:bodyPr wrap="square" lIns="0" tIns="0" rIns="0" bIns="0" rtlCol="0" anchor="ctr"/>
          <a:lstStyle/>
          <a:p>
            <a:pPr algn="ctr" indent="0" marL="0">
              <a:buNone/>
            </a:pPr>
            <a:r>
              <a:rPr lang="en-US" sz="1000" b="1" spc="50" kern="0" dirty="0">
                <a:solidFill>
                  <a:schemeClr val="accent1"/>
                </a:solidFill>
              </a:rPr>
              <a:t>RBI DBIE tables</a:t>
            </a:r>
            <a:endParaRPr lang="en-US" sz="1000" dirty="0"/>
          </a:p>
        </p:txBody>
      </p:sp>
      <p:sp>
        <p:nvSpPr>
          <p:cNvPr id="39" name="card-261"/>
          <p:cNvSpPr/>
          <p:nvPr/>
        </p:nvSpPr>
        <p:spPr>
          <a:xfrm>
            <a:off x="548640" y="3611880"/>
            <a:ext cx="2075688" cy="1828800"/>
          </a:xfrm>
          <a:prstGeom prst="roundRect">
            <a:avLst>
              <a:gd name="adj" fmla="val 5000"/>
            </a:avLst>
          </a:prstGeom>
          <a:solidFill>
            <a:schemeClr val="bg2"/>
          </a:solidFill>
          <a:ln/>
        </p:spPr>
      </p:sp>
      <p:sp>
        <p:nvSpPr>
          <p:cNvPr id="40" name="card-262"/>
          <p:cNvSpPr/>
          <p:nvPr/>
        </p:nvSpPr>
        <p:spPr>
          <a:xfrm>
            <a:off x="731520" y="3794760"/>
            <a:ext cx="438912" cy="438912"/>
          </a:xfrm>
          <a:prstGeom prst="roundRect">
            <a:avLst>
              <a:gd name="adj" fmla="val 22000"/>
            </a:avLst>
          </a:prstGeom>
          <a:solidFill>
            <a:schemeClr val="accent1"/>
          </a:solidFill>
          <a:ln/>
        </p:spPr>
      </p:sp>
      <p:pic>
        <p:nvPicPr>
          <p:cNvPr id="41" name="icon-263" descr="ChartCandlestick icon">    </p:cNvPr>
          <p:cNvPicPr>
            <a:picLocks noChangeAspect="1"/>
          </p:cNvPicPr>
          <p:nvPr/>
        </p:nvPicPr>
        <p:blipFill>
          <a:blip r:embed="rId6"/>
          <a:stretch>
            <a:fillRect/>
          </a:stretch>
        </p:blipFill>
        <p:spPr>
          <a:xfrm>
            <a:off x="828081" y="3891321"/>
            <a:ext cx="245791" cy="245791"/>
          </a:xfrm>
          <a:prstGeom prst="rect">
            <a:avLst/>
          </a:prstGeom>
        </p:spPr>
      </p:pic>
      <p:sp>
        <p:nvSpPr>
          <p:cNvPr id="42" name="text-264"/>
          <p:cNvSpPr txBox="1"/>
          <p:nvPr/>
        </p:nvSpPr>
        <p:spPr>
          <a:xfrm>
            <a:off x="731520" y="4325112"/>
            <a:ext cx="1783080" cy="292608"/>
          </a:xfrm>
          <a:prstGeom prst="rect">
            <a:avLst/>
          </a:prstGeom>
          <a:noFill/>
          <a:ln/>
        </p:spPr>
        <p:txBody>
          <a:bodyPr wrap="square" lIns="0" tIns="0" rIns="0" bIns="0" rtlCol="0" anchor="t"/>
          <a:lstStyle/>
          <a:p>
            <a:pPr indent="0" marL="0">
              <a:buNone/>
            </a:pPr>
            <a:r>
              <a:rPr lang="en-US" sz="1600" b="1" dirty="0">
                <a:solidFill>
                  <a:schemeClr val="tx1"/>
                </a:solidFill>
              </a:rPr>
              <a:t>Capital Markets</a:t>
            </a:r>
            <a:endParaRPr lang="en-US" sz="1600" dirty="0"/>
          </a:p>
        </p:txBody>
      </p:sp>
      <p:sp>
        <p:nvSpPr>
          <p:cNvPr id="43" name="text-265"/>
          <p:cNvSpPr txBox="1"/>
          <p:nvPr/>
        </p:nvSpPr>
        <p:spPr>
          <a:xfrm>
            <a:off x="731520" y="4617720"/>
            <a:ext cx="1783080" cy="420624"/>
          </a:xfrm>
          <a:prstGeom prst="rect">
            <a:avLst/>
          </a:prstGeom>
          <a:noFill/>
          <a:ln/>
        </p:spPr>
        <p:txBody>
          <a:bodyPr wrap="square" lIns="0" tIns="0" rIns="0" bIns="0" rtlCol="0" anchor="t"/>
          <a:lstStyle/>
          <a:p>
            <a:pPr indent="0" marL="0">
              <a:buNone/>
            </a:pPr>
            <a:r>
              <a:rPr lang="en-US" sz="1250" dirty="0">
                <a:solidFill>
                  <a:schemeClr val="tx2"/>
                </a:solidFill>
              </a:rPr>
              <a:t>NIFTY, India VIX,</a:t>
            </a:r>
            <a:endParaRPr lang="en-US" sz="1250" dirty="0"/>
          </a:p>
          <a:p>
            <a:pPr indent="0" marL="0">
              <a:buNone/>
            </a:pPr>
            <a:r>
              <a:rPr lang="en-US" sz="1250" dirty="0">
                <a:solidFill>
                  <a:schemeClr val="tx2"/>
                </a:solidFill>
              </a:rPr>
              <a:t>FII/DII flows, G‑Sec</a:t>
            </a:r>
            <a:endParaRPr lang="en-US" sz="1250" dirty="0"/>
          </a:p>
        </p:txBody>
      </p:sp>
      <p:sp>
        <p:nvSpPr>
          <p:cNvPr id="44" name="card-266"/>
          <p:cNvSpPr/>
          <p:nvPr/>
        </p:nvSpPr>
        <p:spPr>
          <a:xfrm>
            <a:off x="731520" y="5093208"/>
            <a:ext cx="1225296" cy="237744"/>
          </a:xfrm>
          <a:prstGeom prst="roundRect">
            <a:avLst>
              <a:gd name="adj" fmla="val 50000"/>
            </a:avLst>
          </a:prstGeom>
          <a:solidFill>
            <a:schemeClr val="bg1"/>
          </a:solidFill>
          <a:ln/>
        </p:spPr>
      </p:sp>
      <p:sp>
        <p:nvSpPr>
          <p:cNvPr id="45" name="text-267"/>
          <p:cNvSpPr txBox="1"/>
          <p:nvPr/>
        </p:nvSpPr>
        <p:spPr>
          <a:xfrm>
            <a:off x="731520" y="5093208"/>
            <a:ext cx="1225296" cy="237744"/>
          </a:xfrm>
          <a:prstGeom prst="rect">
            <a:avLst/>
          </a:prstGeom>
          <a:noFill/>
          <a:ln/>
        </p:spPr>
        <p:txBody>
          <a:bodyPr wrap="square" lIns="0" tIns="0" rIns="0" bIns="0" rtlCol="0" anchor="ctr"/>
          <a:lstStyle/>
          <a:p>
            <a:pPr algn="ctr" indent="0" marL="0">
              <a:buNone/>
            </a:pPr>
            <a:r>
              <a:rPr lang="en-US" sz="1000" b="1" spc="50" kern="0" dirty="0">
                <a:solidFill>
                  <a:schemeClr val="accent1"/>
                </a:solidFill>
              </a:rPr>
              <a:t>yfinance · SEBI</a:t>
            </a:r>
            <a:endParaRPr lang="en-US" sz="1000" dirty="0"/>
          </a:p>
        </p:txBody>
      </p:sp>
      <p:sp>
        <p:nvSpPr>
          <p:cNvPr id="46" name="card-268"/>
          <p:cNvSpPr/>
          <p:nvPr/>
        </p:nvSpPr>
        <p:spPr>
          <a:xfrm>
            <a:off x="2803322" y="3611880"/>
            <a:ext cx="2075688" cy="1828800"/>
          </a:xfrm>
          <a:prstGeom prst="roundRect">
            <a:avLst>
              <a:gd name="adj" fmla="val 5000"/>
            </a:avLst>
          </a:prstGeom>
          <a:solidFill>
            <a:schemeClr val="bg2"/>
          </a:solidFill>
          <a:ln/>
        </p:spPr>
      </p:sp>
      <p:sp>
        <p:nvSpPr>
          <p:cNvPr id="47" name="card-269"/>
          <p:cNvSpPr/>
          <p:nvPr/>
        </p:nvSpPr>
        <p:spPr>
          <a:xfrm>
            <a:off x="2986202" y="3794760"/>
            <a:ext cx="438912" cy="438912"/>
          </a:xfrm>
          <a:prstGeom prst="roundRect">
            <a:avLst>
              <a:gd name="adj" fmla="val 22000"/>
            </a:avLst>
          </a:prstGeom>
          <a:solidFill>
            <a:schemeClr val="accent1"/>
          </a:solidFill>
          <a:ln/>
        </p:spPr>
      </p:sp>
      <p:pic>
        <p:nvPicPr>
          <p:cNvPr id="48" name="icon-270" descr="Receipt icon">    </p:cNvPr>
          <p:cNvPicPr>
            <a:picLocks noChangeAspect="1"/>
          </p:cNvPicPr>
          <p:nvPr/>
        </p:nvPicPr>
        <p:blipFill>
          <a:blip r:embed="rId7"/>
          <a:stretch>
            <a:fillRect/>
          </a:stretch>
        </p:blipFill>
        <p:spPr>
          <a:xfrm>
            <a:off x="3082762" y="3891321"/>
            <a:ext cx="245791" cy="245791"/>
          </a:xfrm>
          <a:prstGeom prst="rect">
            <a:avLst/>
          </a:prstGeom>
        </p:spPr>
      </p:pic>
      <p:sp>
        <p:nvSpPr>
          <p:cNvPr id="49" name="text-271"/>
          <p:cNvSpPr txBox="1"/>
          <p:nvPr/>
        </p:nvSpPr>
        <p:spPr>
          <a:xfrm>
            <a:off x="2986202" y="4325112"/>
            <a:ext cx="1783080" cy="292608"/>
          </a:xfrm>
          <a:prstGeom prst="rect">
            <a:avLst/>
          </a:prstGeom>
          <a:noFill/>
          <a:ln/>
        </p:spPr>
        <p:txBody>
          <a:bodyPr wrap="square" lIns="0" tIns="0" rIns="0" bIns="0" rtlCol="0" anchor="t"/>
          <a:lstStyle/>
          <a:p>
            <a:pPr indent="0" marL="0">
              <a:buNone/>
            </a:pPr>
            <a:r>
              <a:rPr lang="en-US" sz="1600" b="1" dirty="0">
                <a:solidFill>
                  <a:schemeClr val="tx1"/>
                </a:solidFill>
              </a:rPr>
              <a:t>Fiscal</a:t>
            </a:r>
            <a:endParaRPr lang="en-US" sz="1600" dirty="0"/>
          </a:p>
        </p:txBody>
      </p:sp>
      <p:sp>
        <p:nvSpPr>
          <p:cNvPr id="50" name="text-272"/>
          <p:cNvSpPr txBox="1"/>
          <p:nvPr/>
        </p:nvSpPr>
        <p:spPr>
          <a:xfrm>
            <a:off x="2986202" y="4617720"/>
            <a:ext cx="1783080" cy="420624"/>
          </a:xfrm>
          <a:prstGeom prst="rect">
            <a:avLst/>
          </a:prstGeom>
          <a:noFill/>
          <a:ln/>
        </p:spPr>
        <p:txBody>
          <a:bodyPr wrap="square" lIns="0" tIns="0" rIns="0" bIns="0" rtlCol="0" anchor="t"/>
          <a:lstStyle/>
          <a:p>
            <a:pPr indent="0" marL="0">
              <a:buNone/>
            </a:pPr>
            <a:r>
              <a:rPr lang="en-US" sz="1250" dirty="0">
                <a:solidFill>
                  <a:schemeClr val="tx2"/>
                </a:solidFill>
              </a:rPr>
              <a:t>Fiscal deficit, GST,</a:t>
            </a:r>
            <a:endParaRPr lang="en-US" sz="1250" dirty="0"/>
          </a:p>
          <a:p>
            <a:pPr indent="0" marL="0">
              <a:buNone/>
            </a:pPr>
            <a:r>
              <a:rPr lang="en-US" sz="1250" dirty="0">
                <a:solidFill>
                  <a:schemeClr val="tx2"/>
                </a:solidFill>
              </a:rPr>
              <a:t>capex, public debt</a:t>
            </a:r>
            <a:endParaRPr lang="en-US" sz="1250" dirty="0"/>
          </a:p>
        </p:txBody>
      </p:sp>
      <p:sp>
        <p:nvSpPr>
          <p:cNvPr id="51" name="card-273"/>
          <p:cNvSpPr/>
          <p:nvPr/>
        </p:nvSpPr>
        <p:spPr>
          <a:xfrm>
            <a:off x="2986202" y="5093208"/>
            <a:ext cx="1422806" cy="237744"/>
          </a:xfrm>
          <a:prstGeom prst="roundRect">
            <a:avLst>
              <a:gd name="adj" fmla="val 50000"/>
            </a:avLst>
          </a:prstGeom>
          <a:solidFill>
            <a:schemeClr val="bg1"/>
          </a:solidFill>
          <a:ln/>
        </p:spPr>
      </p:sp>
      <p:sp>
        <p:nvSpPr>
          <p:cNvPr id="52" name="text-274"/>
          <p:cNvSpPr txBox="1"/>
          <p:nvPr/>
        </p:nvSpPr>
        <p:spPr>
          <a:xfrm>
            <a:off x="2986202" y="5093208"/>
            <a:ext cx="1422806" cy="237744"/>
          </a:xfrm>
          <a:prstGeom prst="rect">
            <a:avLst/>
          </a:prstGeom>
          <a:noFill/>
          <a:ln/>
        </p:spPr>
        <p:txBody>
          <a:bodyPr wrap="square" lIns="0" tIns="0" rIns="0" bIns="0" rtlCol="0" anchor="ctr"/>
          <a:lstStyle/>
          <a:p>
            <a:pPr algn="ctr" indent="0" marL="0">
              <a:buNone/>
            </a:pPr>
            <a:r>
              <a:rPr lang="en-US" sz="1000" b="1" spc="50" kern="0" dirty="0">
                <a:solidFill>
                  <a:schemeClr val="accent1"/>
                </a:solidFill>
              </a:rPr>
              <a:t>CGA · Union Budget</a:t>
            </a:r>
            <a:endParaRPr lang="en-US" sz="1000" dirty="0"/>
          </a:p>
        </p:txBody>
      </p:sp>
      <p:sp>
        <p:nvSpPr>
          <p:cNvPr id="53" name="card-275"/>
          <p:cNvSpPr/>
          <p:nvPr/>
        </p:nvSpPr>
        <p:spPr>
          <a:xfrm>
            <a:off x="5058004" y="3611880"/>
            <a:ext cx="2075688" cy="1828800"/>
          </a:xfrm>
          <a:prstGeom prst="roundRect">
            <a:avLst>
              <a:gd name="adj" fmla="val 5000"/>
            </a:avLst>
          </a:prstGeom>
          <a:solidFill>
            <a:schemeClr val="bg2"/>
          </a:solidFill>
          <a:ln/>
        </p:spPr>
      </p:sp>
      <p:sp>
        <p:nvSpPr>
          <p:cNvPr id="54" name="card-276"/>
          <p:cNvSpPr/>
          <p:nvPr/>
        </p:nvSpPr>
        <p:spPr>
          <a:xfrm>
            <a:off x="5240884" y="3794760"/>
            <a:ext cx="438912" cy="438912"/>
          </a:xfrm>
          <a:prstGeom prst="roundRect">
            <a:avLst>
              <a:gd name="adj" fmla="val 22000"/>
            </a:avLst>
          </a:prstGeom>
          <a:solidFill>
            <a:schemeClr val="accent1"/>
          </a:solidFill>
          <a:ln/>
        </p:spPr>
      </p:sp>
      <p:pic>
        <p:nvPicPr>
          <p:cNvPr id="55" name="icon-277" descr="Ship icon">    </p:cNvPr>
          <p:cNvPicPr>
            <a:picLocks noChangeAspect="1"/>
          </p:cNvPicPr>
          <p:nvPr/>
        </p:nvPicPr>
        <p:blipFill>
          <a:blip r:embed="rId8"/>
          <a:stretch>
            <a:fillRect/>
          </a:stretch>
        </p:blipFill>
        <p:spPr>
          <a:xfrm>
            <a:off x="5337444" y="3891321"/>
            <a:ext cx="245791" cy="245791"/>
          </a:xfrm>
          <a:prstGeom prst="rect">
            <a:avLst/>
          </a:prstGeom>
        </p:spPr>
      </p:pic>
      <p:sp>
        <p:nvSpPr>
          <p:cNvPr id="56" name="text-278"/>
          <p:cNvSpPr txBox="1"/>
          <p:nvPr/>
        </p:nvSpPr>
        <p:spPr>
          <a:xfrm>
            <a:off x="5240884" y="4325112"/>
            <a:ext cx="1783080" cy="292608"/>
          </a:xfrm>
          <a:prstGeom prst="rect">
            <a:avLst/>
          </a:prstGeom>
          <a:noFill/>
          <a:ln/>
        </p:spPr>
        <p:txBody>
          <a:bodyPr wrap="square" lIns="0" tIns="0" rIns="0" bIns="0" rtlCol="0" anchor="t"/>
          <a:lstStyle/>
          <a:p>
            <a:pPr indent="0" marL="0">
              <a:buNone/>
            </a:pPr>
            <a:r>
              <a:rPr lang="en-US" sz="1600" b="1" dirty="0">
                <a:solidFill>
                  <a:schemeClr val="tx1"/>
                </a:solidFill>
              </a:rPr>
              <a:t>External</a:t>
            </a:r>
            <a:endParaRPr lang="en-US" sz="1600" dirty="0"/>
          </a:p>
        </p:txBody>
      </p:sp>
      <p:sp>
        <p:nvSpPr>
          <p:cNvPr id="57" name="text-279"/>
          <p:cNvSpPr txBox="1"/>
          <p:nvPr/>
        </p:nvSpPr>
        <p:spPr>
          <a:xfrm>
            <a:off x="5240884" y="4617720"/>
            <a:ext cx="1783080" cy="420624"/>
          </a:xfrm>
          <a:prstGeom prst="rect">
            <a:avLst/>
          </a:prstGeom>
          <a:noFill/>
          <a:ln/>
        </p:spPr>
        <p:txBody>
          <a:bodyPr wrap="square" lIns="0" tIns="0" rIns="0" bIns="0" rtlCol="0" anchor="t"/>
          <a:lstStyle/>
          <a:p>
            <a:pPr indent="0" marL="0">
              <a:buNone/>
            </a:pPr>
            <a:r>
              <a:rPr lang="en-US" sz="1250" dirty="0">
                <a:solidFill>
                  <a:schemeClr val="tx2"/>
                </a:solidFill>
              </a:rPr>
              <a:t>Forex reserves, trade,</a:t>
            </a:r>
            <a:endParaRPr lang="en-US" sz="1250" dirty="0"/>
          </a:p>
          <a:p>
            <a:pPr indent="0" marL="0">
              <a:buNone/>
            </a:pPr>
            <a:r>
              <a:rPr lang="en-US" sz="1250" dirty="0">
                <a:solidFill>
                  <a:schemeClr val="tx2"/>
                </a:solidFill>
              </a:rPr>
              <a:t>BoP, USD/INR</a:t>
            </a:r>
            <a:endParaRPr lang="en-US" sz="1250" dirty="0"/>
          </a:p>
        </p:txBody>
      </p:sp>
      <p:sp>
        <p:nvSpPr>
          <p:cNvPr id="58" name="card-280"/>
          <p:cNvSpPr/>
          <p:nvPr/>
        </p:nvSpPr>
        <p:spPr>
          <a:xfrm>
            <a:off x="5240884" y="5093208"/>
            <a:ext cx="1027786" cy="237744"/>
          </a:xfrm>
          <a:prstGeom prst="roundRect">
            <a:avLst>
              <a:gd name="adj" fmla="val 50000"/>
            </a:avLst>
          </a:prstGeom>
          <a:solidFill>
            <a:schemeClr val="bg1"/>
          </a:solidFill>
          <a:ln/>
        </p:spPr>
      </p:sp>
      <p:sp>
        <p:nvSpPr>
          <p:cNvPr id="59" name="text-281"/>
          <p:cNvSpPr txBox="1"/>
          <p:nvPr/>
        </p:nvSpPr>
        <p:spPr>
          <a:xfrm>
            <a:off x="5240884" y="5093208"/>
            <a:ext cx="1027786" cy="237744"/>
          </a:xfrm>
          <a:prstGeom prst="rect">
            <a:avLst/>
          </a:prstGeom>
          <a:noFill/>
          <a:ln/>
        </p:spPr>
        <p:txBody>
          <a:bodyPr wrap="square" lIns="0" tIns="0" rIns="0" bIns="0" rtlCol="0" anchor="ctr"/>
          <a:lstStyle/>
          <a:p>
            <a:pPr algn="ctr" indent="0" marL="0">
              <a:buNone/>
            </a:pPr>
            <a:r>
              <a:rPr lang="en-US" sz="1000" b="1" spc="50" kern="0" dirty="0">
                <a:solidFill>
                  <a:schemeClr val="accent1"/>
                </a:solidFill>
              </a:rPr>
              <a:t>RBI · DGCI&amp;S</a:t>
            </a:r>
            <a:endParaRPr lang="en-US" sz="1000" dirty="0"/>
          </a:p>
        </p:txBody>
      </p:sp>
      <p:sp>
        <p:nvSpPr>
          <p:cNvPr id="60" name="card-282"/>
          <p:cNvSpPr/>
          <p:nvPr/>
        </p:nvSpPr>
        <p:spPr>
          <a:xfrm>
            <a:off x="7312685" y="3611880"/>
            <a:ext cx="2075688" cy="1828800"/>
          </a:xfrm>
          <a:prstGeom prst="roundRect">
            <a:avLst>
              <a:gd name="adj" fmla="val 5000"/>
            </a:avLst>
          </a:prstGeom>
          <a:solidFill>
            <a:schemeClr val="bg2"/>
          </a:solidFill>
          <a:ln/>
        </p:spPr>
      </p:sp>
      <p:sp>
        <p:nvSpPr>
          <p:cNvPr id="61" name="card-283"/>
          <p:cNvSpPr/>
          <p:nvPr/>
        </p:nvSpPr>
        <p:spPr>
          <a:xfrm>
            <a:off x="7495565" y="3794760"/>
            <a:ext cx="438912" cy="438912"/>
          </a:xfrm>
          <a:prstGeom prst="roundRect">
            <a:avLst>
              <a:gd name="adj" fmla="val 22000"/>
            </a:avLst>
          </a:prstGeom>
          <a:solidFill>
            <a:schemeClr val="accent1"/>
          </a:solidFill>
          <a:ln/>
        </p:spPr>
      </p:sp>
      <p:pic>
        <p:nvPicPr>
          <p:cNvPr id="62" name="icon-284" descr="Users icon">    </p:cNvPr>
          <p:cNvPicPr>
            <a:picLocks noChangeAspect="1"/>
          </p:cNvPicPr>
          <p:nvPr/>
        </p:nvPicPr>
        <p:blipFill>
          <a:blip r:embed="rId9"/>
          <a:stretch>
            <a:fillRect/>
          </a:stretch>
        </p:blipFill>
        <p:spPr>
          <a:xfrm>
            <a:off x="7592126" y="3891321"/>
            <a:ext cx="245791" cy="245791"/>
          </a:xfrm>
          <a:prstGeom prst="rect">
            <a:avLst/>
          </a:prstGeom>
        </p:spPr>
      </p:pic>
      <p:sp>
        <p:nvSpPr>
          <p:cNvPr id="63" name="text-285"/>
          <p:cNvSpPr txBox="1"/>
          <p:nvPr/>
        </p:nvSpPr>
        <p:spPr>
          <a:xfrm>
            <a:off x="7495565" y="4325112"/>
            <a:ext cx="1783080" cy="292608"/>
          </a:xfrm>
          <a:prstGeom prst="rect">
            <a:avLst/>
          </a:prstGeom>
          <a:noFill/>
          <a:ln/>
        </p:spPr>
        <p:txBody>
          <a:bodyPr wrap="square" lIns="0" tIns="0" rIns="0" bIns="0" rtlCol="0" anchor="t"/>
          <a:lstStyle/>
          <a:p>
            <a:pPr indent="0" marL="0">
              <a:buNone/>
            </a:pPr>
            <a:r>
              <a:rPr lang="en-US" sz="1600" b="1" dirty="0">
                <a:solidFill>
                  <a:schemeClr val="tx1"/>
                </a:solidFill>
              </a:rPr>
              <a:t>Labour</a:t>
            </a:r>
            <a:endParaRPr lang="en-US" sz="1600" dirty="0"/>
          </a:p>
        </p:txBody>
      </p:sp>
      <p:sp>
        <p:nvSpPr>
          <p:cNvPr id="64" name="text-286"/>
          <p:cNvSpPr txBox="1"/>
          <p:nvPr/>
        </p:nvSpPr>
        <p:spPr>
          <a:xfrm>
            <a:off x="7495565" y="4617720"/>
            <a:ext cx="1783080" cy="420624"/>
          </a:xfrm>
          <a:prstGeom prst="rect">
            <a:avLst/>
          </a:prstGeom>
          <a:noFill/>
          <a:ln/>
        </p:spPr>
        <p:txBody>
          <a:bodyPr wrap="square" lIns="0" tIns="0" rIns="0" bIns="0" rtlCol="0" anchor="t"/>
          <a:lstStyle/>
          <a:p>
            <a:pPr indent="0" marL="0">
              <a:buNone/>
            </a:pPr>
            <a:r>
              <a:rPr lang="en-US" sz="1250" dirty="0">
                <a:solidFill>
                  <a:schemeClr val="tx2"/>
                </a:solidFill>
              </a:rPr>
              <a:t>PLFS unemployment,</a:t>
            </a:r>
            <a:endParaRPr lang="en-US" sz="1250" dirty="0"/>
          </a:p>
          <a:p>
            <a:pPr indent="0" marL="0">
              <a:buNone/>
            </a:pPr>
            <a:r>
              <a:rPr lang="en-US" sz="1250" dirty="0">
                <a:solidFill>
                  <a:schemeClr val="tx2"/>
                </a:solidFill>
              </a:rPr>
              <a:t>EPFO payroll</a:t>
            </a:r>
            <a:endParaRPr lang="en-US" sz="1250" dirty="0"/>
          </a:p>
        </p:txBody>
      </p:sp>
      <p:sp>
        <p:nvSpPr>
          <p:cNvPr id="65" name="card-287"/>
          <p:cNvSpPr/>
          <p:nvPr/>
        </p:nvSpPr>
        <p:spPr>
          <a:xfrm>
            <a:off x="7495565" y="5093208"/>
            <a:ext cx="1356970" cy="237744"/>
          </a:xfrm>
          <a:prstGeom prst="roundRect">
            <a:avLst>
              <a:gd name="adj" fmla="val 50000"/>
            </a:avLst>
          </a:prstGeom>
          <a:solidFill>
            <a:schemeClr val="bg1"/>
          </a:solidFill>
          <a:ln/>
        </p:spPr>
      </p:sp>
      <p:sp>
        <p:nvSpPr>
          <p:cNvPr id="66" name="text-288"/>
          <p:cNvSpPr txBox="1"/>
          <p:nvPr/>
        </p:nvSpPr>
        <p:spPr>
          <a:xfrm>
            <a:off x="7495565" y="5093208"/>
            <a:ext cx="1356970" cy="237744"/>
          </a:xfrm>
          <a:prstGeom prst="rect">
            <a:avLst/>
          </a:prstGeom>
          <a:noFill/>
          <a:ln/>
        </p:spPr>
        <p:txBody>
          <a:bodyPr wrap="square" lIns="0" tIns="0" rIns="0" bIns="0" rtlCol="0" anchor="ctr"/>
          <a:lstStyle/>
          <a:p>
            <a:pPr algn="ctr" indent="0" marL="0">
              <a:buNone/>
            </a:pPr>
            <a:r>
              <a:rPr lang="en-US" sz="1000" b="1" spc="50" kern="0" dirty="0">
                <a:solidFill>
                  <a:schemeClr val="accent1"/>
                </a:solidFill>
              </a:rPr>
              <a:t>MoSPI PLFS · EPFO</a:t>
            </a:r>
            <a:endParaRPr lang="en-US" sz="1000" dirty="0"/>
          </a:p>
        </p:txBody>
      </p:sp>
      <p:sp>
        <p:nvSpPr>
          <p:cNvPr id="67" name="card-289"/>
          <p:cNvSpPr/>
          <p:nvPr/>
        </p:nvSpPr>
        <p:spPr>
          <a:xfrm>
            <a:off x="9567367" y="3611880"/>
            <a:ext cx="2075688" cy="1828800"/>
          </a:xfrm>
          <a:prstGeom prst="roundRect">
            <a:avLst>
              <a:gd name="adj" fmla="val 5000"/>
            </a:avLst>
          </a:prstGeom>
          <a:solidFill>
            <a:schemeClr val="bg2"/>
          </a:solidFill>
          <a:ln/>
        </p:spPr>
      </p:sp>
      <p:sp>
        <p:nvSpPr>
          <p:cNvPr id="68" name="card-290"/>
          <p:cNvSpPr/>
          <p:nvPr/>
        </p:nvSpPr>
        <p:spPr>
          <a:xfrm>
            <a:off x="9750247" y="3794760"/>
            <a:ext cx="438912" cy="438912"/>
          </a:xfrm>
          <a:prstGeom prst="roundRect">
            <a:avLst>
              <a:gd name="adj" fmla="val 22000"/>
            </a:avLst>
          </a:prstGeom>
          <a:solidFill>
            <a:schemeClr val="accent1"/>
          </a:solidFill>
          <a:ln/>
        </p:spPr>
      </p:sp>
      <p:pic>
        <p:nvPicPr>
          <p:cNvPr id="69" name="icon-291" descr="Laptop icon">    </p:cNvPr>
          <p:cNvPicPr>
            <a:picLocks noChangeAspect="1"/>
          </p:cNvPicPr>
          <p:nvPr/>
        </p:nvPicPr>
        <p:blipFill>
          <a:blip r:embed="rId10"/>
          <a:stretch>
            <a:fillRect/>
          </a:stretch>
        </p:blipFill>
        <p:spPr>
          <a:xfrm>
            <a:off x="9846808" y="3891321"/>
            <a:ext cx="245791" cy="245791"/>
          </a:xfrm>
          <a:prstGeom prst="rect">
            <a:avLst/>
          </a:prstGeom>
        </p:spPr>
      </p:pic>
      <p:sp>
        <p:nvSpPr>
          <p:cNvPr id="70" name="text-292"/>
          <p:cNvSpPr txBox="1"/>
          <p:nvPr/>
        </p:nvSpPr>
        <p:spPr>
          <a:xfrm>
            <a:off x="9750247" y="4325112"/>
            <a:ext cx="1783080" cy="292608"/>
          </a:xfrm>
          <a:prstGeom prst="rect">
            <a:avLst/>
          </a:prstGeom>
          <a:noFill/>
          <a:ln/>
        </p:spPr>
        <p:txBody>
          <a:bodyPr wrap="square" lIns="0" tIns="0" rIns="0" bIns="0" rtlCol="0" anchor="t"/>
          <a:lstStyle/>
          <a:p>
            <a:pPr indent="0" marL="0">
              <a:buNone/>
            </a:pPr>
            <a:r>
              <a:rPr lang="en-US" sz="1600" b="1" dirty="0">
                <a:solidFill>
                  <a:schemeClr val="tx1"/>
                </a:solidFill>
              </a:rPr>
              <a:t>Services</a:t>
            </a:r>
            <a:endParaRPr lang="en-US" sz="1600" dirty="0"/>
          </a:p>
        </p:txBody>
      </p:sp>
      <p:sp>
        <p:nvSpPr>
          <p:cNvPr id="71" name="text-293"/>
          <p:cNvSpPr txBox="1"/>
          <p:nvPr/>
        </p:nvSpPr>
        <p:spPr>
          <a:xfrm>
            <a:off x="9750247" y="4617720"/>
            <a:ext cx="1783080" cy="420624"/>
          </a:xfrm>
          <a:prstGeom prst="rect">
            <a:avLst/>
          </a:prstGeom>
          <a:noFill/>
          <a:ln/>
        </p:spPr>
        <p:txBody>
          <a:bodyPr wrap="square" lIns="0" tIns="0" rIns="0" bIns="0" rtlCol="0" anchor="t"/>
          <a:lstStyle/>
          <a:p>
            <a:pPr indent="0" marL="0">
              <a:buNone/>
            </a:pPr>
            <a:r>
              <a:rPr lang="en-US" sz="1250" dirty="0">
                <a:solidFill>
                  <a:schemeClr val="tx2"/>
                </a:solidFill>
              </a:rPr>
              <a:t>Services GVA, PMI,</a:t>
            </a:r>
            <a:endParaRPr lang="en-US" sz="1250" dirty="0"/>
          </a:p>
          <a:p>
            <a:pPr indent="0" marL="0">
              <a:buNone/>
            </a:pPr>
            <a:r>
              <a:rPr lang="en-US" sz="1250" dirty="0">
                <a:solidFill>
                  <a:schemeClr val="tx2"/>
                </a:solidFill>
              </a:rPr>
              <a:t>IT exports</a:t>
            </a:r>
            <a:endParaRPr lang="en-US" sz="1250" dirty="0"/>
          </a:p>
        </p:txBody>
      </p:sp>
      <p:sp>
        <p:nvSpPr>
          <p:cNvPr id="72" name="card-294"/>
          <p:cNvSpPr/>
          <p:nvPr/>
        </p:nvSpPr>
        <p:spPr>
          <a:xfrm>
            <a:off x="9750247" y="5093208"/>
            <a:ext cx="1554480" cy="237744"/>
          </a:xfrm>
          <a:prstGeom prst="roundRect">
            <a:avLst>
              <a:gd name="adj" fmla="val 50000"/>
            </a:avLst>
          </a:prstGeom>
          <a:solidFill>
            <a:schemeClr val="bg1"/>
          </a:solidFill>
          <a:ln/>
        </p:spPr>
      </p:sp>
      <p:sp>
        <p:nvSpPr>
          <p:cNvPr id="73" name="text-295"/>
          <p:cNvSpPr txBox="1"/>
          <p:nvPr/>
        </p:nvSpPr>
        <p:spPr>
          <a:xfrm>
            <a:off x="9750247" y="5093208"/>
            <a:ext cx="1554480" cy="237744"/>
          </a:xfrm>
          <a:prstGeom prst="rect">
            <a:avLst/>
          </a:prstGeom>
          <a:noFill/>
          <a:ln/>
        </p:spPr>
        <p:txBody>
          <a:bodyPr wrap="square" lIns="0" tIns="0" rIns="0" bIns="0" rtlCol="0" anchor="ctr"/>
          <a:lstStyle/>
          <a:p>
            <a:pPr algn="ctr" indent="0" marL="0">
              <a:buNone/>
            </a:pPr>
            <a:r>
              <a:rPr lang="en-US" sz="1000" b="1" spc="50" kern="0" dirty="0">
                <a:solidFill>
                  <a:schemeClr val="accent1"/>
                </a:solidFill>
              </a:rPr>
              <a:t>MoSPI · PMI releases</a:t>
            </a:r>
            <a:endParaRPr lang="en-US" sz="1000" dirty="0"/>
          </a:p>
        </p:txBody>
      </p:sp>
      <p:sp>
        <p:nvSpPr>
          <p:cNvPr id="74" name="card-296"/>
          <p:cNvSpPr/>
          <p:nvPr/>
        </p:nvSpPr>
        <p:spPr>
          <a:xfrm>
            <a:off x="548640" y="5669280"/>
            <a:ext cx="438912" cy="438912"/>
          </a:xfrm>
          <a:prstGeom prst="roundRect">
            <a:avLst>
              <a:gd name="adj" fmla="val 22000"/>
            </a:avLst>
          </a:prstGeom>
          <a:solidFill>
            <a:schemeClr val="tx1"/>
          </a:solidFill>
          <a:ln/>
        </p:spPr>
      </p:sp>
      <p:pic>
        <p:nvPicPr>
          <p:cNvPr id="75" name="icon-297" descr="MessagesSquare icon">    </p:cNvPr>
          <p:cNvPicPr>
            <a:picLocks noChangeAspect="1"/>
          </p:cNvPicPr>
          <p:nvPr/>
        </p:nvPicPr>
        <p:blipFill>
          <a:blip r:embed="rId11"/>
          <a:stretch>
            <a:fillRect/>
          </a:stretch>
        </p:blipFill>
        <p:spPr>
          <a:xfrm>
            <a:off x="645201" y="5765841"/>
            <a:ext cx="245791" cy="245791"/>
          </a:xfrm>
          <a:prstGeom prst="rect">
            <a:avLst/>
          </a:prstGeom>
        </p:spPr>
      </p:pic>
      <p:sp>
        <p:nvSpPr>
          <p:cNvPr id="76" name="text-298"/>
          <p:cNvSpPr txBox="1"/>
          <p:nvPr/>
        </p:nvSpPr>
        <p:spPr>
          <a:xfrm>
            <a:off x="1115568" y="5623560"/>
            <a:ext cx="3108960" cy="256032"/>
          </a:xfrm>
          <a:prstGeom prst="rect">
            <a:avLst/>
          </a:prstGeom>
          <a:noFill/>
          <a:ln/>
        </p:spPr>
        <p:txBody>
          <a:bodyPr wrap="square" lIns="0" tIns="0" rIns="0" bIns="0" rtlCol="0" anchor="t"/>
          <a:lstStyle/>
          <a:p>
            <a:pPr indent="0" marL="0">
              <a:buNone/>
            </a:pPr>
            <a:r>
              <a:rPr lang="en-US" sz="1400" b="1" dirty="0">
                <a:solidFill>
                  <a:schemeClr val="tx1"/>
                </a:solidFill>
              </a:rPr>
              <a:t>A2A for reasoning</a:t>
            </a:r>
            <a:endParaRPr lang="en-US" sz="1400" dirty="0"/>
          </a:p>
        </p:txBody>
      </p:sp>
      <p:sp>
        <p:nvSpPr>
          <p:cNvPr id="77" name="text-299"/>
          <p:cNvSpPr txBox="1"/>
          <p:nvPr/>
        </p:nvSpPr>
        <p:spPr>
          <a:xfrm>
            <a:off x="1115568" y="5879592"/>
            <a:ext cx="3108960" cy="237744"/>
          </a:xfrm>
          <a:prstGeom prst="rect">
            <a:avLst/>
          </a:prstGeom>
          <a:noFill/>
          <a:ln/>
        </p:spPr>
        <p:txBody>
          <a:bodyPr wrap="square" lIns="0" tIns="0" rIns="0" bIns="0" rtlCol="0" anchor="t"/>
          <a:lstStyle/>
          <a:p>
            <a:pPr indent="0" marL="0">
              <a:buNone/>
            </a:pPr>
            <a:r>
              <a:rPr lang="en-US" sz="1250" dirty="0">
                <a:solidFill>
                  <a:schemeClr val="tx2"/>
                </a:solidFill>
              </a:rPr>
              <a:t>agents talk only through typed requests</a:t>
            </a:r>
            <a:endParaRPr lang="en-US" sz="1250" dirty="0"/>
          </a:p>
        </p:txBody>
      </p:sp>
      <p:sp>
        <p:nvSpPr>
          <p:cNvPr id="78" name="card-300"/>
          <p:cNvSpPr/>
          <p:nvPr/>
        </p:nvSpPr>
        <p:spPr>
          <a:xfrm>
            <a:off x="4315968" y="5669280"/>
            <a:ext cx="438912" cy="438912"/>
          </a:xfrm>
          <a:prstGeom prst="roundRect">
            <a:avLst>
              <a:gd name="adj" fmla="val 22000"/>
            </a:avLst>
          </a:prstGeom>
          <a:solidFill>
            <a:schemeClr val="tx1"/>
          </a:solidFill>
          <a:ln/>
        </p:spPr>
      </p:sp>
      <p:pic>
        <p:nvPicPr>
          <p:cNvPr id="79" name="icon-301" descr="Database icon">    </p:cNvPr>
          <p:cNvPicPr>
            <a:picLocks noChangeAspect="1"/>
          </p:cNvPicPr>
          <p:nvPr/>
        </p:nvPicPr>
        <p:blipFill>
          <a:blip r:embed="rId12"/>
          <a:stretch>
            <a:fillRect/>
          </a:stretch>
        </p:blipFill>
        <p:spPr>
          <a:xfrm>
            <a:off x="4412529" y="5765841"/>
            <a:ext cx="245791" cy="245791"/>
          </a:xfrm>
          <a:prstGeom prst="rect">
            <a:avLst/>
          </a:prstGeom>
        </p:spPr>
      </p:pic>
      <p:sp>
        <p:nvSpPr>
          <p:cNvPr id="80" name="text-302"/>
          <p:cNvSpPr txBox="1"/>
          <p:nvPr/>
        </p:nvSpPr>
        <p:spPr>
          <a:xfrm>
            <a:off x="4882896" y="5623560"/>
            <a:ext cx="3108960" cy="256032"/>
          </a:xfrm>
          <a:prstGeom prst="rect">
            <a:avLst/>
          </a:prstGeom>
          <a:noFill/>
          <a:ln/>
        </p:spPr>
        <p:txBody>
          <a:bodyPr wrap="square" lIns="0" tIns="0" rIns="0" bIns="0" rtlCol="0" anchor="t"/>
          <a:lstStyle/>
          <a:p>
            <a:pPr indent="0" marL="0">
              <a:buNone/>
            </a:pPr>
            <a:r>
              <a:rPr lang="en-US" sz="1400" b="1" dirty="0">
                <a:solidFill>
                  <a:schemeClr val="tx1"/>
                </a:solidFill>
              </a:rPr>
              <a:t>MCP for data</a:t>
            </a:r>
            <a:endParaRPr lang="en-US" sz="1400" dirty="0"/>
          </a:p>
        </p:txBody>
      </p:sp>
      <p:sp>
        <p:nvSpPr>
          <p:cNvPr id="81" name="text-303"/>
          <p:cNvSpPr txBox="1"/>
          <p:nvPr/>
        </p:nvSpPr>
        <p:spPr>
          <a:xfrm>
            <a:off x="4882896" y="5879592"/>
            <a:ext cx="3108960" cy="237744"/>
          </a:xfrm>
          <a:prstGeom prst="rect">
            <a:avLst/>
          </a:prstGeom>
          <a:noFill/>
          <a:ln/>
        </p:spPr>
        <p:txBody>
          <a:bodyPr wrap="square" lIns="0" tIns="0" rIns="0" bIns="0" rtlCol="0" anchor="t"/>
          <a:lstStyle/>
          <a:p>
            <a:pPr indent="0" marL="0">
              <a:buNone/>
            </a:pPr>
            <a:r>
              <a:rPr lang="en-US" sz="1250" dirty="0">
                <a:solidFill>
                  <a:schemeClr val="tx2"/>
                </a:solidFill>
              </a:rPr>
              <a:t>each agent reads only its own MCP server</a:t>
            </a:r>
            <a:endParaRPr lang="en-US" sz="1250" dirty="0"/>
          </a:p>
        </p:txBody>
      </p:sp>
      <p:sp>
        <p:nvSpPr>
          <p:cNvPr id="82" name="card-304"/>
          <p:cNvSpPr/>
          <p:nvPr/>
        </p:nvSpPr>
        <p:spPr>
          <a:xfrm>
            <a:off x="8083296" y="5669280"/>
            <a:ext cx="438912" cy="438912"/>
          </a:xfrm>
          <a:prstGeom prst="roundRect">
            <a:avLst>
              <a:gd name="adj" fmla="val 22000"/>
            </a:avLst>
          </a:prstGeom>
          <a:solidFill>
            <a:schemeClr val="tx1"/>
          </a:solidFill>
          <a:ln/>
        </p:spPr>
      </p:sp>
      <p:pic>
        <p:nvPicPr>
          <p:cNvPr id="83" name="icon-305" descr="Ban icon">    </p:cNvPr>
          <p:cNvPicPr>
            <a:picLocks noChangeAspect="1"/>
          </p:cNvPicPr>
          <p:nvPr/>
        </p:nvPicPr>
        <p:blipFill>
          <a:blip r:embed="rId13"/>
          <a:stretch>
            <a:fillRect/>
          </a:stretch>
        </p:blipFill>
        <p:spPr>
          <a:xfrm>
            <a:off x="8179857" y="5765841"/>
            <a:ext cx="245791" cy="245791"/>
          </a:xfrm>
          <a:prstGeom prst="rect">
            <a:avLst/>
          </a:prstGeom>
        </p:spPr>
      </p:pic>
      <p:sp>
        <p:nvSpPr>
          <p:cNvPr id="84" name="text-306"/>
          <p:cNvSpPr txBox="1"/>
          <p:nvPr/>
        </p:nvSpPr>
        <p:spPr>
          <a:xfrm>
            <a:off x="8650224" y="5623560"/>
            <a:ext cx="3108960" cy="256032"/>
          </a:xfrm>
          <a:prstGeom prst="rect">
            <a:avLst/>
          </a:prstGeom>
          <a:noFill/>
          <a:ln/>
        </p:spPr>
        <p:txBody>
          <a:bodyPr wrap="square" lIns="0" tIns="0" rIns="0" bIns="0" rtlCol="0" anchor="t"/>
          <a:lstStyle/>
          <a:p>
            <a:pPr indent="0" marL="0">
              <a:buNone/>
            </a:pPr>
            <a:r>
              <a:rPr lang="en-US" sz="1400" b="1" dirty="0">
                <a:solidFill>
                  <a:schemeClr val="tx1"/>
                </a:solidFill>
              </a:rPr>
              <a:t>No shortcuts</a:t>
            </a:r>
            <a:endParaRPr lang="en-US" sz="1400" dirty="0"/>
          </a:p>
        </p:txBody>
      </p:sp>
      <p:sp>
        <p:nvSpPr>
          <p:cNvPr id="85" name="text-307"/>
          <p:cNvSpPr txBox="1"/>
          <p:nvPr/>
        </p:nvSpPr>
        <p:spPr>
          <a:xfrm>
            <a:off x="8650224" y="5879592"/>
            <a:ext cx="3108960" cy="237744"/>
          </a:xfrm>
          <a:prstGeom prst="rect">
            <a:avLst/>
          </a:prstGeom>
          <a:noFill/>
          <a:ln/>
        </p:spPr>
        <p:txBody>
          <a:bodyPr wrap="square" lIns="0" tIns="0" rIns="0" bIns="0" rtlCol="0" anchor="t"/>
          <a:lstStyle/>
          <a:p>
            <a:pPr indent="0" marL="0">
              <a:buNone/>
            </a:pPr>
            <a:r>
              <a:rPr lang="en-US" sz="1250" dirty="0">
                <a:solidFill>
                  <a:schemeClr val="tx2"/>
                </a:solidFill>
              </a:rPr>
              <a:t>sector packages never import each other</a:t>
            </a:r>
            <a:endParaRPr lang="en-US" sz="1250" dirty="0"/>
          </a:p>
        </p:txBody>
      </p:sp>
      <p:sp>
        <p:nvSpPr>
          <p:cNvPr id="25" name="Slide Number Placeholder 0"/>
          <p:cNvSpPr>
            <a:spLocks noGrp="1"/>
          </p:cNvSpPr>
          <p:nvPr>
            <p:ph type="sldNum" sz="quarter" idx="4294967295"/>
          </p:nvPr>
        </p:nvSpPr>
        <p:spPr>
          <a:xfrm>
            <a:off x="11091672" y="6446520"/>
            <a:ext cx="548640" cy="22860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51607A"/>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ctr"/>
          <a:lstStyle/>
          <a:p>
            <a:pPr indent="0" marL="0">
              <a:buNone/>
            </a:pPr>
            <a:r>
              <a:rPr lang="en-US" sz="1200" b="1" spc="200" kern="0" dirty="0">
                <a:solidFill>
                  <a:schemeClr val="accent1"/>
                </a:solidFill>
              </a:rPr>
              <a:t>ARCHITECTURE</a:t>
            </a:r>
            <a:endParaRPr lang="en-US" sz="1200" dirty="0"/>
          </a:p>
        </p:txBody>
      </p:sp>
      <p:sp>
        <p:nvSpPr>
          <p:cNvPr id="3" name="Text 0"/>
          <p:cNvSpPr/>
          <p:nvPr>
            <p:ph idx="101" type="title" hasCustomPrompt="1"/>
          </p:nvPr>
        </p:nvSpPr>
        <p:spPr>
          <a:xfrm>
            <a:off x="548640" y="676656"/>
            <a:ext cx="11094415" cy="713232"/>
          </a:xfrm>
          <a:prstGeom prst="rect">
            <a:avLst/>
          </a:prstGeom>
          <a:noFill/>
          <a:ln/>
        </p:spPr>
        <p:txBody>
          <a:bodyPr wrap="square" lIns="0" tIns="0" rIns="0" bIns="0" rtlCol="0" anchor="t"/>
          <a:lstStyle/>
          <a:p>
            <a:pPr algn="l" indent="0" marL="0">
              <a:buNone/>
            </a:pPr>
            <a:r>
              <a:rPr lang="en-US" sz="3600" b="1" dirty="0">
                <a:solidFill>
                  <a:schemeClr val="tx1"/>
                </a:solidFill>
              </a:rPr>
              <a:t>Reasoning flows apart from data</a:t>
            </a:r>
            <a:endParaRPr lang="en-US" sz="3600" dirty="0"/>
          </a:p>
        </p:txBody>
      </p:sp>
      <p:sp>
        <p:nvSpPr>
          <p:cNvPr id="4" name="card-308"/>
          <p:cNvSpPr/>
          <p:nvPr/>
        </p:nvSpPr>
        <p:spPr>
          <a:xfrm>
            <a:off x="548640" y="1600200"/>
            <a:ext cx="2148840" cy="566928"/>
          </a:xfrm>
          <a:prstGeom prst="roundRect">
            <a:avLst>
              <a:gd name="adj" fmla="val 11290"/>
            </a:avLst>
          </a:prstGeom>
          <a:solidFill>
            <a:schemeClr val="tx1"/>
          </a:solidFill>
          <a:ln/>
        </p:spPr>
      </p:sp>
      <p:pic>
        <p:nvPicPr>
          <p:cNvPr id="5" name="icon-309" descr="Monitor icon">    </p:cNvPr>
          <p:cNvPicPr>
            <a:picLocks noChangeAspect="1"/>
          </p:cNvPicPr>
          <p:nvPr/>
        </p:nvPicPr>
        <p:blipFill>
          <a:blip r:embed="rId1"/>
          <a:stretch>
            <a:fillRect/>
          </a:stretch>
        </p:blipFill>
        <p:spPr>
          <a:xfrm>
            <a:off x="685800" y="1755648"/>
            <a:ext cx="256032" cy="256032"/>
          </a:xfrm>
          <a:prstGeom prst="rect">
            <a:avLst/>
          </a:prstGeom>
        </p:spPr>
      </p:pic>
      <p:sp>
        <p:nvSpPr>
          <p:cNvPr id="6" name="text-310"/>
          <p:cNvSpPr txBox="1"/>
          <p:nvPr/>
        </p:nvSpPr>
        <p:spPr>
          <a:xfrm>
            <a:off x="1051560" y="1664208"/>
            <a:ext cx="1600200" cy="237744"/>
          </a:xfrm>
          <a:prstGeom prst="rect">
            <a:avLst/>
          </a:prstGeom>
          <a:noFill/>
          <a:ln/>
        </p:spPr>
        <p:txBody>
          <a:bodyPr wrap="square" lIns="0" tIns="0" rIns="0" bIns="0" rtlCol="0" anchor="t"/>
          <a:lstStyle/>
          <a:p>
            <a:pPr indent="0" marL="0">
              <a:buNone/>
            </a:pPr>
            <a:r>
              <a:rPr lang="en-US" sz="1350" b="1" dirty="0">
                <a:solidFill>
                  <a:schemeClr val="bg1"/>
                </a:solidFill>
              </a:rPr>
              <a:t>Web app</a:t>
            </a:r>
            <a:endParaRPr lang="en-US" sz="1350" dirty="0"/>
          </a:p>
        </p:txBody>
      </p:sp>
      <p:sp>
        <p:nvSpPr>
          <p:cNvPr id="7" name="text-311"/>
          <p:cNvSpPr txBox="1"/>
          <p:nvPr/>
        </p:nvSpPr>
        <p:spPr>
          <a:xfrm>
            <a:off x="1051560" y="1911096"/>
            <a:ext cx="1627632" cy="201168"/>
          </a:xfrm>
          <a:prstGeom prst="rect">
            <a:avLst/>
          </a:prstGeom>
          <a:noFill/>
          <a:ln/>
        </p:spPr>
        <p:txBody>
          <a:bodyPr wrap="square" lIns="0" tIns="0" rIns="0" bIns="0" rtlCol="0" anchor="t"/>
          <a:lstStyle/>
          <a:p>
            <a:pPr indent="0" marL="0">
              <a:buNone/>
            </a:pPr>
            <a:r>
              <a:rPr lang="en-US" sz="950" dirty="0">
                <a:solidFill>
                  <a:schemeClr val="bg1">
                    <a:alpha val="78000"/>
                  </a:schemeClr>
                </a:solidFill>
              </a:rPr>
              <a:t>React 18 · TypeScript · Vite</a:t>
            </a:r>
            <a:endParaRPr lang="en-US" sz="950" dirty="0"/>
          </a:p>
        </p:txBody>
      </p:sp>
      <p:sp>
        <p:nvSpPr>
          <p:cNvPr id="8" name="card-312"/>
          <p:cNvSpPr/>
          <p:nvPr/>
        </p:nvSpPr>
        <p:spPr>
          <a:xfrm>
            <a:off x="2788920" y="1600200"/>
            <a:ext cx="8851392" cy="566928"/>
          </a:xfrm>
          <a:prstGeom prst="roundRect">
            <a:avLst>
              <a:gd name="adj" fmla="val 11290"/>
            </a:avLst>
          </a:prstGeom>
          <a:solidFill>
            <a:schemeClr val="bg2"/>
          </a:solidFill>
          <a:ln/>
        </p:spPr>
      </p:sp>
      <p:sp>
        <p:nvSpPr>
          <p:cNvPr id="9" name="card-313"/>
          <p:cNvSpPr/>
          <p:nvPr/>
        </p:nvSpPr>
        <p:spPr>
          <a:xfrm>
            <a:off x="2926080" y="1719072"/>
            <a:ext cx="875995" cy="329184"/>
          </a:xfrm>
          <a:prstGeom prst="roundRect">
            <a:avLst>
              <a:gd name="adj" fmla="val 16667"/>
            </a:avLst>
          </a:prstGeom>
          <a:solidFill>
            <a:schemeClr val="bg1"/>
          </a:solidFill>
          <a:ln/>
        </p:spPr>
      </p:sp>
      <p:sp>
        <p:nvSpPr>
          <p:cNvPr id="10" name="text-314"/>
          <p:cNvSpPr txBox="1"/>
          <p:nvPr/>
        </p:nvSpPr>
        <p:spPr>
          <a:xfrm>
            <a:off x="2926080" y="1719072"/>
            <a:ext cx="875995" cy="329184"/>
          </a:xfrm>
          <a:prstGeom prst="rect">
            <a:avLst/>
          </a:prstGeom>
          <a:noFill/>
          <a:ln/>
        </p:spPr>
        <p:txBody>
          <a:bodyPr wrap="square" lIns="0" tIns="0" rIns="0" bIns="0" rtlCol="0" anchor="ctr"/>
          <a:lstStyle/>
          <a:p>
            <a:pPr algn="ctr" indent="0" marL="0">
              <a:buNone/>
            </a:pPr>
            <a:r>
              <a:rPr lang="en-US" sz="1150" dirty="0">
                <a:solidFill>
                  <a:schemeClr val="tx1"/>
                </a:solidFill>
              </a:rPr>
              <a:t>Dashboard</a:t>
            </a:r>
            <a:endParaRPr lang="en-US" sz="1150" dirty="0"/>
          </a:p>
        </p:txBody>
      </p:sp>
      <p:sp>
        <p:nvSpPr>
          <p:cNvPr id="11" name="card-315"/>
          <p:cNvSpPr/>
          <p:nvPr/>
        </p:nvSpPr>
        <p:spPr>
          <a:xfrm>
            <a:off x="3893515" y="1719072"/>
            <a:ext cx="1250899" cy="329184"/>
          </a:xfrm>
          <a:prstGeom prst="roundRect">
            <a:avLst>
              <a:gd name="adj" fmla="val 16667"/>
            </a:avLst>
          </a:prstGeom>
          <a:solidFill>
            <a:schemeClr val="bg1"/>
          </a:solidFill>
          <a:ln/>
        </p:spPr>
      </p:sp>
      <p:sp>
        <p:nvSpPr>
          <p:cNvPr id="12" name="text-316"/>
          <p:cNvSpPr txBox="1"/>
          <p:nvPr/>
        </p:nvSpPr>
        <p:spPr>
          <a:xfrm>
            <a:off x="3893515" y="1719072"/>
            <a:ext cx="1250899" cy="329184"/>
          </a:xfrm>
          <a:prstGeom prst="rect">
            <a:avLst/>
          </a:prstGeom>
          <a:noFill/>
          <a:ln/>
        </p:spPr>
        <p:txBody>
          <a:bodyPr wrap="square" lIns="0" tIns="0" rIns="0" bIns="0" rtlCol="0" anchor="ctr"/>
          <a:lstStyle/>
          <a:p>
            <a:pPr algn="ctr" indent="0" marL="0">
              <a:buNone/>
            </a:pPr>
            <a:r>
              <a:rPr lang="en-US" sz="1150" dirty="0">
                <a:solidFill>
                  <a:schemeClr val="tx1"/>
                </a:solidFill>
              </a:rPr>
              <a:t>Streaming chat</a:t>
            </a:r>
            <a:endParaRPr lang="en-US" sz="1150" dirty="0"/>
          </a:p>
        </p:txBody>
      </p:sp>
      <p:sp>
        <p:nvSpPr>
          <p:cNvPr id="13" name="card-317"/>
          <p:cNvSpPr/>
          <p:nvPr/>
        </p:nvSpPr>
        <p:spPr>
          <a:xfrm>
            <a:off x="5235854" y="1719072"/>
            <a:ext cx="950976" cy="329184"/>
          </a:xfrm>
          <a:prstGeom prst="roundRect">
            <a:avLst>
              <a:gd name="adj" fmla="val 16667"/>
            </a:avLst>
          </a:prstGeom>
          <a:solidFill>
            <a:schemeClr val="bg1"/>
          </a:solidFill>
          <a:ln/>
        </p:spPr>
      </p:sp>
      <p:sp>
        <p:nvSpPr>
          <p:cNvPr id="14" name="text-318"/>
          <p:cNvSpPr txBox="1"/>
          <p:nvPr/>
        </p:nvSpPr>
        <p:spPr>
          <a:xfrm>
            <a:off x="5235854" y="1719072"/>
            <a:ext cx="950976" cy="329184"/>
          </a:xfrm>
          <a:prstGeom prst="rect">
            <a:avLst/>
          </a:prstGeom>
          <a:noFill/>
          <a:ln/>
        </p:spPr>
        <p:txBody>
          <a:bodyPr wrap="square" lIns="0" tIns="0" rIns="0" bIns="0" rtlCol="0" anchor="ctr"/>
          <a:lstStyle/>
          <a:p>
            <a:pPr algn="ctr" indent="0" marL="0">
              <a:buNone/>
            </a:pPr>
            <a:r>
              <a:rPr lang="en-US" sz="1150" dirty="0">
                <a:solidFill>
                  <a:schemeClr val="tx1"/>
                </a:solidFill>
              </a:rPr>
              <a:t>Causal Lab</a:t>
            </a:r>
            <a:endParaRPr lang="en-US" sz="1150" dirty="0"/>
          </a:p>
        </p:txBody>
      </p:sp>
      <p:sp>
        <p:nvSpPr>
          <p:cNvPr id="15" name="card-319"/>
          <p:cNvSpPr/>
          <p:nvPr/>
        </p:nvSpPr>
        <p:spPr>
          <a:xfrm>
            <a:off x="6278270" y="1719072"/>
            <a:ext cx="1100938" cy="329184"/>
          </a:xfrm>
          <a:prstGeom prst="roundRect">
            <a:avLst>
              <a:gd name="adj" fmla="val 16667"/>
            </a:avLst>
          </a:prstGeom>
          <a:solidFill>
            <a:schemeClr val="bg1"/>
          </a:solidFill>
          <a:ln/>
        </p:spPr>
      </p:sp>
      <p:sp>
        <p:nvSpPr>
          <p:cNvPr id="16" name="text-320"/>
          <p:cNvSpPr txBox="1"/>
          <p:nvPr/>
        </p:nvSpPr>
        <p:spPr>
          <a:xfrm>
            <a:off x="6278270" y="1719072"/>
            <a:ext cx="1100938" cy="329184"/>
          </a:xfrm>
          <a:prstGeom prst="rect">
            <a:avLst/>
          </a:prstGeom>
          <a:noFill/>
          <a:ln/>
        </p:spPr>
        <p:txBody>
          <a:bodyPr wrap="square" lIns="0" tIns="0" rIns="0" bIns="0" rtlCol="0" anchor="ctr"/>
          <a:lstStyle/>
          <a:p>
            <a:pPr algn="ctr" indent="0" marL="0">
              <a:buNone/>
            </a:pPr>
            <a:r>
              <a:rPr lang="en-US" sz="1150" dirty="0">
                <a:solidFill>
                  <a:schemeClr val="tx1"/>
                </a:solidFill>
              </a:rPr>
              <a:t>A2A registry</a:t>
            </a:r>
            <a:endParaRPr lang="en-US" sz="1150" dirty="0"/>
          </a:p>
        </p:txBody>
      </p:sp>
      <p:sp>
        <p:nvSpPr>
          <p:cNvPr id="17" name="card-321"/>
          <p:cNvSpPr/>
          <p:nvPr/>
        </p:nvSpPr>
        <p:spPr>
          <a:xfrm>
            <a:off x="7470648" y="1719072"/>
            <a:ext cx="2000707" cy="329184"/>
          </a:xfrm>
          <a:prstGeom prst="roundRect">
            <a:avLst>
              <a:gd name="adj" fmla="val 16667"/>
            </a:avLst>
          </a:prstGeom>
          <a:solidFill>
            <a:schemeClr val="bg1"/>
          </a:solidFill>
          <a:ln/>
        </p:spPr>
      </p:sp>
      <p:sp>
        <p:nvSpPr>
          <p:cNvPr id="18" name="text-322"/>
          <p:cNvSpPr txBox="1"/>
          <p:nvPr/>
        </p:nvSpPr>
        <p:spPr>
          <a:xfrm>
            <a:off x="7470648" y="1719072"/>
            <a:ext cx="2000707" cy="329184"/>
          </a:xfrm>
          <a:prstGeom prst="rect">
            <a:avLst/>
          </a:prstGeom>
          <a:noFill/>
          <a:ln/>
        </p:spPr>
        <p:txBody>
          <a:bodyPr wrap="square" lIns="0" tIns="0" rIns="0" bIns="0" rtlCol="0" anchor="ctr"/>
          <a:lstStyle/>
          <a:p>
            <a:pPr algn="ctr" indent="0" marL="0">
              <a:buNone/>
            </a:pPr>
            <a:r>
              <a:rPr lang="en-US" sz="1150" dirty="0">
                <a:solidFill>
                  <a:schemeClr val="tx1"/>
                </a:solidFill>
              </a:rPr>
              <a:t>Knowledge-graph explorer</a:t>
            </a:r>
            <a:endParaRPr lang="en-US" sz="1150" dirty="0"/>
          </a:p>
        </p:txBody>
      </p:sp>
      <p:sp>
        <p:nvSpPr>
          <p:cNvPr id="19" name="card-323"/>
          <p:cNvSpPr/>
          <p:nvPr/>
        </p:nvSpPr>
        <p:spPr>
          <a:xfrm>
            <a:off x="9562795" y="1719072"/>
            <a:ext cx="1325880" cy="329184"/>
          </a:xfrm>
          <a:prstGeom prst="roundRect">
            <a:avLst>
              <a:gd name="adj" fmla="val 16667"/>
            </a:avLst>
          </a:prstGeom>
          <a:solidFill>
            <a:schemeClr val="bg1"/>
          </a:solidFill>
          <a:ln/>
        </p:spPr>
      </p:sp>
      <p:sp>
        <p:nvSpPr>
          <p:cNvPr id="20" name="text-324"/>
          <p:cNvSpPr txBox="1"/>
          <p:nvPr/>
        </p:nvSpPr>
        <p:spPr>
          <a:xfrm>
            <a:off x="9562795" y="1719072"/>
            <a:ext cx="1325880" cy="329184"/>
          </a:xfrm>
          <a:prstGeom prst="rect">
            <a:avLst/>
          </a:prstGeom>
          <a:noFill/>
          <a:ln/>
        </p:spPr>
        <p:txBody>
          <a:bodyPr wrap="square" lIns="0" tIns="0" rIns="0" bIns="0" rtlCol="0" anchor="ctr"/>
          <a:lstStyle/>
          <a:p>
            <a:pPr algn="ctr" indent="0" marL="0">
              <a:buNone/>
            </a:pPr>
            <a:r>
              <a:rPr lang="en-US" sz="1150" dirty="0">
                <a:solidFill>
                  <a:schemeClr val="tx1"/>
                </a:solidFill>
              </a:rPr>
              <a:t>Evidence drawer</a:t>
            </a:r>
            <a:endParaRPr lang="en-US" sz="1150" dirty="0"/>
          </a:p>
        </p:txBody>
      </p:sp>
      <p:sp>
        <p:nvSpPr>
          <p:cNvPr id="21" name="card-325"/>
          <p:cNvSpPr/>
          <p:nvPr/>
        </p:nvSpPr>
        <p:spPr>
          <a:xfrm>
            <a:off x="548640" y="2249424"/>
            <a:ext cx="2148840" cy="566928"/>
          </a:xfrm>
          <a:prstGeom prst="roundRect">
            <a:avLst>
              <a:gd name="adj" fmla="val 11290"/>
            </a:avLst>
          </a:prstGeom>
          <a:solidFill>
            <a:schemeClr val="tx1"/>
          </a:solidFill>
          <a:ln/>
        </p:spPr>
      </p:sp>
      <p:pic>
        <p:nvPicPr>
          <p:cNvPr id="22" name="icon-326" descr="Server icon">    </p:cNvPr>
          <p:cNvPicPr>
            <a:picLocks noChangeAspect="1"/>
          </p:cNvPicPr>
          <p:nvPr/>
        </p:nvPicPr>
        <p:blipFill>
          <a:blip r:embed="rId2"/>
          <a:stretch>
            <a:fillRect/>
          </a:stretch>
        </p:blipFill>
        <p:spPr>
          <a:xfrm>
            <a:off x="685800" y="2404872"/>
            <a:ext cx="256032" cy="256032"/>
          </a:xfrm>
          <a:prstGeom prst="rect">
            <a:avLst/>
          </a:prstGeom>
        </p:spPr>
      </p:pic>
      <p:sp>
        <p:nvSpPr>
          <p:cNvPr id="23" name="text-327"/>
          <p:cNvSpPr txBox="1"/>
          <p:nvPr/>
        </p:nvSpPr>
        <p:spPr>
          <a:xfrm>
            <a:off x="1051560" y="2313432"/>
            <a:ext cx="1600200" cy="237744"/>
          </a:xfrm>
          <a:prstGeom prst="rect">
            <a:avLst/>
          </a:prstGeom>
          <a:noFill/>
          <a:ln/>
        </p:spPr>
        <p:txBody>
          <a:bodyPr wrap="square" lIns="0" tIns="0" rIns="0" bIns="0" rtlCol="0" anchor="t"/>
          <a:lstStyle/>
          <a:p>
            <a:pPr indent="0" marL="0">
              <a:buNone/>
            </a:pPr>
            <a:r>
              <a:rPr lang="en-US" sz="1350" b="1" dirty="0">
                <a:solidFill>
                  <a:schemeClr val="bg1"/>
                </a:solidFill>
              </a:rPr>
              <a:t>API gateway</a:t>
            </a:r>
            <a:endParaRPr lang="en-US" sz="1350" dirty="0"/>
          </a:p>
        </p:txBody>
      </p:sp>
      <p:sp>
        <p:nvSpPr>
          <p:cNvPr id="24" name="text-328"/>
          <p:cNvSpPr txBox="1"/>
          <p:nvPr/>
        </p:nvSpPr>
        <p:spPr>
          <a:xfrm>
            <a:off x="1051560" y="2560320"/>
            <a:ext cx="1627632" cy="201168"/>
          </a:xfrm>
          <a:prstGeom prst="rect">
            <a:avLst/>
          </a:prstGeom>
          <a:noFill/>
          <a:ln/>
        </p:spPr>
        <p:txBody>
          <a:bodyPr wrap="square" lIns="0" tIns="0" rIns="0" bIns="0" rtlCol="0" anchor="t"/>
          <a:lstStyle/>
          <a:p>
            <a:pPr indent="0" marL="0">
              <a:buNone/>
            </a:pPr>
            <a:r>
              <a:rPr lang="en-US" sz="950" dirty="0">
                <a:solidFill>
                  <a:schemeClr val="bg1">
                    <a:alpha val="78000"/>
                  </a:schemeClr>
                </a:solidFill>
              </a:rPr>
              <a:t>FastAPI · Uvicorn · SSE</a:t>
            </a:r>
            <a:endParaRPr lang="en-US" sz="950" dirty="0"/>
          </a:p>
        </p:txBody>
      </p:sp>
      <p:sp>
        <p:nvSpPr>
          <p:cNvPr id="25" name="card-329"/>
          <p:cNvSpPr/>
          <p:nvPr/>
        </p:nvSpPr>
        <p:spPr>
          <a:xfrm>
            <a:off x="2788920" y="2249424"/>
            <a:ext cx="8851392" cy="566928"/>
          </a:xfrm>
          <a:prstGeom prst="roundRect">
            <a:avLst>
              <a:gd name="adj" fmla="val 11290"/>
            </a:avLst>
          </a:prstGeom>
          <a:solidFill>
            <a:schemeClr val="bg2"/>
          </a:solidFill>
          <a:ln/>
        </p:spPr>
      </p:sp>
      <p:sp>
        <p:nvSpPr>
          <p:cNvPr id="26" name="card-330"/>
          <p:cNvSpPr/>
          <p:nvPr/>
        </p:nvSpPr>
        <p:spPr>
          <a:xfrm>
            <a:off x="2926080" y="2368296"/>
            <a:ext cx="1730045" cy="329184"/>
          </a:xfrm>
          <a:prstGeom prst="roundRect">
            <a:avLst>
              <a:gd name="adj" fmla="val 16667"/>
            </a:avLst>
          </a:prstGeom>
          <a:solidFill>
            <a:schemeClr val="bg1"/>
          </a:solidFill>
          <a:ln/>
        </p:spPr>
      </p:sp>
      <p:sp>
        <p:nvSpPr>
          <p:cNvPr id="27" name="text-331"/>
          <p:cNvSpPr txBox="1"/>
          <p:nvPr/>
        </p:nvSpPr>
        <p:spPr>
          <a:xfrm>
            <a:off x="2926080" y="2368296"/>
            <a:ext cx="1730045" cy="329184"/>
          </a:xfrm>
          <a:prstGeom prst="rect">
            <a:avLst/>
          </a:prstGeom>
          <a:noFill/>
          <a:ln/>
        </p:spPr>
        <p:txBody>
          <a:bodyPr wrap="square" lIns="0" tIns="0" rIns="0" bIns="0" rtlCol="0" anchor="ctr"/>
          <a:lstStyle/>
          <a:p>
            <a:pPr algn="ctr" indent="0" marL="0">
              <a:buNone/>
            </a:pPr>
            <a:r>
              <a:rPr lang="en-US" sz="1100" dirty="0">
                <a:solidFill>
                  <a:schemeClr val="tx1"/>
                </a:solidFill>
                <a:latin typeface="Consolas" pitchFamily="34" charset="0"/>
                <a:ea typeface="Consolas" pitchFamily="34" charset="-122"/>
                <a:cs typeface="Consolas" pitchFamily="34" charset="-120"/>
              </a:rPr>
              <a:t>/api/v1/chat/stream</a:t>
            </a:r>
            <a:endParaRPr lang="en-US" sz="1100" dirty="0"/>
          </a:p>
        </p:txBody>
      </p:sp>
      <p:sp>
        <p:nvSpPr>
          <p:cNvPr id="28" name="card-332"/>
          <p:cNvSpPr/>
          <p:nvPr/>
        </p:nvSpPr>
        <p:spPr>
          <a:xfrm>
            <a:off x="4747565" y="2368296"/>
            <a:ext cx="1408176" cy="329184"/>
          </a:xfrm>
          <a:prstGeom prst="roundRect">
            <a:avLst>
              <a:gd name="adj" fmla="val 16667"/>
            </a:avLst>
          </a:prstGeom>
          <a:solidFill>
            <a:schemeClr val="bg1"/>
          </a:solidFill>
          <a:ln/>
        </p:spPr>
      </p:sp>
      <p:sp>
        <p:nvSpPr>
          <p:cNvPr id="29" name="text-333"/>
          <p:cNvSpPr txBox="1"/>
          <p:nvPr/>
        </p:nvSpPr>
        <p:spPr>
          <a:xfrm>
            <a:off x="4747565" y="2368296"/>
            <a:ext cx="1408176" cy="329184"/>
          </a:xfrm>
          <a:prstGeom prst="rect">
            <a:avLst/>
          </a:prstGeom>
          <a:noFill/>
          <a:ln/>
        </p:spPr>
        <p:txBody>
          <a:bodyPr wrap="square" lIns="0" tIns="0" rIns="0" bIns="0" rtlCol="0" anchor="ctr"/>
          <a:lstStyle/>
          <a:p>
            <a:pPr algn="ctr" indent="0" marL="0">
              <a:buNone/>
            </a:pPr>
            <a:r>
              <a:rPr lang="en-US" sz="1100" dirty="0">
                <a:solidFill>
                  <a:schemeClr val="tx1"/>
                </a:solidFill>
                <a:latin typeface="Consolas" pitchFamily="34" charset="0"/>
                <a:ea typeface="Consolas" pitchFamily="34" charset="-122"/>
                <a:cs typeface="Consolas" pitchFamily="34" charset="-120"/>
              </a:rPr>
              <a:t>/api/v1/analyze</a:t>
            </a:r>
            <a:endParaRPr lang="en-US" sz="1100" dirty="0"/>
          </a:p>
        </p:txBody>
      </p:sp>
      <p:sp>
        <p:nvSpPr>
          <p:cNvPr id="30" name="card-334"/>
          <p:cNvSpPr/>
          <p:nvPr/>
        </p:nvSpPr>
        <p:spPr>
          <a:xfrm>
            <a:off x="6247181" y="2368296"/>
            <a:ext cx="1649578" cy="329184"/>
          </a:xfrm>
          <a:prstGeom prst="roundRect">
            <a:avLst>
              <a:gd name="adj" fmla="val 16667"/>
            </a:avLst>
          </a:prstGeom>
          <a:solidFill>
            <a:schemeClr val="bg1"/>
          </a:solidFill>
          <a:ln/>
        </p:spPr>
      </p:sp>
      <p:sp>
        <p:nvSpPr>
          <p:cNvPr id="31" name="text-335"/>
          <p:cNvSpPr txBox="1"/>
          <p:nvPr/>
        </p:nvSpPr>
        <p:spPr>
          <a:xfrm>
            <a:off x="6247181" y="2368296"/>
            <a:ext cx="1649578" cy="329184"/>
          </a:xfrm>
          <a:prstGeom prst="rect">
            <a:avLst/>
          </a:prstGeom>
          <a:noFill/>
          <a:ln/>
        </p:spPr>
        <p:txBody>
          <a:bodyPr wrap="square" lIns="0" tIns="0" rIns="0" bIns="0" rtlCol="0" anchor="ctr"/>
          <a:lstStyle/>
          <a:p>
            <a:pPr algn="ctr" indent="0" marL="0">
              <a:buNone/>
            </a:pPr>
            <a:r>
              <a:rPr lang="en-US" sz="1100" dirty="0">
                <a:solidFill>
                  <a:schemeClr val="tx1"/>
                </a:solidFill>
                <a:latin typeface="Consolas" pitchFamily="34" charset="0"/>
                <a:ea typeface="Consolas" pitchFamily="34" charset="-122"/>
                <a:cs typeface="Consolas" pitchFamily="34" charset="-120"/>
              </a:rPr>
              <a:t>/api/v1/research/*</a:t>
            </a:r>
            <a:endParaRPr lang="en-US" sz="1100" dirty="0"/>
          </a:p>
        </p:txBody>
      </p:sp>
      <p:sp>
        <p:nvSpPr>
          <p:cNvPr id="32" name="card-336"/>
          <p:cNvSpPr/>
          <p:nvPr/>
        </p:nvSpPr>
        <p:spPr>
          <a:xfrm>
            <a:off x="7988198" y="2368296"/>
            <a:ext cx="1408176" cy="329184"/>
          </a:xfrm>
          <a:prstGeom prst="roundRect">
            <a:avLst>
              <a:gd name="adj" fmla="val 16667"/>
            </a:avLst>
          </a:prstGeom>
          <a:solidFill>
            <a:schemeClr val="bg1"/>
          </a:solidFill>
          <a:ln/>
        </p:spPr>
      </p:sp>
      <p:sp>
        <p:nvSpPr>
          <p:cNvPr id="33" name="text-337"/>
          <p:cNvSpPr txBox="1"/>
          <p:nvPr/>
        </p:nvSpPr>
        <p:spPr>
          <a:xfrm>
            <a:off x="7988198" y="2368296"/>
            <a:ext cx="1408176" cy="329184"/>
          </a:xfrm>
          <a:prstGeom prst="rect">
            <a:avLst/>
          </a:prstGeom>
          <a:noFill/>
          <a:ln/>
        </p:spPr>
        <p:txBody>
          <a:bodyPr wrap="square" lIns="0" tIns="0" rIns="0" bIns="0" rtlCol="0" anchor="ctr"/>
          <a:lstStyle/>
          <a:p>
            <a:pPr algn="ctr" indent="0" marL="0">
              <a:buNone/>
            </a:pPr>
            <a:r>
              <a:rPr lang="en-US" sz="1100" dirty="0">
                <a:solidFill>
                  <a:schemeClr val="tx1"/>
                </a:solidFill>
                <a:latin typeface="Consolas" pitchFamily="34" charset="0"/>
                <a:ea typeface="Consolas" pitchFamily="34" charset="-122"/>
                <a:cs typeface="Consolas" pitchFamily="34" charset="-120"/>
              </a:rPr>
              <a:t>/api/v1/brief/*</a:t>
            </a:r>
            <a:endParaRPr lang="en-US" sz="1100" dirty="0"/>
          </a:p>
        </p:txBody>
      </p:sp>
      <p:sp>
        <p:nvSpPr>
          <p:cNvPr id="34" name="card-338"/>
          <p:cNvSpPr/>
          <p:nvPr/>
        </p:nvSpPr>
        <p:spPr>
          <a:xfrm>
            <a:off x="9487814" y="2368296"/>
            <a:ext cx="925373" cy="329184"/>
          </a:xfrm>
          <a:prstGeom prst="roundRect">
            <a:avLst>
              <a:gd name="adj" fmla="val 16667"/>
            </a:avLst>
          </a:prstGeom>
          <a:solidFill>
            <a:schemeClr val="bg1"/>
          </a:solidFill>
          <a:ln/>
        </p:spPr>
      </p:sp>
      <p:sp>
        <p:nvSpPr>
          <p:cNvPr id="35" name="text-339"/>
          <p:cNvSpPr txBox="1"/>
          <p:nvPr/>
        </p:nvSpPr>
        <p:spPr>
          <a:xfrm>
            <a:off x="9487814" y="2368296"/>
            <a:ext cx="925373" cy="329184"/>
          </a:xfrm>
          <a:prstGeom prst="rect">
            <a:avLst/>
          </a:prstGeom>
          <a:noFill/>
          <a:ln/>
        </p:spPr>
        <p:txBody>
          <a:bodyPr wrap="square" lIns="0" tIns="0" rIns="0" bIns="0" rtlCol="0" anchor="ctr"/>
          <a:lstStyle/>
          <a:p>
            <a:pPr algn="ctr" indent="0" marL="0">
              <a:buNone/>
            </a:pPr>
            <a:r>
              <a:rPr lang="en-US" sz="1100" dirty="0">
                <a:solidFill>
                  <a:schemeClr val="tx1"/>
                </a:solidFill>
                <a:latin typeface="Consolas" pitchFamily="34" charset="0"/>
                <a:ea typeface="Consolas" pitchFamily="34" charset="-122"/>
                <a:cs typeface="Consolas" pitchFamily="34" charset="-120"/>
              </a:rPr>
              <a:t>/a2a/v1/*</a:t>
            </a:r>
            <a:endParaRPr lang="en-US" sz="1100" dirty="0"/>
          </a:p>
        </p:txBody>
      </p:sp>
      <p:sp>
        <p:nvSpPr>
          <p:cNvPr id="36" name="card-340"/>
          <p:cNvSpPr/>
          <p:nvPr/>
        </p:nvSpPr>
        <p:spPr>
          <a:xfrm>
            <a:off x="548640" y="2898648"/>
            <a:ext cx="2148840" cy="566928"/>
          </a:xfrm>
          <a:prstGeom prst="roundRect">
            <a:avLst>
              <a:gd name="adj" fmla="val 11290"/>
            </a:avLst>
          </a:prstGeom>
          <a:solidFill>
            <a:schemeClr val="tx1"/>
          </a:solidFill>
          <a:ln/>
        </p:spPr>
      </p:sp>
      <p:pic>
        <p:nvPicPr>
          <p:cNvPr id="37" name="icon-341" descr="Workflow icon">    </p:cNvPr>
          <p:cNvPicPr>
            <a:picLocks noChangeAspect="1"/>
          </p:cNvPicPr>
          <p:nvPr/>
        </p:nvPicPr>
        <p:blipFill>
          <a:blip r:embed="rId3"/>
          <a:stretch>
            <a:fillRect/>
          </a:stretch>
        </p:blipFill>
        <p:spPr>
          <a:xfrm>
            <a:off x="685800" y="3054096"/>
            <a:ext cx="256032" cy="256032"/>
          </a:xfrm>
          <a:prstGeom prst="rect">
            <a:avLst/>
          </a:prstGeom>
        </p:spPr>
      </p:pic>
      <p:sp>
        <p:nvSpPr>
          <p:cNvPr id="38" name="text-342"/>
          <p:cNvSpPr txBox="1"/>
          <p:nvPr/>
        </p:nvSpPr>
        <p:spPr>
          <a:xfrm>
            <a:off x="1051560" y="2962656"/>
            <a:ext cx="1600200" cy="237744"/>
          </a:xfrm>
          <a:prstGeom prst="rect">
            <a:avLst/>
          </a:prstGeom>
          <a:noFill/>
          <a:ln/>
        </p:spPr>
        <p:txBody>
          <a:bodyPr wrap="square" lIns="0" tIns="0" rIns="0" bIns="0" rtlCol="0" anchor="t"/>
          <a:lstStyle/>
          <a:p>
            <a:pPr indent="0" marL="0">
              <a:buNone/>
            </a:pPr>
            <a:r>
              <a:rPr lang="en-US" sz="1350" b="1" dirty="0">
                <a:solidFill>
                  <a:schemeClr val="bg1"/>
                </a:solidFill>
              </a:rPr>
              <a:t>Orchestrator</a:t>
            </a:r>
            <a:endParaRPr lang="en-US" sz="1350" dirty="0"/>
          </a:p>
        </p:txBody>
      </p:sp>
      <p:sp>
        <p:nvSpPr>
          <p:cNvPr id="39" name="text-343"/>
          <p:cNvSpPr txBox="1"/>
          <p:nvPr/>
        </p:nvSpPr>
        <p:spPr>
          <a:xfrm>
            <a:off x="1051560" y="3209544"/>
            <a:ext cx="1627632" cy="201168"/>
          </a:xfrm>
          <a:prstGeom prst="rect">
            <a:avLst/>
          </a:prstGeom>
          <a:noFill/>
          <a:ln/>
        </p:spPr>
        <p:txBody>
          <a:bodyPr wrap="square" lIns="0" tIns="0" rIns="0" bIns="0" rtlCol="0" anchor="t"/>
          <a:lstStyle/>
          <a:p>
            <a:pPr indent="0" marL="0">
              <a:buNone/>
            </a:pPr>
            <a:r>
              <a:rPr lang="en-US" sz="950" dirty="0">
                <a:solidFill>
                  <a:schemeClr val="bg1">
                    <a:alpha val="78000"/>
                  </a:schemeClr>
                </a:solidFill>
              </a:rPr>
              <a:t>LangGraph StateGraph</a:t>
            </a:r>
            <a:endParaRPr lang="en-US" sz="950" dirty="0"/>
          </a:p>
        </p:txBody>
      </p:sp>
      <p:sp>
        <p:nvSpPr>
          <p:cNvPr id="40" name="card-344"/>
          <p:cNvSpPr/>
          <p:nvPr/>
        </p:nvSpPr>
        <p:spPr>
          <a:xfrm>
            <a:off x="2788920" y="2898648"/>
            <a:ext cx="8851392" cy="566928"/>
          </a:xfrm>
          <a:prstGeom prst="roundRect">
            <a:avLst>
              <a:gd name="adj" fmla="val 11290"/>
            </a:avLst>
          </a:prstGeom>
          <a:solidFill>
            <a:schemeClr val="bg2"/>
          </a:solidFill>
          <a:ln/>
        </p:spPr>
      </p:sp>
      <p:sp>
        <p:nvSpPr>
          <p:cNvPr id="41" name="card-345"/>
          <p:cNvSpPr/>
          <p:nvPr/>
        </p:nvSpPr>
        <p:spPr>
          <a:xfrm>
            <a:off x="2926080" y="3017520"/>
            <a:ext cx="925373" cy="329184"/>
          </a:xfrm>
          <a:prstGeom prst="roundRect">
            <a:avLst>
              <a:gd name="adj" fmla="val 16667"/>
            </a:avLst>
          </a:prstGeom>
          <a:solidFill>
            <a:schemeClr val="bg1"/>
          </a:solidFill>
          <a:ln/>
        </p:spPr>
      </p:sp>
      <p:sp>
        <p:nvSpPr>
          <p:cNvPr id="42" name="text-346"/>
          <p:cNvSpPr txBox="1"/>
          <p:nvPr/>
        </p:nvSpPr>
        <p:spPr>
          <a:xfrm>
            <a:off x="2926080" y="3017520"/>
            <a:ext cx="925373" cy="329184"/>
          </a:xfrm>
          <a:prstGeom prst="rect">
            <a:avLst/>
          </a:prstGeom>
          <a:noFill/>
          <a:ln/>
        </p:spPr>
        <p:txBody>
          <a:bodyPr wrap="square" lIns="0" tIns="0" rIns="0" bIns="0" rtlCol="0" anchor="ctr"/>
          <a:lstStyle/>
          <a:p>
            <a:pPr algn="ctr" indent="0" marL="0">
              <a:buNone/>
            </a:pPr>
            <a:r>
              <a:rPr lang="en-US" sz="1100" dirty="0">
                <a:solidFill>
                  <a:schemeClr val="tx1"/>
                </a:solidFill>
                <a:latin typeface="Consolas" pitchFamily="34" charset="0"/>
                <a:ea typeface="Consolas" pitchFamily="34" charset="-122"/>
                <a:cs typeface="Consolas" pitchFamily="34" charset="-120"/>
              </a:rPr>
              <a:t>decompose</a:t>
            </a:r>
            <a:endParaRPr lang="en-US" sz="1100" dirty="0"/>
          </a:p>
        </p:txBody>
      </p:sp>
      <p:sp>
        <p:nvSpPr>
          <p:cNvPr id="43" name="link-347"/>
          <p:cNvSpPr/>
          <p:nvPr/>
        </p:nvSpPr>
        <p:spPr>
          <a:xfrm>
            <a:off x="3906317" y="3182112"/>
            <a:ext cx="256032" cy="0"/>
          </a:xfrm>
          <a:prstGeom prst="line">
            <a:avLst/>
          </a:prstGeom>
          <a:noFill/>
          <a:ln w="22225">
            <a:solidFill>
              <a:schemeClr val="accent1"/>
            </a:solidFill>
            <a:prstDash val="solid"/>
            <a:tailEnd type="triangle"/>
          </a:ln>
        </p:spPr>
      </p:sp>
      <p:sp>
        <p:nvSpPr>
          <p:cNvPr id="44" name="card-348"/>
          <p:cNvSpPr/>
          <p:nvPr/>
        </p:nvSpPr>
        <p:spPr>
          <a:xfrm>
            <a:off x="4272077" y="3017520"/>
            <a:ext cx="1810512" cy="329184"/>
          </a:xfrm>
          <a:prstGeom prst="roundRect">
            <a:avLst>
              <a:gd name="adj" fmla="val 16667"/>
            </a:avLst>
          </a:prstGeom>
          <a:solidFill>
            <a:schemeClr val="bg1"/>
          </a:solidFill>
          <a:ln/>
        </p:spPr>
      </p:sp>
      <p:sp>
        <p:nvSpPr>
          <p:cNvPr id="45" name="text-349"/>
          <p:cNvSpPr txBox="1"/>
          <p:nvPr/>
        </p:nvSpPr>
        <p:spPr>
          <a:xfrm>
            <a:off x="4272077" y="3017520"/>
            <a:ext cx="1810512" cy="329184"/>
          </a:xfrm>
          <a:prstGeom prst="rect">
            <a:avLst/>
          </a:prstGeom>
          <a:noFill/>
          <a:ln/>
        </p:spPr>
        <p:txBody>
          <a:bodyPr wrap="square" lIns="0" tIns="0" rIns="0" bIns="0" rtlCol="0" anchor="ctr"/>
          <a:lstStyle/>
          <a:p>
            <a:pPr algn="ctr" indent="0" marL="0">
              <a:buNone/>
            </a:pPr>
            <a:r>
              <a:rPr lang="en-US" sz="1100" dirty="0">
                <a:solidFill>
                  <a:schemeClr val="tx1"/>
                </a:solidFill>
                <a:latin typeface="Consolas" pitchFamily="34" charset="0"/>
                <a:ea typeface="Consolas" pitchFamily="34" charset="-122"/>
                <a:cs typeface="Consolas" pitchFamily="34" charset="-120"/>
              </a:rPr>
              <a:t>parallel_a2a_execute</a:t>
            </a:r>
            <a:endParaRPr lang="en-US" sz="1100" dirty="0"/>
          </a:p>
        </p:txBody>
      </p:sp>
      <p:sp>
        <p:nvSpPr>
          <p:cNvPr id="46" name="link-350"/>
          <p:cNvSpPr/>
          <p:nvPr/>
        </p:nvSpPr>
        <p:spPr>
          <a:xfrm>
            <a:off x="6137453" y="3182112"/>
            <a:ext cx="256032" cy="0"/>
          </a:xfrm>
          <a:prstGeom prst="line">
            <a:avLst/>
          </a:prstGeom>
          <a:noFill/>
          <a:ln w="22225">
            <a:solidFill>
              <a:schemeClr val="accent1"/>
            </a:solidFill>
            <a:prstDash val="solid"/>
            <a:tailEnd type="triangle"/>
          </a:ln>
        </p:spPr>
      </p:sp>
      <p:sp>
        <p:nvSpPr>
          <p:cNvPr id="47" name="card-351"/>
          <p:cNvSpPr/>
          <p:nvPr/>
        </p:nvSpPr>
        <p:spPr>
          <a:xfrm>
            <a:off x="6503213" y="3017520"/>
            <a:ext cx="1810512" cy="329184"/>
          </a:xfrm>
          <a:prstGeom prst="roundRect">
            <a:avLst>
              <a:gd name="adj" fmla="val 16667"/>
            </a:avLst>
          </a:prstGeom>
          <a:solidFill>
            <a:schemeClr val="bg1"/>
          </a:solidFill>
          <a:ln/>
        </p:spPr>
      </p:sp>
      <p:sp>
        <p:nvSpPr>
          <p:cNvPr id="48" name="text-352"/>
          <p:cNvSpPr txBox="1"/>
          <p:nvPr/>
        </p:nvSpPr>
        <p:spPr>
          <a:xfrm>
            <a:off x="6503213" y="3017520"/>
            <a:ext cx="1810512" cy="329184"/>
          </a:xfrm>
          <a:prstGeom prst="rect">
            <a:avLst/>
          </a:prstGeom>
          <a:noFill/>
          <a:ln/>
        </p:spPr>
        <p:txBody>
          <a:bodyPr wrap="square" lIns="0" tIns="0" rIns="0" bIns="0" rtlCol="0" anchor="ctr"/>
          <a:lstStyle/>
          <a:p>
            <a:pPr algn="ctr" indent="0" marL="0">
              <a:buNone/>
            </a:pPr>
            <a:r>
              <a:rPr lang="en-US" sz="1100" dirty="0">
                <a:solidFill>
                  <a:schemeClr val="tx1"/>
                </a:solidFill>
                <a:latin typeface="Consolas" pitchFamily="34" charset="0"/>
                <a:ea typeface="Consolas" pitchFamily="34" charset="-122"/>
                <a:cs typeface="Consolas" pitchFamily="34" charset="-120"/>
              </a:rPr>
              <a:t>kg_causal_enrichment</a:t>
            </a:r>
            <a:endParaRPr lang="en-US" sz="1100" dirty="0"/>
          </a:p>
        </p:txBody>
      </p:sp>
      <p:sp>
        <p:nvSpPr>
          <p:cNvPr id="49" name="link-353"/>
          <p:cNvSpPr/>
          <p:nvPr/>
        </p:nvSpPr>
        <p:spPr>
          <a:xfrm>
            <a:off x="8368589" y="3182112"/>
            <a:ext cx="256032" cy="0"/>
          </a:xfrm>
          <a:prstGeom prst="line">
            <a:avLst/>
          </a:prstGeom>
          <a:noFill/>
          <a:ln w="22225">
            <a:solidFill>
              <a:schemeClr val="accent1"/>
            </a:solidFill>
            <a:prstDash val="solid"/>
            <a:tailEnd type="triangle"/>
          </a:ln>
        </p:spPr>
      </p:sp>
      <p:sp>
        <p:nvSpPr>
          <p:cNvPr id="50" name="card-354"/>
          <p:cNvSpPr/>
          <p:nvPr/>
        </p:nvSpPr>
        <p:spPr>
          <a:xfrm>
            <a:off x="8734349" y="3017520"/>
            <a:ext cx="925373" cy="329184"/>
          </a:xfrm>
          <a:prstGeom prst="roundRect">
            <a:avLst>
              <a:gd name="adj" fmla="val 16667"/>
            </a:avLst>
          </a:prstGeom>
          <a:solidFill>
            <a:schemeClr val="bg1"/>
          </a:solidFill>
          <a:ln/>
        </p:spPr>
      </p:sp>
      <p:sp>
        <p:nvSpPr>
          <p:cNvPr id="51" name="text-355"/>
          <p:cNvSpPr txBox="1"/>
          <p:nvPr/>
        </p:nvSpPr>
        <p:spPr>
          <a:xfrm>
            <a:off x="8734349" y="3017520"/>
            <a:ext cx="925373" cy="329184"/>
          </a:xfrm>
          <a:prstGeom prst="rect">
            <a:avLst/>
          </a:prstGeom>
          <a:noFill/>
          <a:ln/>
        </p:spPr>
        <p:txBody>
          <a:bodyPr wrap="square" lIns="0" tIns="0" rIns="0" bIns="0" rtlCol="0" anchor="ctr"/>
          <a:lstStyle/>
          <a:p>
            <a:pPr algn="ctr" indent="0" marL="0">
              <a:buNone/>
            </a:pPr>
            <a:r>
              <a:rPr lang="en-US" sz="1100" dirty="0">
                <a:solidFill>
                  <a:schemeClr val="tx1"/>
                </a:solidFill>
                <a:latin typeface="Consolas" pitchFamily="34" charset="0"/>
                <a:ea typeface="Consolas" pitchFamily="34" charset="-122"/>
                <a:cs typeface="Consolas" pitchFamily="34" charset="-120"/>
              </a:rPr>
              <a:t>synthesis</a:t>
            </a:r>
            <a:endParaRPr lang="en-US" sz="1100" dirty="0"/>
          </a:p>
        </p:txBody>
      </p:sp>
      <p:sp>
        <p:nvSpPr>
          <p:cNvPr id="52" name="card-356"/>
          <p:cNvSpPr/>
          <p:nvPr/>
        </p:nvSpPr>
        <p:spPr>
          <a:xfrm>
            <a:off x="548640" y="3547872"/>
            <a:ext cx="2148840" cy="566928"/>
          </a:xfrm>
          <a:prstGeom prst="roundRect">
            <a:avLst>
              <a:gd name="adj" fmla="val 11290"/>
            </a:avLst>
          </a:prstGeom>
          <a:solidFill>
            <a:schemeClr val="tx1"/>
          </a:solidFill>
          <a:ln/>
        </p:spPr>
      </p:sp>
      <p:pic>
        <p:nvPicPr>
          <p:cNvPr id="53" name="icon-357" descr="Brain icon">    </p:cNvPr>
          <p:cNvPicPr>
            <a:picLocks noChangeAspect="1"/>
          </p:cNvPicPr>
          <p:nvPr/>
        </p:nvPicPr>
        <p:blipFill>
          <a:blip r:embed="rId4"/>
          <a:stretch>
            <a:fillRect/>
          </a:stretch>
        </p:blipFill>
        <p:spPr>
          <a:xfrm>
            <a:off x="685800" y="3703320"/>
            <a:ext cx="256032" cy="256032"/>
          </a:xfrm>
          <a:prstGeom prst="rect">
            <a:avLst/>
          </a:prstGeom>
        </p:spPr>
      </p:pic>
      <p:sp>
        <p:nvSpPr>
          <p:cNvPr id="54" name="text-358"/>
          <p:cNvSpPr txBox="1"/>
          <p:nvPr/>
        </p:nvSpPr>
        <p:spPr>
          <a:xfrm>
            <a:off x="1051560" y="3611880"/>
            <a:ext cx="1600200" cy="237744"/>
          </a:xfrm>
          <a:prstGeom prst="rect">
            <a:avLst/>
          </a:prstGeom>
          <a:noFill/>
          <a:ln/>
        </p:spPr>
        <p:txBody>
          <a:bodyPr wrap="square" lIns="0" tIns="0" rIns="0" bIns="0" rtlCol="0" anchor="t"/>
          <a:lstStyle/>
          <a:p>
            <a:pPr indent="0" marL="0">
              <a:buNone/>
            </a:pPr>
            <a:r>
              <a:rPr lang="en-US" sz="1350" b="1" dirty="0">
                <a:solidFill>
                  <a:schemeClr val="bg1"/>
                </a:solidFill>
              </a:rPr>
              <a:t>Causal intelligence</a:t>
            </a:r>
            <a:endParaRPr lang="en-US" sz="1350" dirty="0"/>
          </a:p>
        </p:txBody>
      </p:sp>
      <p:sp>
        <p:nvSpPr>
          <p:cNvPr id="55" name="text-359"/>
          <p:cNvSpPr txBox="1"/>
          <p:nvPr/>
        </p:nvSpPr>
        <p:spPr>
          <a:xfrm>
            <a:off x="1051560" y="3858768"/>
            <a:ext cx="1627632" cy="201168"/>
          </a:xfrm>
          <a:prstGeom prst="rect">
            <a:avLst/>
          </a:prstGeom>
          <a:noFill/>
          <a:ln/>
        </p:spPr>
        <p:txBody>
          <a:bodyPr wrap="square" lIns="0" tIns="0" rIns="0" bIns="0" rtlCol="0" anchor="t"/>
          <a:lstStyle/>
          <a:p>
            <a:pPr indent="0" marL="0">
              <a:buNone/>
            </a:pPr>
            <a:r>
              <a:rPr lang="en-US" sz="950" dirty="0">
                <a:solidFill>
                  <a:schemeClr val="bg1">
                    <a:alpha val="78000"/>
                  </a:schemeClr>
                </a:solidFill>
              </a:rPr>
              <a:t>NetworkX · statsmodels</a:t>
            </a:r>
            <a:endParaRPr lang="en-US" sz="950" dirty="0"/>
          </a:p>
        </p:txBody>
      </p:sp>
      <p:sp>
        <p:nvSpPr>
          <p:cNvPr id="56" name="card-360"/>
          <p:cNvSpPr/>
          <p:nvPr/>
        </p:nvSpPr>
        <p:spPr>
          <a:xfrm>
            <a:off x="2788920" y="3547872"/>
            <a:ext cx="8851392" cy="566928"/>
          </a:xfrm>
          <a:prstGeom prst="roundRect">
            <a:avLst>
              <a:gd name="adj" fmla="val 11290"/>
            </a:avLst>
          </a:prstGeom>
          <a:solidFill>
            <a:schemeClr val="bg2"/>
          </a:solidFill>
          <a:ln/>
        </p:spPr>
      </p:sp>
      <p:sp>
        <p:nvSpPr>
          <p:cNvPr id="57" name="card-361"/>
          <p:cNvSpPr/>
          <p:nvPr/>
        </p:nvSpPr>
        <p:spPr>
          <a:xfrm>
            <a:off x="2926080" y="3666744"/>
            <a:ext cx="2075688" cy="329184"/>
          </a:xfrm>
          <a:prstGeom prst="roundRect">
            <a:avLst>
              <a:gd name="adj" fmla="val 16667"/>
            </a:avLst>
          </a:prstGeom>
          <a:solidFill>
            <a:schemeClr val="bg1"/>
          </a:solidFill>
          <a:ln/>
        </p:spPr>
      </p:sp>
      <p:sp>
        <p:nvSpPr>
          <p:cNvPr id="58" name="text-362"/>
          <p:cNvSpPr txBox="1"/>
          <p:nvPr/>
        </p:nvSpPr>
        <p:spPr>
          <a:xfrm>
            <a:off x="2926080" y="3666744"/>
            <a:ext cx="2075688" cy="329184"/>
          </a:xfrm>
          <a:prstGeom prst="rect">
            <a:avLst/>
          </a:prstGeom>
          <a:noFill/>
          <a:ln/>
        </p:spPr>
        <p:txBody>
          <a:bodyPr wrap="square" lIns="0" tIns="0" rIns="0" bIns="0" rtlCol="0" anchor="ctr"/>
          <a:lstStyle/>
          <a:p>
            <a:pPr algn="ctr" indent="0" marL="0">
              <a:buNone/>
            </a:pPr>
            <a:r>
              <a:rPr lang="en-US" sz="1150" dirty="0">
                <a:solidFill>
                  <a:schemeClr val="tx1"/>
                </a:solidFill>
              </a:rPr>
              <a:t>Knowledge graph (20 × 12)</a:t>
            </a:r>
            <a:endParaRPr lang="en-US" sz="1150" dirty="0"/>
          </a:p>
        </p:txBody>
      </p:sp>
      <p:sp>
        <p:nvSpPr>
          <p:cNvPr id="59" name="card-363"/>
          <p:cNvSpPr/>
          <p:nvPr/>
        </p:nvSpPr>
        <p:spPr>
          <a:xfrm>
            <a:off x="5093208" y="3666744"/>
            <a:ext cx="1325880" cy="329184"/>
          </a:xfrm>
          <a:prstGeom prst="roundRect">
            <a:avLst>
              <a:gd name="adj" fmla="val 16667"/>
            </a:avLst>
          </a:prstGeom>
          <a:solidFill>
            <a:schemeClr val="bg1"/>
          </a:solidFill>
          <a:ln/>
        </p:spPr>
      </p:sp>
      <p:sp>
        <p:nvSpPr>
          <p:cNvPr id="60" name="text-364"/>
          <p:cNvSpPr txBox="1"/>
          <p:nvPr/>
        </p:nvSpPr>
        <p:spPr>
          <a:xfrm>
            <a:off x="5093208" y="3666744"/>
            <a:ext cx="1325880" cy="329184"/>
          </a:xfrm>
          <a:prstGeom prst="rect">
            <a:avLst/>
          </a:prstGeom>
          <a:noFill/>
          <a:ln/>
        </p:spPr>
        <p:txBody>
          <a:bodyPr wrap="square" lIns="0" tIns="0" rIns="0" bIns="0" rtlCol="0" anchor="ctr"/>
          <a:lstStyle/>
          <a:p>
            <a:pPr algn="ctr" indent="0" marL="0">
              <a:buNone/>
            </a:pPr>
            <a:r>
              <a:rPr lang="en-US" sz="1150" dirty="0">
                <a:solidFill>
                  <a:schemeClr val="tx1"/>
                </a:solidFill>
              </a:rPr>
              <a:t>Scenario engine</a:t>
            </a:r>
            <a:endParaRPr lang="en-US" sz="1150" dirty="0"/>
          </a:p>
        </p:txBody>
      </p:sp>
      <p:sp>
        <p:nvSpPr>
          <p:cNvPr id="61" name="card-365"/>
          <p:cNvSpPr/>
          <p:nvPr/>
        </p:nvSpPr>
        <p:spPr>
          <a:xfrm>
            <a:off x="6510528" y="3666744"/>
            <a:ext cx="1100938" cy="329184"/>
          </a:xfrm>
          <a:prstGeom prst="roundRect">
            <a:avLst>
              <a:gd name="adj" fmla="val 16667"/>
            </a:avLst>
          </a:prstGeom>
          <a:solidFill>
            <a:schemeClr val="bg1"/>
          </a:solidFill>
          <a:ln/>
        </p:spPr>
      </p:sp>
      <p:sp>
        <p:nvSpPr>
          <p:cNvPr id="62" name="text-366"/>
          <p:cNvSpPr txBox="1"/>
          <p:nvPr/>
        </p:nvSpPr>
        <p:spPr>
          <a:xfrm>
            <a:off x="6510528" y="3666744"/>
            <a:ext cx="1100938" cy="329184"/>
          </a:xfrm>
          <a:prstGeom prst="rect">
            <a:avLst/>
          </a:prstGeom>
          <a:noFill/>
          <a:ln/>
        </p:spPr>
        <p:txBody>
          <a:bodyPr wrap="square" lIns="0" tIns="0" rIns="0" bIns="0" rtlCol="0" anchor="ctr"/>
          <a:lstStyle/>
          <a:p>
            <a:pPr algn="ctr" indent="0" marL="0">
              <a:buNone/>
            </a:pPr>
            <a:r>
              <a:rPr lang="en-US" sz="1150" dirty="0">
                <a:solidFill>
                  <a:schemeClr val="tx1"/>
                </a:solidFill>
              </a:rPr>
              <a:t>Research lab</a:t>
            </a:r>
            <a:endParaRPr lang="en-US" sz="1150" dirty="0"/>
          </a:p>
        </p:txBody>
      </p:sp>
      <p:sp>
        <p:nvSpPr>
          <p:cNvPr id="63" name="card-367"/>
          <p:cNvSpPr/>
          <p:nvPr/>
        </p:nvSpPr>
        <p:spPr>
          <a:xfrm>
            <a:off x="7702906" y="3666744"/>
            <a:ext cx="1025957" cy="329184"/>
          </a:xfrm>
          <a:prstGeom prst="roundRect">
            <a:avLst>
              <a:gd name="adj" fmla="val 16667"/>
            </a:avLst>
          </a:prstGeom>
          <a:solidFill>
            <a:schemeClr val="bg1"/>
          </a:solidFill>
          <a:ln/>
        </p:spPr>
      </p:sp>
      <p:sp>
        <p:nvSpPr>
          <p:cNvPr id="64" name="text-368"/>
          <p:cNvSpPr txBox="1"/>
          <p:nvPr/>
        </p:nvSpPr>
        <p:spPr>
          <a:xfrm>
            <a:off x="7702906" y="3666744"/>
            <a:ext cx="1025957" cy="329184"/>
          </a:xfrm>
          <a:prstGeom prst="rect">
            <a:avLst/>
          </a:prstGeom>
          <a:noFill/>
          <a:ln/>
        </p:spPr>
        <p:txBody>
          <a:bodyPr wrap="square" lIns="0" tIns="0" rIns="0" bIns="0" rtlCol="0" anchor="ctr"/>
          <a:lstStyle/>
          <a:p>
            <a:pPr algn="ctr" indent="0" marL="0">
              <a:buNone/>
            </a:pPr>
            <a:r>
              <a:rPr lang="en-US" sz="1150" dirty="0">
                <a:solidFill>
                  <a:schemeClr val="tx1"/>
                </a:solidFill>
              </a:rPr>
              <a:t>Daily brief</a:t>
            </a:r>
            <a:endParaRPr lang="en-US" sz="1150" dirty="0"/>
          </a:p>
        </p:txBody>
      </p:sp>
      <p:sp>
        <p:nvSpPr>
          <p:cNvPr id="65" name="card-369"/>
          <p:cNvSpPr/>
          <p:nvPr/>
        </p:nvSpPr>
        <p:spPr>
          <a:xfrm>
            <a:off x="8820302" y="3666744"/>
            <a:ext cx="1250899" cy="329184"/>
          </a:xfrm>
          <a:prstGeom prst="roundRect">
            <a:avLst>
              <a:gd name="adj" fmla="val 16667"/>
            </a:avLst>
          </a:prstGeom>
          <a:solidFill>
            <a:schemeClr val="bg1"/>
          </a:solidFill>
          <a:ln/>
        </p:spPr>
      </p:sp>
      <p:sp>
        <p:nvSpPr>
          <p:cNvPr id="66" name="text-370"/>
          <p:cNvSpPr txBox="1"/>
          <p:nvPr/>
        </p:nvSpPr>
        <p:spPr>
          <a:xfrm>
            <a:off x="8820302" y="3666744"/>
            <a:ext cx="1250899" cy="329184"/>
          </a:xfrm>
          <a:prstGeom prst="rect">
            <a:avLst/>
          </a:prstGeom>
          <a:noFill/>
          <a:ln/>
        </p:spPr>
        <p:txBody>
          <a:bodyPr wrap="square" lIns="0" tIns="0" rIns="0" bIns="0" rtlCol="0" anchor="ctr"/>
          <a:lstStyle/>
          <a:p>
            <a:pPr algn="ctr" indent="0" marL="0">
              <a:buNone/>
            </a:pPr>
            <a:r>
              <a:rPr lang="en-US" sz="1150" dirty="0">
                <a:solidFill>
                  <a:schemeClr val="tx1"/>
                </a:solidFill>
              </a:rPr>
              <a:t>Claim verifier</a:t>
            </a:r>
            <a:endParaRPr lang="en-US" sz="1150" dirty="0"/>
          </a:p>
        </p:txBody>
      </p:sp>
      <p:sp>
        <p:nvSpPr>
          <p:cNvPr id="67" name="card-371"/>
          <p:cNvSpPr/>
          <p:nvPr/>
        </p:nvSpPr>
        <p:spPr>
          <a:xfrm>
            <a:off x="548640" y="4197096"/>
            <a:ext cx="2148840" cy="566928"/>
          </a:xfrm>
          <a:prstGeom prst="roundRect">
            <a:avLst>
              <a:gd name="adj" fmla="val 11290"/>
            </a:avLst>
          </a:prstGeom>
          <a:solidFill>
            <a:schemeClr val="accent1"/>
          </a:solidFill>
          <a:ln/>
        </p:spPr>
      </p:sp>
      <p:pic>
        <p:nvPicPr>
          <p:cNvPr id="68" name="icon-372" descr="MessagesSquare icon">    </p:cNvPr>
          <p:cNvPicPr>
            <a:picLocks noChangeAspect="1"/>
          </p:cNvPicPr>
          <p:nvPr/>
        </p:nvPicPr>
        <p:blipFill>
          <a:blip r:embed="rId5"/>
          <a:stretch>
            <a:fillRect/>
          </a:stretch>
        </p:blipFill>
        <p:spPr>
          <a:xfrm>
            <a:off x="685800" y="4352544"/>
            <a:ext cx="256032" cy="256032"/>
          </a:xfrm>
          <a:prstGeom prst="rect">
            <a:avLst/>
          </a:prstGeom>
        </p:spPr>
      </p:pic>
      <p:sp>
        <p:nvSpPr>
          <p:cNvPr id="69" name="text-373"/>
          <p:cNvSpPr txBox="1"/>
          <p:nvPr/>
        </p:nvSpPr>
        <p:spPr>
          <a:xfrm>
            <a:off x="1051560" y="4261104"/>
            <a:ext cx="1600200" cy="237744"/>
          </a:xfrm>
          <a:prstGeom prst="rect">
            <a:avLst/>
          </a:prstGeom>
          <a:noFill/>
          <a:ln/>
        </p:spPr>
        <p:txBody>
          <a:bodyPr wrap="square" lIns="0" tIns="0" rIns="0" bIns="0" rtlCol="0" anchor="t"/>
          <a:lstStyle/>
          <a:p>
            <a:pPr indent="0" marL="0">
              <a:buNone/>
            </a:pPr>
            <a:r>
              <a:rPr lang="en-US" sz="1350" b="1" dirty="0">
                <a:solidFill>
                  <a:schemeClr val="bg1"/>
                </a:solidFill>
              </a:rPr>
              <a:t>A2A protocol</a:t>
            </a:r>
            <a:endParaRPr lang="en-US" sz="1350" dirty="0"/>
          </a:p>
        </p:txBody>
      </p:sp>
      <p:sp>
        <p:nvSpPr>
          <p:cNvPr id="70" name="text-374"/>
          <p:cNvSpPr txBox="1"/>
          <p:nvPr/>
        </p:nvSpPr>
        <p:spPr>
          <a:xfrm>
            <a:off x="1051560" y="4507992"/>
            <a:ext cx="1627632" cy="201168"/>
          </a:xfrm>
          <a:prstGeom prst="rect">
            <a:avLst/>
          </a:prstGeom>
          <a:noFill/>
          <a:ln/>
        </p:spPr>
        <p:txBody>
          <a:bodyPr wrap="square" lIns="0" tIns="0" rIns="0" bIns="0" rtlCol="0" anchor="t"/>
          <a:lstStyle/>
          <a:p>
            <a:pPr indent="0" marL="0">
              <a:buNone/>
            </a:pPr>
            <a:r>
              <a:rPr lang="en-US" sz="950" dirty="0">
                <a:solidFill>
                  <a:schemeClr val="bg1">
                    <a:alpha val="78000"/>
                  </a:schemeClr>
                </a:solidFill>
              </a:rPr>
              <a:t>agent ↔ agent · reasoning only</a:t>
            </a:r>
            <a:endParaRPr lang="en-US" sz="950" dirty="0"/>
          </a:p>
        </p:txBody>
      </p:sp>
      <p:sp>
        <p:nvSpPr>
          <p:cNvPr id="71" name="card-375"/>
          <p:cNvSpPr/>
          <p:nvPr/>
        </p:nvSpPr>
        <p:spPr>
          <a:xfrm>
            <a:off x="2788920" y="4197096"/>
            <a:ext cx="8851392" cy="566928"/>
          </a:xfrm>
          <a:prstGeom prst="roundRect">
            <a:avLst>
              <a:gd name="adj" fmla="val 11290"/>
            </a:avLst>
          </a:prstGeom>
          <a:solidFill>
            <a:schemeClr val="bg2"/>
          </a:solidFill>
          <a:ln/>
        </p:spPr>
      </p:sp>
      <p:sp>
        <p:nvSpPr>
          <p:cNvPr id="72" name="card-376"/>
          <p:cNvSpPr/>
          <p:nvPr/>
        </p:nvSpPr>
        <p:spPr>
          <a:xfrm>
            <a:off x="2926080" y="4315968"/>
            <a:ext cx="1025957" cy="329184"/>
          </a:xfrm>
          <a:prstGeom prst="roundRect">
            <a:avLst>
              <a:gd name="adj" fmla="val 16667"/>
            </a:avLst>
          </a:prstGeom>
          <a:solidFill>
            <a:schemeClr val="bg1"/>
          </a:solidFill>
          <a:ln/>
        </p:spPr>
      </p:sp>
      <p:sp>
        <p:nvSpPr>
          <p:cNvPr id="73" name="text-377"/>
          <p:cNvSpPr txBox="1"/>
          <p:nvPr/>
        </p:nvSpPr>
        <p:spPr>
          <a:xfrm>
            <a:off x="2926080" y="4315968"/>
            <a:ext cx="1025957" cy="329184"/>
          </a:xfrm>
          <a:prstGeom prst="rect">
            <a:avLst/>
          </a:prstGeom>
          <a:noFill/>
          <a:ln/>
        </p:spPr>
        <p:txBody>
          <a:bodyPr wrap="square" lIns="0" tIns="0" rIns="0" bIns="0" rtlCol="0" anchor="ctr"/>
          <a:lstStyle/>
          <a:p>
            <a:pPr algn="ctr" indent="0" marL="0">
              <a:buNone/>
            </a:pPr>
            <a:r>
              <a:rPr lang="en-US" sz="1150" dirty="0">
                <a:solidFill>
                  <a:schemeClr val="tx1"/>
                </a:solidFill>
              </a:rPr>
              <a:t>Agent Cards</a:t>
            </a:r>
            <a:endParaRPr lang="en-US" sz="1150" dirty="0"/>
          </a:p>
        </p:txBody>
      </p:sp>
      <p:sp>
        <p:nvSpPr>
          <p:cNvPr id="74" name="card-378"/>
          <p:cNvSpPr/>
          <p:nvPr/>
        </p:nvSpPr>
        <p:spPr>
          <a:xfrm>
            <a:off x="4043477" y="4315968"/>
            <a:ext cx="1475842" cy="329184"/>
          </a:xfrm>
          <a:prstGeom prst="roundRect">
            <a:avLst>
              <a:gd name="adj" fmla="val 16667"/>
            </a:avLst>
          </a:prstGeom>
          <a:solidFill>
            <a:schemeClr val="bg1"/>
          </a:solidFill>
          <a:ln/>
        </p:spPr>
      </p:sp>
      <p:sp>
        <p:nvSpPr>
          <p:cNvPr id="75" name="text-379"/>
          <p:cNvSpPr txBox="1"/>
          <p:nvPr/>
        </p:nvSpPr>
        <p:spPr>
          <a:xfrm>
            <a:off x="4043477" y="4315968"/>
            <a:ext cx="1475842" cy="329184"/>
          </a:xfrm>
          <a:prstGeom prst="rect">
            <a:avLst/>
          </a:prstGeom>
          <a:noFill/>
          <a:ln/>
        </p:spPr>
        <p:txBody>
          <a:bodyPr wrap="square" lIns="0" tIns="0" rIns="0" bIns="0" rtlCol="0" anchor="ctr"/>
          <a:lstStyle/>
          <a:p>
            <a:pPr algn="ctr" indent="0" marL="0">
              <a:buNone/>
            </a:pPr>
            <a:r>
              <a:rPr lang="en-US" sz="1150" dirty="0">
                <a:solidFill>
                  <a:schemeClr val="tx1"/>
                </a:solidFill>
              </a:rPr>
              <a:t>Capability router</a:t>
            </a:r>
            <a:endParaRPr lang="en-US" sz="1150" dirty="0"/>
          </a:p>
        </p:txBody>
      </p:sp>
      <p:sp>
        <p:nvSpPr>
          <p:cNvPr id="76" name="card-380"/>
          <p:cNvSpPr/>
          <p:nvPr/>
        </p:nvSpPr>
        <p:spPr>
          <a:xfrm>
            <a:off x="5610758" y="4315968"/>
            <a:ext cx="1325880" cy="329184"/>
          </a:xfrm>
          <a:prstGeom prst="roundRect">
            <a:avLst>
              <a:gd name="adj" fmla="val 16667"/>
            </a:avLst>
          </a:prstGeom>
          <a:solidFill>
            <a:schemeClr val="bg1"/>
          </a:solidFill>
          <a:ln/>
        </p:spPr>
      </p:sp>
      <p:sp>
        <p:nvSpPr>
          <p:cNvPr id="77" name="text-381"/>
          <p:cNvSpPr txBox="1"/>
          <p:nvPr/>
        </p:nvSpPr>
        <p:spPr>
          <a:xfrm>
            <a:off x="5610758" y="4315968"/>
            <a:ext cx="1325880" cy="329184"/>
          </a:xfrm>
          <a:prstGeom prst="rect">
            <a:avLst/>
          </a:prstGeom>
          <a:noFill/>
          <a:ln/>
        </p:spPr>
        <p:txBody>
          <a:bodyPr wrap="square" lIns="0" tIns="0" rIns="0" bIns="0" rtlCol="0" anchor="ctr"/>
          <a:lstStyle/>
          <a:p>
            <a:pPr algn="ctr" indent="0" marL="0">
              <a:buNone/>
            </a:pPr>
            <a:r>
              <a:rPr lang="en-US" sz="1150" dirty="0">
                <a:solidFill>
                  <a:schemeClr val="tx1"/>
                </a:solidFill>
              </a:rPr>
              <a:t>6 server checks</a:t>
            </a:r>
            <a:endParaRPr lang="en-US" sz="1150" dirty="0"/>
          </a:p>
        </p:txBody>
      </p:sp>
      <p:sp>
        <p:nvSpPr>
          <p:cNvPr id="78" name="card-382"/>
          <p:cNvSpPr/>
          <p:nvPr/>
        </p:nvSpPr>
        <p:spPr>
          <a:xfrm>
            <a:off x="7028078" y="4315968"/>
            <a:ext cx="1775765" cy="329184"/>
          </a:xfrm>
          <a:prstGeom prst="roundRect">
            <a:avLst>
              <a:gd name="adj" fmla="val 16667"/>
            </a:avLst>
          </a:prstGeom>
          <a:solidFill>
            <a:schemeClr val="bg1"/>
          </a:solidFill>
          <a:ln/>
        </p:spPr>
      </p:sp>
      <p:sp>
        <p:nvSpPr>
          <p:cNvPr id="79" name="text-383"/>
          <p:cNvSpPr txBox="1"/>
          <p:nvPr/>
        </p:nvSpPr>
        <p:spPr>
          <a:xfrm>
            <a:off x="7028078" y="4315968"/>
            <a:ext cx="1775765" cy="329184"/>
          </a:xfrm>
          <a:prstGeom prst="rect">
            <a:avLst/>
          </a:prstGeom>
          <a:noFill/>
          <a:ln/>
        </p:spPr>
        <p:txBody>
          <a:bodyPr wrap="square" lIns="0" tIns="0" rIns="0" bIns="0" rtlCol="0" anchor="ctr"/>
          <a:lstStyle/>
          <a:p>
            <a:pPr algn="ctr" indent="0" marL="0">
              <a:buNone/>
            </a:pPr>
            <a:r>
              <a:rPr lang="en-US" sz="1150" dirty="0">
                <a:solidFill>
                  <a:schemeClr val="tx1"/>
                </a:solidFill>
              </a:rPr>
              <a:t>7 declared peer edges</a:t>
            </a:r>
            <a:endParaRPr lang="en-US" sz="1150" dirty="0"/>
          </a:p>
        </p:txBody>
      </p:sp>
      <p:sp>
        <p:nvSpPr>
          <p:cNvPr id="80" name="card-384"/>
          <p:cNvSpPr/>
          <p:nvPr/>
        </p:nvSpPr>
        <p:spPr>
          <a:xfrm>
            <a:off x="8895283" y="4315968"/>
            <a:ext cx="1025957" cy="329184"/>
          </a:xfrm>
          <a:prstGeom prst="roundRect">
            <a:avLst>
              <a:gd name="adj" fmla="val 16667"/>
            </a:avLst>
          </a:prstGeom>
          <a:solidFill>
            <a:schemeClr val="bg1"/>
          </a:solidFill>
          <a:ln/>
        </p:spPr>
      </p:sp>
      <p:sp>
        <p:nvSpPr>
          <p:cNvPr id="81" name="text-385"/>
          <p:cNvSpPr txBox="1"/>
          <p:nvPr/>
        </p:nvSpPr>
        <p:spPr>
          <a:xfrm>
            <a:off x="8895283" y="4315968"/>
            <a:ext cx="1025957" cy="329184"/>
          </a:xfrm>
          <a:prstGeom prst="rect">
            <a:avLst/>
          </a:prstGeom>
          <a:noFill/>
          <a:ln/>
        </p:spPr>
        <p:txBody>
          <a:bodyPr wrap="square" lIns="0" tIns="0" rIns="0" bIns="0" rtlCol="0" anchor="ctr"/>
          <a:lstStyle/>
          <a:p>
            <a:pPr algn="ctr" indent="0" marL="0">
              <a:buNone/>
            </a:pPr>
            <a:r>
              <a:rPr lang="en-US" sz="1150" dirty="0">
                <a:solidFill>
                  <a:schemeClr val="tx1"/>
                </a:solidFill>
              </a:rPr>
              <a:t>Trace store</a:t>
            </a:r>
            <a:endParaRPr lang="en-US" sz="1150" dirty="0"/>
          </a:p>
        </p:txBody>
      </p:sp>
      <p:sp>
        <p:nvSpPr>
          <p:cNvPr id="82" name="card-386"/>
          <p:cNvSpPr/>
          <p:nvPr/>
        </p:nvSpPr>
        <p:spPr>
          <a:xfrm>
            <a:off x="548640" y="4846320"/>
            <a:ext cx="2148840" cy="566928"/>
          </a:xfrm>
          <a:prstGeom prst="roundRect">
            <a:avLst>
              <a:gd name="adj" fmla="val 11290"/>
            </a:avLst>
          </a:prstGeom>
          <a:solidFill>
            <a:schemeClr val="tx1"/>
          </a:solidFill>
          <a:ln/>
        </p:spPr>
      </p:sp>
      <p:pic>
        <p:nvPicPr>
          <p:cNvPr id="83" name="icon-387" descr="Bot icon">    </p:cNvPr>
          <p:cNvPicPr>
            <a:picLocks noChangeAspect="1"/>
          </p:cNvPicPr>
          <p:nvPr/>
        </p:nvPicPr>
        <p:blipFill>
          <a:blip r:embed="rId6"/>
          <a:stretch>
            <a:fillRect/>
          </a:stretch>
        </p:blipFill>
        <p:spPr>
          <a:xfrm>
            <a:off x="685800" y="5001768"/>
            <a:ext cx="256032" cy="256032"/>
          </a:xfrm>
          <a:prstGeom prst="rect">
            <a:avLst/>
          </a:prstGeom>
        </p:spPr>
      </p:pic>
      <p:sp>
        <p:nvSpPr>
          <p:cNvPr id="84" name="text-388"/>
          <p:cNvSpPr txBox="1"/>
          <p:nvPr/>
        </p:nvSpPr>
        <p:spPr>
          <a:xfrm>
            <a:off x="1051560" y="4910328"/>
            <a:ext cx="1600200" cy="237744"/>
          </a:xfrm>
          <a:prstGeom prst="rect">
            <a:avLst/>
          </a:prstGeom>
          <a:noFill/>
          <a:ln/>
        </p:spPr>
        <p:txBody>
          <a:bodyPr wrap="square" lIns="0" tIns="0" rIns="0" bIns="0" rtlCol="0" anchor="t"/>
          <a:lstStyle/>
          <a:p>
            <a:pPr indent="0" marL="0">
              <a:buNone/>
            </a:pPr>
            <a:r>
              <a:rPr lang="en-US" sz="1350" b="1" dirty="0">
                <a:solidFill>
                  <a:schemeClr val="bg1"/>
                </a:solidFill>
              </a:rPr>
              <a:t>Sector agents</a:t>
            </a:r>
            <a:endParaRPr lang="en-US" sz="1350" dirty="0"/>
          </a:p>
        </p:txBody>
      </p:sp>
      <p:sp>
        <p:nvSpPr>
          <p:cNvPr id="85" name="text-389"/>
          <p:cNvSpPr txBox="1"/>
          <p:nvPr/>
        </p:nvSpPr>
        <p:spPr>
          <a:xfrm>
            <a:off x="1051560" y="5157216"/>
            <a:ext cx="1627632" cy="201168"/>
          </a:xfrm>
          <a:prstGeom prst="rect">
            <a:avLst/>
          </a:prstGeom>
          <a:noFill/>
          <a:ln/>
        </p:spPr>
        <p:txBody>
          <a:bodyPr wrap="square" lIns="0" tIns="0" rIns="0" bIns="0" rtlCol="0" anchor="t"/>
          <a:lstStyle/>
          <a:p>
            <a:pPr indent="0" marL="0">
              <a:buNone/>
            </a:pPr>
            <a:r>
              <a:rPr lang="en-US" sz="950" dirty="0">
                <a:solidFill>
                  <a:schemeClr val="bg1">
                    <a:alpha val="78000"/>
                  </a:schemeClr>
                </a:solidFill>
              </a:rPr>
              <a:t>10 packages · one owner each</a:t>
            </a:r>
            <a:endParaRPr lang="en-US" sz="950" dirty="0"/>
          </a:p>
        </p:txBody>
      </p:sp>
      <p:sp>
        <p:nvSpPr>
          <p:cNvPr id="86" name="card-390"/>
          <p:cNvSpPr/>
          <p:nvPr/>
        </p:nvSpPr>
        <p:spPr>
          <a:xfrm>
            <a:off x="2788920" y="4846320"/>
            <a:ext cx="8851392" cy="566928"/>
          </a:xfrm>
          <a:prstGeom prst="roundRect">
            <a:avLst>
              <a:gd name="adj" fmla="val 11290"/>
            </a:avLst>
          </a:prstGeom>
          <a:solidFill>
            <a:schemeClr val="bg2"/>
          </a:solidFill>
          <a:ln/>
        </p:spPr>
      </p:sp>
      <p:sp>
        <p:nvSpPr>
          <p:cNvPr id="87" name="card-391"/>
          <p:cNvSpPr/>
          <p:nvPr/>
        </p:nvSpPr>
        <p:spPr>
          <a:xfrm>
            <a:off x="2926080" y="4965192"/>
            <a:ext cx="449885" cy="329184"/>
          </a:xfrm>
          <a:prstGeom prst="roundRect">
            <a:avLst>
              <a:gd name="adj" fmla="val 16667"/>
            </a:avLst>
          </a:prstGeom>
          <a:solidFill>
            <a:schemeClr val="bg1"/>
          </a:solidFill>
          <a:ln/>
        </p:spPr>
      </p:sp>
      <p:sp>
        <p:nvSpPr>
          <p:cNvPr id="88" name="text-392"/>
          <p:cNvSpPr txBox="1"/>
          <p:nvPr/>
        </p:nvSpPr>
        <p:spPr>
          <a:xfrm>
            <a:off x="2926080" y="4965192"/>
            <a:ext cx="449885" cy="329184"/>
          </a:xfrm>
          <a:prstGeom prst="rect">
            <a:avLst/>
          </a:prstGeom>
          <a:noFill/>
          <a:ln/>
        </p:spPr>
        <p:txBody>
          <a:bodyPr wrap="square" lIns="0" tIns="0" rIns="0" bIns="0" rtlCol="0" anchor="ctr"/>
          <a:lstStyle/>
          <a:p>
            <a:pPr algn="ctr" indent="0" marL="0">
              <a:buNone/>
            </a:pPr>
            <a:r>
              <a:rPr lang="en-US" sz="1100" dirty="0">
                <a:solidFill>
                  <a:schemeClr val="tx1"/>
                </a:solidFill>
              </a:rPr>
              <a:t>Real</a:t>
            </a:r>
            <a:endParaRPr lang="en-US" sz="1100" dirty="0"/>
          </a:p>
        </p:txBody>
      </p:sp>
      <p:sp>
        <p:nvSpPr>
          <p:cNvPr id="89" name="card-393"/>
          <p:cNvSpPr/>
          <p:nvPr/>
        </p:nvSpPr>
        <p:spPr>
          <a:xfrm>
            <a:off x="3449117" y="4965192"/>
            <a:ext cx="949147" cy="329184"/>
          </a:xfrm>
          <a:prstGeom prst="roundRect">
            <a:avLst>
              <a:gd name="adj" fmla="val 16667"/>
            </a:avLst>
          </a:prstGeom>
          <a:solidFill>
            <a:schemeClr val="bg1"/>
          </a:solidFill>
          <a:ln/>
        </p:spPr>
      </p:sp>
      <p:sp>
        <p:nvSpPr>
          <p:cNvPr id="90" name="text-394"/>
          <p:cNvSpPr txBox="1"/>
          <p:nvPr/>
        </p:nvSpPr>
        <p:spPr>
          <a:xfrm>
            <a:off x="3449117" y="4965192"/>
            <a:ext cx="949147" cy="329184"/>
          </a:xfrm>
          <a:prstGeom prst="rect">
            <a:avLst/>
          </a:prstGeom>
          <a:noFill/>
          <a:ln/>
        </p:spPr>
        <p:txBody>
          <a:bodyPr wrap="square" lIns="0" tIns="0" rIns="0" bIns="0" rtlCol="0" anchor="ctr"/>
          <a:lstStyle/>
          <a:p>
            <a:pPr algn="ctr" indent="0" marL="0">
              <a:buNone/>
            </a:pPr>
            <a:r>
              <a:rPr lang="en-US" sz="1100" dirty="0">
                <a:solidFill>
                  <a:schemeClr val="tx1"/>
                </a:solidFill>
              </a:rPr>
              <a:t>Agriculture</a:t>
            </a:r>
            <a:endParaRPr lang="en-US" sz="1100" dirty="0"/>
          </a:p>
        </p:txBody>
      </p:sp>
      <p:sp>
        <p:nvSpPr>
          <p:cNvPr id="91" name="card-395"/>
          <p:cNvSpPr/>
          <p:nvPr/>
        </p:nvSpPr>
        <p:spPr>
          <a:xfrm>
            <a:off x="4471416" y="4965192"/>
            <a:ext cx="592531" cy="329184"/>
          </a:xfrm>
          <a:prstGeom prst="roundRect">
            <a:avLst>
              <a:gd name="adj" fmla="val 16667"/>
            </a:avLst>
          </a:prstGeom>
          <a:solidFill>
            <a:schemeClr val="bg1"/>
          </a:solidFill>
          <a:ln/>
        </p:spPr>
      </p:sp>
      <p:sp>
        <p:nvSpPr>
          <p:cNvPr id="92" name="text-396"/>
          <p:cNvSpPr txBox="1"/>
          <p:nvPr/>
        </p:nvSpPr>
        <p:spPr>
          <a:xfrm>
            <a:off x="4471416" y="4965192"/>
            <a:ext cx="592531" cy="329184"/>
          </a:xfrm>
          <a:prstGeom prst="rect">
            <a:avLst/>
          </a:prstGeom>
          <a:noFill/>
          <a:ln/>
        </p:spPr>
        <p:txBody>
          <a:bodyPr wrap="square" lIns="0" tIns="0" rIns="0" bIns="0" rtlCol="0" anchor="ctr"/>
          <a:lstStyle/>
          <a:p>
            <a:pPr algn="ctr" indent="0" marL="0">
              <a:buNone/>
            </a:pPr>
            <a:r>
              <a:rPr lang="en-US" sz="1100" dirty="0">
                <a:solidFill>
                  <a:schemeClr val="tx1"/>
                </a:solidFill>
              </a:rPr>
              <a:t>Prices</a:t>
            </a:r>
            <a:endParaRPr lang="en-US" sz="1100" dirty="0"/>
          </a:p>
        </p:txBody>
      </p:sp>
      <p:sp>
        <p:nvSpPr>
          <p:cNvPr id="93" name="card-397"/>
          <p:cNvSpPr/>
          <p:nvPr/>
        </p:nvSpPr>
        <p:spPr>
          <a:xfrm>
            <a:off x="5137099" y="4965192"/>
            <a:ext cx="735178" cy="329184"/>
          </a:xfrm>
          <a:prstGeom prst="roundRect">
            <a:avLst>
              <a:gd name="adj" fmla="val 16667"/>
            </a:avLst>
          </a:prstGeom>
          <a:solidFill>
            <a:schemeClr val="bg1"/>
          </a:solidFill>
          <a:ln/>
        </p:spPr>
      </p:sp>
      <p:sp>
        <p:nvSpPr>
          <p:cNvPr id="94" name="text-398"/>
          <p:cNvSpPr txBox="1"/>
          <p:nvPr/>
        </p:nvSpPr>
        <p:spPr>
          <a:xfrm>
            <a:off x="5137099" y="4965192"/>
            <a:ext cx="735178" cy="329184"/>
          </a:xfrm>
          <a:prstGeom prst="rect">
            <a:avLst/>
          </a:prstGeom>
          <a:noFill/>
          <a:ln/>
        </p:spPr>
        <p:txBody>
          <a:bodyPr wrap="square" lIns="0" tIns="0" rIns="0" bIns="0" rtlCol="0" anchor="ctr"/>
          <a:lstStyle/>
          <a:p>
            <a:pPr algn="ctr" indent="0" marL="0">
              <a:buNone/>
            </a:pPr>
            <a:r>
              <a:rPr lang="en-US" sz="1100" dirty="0">
                <a:solidFill>
                  <a:schemeClr val="tx1"/>
                </a:solidFill>
              </a:rPr>
              <a:t>Monetary</a:t>
            </a:r>
            <a:endParaRPr lang="en-US" sz="1100" dirty="0"/>
          </a:p>
        </p:txBody>
      </p:sp>
      <p:sp>
        <p:nvSpPr>
          <p:cNvPr id="95" name="card-399"/>
          <p:cNvSpPr/>
          <p:nvPr/>
        </p:nvSpPr>
        <p:spPr>
          <a:xfrm>
            <a:off x="5945429" y="4965192"/>
            <a:ext cx="663854" cy="329184"/>
          </a:xfrm>
          <a:prstGeom prst="roundRect">
            <a:avLst>
              <a:gd name="adj" fmla="val 16667"/>
            </a:avLst>
          </a:prstGeom>
          <a:solidFill>
            <a:schemeClr val="bg1"/>
          </a:solidFill>
          <a:ln/>
        </p:spPr>
      </p:sp>
      <p:sp>
        <p:nvSpPr>
          <p:cNvPr id="96" name="text-400"/>
          <p:cNvSpPr txBox="1"/>
          <p:nvPr/>
        </p:nvSpPr>
        <p:spPr>
          <a:xfrm>
            <a:off x="5945429" y="4965192"/>
            <a:ext cx="663854" cy="329184"/>
          </a:xfrm>
          <a:prstGeom prst="rect">
            <a:avLst/>
          </a:prstGeom>
          <a:noFill/>
          <a:ln/>
        </p:spPr>
        <p:txBody>
          <a:bodyPr wrap="square" lIns="0" tIns="0" rIns="0" bIns="0" rtlCol="0" anchor="ctr"/>
          <a:lstStyle/>
          <a:p>
            <a:pPr algn="ctr" indent="0" marL="0">
              <a:buNone/>
            </a:pPr>
            <a:r>
              <a:rPr lang="en-US" sz="1100" dirty="0">
                <a:solidFill>
                  <a:schemeClr val="tx1"/>
                </a:solidFill>
              </a:rPr>
              <a:t>Finance</a:t>
            </a:r>
            <a:endParaRPr lang="en-US" sz="1100" dirty="0"/>
          </a:p>
        </p:txBody>
      </p:sp>
      <p:sp>
        <p:nvSpPr>
          <p:cNvPr id="97" name="card-401"/>
          <p:cNvSpPr/>
          <p:nvPr/>
        </p:nvSpPr>
        <p:spPr>
          <a:xfrm>
            <a:off x="6682435" y="4965192"/>
            <a:ext cx="1234440" cy="329184"/>
          </a:xfrm>
          <a:prstGeom prst="roundRect">
            <a:avLst>
              <a:gd name="adj" fmla="val 16667"/>
            </a:avLst>
          </a:prstGeom>
          <a:solidFill>
            <a:schemeClr val="bg1"/>
          </a:solidFill>
          <a:ln/>
        </p:spPr>
      </p:sp>
      <p:sp>
        <p:nvSpPr>
          <p:cNvPr id="98" name="text-402"/>
          <p:cNvSpPr txBox="1"/>
          <p:nvPr/>
        </p:nvSpPr>
        <p:spPr>
          <a:xfrm>
            <a:off x="6682435" y="4965192"/>
            <a:ext cx="1234440" cy="329184"/>
          </a:xfrm>
          <a:prstGeom prst="rect">
            <a:avLst/>
          </a:prstGeom>
          <a:noFill/>
          <a:ln/>
        </p:spPr>
        <p:txBody>
          <a:bodyPr wrap="square" lIns="0" tIns="0" rIns="0" bIns="0" rtlCol="0" anchor="ctr"/>
          <a:lstStyle/>
          <a:p>
            <a:pPr algn="ctr" indent="0" marL="0">
              <a:buNone/>
            </a:pPr>
            <a:r>
              <a:rPr lang="en-US" sz="1100" dirty="0">
                <a:solidFill>
                  <a:schemeClr val="tx1"/>
                </a:solidFill>
              </a:rPr>
              <a:t>Capital Markets</a:t>
            </a:r>
            <a:endParaRPr lang="en-US" sz="1100" dirty="0"/>
          </a:p>
        </p:txBody>
      </p:sp>
      <p:sp>
        <p:nvSpPr>
          <p:cNvPr id="99" name="card-403"/>
          <p:cNvSpPr/>
          <p:nvPr/>
        </p:nvSpPr>
        <p:spPr>
          <a:xfrm>
            <a:off x="7990027" y="4965192"/>
            <a:ext cx="592531" cy="329184"/>
          </a:xfrm>
          <a:prstGeom prst="roundRect">
            <a:avLst>
              <a:gd name="adj" fmla="val 16667"/>
            </a:avLst>
          </a:prstGeom>
          <a:solidFill>
            <a:schemeClr val="bg1"/>
          </a:solidFill>
          <a:ln/>
        </p:spPr>
      </p:sp>
      <p:sp>
        <p:nvSpPr>
          <p:cNvPr id="100" name="text-404"/>
          <p:cNvSpPr txBox="1"/>
          <p:nvPr/>
        </p:nvSpPr>
        <p:spPr>
          <a:xfrm>
            <a:off x="7990027" y="4965192"/>
            <a:ext cx="592531" cy="329184"/>
          </a:xfrm>
          <a:prstGeom prst="rect">
            <a:avLst/>
          </a:prstGeom>
          <a:noFill/>
          <a:ln/>
        </p:spPr>
        <p:txBody>
          <a:bodyPr wrap="square" lIns="0" tIns="0" rIns="0" bIns="0" rtlCol="0" anchor="ctr"/>
          <a:lstStyle/>
          <a:p>
            <a:pPr algn="ctr" indent="0" marL="0">
              <a:buNone/>
            </a:pPr>
            <a:r>
              <a:rPr lang="en-US" sz="1100" dirty="0">
                <a:solidFill>
                  <a:schemeClr val="tx1"/>
                </a:solidFill>
              </a:rPr>
              <a:t>Fiscal</a:t>
            </a:r>
            <a:endParaRPr lang="en-US" sz="1100" dirty="0"/>
          </a:p>
        </p:txBody>
      </p:sp>
      <p:sp>
        <p:nvSpPr>
          <p:cNvPr id="101" name="card-405"/>
          <p:cNvSpPr/>
          <p:nvPr/>
        </p:nvSpPr>
        <p:spPr>
          <a:xfrm>
            <a:off x="8655710" y="4965192"/>
            <a:ext cx="735178" cy="329184"/>
          </a:xfrm>
          <a:prstGeom prst="roundRect">
            <a:avLst>
              <a:gd name="adj" fmla="val 16667"/>
            </a:avLst>
          </a:prstGeom>
          <a:solidFill>
            <a:schemeClr val="bg1"/>
          </a:solidFill>
          <a:ln/>
        </p:spPr>
      </p:sp>
      <p:sp>
        <p:nvSpPr>
          <p:cNvPr id="102" name="text-406"/>
          <p:cNvSpPr txBox="1"/>
          <p:nvPr/>
        </p:nvSpPr>
        <p:spPr>
          <a:xfrm>
            <a:off x="8655710" y="4965192"/>
            <a:ext cx="735178" cy="329184"/>
          </a:xfrm>
          <a:prstGeom prst="rect">
            <a:avLst/>
          </a:prstGeom>
          <a:noFill/>
          <a:ln/>
        </p:spPr>
        <p:txBody>
          <a:bodyPr wrap="square" lIns="0" tIns="0" rIns="0" bIns="0" rtlCol="0" anchor="ctr"/>
          <a:lstStyle/>
          <a:p>
            <a:pPr algn="ctr" indent="0" marL="0">
              <a:buNone/>
            </a:pPr>
            <a:r>
              <a:rPr lang="en-US" sz="1100" dirty="0">
                <a:solidFill>
                  <a:schemeClr val="tx1"/>
                </a:solidFill>
              </a:rPr>
              <a:t>External</a:t>
            </a:r>
            <a:endParaRPr lang="en-US" sz="1100" dirty="0"/>
          </a:p>
        </p:txBody>
      </p:sp>
      <p:sp>
        <p:nvSpPr>
          <p:cNvPr id="103" name="card-407"/>
          <p:cNvSpPr/>
          <p:nvPr/>
        </p:nvSpPr>
        <p:spPr>
          <a:xfrm>
            <a:off x="9464040" y="4965192"/>
            <a:ext cx="592531" cy="329184"/>
          </a:xfrm>
          <a:prstGeom prst="roundRect">
            <a:avLst>
              <a:gd name="adj" fmla="val 16667"/>
            </a:avLst>
          </a:prstGeom>
          <a:solidFill>
            <a:schemeClr val="bg1"/>
          </a:solidFill>
          <a:ln/>
        </p:spPr>
      </p:sp>
      <p:sp>
        <p:nvSpPr>
          <p:cNvPr id="104" name="text-408"/>
          <p:cNvSpPr txBox="1"/>
          <p:nvPr/>
        </p:nvSpPr>
        <p:spPr>
          <a:xfrm>
            <a:off x="9464040" y="4965192"/>
            <a:ext cx="592531" cy="329184"/>
          </a:xfrm>
          <a:prstGeom prst="rect">
            <a:avLst/>
          </a:prstGeom>
          <a:noFill/>
          <a:ln/>
        </p:spPr>
        <p:txBody>
          <a:bodyPr wrap="square" lIns="0" tIns="0" rIns="0" bIns="0" rtlCol="0" anchor="ctr"/>
          <a:lstStyle/>
          <a:p>
            <a:pPr algn="ctr" indent="0" marL="0">
              <a:buNone/>
            </a:pPr>
            <a:r>
              <a:rPr lang="en-US" sz="1100" dirty="0">
                <a:solidFill>
                  <a:schemeClr val="tx1"/>
                </a:solidFill>
              </a:rPr>
              <a:t>Labour</a:t>
            </a:r>
            <a:endParaRPr lang="en-US" sz="1100" dirty="0"/>
          </a:p>
        </p:txBody>
      </p:sp>
      <p:sp>
        <p:nvSpPr>
          <p:cNvPr id="105" name="card-409"/>
          <p:cNvSpPr/>
          <p:nvPr/>
        </p:nvSpPr>
        <p:spPr>
          <a:xfrm>
            <a:off x="10129723" y="4965192"/>
            <a:ext cx="735178" cy="329184"/>
          </a:xfrm>
          <a:prstGeom prst="roundRect">
            <a:avLst>
              <a:gd name="adj" fmla="val 16667"/>
            </a:avLst>
          </a:prstGeom>
          <a:solidFill>
            <a:schemeClr val="bg1"/>
          </a:solidFill>
          <a:ln/>
        </p:spPr>
      </p:sp>
      <p:sp>
        <p:nvSpPr>
          <p:cNvPr id="106" name="text-410"/>
          <p:cNvSpPr txBox="1"/>
          <p:nvPr/>
        </p:nvSpPr>
        <p:spPr>
          <a:xfrm>
            <a:off x="10129723" y="4965192"/>
            <a:ext cx="735178" cy="329184"/>
          </a:xfrm>
          <a:prstGeom prst="rect">
            <a:avLst/>
          </a:prstGeom>
          <a:noFill/>
          <a:ln/>
        </p:spPr>
        <p:txBody>
          <a:bodyPr wrap="square" lIns="0" tIns="0" rIns="0" bIns="0" rtlCol="0" anchor="ctr"/>
          <a:lstStyle/>
          <a:p>
            <a:pPr algn="ctr" indent="0" marL="0">
              <a:buNone/>
            </a:pPr>
            <a:r>
              <a:rPr lang="en-US" sz="1100" dirty="0">
                <a:solidFill>
                  <a:schemeClr val="tx1"/>
                </a:solidFill>
              </a:rPr>
              <a:t>Services</a:t>
            </a:r>
            <a:endParaRPr lang="en-US" sz="1100" dirty="0"/>
          </a:p>
        </p:txBody>
      </p:sp>
      <p:sp>
        <p:nvSpPr>
          <p:cNvPr id="107" name="card-411"/>
          <p:cNvSpPr/>
          <p:nvPr/>
        </p:nvSpPr>
        <p:spPr>
          <a:xfrm>
            <a:off x="548640" y="5495544"/>
            <a:ext cx="2148840" cy="566928"/>
          </a:xfrm>
          <a:prstGeom prst="roundRect">
            <a:avLst>
              <a:gd name="adj" fmla="val 11290"/>
            </a:avLst>
          </a:prstGeom>
          <a:solidFill>
            <a:schemeClr val="accent1"/>
          </a:solidFill>
          <a:ln/>
        </p:spPr>
      </p:sp>
      <p:pic>
        <p:nvPicPr>
          <p:cNvPr id="108" name="icon-412" descr="Database icon">    </p:cNvPr>
          <p:cNvPicPr>
            <a:picLocks noChangeAspect="1"/>
          </p:cNvPicPr>
          <p:nvPr/>
        </p:nvPicPr>
        <p:blipFill>
          <a:blip r:embed="rId7"/>
          <a:stretch>
            <a:fillRect/>
          </a:stretch>
        </p:blipFill>
        <p:spPr>
          <a:xfrm>
            <a:off x="685800" y="5650992"/>
            <a:ext cx="256032" cy="256032"/>
          </a:xfrm>
          <a:prstGeom prst="rect">
            <a:avLst/>
          </a:prstGeom>
        </p:spPr>
      </p:pic>
      <p:sp>
        <p:nvSpPr>
          <p:cNvPr id="109" name="text-413"/>
          <p:cNvSpPr txBox="1"/>
          <p:nvPr/>
        </p:nvSpPr>
        <p:spPr>
          <a:xfrm>
            <a:off x="1051560" y="5559552"/>
            <a:ext cx="1600200" cy="237744"/>
          </a:xfrm>
          <a:prstGeom prst="rect">
            <a:avLst/>
          </a:prstGeom>
          <a:noFill/>
          <a:ln/>
        </p:spPr>
        <p:txBody>
          <a:bodyPr wrap="square" lIns="0" tIns="0" rIns="0" bIns="0" rtlCol="0" anchor="t"/>
          <a:lstStyle/>
          <a:p>
            <a:pPr indent="0" marL="0">
              <a:buNone/>
            </a:pPr>
            <a:r>
              <a:rPr lang="en-US" sz="1350" b="1" dirty="0">
                <a:solidFill>
                  <a:schemeClr val="bg1"/>
                </a:solidFill>
              </a:rPr>
              <a:t>Data layer</a:t>
            </a:r>
            <a:endParaRPr lang="en-US" sz="1350" dirty="0"/>
          </a:p>
        </p:txBody>
      </p:sp>
      <p:sp>
        <p:nvSpPr>
          <p:cNvPr id="110" name="text-414"/>
          <p:cNvSpPr txBox="1"/>
          <p:nvPr/>
        </p:nvSpPr>
        <p:spPr>
          <a:xfrm>
            <a:off x="1051560" y="5806440"/>
            <a:ext cx="1627632" cy="201168"/>
          </a:xfrm>
          <a:prstGeom prst="rect">
            <a:avLst/>
          </a:prstGeom>
          <a:noFill/>
          <a:ln/>
        </p:spPr>
        <p:txBody>
          <a:bodyPr wrap="square" lIns="0" tIns="0" rIns="0" bIns="0" rtlCol="0" anchor="t"/>
          <a:lstStyle/>
          <a:p>
            <a:pPr indent="0" marL="0">
              <a:buNone/>
            </a:pPr>
            <a:r>
              <a:rPr lang="en-US" sz="950" dirty="0">
                <a:solidFill>
                  <a:schemeClr val="bg1">
                    <a:alpha val="78000"/>
                  </a:schemeClr>
                </a:solidFill>
              </a:rPr>
              <a:t>agent ↔ data · data only</a:t>
            </a:r>
            <a:endParaRPr lang="en-US" sz="950" dirty="0"/>
          </a:p>
        </p:txBody>
      </p:sp>
      <p:sp>
        <p:nvSpPr>
          <p:cNvPr id="111" name="card-415"/>
          <p:cNvSpPr/>
          <p:nvPr/>
        </p:nvSpPr>
        <p:spPr>
          <a:xfrm>
            <a:off x="2788920" y="5495544"/>
            <a:ext cx="8851392" cy="566928"/>
          </a:xfrm>
          <a:prstGeom prst="roundRect">
            <a:avLst>
              <a:gd name="adj" fmla="val 11290"/>
            </a:avLst>
          </a:prstGeom>
          <a:solidFill>
            <a:schemeClr val="bg2"/>
          </a:solidFill>
          <a:ln/>
        </p:spPr>
      </p:sp>
      <p:sp>
        <p:nvSpPr>
          <p:cNvPr id="112" name="card-416"/>
          <p:cNvSpPr/>
          <p:nvPr/>
        </p:nvSpPr>
        <p:spPr>
          <a:xfrm>
            <a:off x="2926080" y="5614416"/>
            <a:ext cx="1475842" cy="329184"/>
          </a:xfrm>
          <a:prstGeom prst="roundRect">
            <a:avLst>
              <a:gd name="adj" fmla="val 16667"/>
            </a:avLst>
          </a:prstGeom>
          <a:solidFill>
            <a:schemeClr val="bg1"/>
          </a:solidFill>
          <a:ln/>
        </p:spPr>
      </p:sp>
      <p:sp>
        <p:nvSpPr>
          <p:cNvPr id="113" name="text-417"/>
          <p:cNvSpPr txBox="1"/>
          <p:nvPr/>
        </p:nvSpPr>
        <p:spPr>
          <a:xfrm>
            <a:off x="2926080" y="5614416"/>
            <a:ext cx="1475842" cy="329184"/>
          </a:xfrm>
          <a:prstGeom prst="rect">
            <a:avLst/>
          </a:prstGeom>
          <a:noFill/>
          <a:ln/>
        </p:spPr>
        <p:txBody>
          <a:bodyPr wrap="square" lIns="0" tIns="0" rIns="0" bIns="0" rtlCol="0" anchor="ctr"/>
          <a:lstStyle/>
          <a:p>
            <a:pPr algn="ctr" indent="0" marL="0">
              <a:buNone/>
            </a:pPr>
            <a:r>
              <a:rPr lang="en-US" sz="1150" dirty="0">
                <a:solidFill>
                  <a:schemeClr val="tx1"/>
                </a:solidFill>
              </a:rPr>
              <a:t>MoSPI e-Sankhyiki</a:t>
            </a:r>
            <a:endParaRPr lang="en-US" sz="1150" dirty="0"/>
          </a:p>
        </p:txBody>
      </p:sp>
      <p:sp>
        <p:nvSpPr>
          <p:cNvPr id="114" name="card-418"/>
          <p:cNvSpPr/>
          <p:nvPr/>
        </p:nvSpPr>
        <p:spPr>
          <a:xfrm>
            <a:off x="4493362" y="5614416"/>
            <a:ext cx="801014" cy="329184"/>
          </a:xfrm>
          <a:prstGeom prst="roundRect">
            <a:avLst>
              <a:gd name="adj" fmla="val 16667"/>
            </a:avLst>
          </a:prstGeom>
          <a:solidFill>
            <a:schemeClr val="bg1"/>
          </a:solidFill>
          <a:ln/>
        </p:spPr>
      </p:sp>
      <p:sp>
        <p:nvSpPr>
          <p:cNvPr id="115" name="text-419"/>
          <p:cNvSpPr txBox="1"/>
          <p:nvPr/>
        </p:nvSpPr>
        <p:spPr>
          <a:xfrm>
            <a:off x="4493362" y="5614416"/>
            <a:ext cx="801014" cy="329184"/>
          </a:xfrm>
          <a:prstGeom prst="rect">
            <a:avLst/>
          </a:prstGeom>
          <a:noFill/>
          <a:ln/>
        </p:spPr>
        <p:txBody>
          <a:bodyPr wrap="square" lIns="0" tIns="0" rIns="0" bIns="0" rtlCol="0" anchor="ctr"/>
          <a:lstStyle/>
          <a:p>
            <a:pPr algn="ctr" indent="0" marL="0">
              <a:buNone/>
            </a:pPr>
            <a:r>
              <a:rPr lang="en-US" sz="1150" dirty="0">
                <a:solidFill>
                  <a:schemeClr val="tx1"/>
                </a:solidFill>
              </a:rPr>
              <a:t>RBI DBIE</a:t>
            </a:r>
            <a:endParaRPr lang="en-US" sz="1150" dirty="0"/>
          </a:p>
        </p:txBody>
      </p:sp>
      <p:sp>
        <p:nvSpPr>
          <p:cNvPr id="116" name="card-420"/>
          <p:cNvSpPr/>
          <p:nvPr/>
        </p:nvSpPr>
        <p:spPr>
          <a:xfrm>
            <a:off x="5385816" y="5614416"/>
            <a:ext cx="426110" cy="329184"/>
          </a:xfrm>
          <a:prstGeom prst="roundRect">
            <a:avLst>
              <a:gd name="adj" fmla="val 16667"/>
            </a:avLst>
          </a:prstGeom>
          <a:solidFill>
            <a:schemeClr val="bg1"/>
          </a:solidFill>
          <a:ln/>
        </p:spPr>
      </p:sp>
      <p:sp>
        <p:nvSpPr>
          <p:cNvPr id="117" name="text-421"/>
          <p:cNvSpPr txBox="1"/>
          <p:nvPr/>
        </p:nvSpPr>
        <p:spPr>
          <a:xfrm>
            <a:off x="5385816" y="5614416"/>
            <a:ext cx="426110" cy="329184"/>
          </a:xfrm>
          <a:prstGeom prst="rect">
            <a:avLst/>
          </a:prstGeom>
          <a:noFill/>
          <a:ln/>
        </p:spPr>
        <p:txBody>
          <a:bodyPr wrap="square" lIns="0" tIns="0" rIns="0" bIns="0" rtlCol="0" anchor="ctr"/>
          <a:lstStyle/>
          <a:p>
            <a:pPr algn="ctr" indent="0" marL="0">
              <a:buNone/>
            </a:pPr>
            <a:r>
              <a:rPr lang="en-US" sz="1150" dirty="0">
                <a:solidFill>
                  <a:schemeClr val="tx1"/>
                </a:solidFill>
              </a:rPr>
              <a:t>CGA</a:t>
            </a:r>
            <a:endParaRPr lang="en-US" sz="1150" dirty="0"/>
          </a:p>
        </p:txBody>
      </p:sp>
      <p:sp>
        <p:nvSpPr>
          <p:cNvPr id="118" name="card-422"/>
          <p:cNvSpPr/>
          <p:nvPr/>
        </p:nvSpPr>
        <p:spPr>
          <a:xfrm>
            <a:off x="5903366" y="5614416"/>
            <a:ext cx="651053" cy="329184"/>
          </a:xfrm>
          <a:prstGeom prst="roundRect">
            <a:avLst>
              <a:gd name="adj" fmla="val 16667"/>
            </a:avLst>
          </a:prstGeom>
          <a:solidFill>
            <a:schemeClr val="bg1"/>
          </a:solidFill>
          <a:ln/>
        </p:spPr>
      </p:sp>
      <p:sp>
        <p:nvSpPr>
          <p:cNvPr id="119" name="text-423"/>
          <p:cNvSpPr txBox="1"/>
          <p:nvPr/>
        </p:nvSpPr>
        <p:spPr>
          <a:xfrm>
            <a:off x="5903366" y="5614416"/>
            <a:ext cx="651053" cy="329184"/>
          </a:xfrm>
          <a:prstGeom prst="rect">
            <a:avLst/>
          </a:prstGeom>
          <a:noFill/>
          <a:ln/>
        </p:spPr>
        <p:txBody>
          <a:bodyPr wrap="square" lIns="0" tIns="0" rIns="0" bIns="0" rtlCol="0" anchor="ctr"/>
          <a:lstStyle/>
          <a:p>
            <a:pPr algn="ctr" indent="0" marL="0">
              <a:buNone/>
            </a:pPr>
            <a:r>
              <a:rPr lang="en-US" sz="1150" dirty="0">
                <a:solidFill>
                  <a:schemeClr val="tx1"/>
                </a:solidFill>
              </a:rPr>
              <a:t>DGCI&amp;S</a:t>
            </a:r>
            <a:endParaRPr lang="en-US" sz="1150" dirty="0"/>
          </a:p>
        </p:txBody>
      </p:sp>
      <p:sp>
        <p:nvSpPr>
          <p:cNvPr id="120" name="card-424"/>
          <p:cNvSpPr/>
          <p:nvPr/>
        </p:nvSpPr>
        <p:spPr>
          <a:xfrm>
            <a:off x="6645859" y="5614416"/>
            <a:ext cx="801014" cy="329184"/>
          </a:xfrm>
          <a:prstGeom prst="roundRect">
            <a:avLst>
              <a:gd name="adj" fmla="val 16667"/>
            </a:avLst>
          </a:prstGeom>
          <a:solidFill>
            <a:schemeClr val="bg1"/>
          </a:solidFill>
          <a:ln/>
        </p:spPr>
      </p:sp>
      <p:sp>
        <p:nvSpPr>
          <p:cNvPr id="121" name="text-425"/>
          <p:cNvSpPr txBox="1"/>
          <p:nvPr/>
        </p:nvSpPr>
        <p:spPr>
          <a:xfrm>
            <a:off x="6645859" y="5614416"/>
            <a:ext cx="801014" cy="329184"/>
          </a:xfrm>
          <a:prstGeom prst="rect">
            <a:avLst/>
          </a:prstGeom>
          <a:noFill/>
          <a:ln/>
        </p:spPr>
        <p:txBody>
          <a:bodyPr wrap="square" lIns="0" tIns="0" rIns="0" bIns="0" rtlCol="0" anchor="ctr"/>
          <a:lstStyle/>
          <a:p>
            <a:pPr algn="ctr" indent="0" marL="0">
              <a:buNone/>
            </a:pPr>
            <a:r>
              <a:rPr lang="en-US" sz="1150" dirty="0">
                <a:solidFill>
                  <a:schemeClr val="tx1"/>
                </a:solidFill>
              </a:rPr>
              <a:t>yfinance</a:t>
            </a:r>
            <a:endParaRPr lang="en-US" sz="1150" dirty="0"/>
          </a:p>
        </p:txBody>
      </p:sp>
      <p:sp>
        <p:nvSpPr>
          <p:cNvPr id="122" name="card-426"/>
          <p:cNvSpPr/>
          <p:nvPr/>
        </p:nvSpPr>
        <p:spPr>
          <a:xfrm>
            <a:off x="7538314" y="5614416"/>
            <a:ext cx="426110" cy="329184"/>
          </a:xfrm>
          <a:prstGeom prst="roundRect">
            <a:avLst>
              <a:gd name="adj" fmla="val 16667"/>
            </a:avLst>
          </a:prstGeom>
          <a:solidFill>
            <a:schemeClr val="bg1"/>
          </a:solidFill>
          <a:ln/>
        </p:spPr>
      </p:sp>
      <p:sp>
        <p:nvSpPr>
          <p:cNvPr id="123" name="text-427"/>
          <p:cNvSpPr txBox="1"/>
          <p:nvPr/>
        </p:nvSpPr>
        <p:spPr>
          <a:xfrm>
            <a:off x="7538314" y="5614416"/>
            <a:ext cx="426110" cy="329184"/>
          </a:xfrm>
          <a:prstGeom prst="rect">
            <a:avLst/>
          </a:prstGeom>
          <a:noFill/>
          <a:ln/>
        </p:spPr>
        <p:txBody>
          <a:bodyPr wrap="square" lIns="0" tIns="0" rIns="0" bIns="0" rtlCol="0" anchor="ctr"/>
          <a:lstStyle/>
          <a:p>
            <a:pPr algn="ctr" indent="0" marL="0">
              <a:buNone/>
            </a:pPr>
            <a:r>
              <a:rPr lang="en-US" sz="1150" dirty="0">
                <a:solidFill>
                  <a:schemeClr val="tx1"/>
                </a:solidFill>
              </a:rPr>
              <a:t>IMD</a:t>
            </a:r>
            <a:endParaRPr lang="en-US" sz="1150" dirty="0"/>
          </a:p>
        </p:txBody>
      </p:sp>
      <p:sp>
        <p:nvSpPr>
          <p:cNvPr id="124" name="card-428"/>
          <p:cNvSpPr/>
          <p:nvPr/>
        </p:nvSpPr>
        <p:spPr>
          <a:xfrm>
            <a:off x="8055864" y="5614416"/>
            <a:ext cx="875995" cy="329184"/>
          </a:xfrm>
          <a:prstGeom prst="roundRect">
            <a:avLst>
              <a:gd name="adj" fmla="val 16667"/>
            </a:avLst>
          </a:prstGeom>
          <a:solidFill>
            <a:schemeClr val="bg1"/>
          </a:solidFill>
          <a:ln/>
        </p:spPr>
      </p:sp>
      <p:sp>
        <p:nvSpPr>
          <p:cNvPr id="125" name="text-429"/>
          <p:cNvSpPr txBox="1"/>
          <p:nvPr/>
        </p:nvSpPr>
        <p:spPr>
          <a:xfrm>
            <a:off x="8055864" y="5614416"/>
            <a:ext cx="875995" cy="329184"/>
          </a:xfrm>
          <a:prstGeom prst="rect">
            <a:avLst/>
          </a:prstGeom>
          <a:noFill/>
          <a:ln/>
        </p:spPr>
        <p:txBody>
          <a:bodyPr wrap="square" lIns="0" tIns="0" rIns="0" bIns="0" rtlCol="0" anchor="ctr"/>
          <a:lstStyle/>
          <a:p>
            <a:pPr algn="ctr" indent="0" marL="0">
              <a:buNone/>
            </a:pPr>
            <a:r>
              <a:rPr lang="en-US" sz="1150" dirty="0">
                <a:solidFill>
                  <a:schemeClr val="tx1"/>
                </a:solidFill>
              </a:rPr>
              <a:t>Agmarknet</a:t>
            </a:r>
            <a:endParaRPr lang="en-US" sz="1150" dirty="0"/>
          </a:p>
        </p:txBody>
      </p:sp>
      <p:sp>
        <p:nvSpPr>
          <p:cNvPr id="126" name="card-430"/>
          <p:cNvSpPr/>
          <p:nvPr/>
        </p:nvSpPr>
        <p:spPr>
          <a:xfrm>
            <a:off x="9023299" y="5614416"/>
            <a:ext cx="1175918" cy="329184"/>
          </a:xfrm>
          <a:prstGeom prst="roundRect">
            <a:avLst>
              <a:gd name="adj" fmla="val 16667"/>
            </a:avLst>
          </a:prstGeom>
          <a:solidFill>
            <a:schemeClr val="bg1"/>
          </a:solidFill>
          <a:ln/>
        </p:spPr>
      </p:sp>
      <p:sp>
        <p:nvSpPr>
          <p:cNvPr id="127" name="text-431"/>
          <p:cNvSpPr txBox="1"/>
          <p:nvPr/>
        </p:nvSpPr>
        <p:spPr>
          <a:xfrm>
            <a:off x="9023299" y="5614416"/>
            <a:ext cx="1175918" cy="329184"/>
          </a:xfrm>
          <a:prstGeom prst="rect">
            <a:avLst/>
          </a:prstGeom>
          <a:noFill/>
          <a:ln/>
        </p:spPr>
        <p:txBody>
          <a:bodyPr wrap="square" lIns="0" tIns="0" rIns="0" bIns="0" rtlCol="0" anchor="ctr"/>
          <a:lstStyle/>
          <a:p>
            <a:pPr algn="ctr" indent="0" marL="0">
              <a:buNone/>
            </a:pPr>
            <a:r>
              <a:rPr lang="en-US" sz="1150" dirty="0">
                <a:solidFill>
                  <a:schemeClr val="tx1"/>
                </a:solidFill>
              </a:rPr>
              <a:t>DuckDB stores</a:t>
            </a:r>
            <a:endParaRPr lang="en-US" sz="1150" dirty="0"/>
          </a:p>
        </p:txBody>
      </p:sp>
      <p:sp>
        <p:nvSpPr>
          <p:cNvPr id="25" name="Slide Number Placeholder 0"/>
          <p:cNvSpPr>
            <a:spLocks noGrp="1"/>
          </p:cNvSpPr>
          <p:nvPr>
            <p:ph type="sldNum" sz="quarter" idx="4294967295"/>
          </p:nvPr>
        </p:nvSpPr>
        <p:spPr>
          <a:xfrm>
            <a:off x="11091672" y="6446520"/>
            <a:ext cx="548640" cy="22860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51607A"/>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ctr"/>
          <a:lstStyle/>
          <a:p>
            <a:pPr indent="0" marL="0">
              <a:buNone/>
            </a:pPr>
            <a:r>
              <a:rPr lang="en-US" sz="1200" b="1" spc="200" kern="0" dirty="0">
                <a:solidFill>
                  <a:schemeClr val="accent1"/>
                </a:solidFill>
              </a:rPr>
              <a:t>TECHNOLOGY STACK</a:t>
            </a:r>
            <a:endParaRPr lang="en-US" sz="1200" dirty="0"/>
          </a:p>
        </p:txBody>
      </p:sp>
      <p:sp>
        <p:nvSpPr>
          <p:cNvPr id="3" name="Text 0"/>
          <p:cNvSpPr/>
          <p:nvPr>
            <p:ph idx="101" type="title" hasCustomPrompt="1"/>
          </p:nvPr>
        </p:nvSpPr>
        <p:spPr>
          <a:xfrm>
            <a:off x="548640" y="676656"/>
            <a:ext cx="11094415" cy="713232"/>
          </a:xfrm>
          <a:prstGeom prst="rect">
            <a:avLst/>
          </a:prstGeom>
          <a:noFill/>
          <a:ln/>
        </p:spPr>
        <p:txBody>
          <a:bodyPr wrap="square" lIns="0" tIns="0" rIns="0" bIns="0" rtlCol="0" anchor="t"/>
          <a:lstStyle/>
          <a:p>
            <a:pPr algn="l" indent="0" marL="0">
              <a:buNone/>
            </a:pPr>
            <a:r>
              <a:rPr lang="en-US" sz="3600" b="1" dirty="0">
                <a:solidFill>
                  <a:schemeClr val="tx1"/>
                </a:solidFill>
              </a:rPr>
              <a:t>Built on an open, typed Python stack</a:t>
            </a:r>
            <a:endParaRPr lang="en-US" sz="3600" dirty="0"/>
          </a:p>
        </p:txBody>
      </p:sp>
      <p:sp>
        <p:nvSpPr>
          <p:cNvPr id="4" name="card-432"/>
          <p:cNvSpPr/>
          <p:nvPr/>
        </p:nvSpPr>
        <p:spPr>
          <a:xfrm>
            <a:off x="548640" y="1600200"/>
            <a:ext cx="2587752" cy="1874520"/>
          </a:xfrm>
          <a:prstGeom prst="roundRect">
            <a:avLst>
              <a:gd name="adj" fmla="val 5854"/>
            </a:avLst>
          </a:prstGeom>
          <a:solidFill>
            <a:schemeClr val="bg2"/>
          </a:solidFill>
          <a:ln/>
        </p:spPr>
      </p:sp>
      <p:sp>
        <p:nvSpPr>
          <p:cNvPr id="5" name="card-433"/>
          <p:cNvSpPr/>
          <p:nvPr/>
        </p:nvSpPr>
        <p:spPr>
          <a:xfrm>
            <a:off x="749808" y="1801368"/>
            <a:ext cx="457200" cy="457200"/>
          </a:xfrm>
          <a:prstGeom prst="roundRect">
            <a:avLst>
              <a:gd name="adj" fmla="val 22000"/>
            </a:avLst>
          </a:prstGeom>
          <a:solidFill>
            <a:schemeClr val="accent1"/>
          </a:solidFill>
          <a:ln/>
        </p:spPr>
      </p:sp>
      <p:pic>
        <p:nvPicPr>
          <p:cNvPr id="6" name="icon-434" descr="Workflow icon">    </p:cNvPr>
          <p:cNvPicPr>
            <a:picLocks noChangeAspect="1"/>
          </p:cNvPicPr>
          <p:nvPr/>
        </p:nvPicPr>
        <p:blipFill>
          <a:blip r:embed="rId1"/>
          <a:stretch>
            <a:fillRect/>
          </a:stretch>
        </p:blipFill>
        <p:spPr>
          <a:xfrm>
            <a:off x="850392" y="1901952"/>
            <a:ext cx="256032" cy="256032"/>
          </a:xfrm>
          <a:prstGeom prst="rect">
            <a:avLst/>
          </a:prstGeom>
        </p:spPr>
      </p:pic>
      <p:sp>
        <p:nvSpPr>
          <p:cNvPr id="7" name="text-435"/>
          <p:cNvSpPr txBox="1"/>
          <p:nvPr/>
        </p:nvSpPr>
        <p:spPr>
          <a:xfrm>
            <a:off x="1325880" y="1874520"/>
            <a:ext cx="1719072" cy="310896"/>
          </a:xfrm>
          <a:prstGeom prst="rect">
            <a:avLst/>
          </a:prstGeom>
          <a:noFill/>
          <a:ln/>
        </p:spPr>
        <p:txBody>
          <a:bodyPr wrap="square" lIns="0" tIns="0" rIns="0" bIns="0" rtlCol="0" anchor="ctr"/>
          <a:lstStyle/>
          <a:p>
            <a:pPr indent="0" marL="0">
              <a:buNone/>
            </a:pPr>
            <a:r>
              <a:rPr lang="en-US" sz="1000" b="1" spc="100" kern="0" dirty="0">
                <a:solidFill>
                  <a:schemeClr val="accent1"/>
                </a:solidFill>
              </a:rPr>
              <a:t>ORCHESTRATION</a:t>
            </a:r>
            <a:endParaRPr lang="en-US" sz="1000" dirty="0"/>
          </a:p>
        </p:txBody>
      </p:sp>
      <p:sp>
        <p:nvSpPr>
          <p:cNvPr id="8" name="text-436"/>
          <p:cNvSpPr txBox="1"/>
          <p:nvPr/>
        </p:nvSpPr>
        <p:spPr>
          <a:xfrm>
            <a:off x="749808" y="2404872"/>
            <a:ext cx="2258568" cy="310896"/>
          </a:xfrm>
          <a:prstGeom prst="rect">
            <a:avLst/>
          </a:prstGeom>
          <a:noFill/>
          <a:ln/>
        </p:spPr>
        <p:txBody>
          <a:bodyPr wrap="square" lIns="0" tIns="0" rIns="0" bIns="0" rtlCol="0" anchor="t"/>
          <a:lstStyle/>
          <a:p>
            <a:pPr indent="0" marL="0">
              <a:buNone/>
            </a:pPr>
            <a:r>
              <a:rPr lang="en-US" sz="1600" b="1" dirty="0">
                <a:solidFill>
                  <a:schemeClr val="tx1"/>
                </a:solidFill>
              </a:rPr>
              <a:t>LangGraph</a:t>
            </a:r>
            <a:endParaRPr lang="en-US" sz="1600" dirty="0"/>
          </a:p>
        </p:txBody>
      </p:sp>
      <p:sp>
        <p:nvSpPr>
          <p:cNvPr id="9" name="text-437"/>
          <p:cNvSpPr txBox="1"/>
          <p:nvPr/>
        </p:nvSpPr>
        <p:spPr>
          <a:xfrm>
            <a:off x="749808" y="2734056"/>
            <a:ext cx="2221992" cy="658368"/>
          </a:xfrm>
          <a:prstGeom prst="rect">
            <a:avLst/>
          </a:prstGeom>
          <a:noFill/>
          <a:ln/>
        </p:spPr>
        <p:txBody>
          <a:bodyPr wrap="square" lIns="0" tIns="0" rIns="0" bIns="0" rtlCol="0" anchor="t"/>
          <a:lstStyle/>
          <a:p>
            <a:pPr indent="0" marL="0">
              <a:buNone/>
            </a:pPr>
            <a:r>
              <a:rPr lang="en-US" sz="1250" dirty="0">
                <a:solidFill>
                  <a:schemeClr val="tx2"/>
                </a:solidFill>
              </a:rPr>
              <a:t>Four-node StateGraph over a typed shared state</a:t>
            </a:r>
            <a:endParaRPr lang="en-US" sz="1250" dirty="0"/>
          </a:p>
        </p:txBody>
      </p:sp>
      <p:sp>
        <p:nvSpPr>
          <p:cNvPr id="10" name="card-438"/>
          <p:cNvSpPr/>
          <p:nvPr/>
        </p:nvSpPr>
        <p:spPr>
          <a:xfrm>
            <a:off x="3384194" y="1600200"/>
            <a:ext cx="2587752" cy="1874520"/>
          </a:xfrm>
          <a:prstGeom prst="roundRect">
            <a:avLst>
              <a:gd name="adj" fmla="val 5854"/>
            </a:avLst>
          </a:prstGeom>
          <a:solidFill>
            <a:schemeClr val="bg2"/>
          </a:solidFill>
          <a:ln/>
        </p:spPr>
      </p:sp>
      <p:sp>
        <p:nvSpPr>
          <p:cNvPr id="11" name="card-439"/>
          <p:cNvSpPr/>
          <p:nvPr/>
        </p:nvSpPr>
        <p:spPr>
          <a:xfrm>
            <a:off x="3585362" y="1801368"/>
            <a:ext cx="457200" cy="457200"/>
          </a:xfrm>
          <a:prstGeom prst="roundRect">
            <a:avLst>
              <a:gd name="adj" fmla="val 22000"/>
            </a:avLst>
          </a:prstGeom>
          <a:solidFill>
            <a:schemeClr val="tx1"/>
          </a:solidFill>
          <a:ln/>
        </p:spPr>
      </p:sp>
      <p:pic>
        <p:nvPicPr>
          <p:cNvPr id="12" name="icon-440" descr="MessagesSquare icon">    </p:cNvPr>
          <p:cNvPicPr>
            <a:picLocks noChangeAspect="1"/>
          </p:cNvPicPr>
          <p:nvPr/>
        </p:nvPicPr>
        <p:blipFill>
          <a:blip r:embed="rId2"/>
          <a:stretch>
            <a:fillRect/>
          </a:stretch>
        </p:blipFill>
        <p:spPr>
          <a:xfrm>
            <a:off x="3685946" y="1901952"/>
            <a:ext cx="256032" cy="256032"/>
          </a:xfrm>
          <a:prstGeom prst="rect">
            <a:avLst/>
          </a:prstGeom>
        </p:spPr>
      </p:pic>
      <p:sp>
        <p:nvSpPr>
          <p:cNvPr id="13" name="text-441"/>
          <p:cNvSpPr txBox="1"/>
          <p:nvPr/>
        </p:nvSpPr>
        <p:spPr>
          <a:xfrm>
            <a:off x="4161434" y="1874520"/>
            <a:ext cx="1719072" cy="310896"/>
          </a:xfrm>
          <a:prstGeom prst="rect">
            <a:avLst/>
          </a:prstGeom>
          <a:noFill/>
          <a:ln/>
        </p:spPr>
        <p:txBody>
          <a:bodyPr wrap="square" lIns="0" tIns="0" rIns="0" bIns="0" rtlCol="0" anchor="ctr"/>
          <a:lstStyle/>
          <a:p>
            <a:pPr indent="0" marL="0">
              <a:buNone/>
            </a:pPr>
            <a:r>
              <a:rPr lang="en-US" sz="1000" b="1" spc="100" kern="0" dirty="0">
                <a:solidFill>
                  <a:schemeClr val="accent1"/>
                </a:solidFill>
              </a:rPr>
              <a:t>AGENT PROTOCOL</a:t>
            </a:r>
            <a:endParaRPr lang="en-US" sz="1000" dirty="0"/>
          </a:p>
        </p:txBody>
      </p:sp>
      <p:sp>
        <p:nvSpPr>
          <p:cNvPr id="14" name="text-442"/>
          <p:cNvSpPr txBox="1"/>
          <p:nvPr/>
        </p:nvSpPr>
        <p:spPr>
          <a:xfrm>
            <a:off x="3585362" y="2404872"/>
            <a:ext cx="2258568" cy="310896"/>
          </a:xfrm>
          <a:prstGeom prst="rect">
            <a:avLst/>
          </a:prstGeom>
          <a:noFill/>
          <a:ln/>
        </p:spPr>
        <p:txBody>
          <a:bodyPr wrap="square" lIns="0" tIns="0" rIns="0" bIns="0" rtlCol="0" anchor="t"/>
          <a:lstStyle/>
          <a:p>
            <a:pPr indent="0" marL="0">
              <a:buNone/>
            </a:pPr>
            <a:r>
              <a:rPr lang="en-US" sz="1600" b="1" dirty="0">
                <a:solidFill>
                  <a:schemeClr val="tx1"/>
                </a:solidFill>
              </a:rPr>
              <a:t>Native A2A layer</a:t>
            </a:r>
            <a:endParaRPr lang="en-US" sz="1600" dirty="0"/>
          </a:p>
        </p:txBody>
      </p:sp>
      <p:sp>
        <p:nvSpPr>
          <p:cNvPr id="15" name="text-443"/>
          <p:cNvSpPr txBox="1"/>
          <p:nvPr/>
        </p:nvSpPr>
        <p:spPr>
          <a:xfrm>
            <a:off x="3585362" y="2734056"/>
            <a:ext cx="2221992" cy="658368"/>
          </a:xfrm>
          <a:prstGeom prst="rect">
            <a:avLst/>
          </a:prstGeom>
          <a:noFill/>
          <a:ln/>
        </p:spPr>
        <p:txBody>
          <a:bodyPr wrap="square" lIns="0" tIns="0" rIns="0" bIns="0" rtlCol="0" anchor="t"/>
          <a:lstStyle/>
          <a:p>
            <a:pPr indent="0" marL="0">
              <a:buNone/>
            </a:pPr>
            <a:r>
              <a:rPr lang="en-US" sz="1250" dirty="0">
                <a:solidFill>
                  <a:schemeClr val="tx2"/>
                </a:solidFill>
              </a:rPr>
              <a:t>Typed Pydantic envelopes, server guards, trace store</a:t>
            </a:r>
            <a:endParaRPr lang="en-US" sz="1250" dirty="0"/>
          </a:p>
        </p:txBody>
      </p:sp>
      <p:sp>
        <p:nvSpPr>
          <p:cNvPr id="16" name="card-444"/>
          <p:cNvSpPr/>
          <p:nvPr/>
        </p:nvSpPr>
        <p:spPr>
          <a:xfrm>
            <a:off x="6219749" y="1600200"/>
            <a:ext cx="2587752" cy="1874520"/>
          </a:xfrm>
          <a:prstGeom prst="roundRect">
            <a:avLst>
              <a:gd name="adj" fmla="val 5854"/>
            </a:avLst>
          </a:prstGeom>
          <a:solidFill>
            <a:schemeClr val="bg2"/>
          </a:solidFill>
          <a:ln/>
        </p:spPr>
      </p:sp>
      <p:sp>
        <p:nvSpPr>
          <p:cNvPr id="17" name="card-445"/>
          <p:cNvSpPr/>
          <p:nvPr/>
        </p:nvSpPr>
        <p:spPr>
          <a:xfrm>
            <a:off x="6420917" y="1801368"/>
            <a:ext cx="457200" cy="457200"/>
          </a:xfrm>
          <a:prstGeom prst="roundRect">
            <a:avLst>
              <a:gd name="adj" fmla="val 22000"/>
            </a:avLst>
          </a:prstGeom>
          <a:solidFill>
            <a:schemeClr val="accent1"/>
          </a:solidFill>
          <a:ln/>
        </p:spPr>
      </p:sp>
      <p:pic>
        <p:nvPicPr>
          <p:cNvPr id="18" name="icon-446" descr="Database icon">    </p:cNvPr>
          <p:cNvPicPr>
            <a:picLocks noChangeAspect="1"/>
          </p:cNvPicPr>
          <p:nvPr/>
        </p:nvPicPr>
        <p:blipFill>
          <a:blip r:embed="rId3"/>
          <a:stretch>
            <a:fillRect/>
          </a:stretch>
        </p:blipFill>
        <p:spPr>
          <a:xfrm>
            <a:off x="6521501" y="1901952"/>
            <a:ext cx="256032" cy="256032"/>
          </a:xfrm>
          <a:prstGeom prst="rect">
            <a:avLst/>
          </a:prstGeom>
        </p:spPr>
      </p:pic>
      <p:sp>
        <p:nvSpPr>
          <p:cNvPr id="19" name="text-447"/>
          <p:cNvSpPr txBox="1"/>
          <p:nvPr/>
        </p:nvSpPr>
        <p:spPr>
          <a:xfrm>
            <a:off x="6996989" y="1874520"/>
            <a:ext cx="1719072" cy="310896"/>
          </a:xfrm>
          <a:prstGeom prst="rect">
            <a:avLst/>
          </a:prstGeom>
          <a:noFill/>
          <a:ln/>
        </p:spPr>
        <p:txBody>
          <a:bodyPr wrap="square" lIns="0" tIns="0" rIns="0" bIns="0" rtlCol="0" anchor="ctr"/>
          <a:lstStyle/>
          <a:p>
            <a:pPr indent="0" marL="0">
              <a:buNone/>
            </a:pPr>
            <a:r>
              <a:rPr lang="en-US" sz="1000" b="1" spc="100" kern="0" dirty="0">
                <a:solidFill>
                  <a:schemeClr val="accent1"/>
                </a:solidFill>
              </a:rPr>
              <a:t>DATA TOOLS</a:t>
            </a:r>
            <a:endParaRPr lang="en-US" sz="1000" dirty="0"/>
          </a:p>
        </p:txBody>
      </p:sp>
      <p:sp>
        <p:nvSpPr>
          <p:cNvPr id="20" name="text-448"/>
          <p:cNvSpPr txBox="1"/>
          <p:nvPr/>
        </p:nvSpPr>
        <p:spPr>
          <a:xfrm>
            <a:off x="6420917" y="2404872"/>
            <a:ext cx="2258568" cy="310896"/>
          </a:xfrm>
          <a:prstGeom prst="rect">
            <a:avLst/>
          </a:prstGeom>
          <a:noFill/>
          <a:ln/>
        </p:spPr>
        <p:txBody>
          <a:bodyPr wrap="square" lIns="0" tIns="0" rIns="0" bIns="0" rtlCol="0" anchor="t"/>
          <a:lstStyle/>
          <a:p>
            <a:pPr indent="0" marL="0">
              <a:buNone/>
            </a:pPr>
            <a:r>
              <a:rPr lang="en-US" sz="1600" b="1" dirty="0">
                <a:solidFill>
                  <a:schemeClr val="tx1"/>
                </a:solidFill>
              </a:rPr>
              <a:t>FastMCP</a:t>
            </a:r>
            <a:endParaRPr lang="en-US" sz="1600" dirty="0"/>
          </a:p>
        </p:txBody>
      </p:sp>
      <p:sp>
        <p:nvSpPr>
          <p:cNvPr id="21" name="text-449"/>
          <p:cNvSpPr txBox="1"/>
          <p:nvPr/>
        </p:nvSpPr>
        <p:spPr>
          <a:xfrm>
            <a:off x="6420917" y="2734056"/>
            <a:ext cx="2221992" cy="658368"/>
          </a:xfrm>
          <a:prstGeom prst="rect">
            <a:avLst/>
          </a:prstGeom>
          <a:noFill/>
          <a:ln/>
        </p:spPr>
        <p:txBody>
          <a:bodyPr wrap="square" lIns="0" tIns="0" rIns="0" bIns="0" rtlCol="0" anchor="t"/>
          <a:lstStyle/>
          <a:p>
            <a:pPr indent="0" marL="0">
              <a:buNone/>
            </a:pPr>
            <a:r>
              <a:rPr lang="en-US" sz="1250" dirty="0">
                <a:solidFill>
                  <a:schemeClr val="tx2"/>
                </a:solidFill>
              </a:rPr>
              <a:t>One tool server per sector over official sources</a:t>
            </a:r>
            <a:endParaRPr lang="en-US" sz="1250" dirty="0"/>
          </a:p>
        </p:txBody>
      </p:sp>
      <p:sp>
        <p:nvSpPr>
          <p:cNvPr id="22" name="card-450"/>
          <p:cNvSpPr/>
          <p:nvPr/>
        </p:nvSpPr>
        <p:spPr>
          <a:xfrm>
            <a:off x="9055303" y="1600200"/>
            <a:ext cx="2587752" cy="1874520"/>
          </a:xfrm>
          <a:prstGeom prst="roundRect">
            <a:avLst>
              <a:gd name="adj" fmla="val 5854"/>
            </a:avLst>
          </a:prstGeom>
          <a:solidFill>
            <a:schemeClr val="bg2"/>
          </a:solidFill>
          <a:ln/>
        </p:spPr>
      </p:sp>
      <p:sp>
        <p:nvSpPr>
          <p:cNvPr id="23" name="card-451"/>
          <p:cNvSpPr/>
          <p:nvPr/>
        </p:nvSpPr>
        <p:spPr>
          <a:xfrm>
            <a:off x="9256471" y="1801368"/>
            <a:ext cx="457200" cy="457200"/>
          </a:xfrm>
          <a:prstGeom prst="roundRect">
            <a:avLst>
              <a:gd name="adj" fmla="val 22000"/>
            </a:avLst>
          </a:prstGeom>
          <a:solidFill>
            <a:schemeClr val="tx1"/>
          </a:solidFill>
          <a:ln/>
        </p:spPr>
      </p:sp>
      <p:pic>
        <p:nvPicPr>
          <p:cNvPr id="24" name="icon-452" descr="Server icon">    </p:cNvPr>
          <p:cNvPicPr>
            <a:picLocks noChangeAspect="1"/>
          </p:cNvPicPr>
          <p:nvPr/>
        </p:nvPicPr>
        <p:blipFill>
          <a:blip r:embed="rId4"/>
          <a:stretch>
            <a:fillRect/>
          </a:stretch>
        </p:blipFill>
        <p:spPr>
          <a:xfrm>
            <a:off x="9357055" y="1901952"/>
            <a:ext cx="256032" cy="256032"/>
          </a:xfrm>
          <a:prstGeom prst="rect">
            <a:avLst/>
          </a:prstGeom>
        </p:spPr>
      </p:pic>
      <p:sp>
        <p:nvSpPr>
          <p:cNvPr id="25" name="text-453"/>
          <p:cNvSpPr txBox="1"/>
          <p:nvPr/>
        </p:nvSpPr>
        <p:spPr>
          <a:xfrm>
            <a:off x="9832543" y="1874520"/>
            <a:ext cx="1719072" cy="310896"/>
          </a:xfrm>
          <a:prstGeom prst="rect">
            <a:avLst/>
          </a:prstGeom>
          <a:noFill/>
          <a:ln/>
        </p:spPr>
        <p:txBody>
          <a:bodyPr wrap="square" lIns="0" tIns="0" rIns="0" bIns="0" rtlCol="0" anchor="ctr"/>
          <a:lstStyle/>
          <a:p>
            <a:pPr indent="0" marL="0">
              <a:buNone/>
            </a:pPr>
            <a:r>
              <a:rPr lang="en-US" sz="1000" b="1" spc="100" kern="0" dirty="0">
                <a:solidFill>
                  <a:schemeClr val="accent1"/>
                </a:solidFill>
              </a:rPr>
              <a:t>API GATEWAY</a:t>
            </a:r>
            <a:endParaRPr lang="en-US" sz="1000" dirty="0"/>
          </a:p>
        </p:txBody>
      </p:sp>
      <p:sp>
        <p:nvSpPr>
          <p:cNvPr id="26" name="text-454"/>
          <p:cNvSpPr txBox="1"/>
          <p:nvPr/>
        </p:nvSpPr>
        <p:spPr>
          <a:xfrm>
            <a:off x="9256471" y="2404872"/>
            <a:ext cx="2258568" cy="310896"/>
          </a:xfrm>
          <a:prstGeom prst="rect">
            <a:avLst/>
          </a:prstGeom>
          <a:noFill/>
          <a:ln/>
        </p:spPr>
        <p:txBody>
          <a:bodyPr wrap="square" lIns="0" tIns="0" rIns="0" bIns="0" rtlCol="0" anchor="t"/>
          <a:lstStyle/>
          <a:p>
            <a:pPr indent="0" marL="0">
              <a:buNone/>
            </a:pPr>
            <a:r>
              <a:rPr lang="en-US" sz="1600" b="1" dirty="0">
                <a:solidFill>
                  <a:schemeClr val="tx1"/>
                </a:solidFill>
              </a:rPr>
              <a:t>FastAPI + Uvicorn</a:t>
            </a:r>
            <a:endParaRPr lang="en-US" sz="1600" dirty="0"/>
          </a:p>
        </p:txBody>
      </p:sp>
      <p:sp>
        <p:nvSpPr>
          <p:cNvPr id="27" name="text-455"/>
          <p:cNvSpPr txBox="1"/>
          <p:nvPr/>
        </p:nvSpPr>
        <p:spPr>
          <a:xfrm>
            <a:off x="9256471" y="2734056"/>
            <a:ext cx="2221992" cy="658368"/>
          </a:xfrm>
          <a:prstGeom prst="rect">
            <a:avLst/>
          </a:prstGeom>
          <a:noFill/>
          <a:ln/>
        </p:spPr>
        <p:txBody>
          <a:bodyPr wrap="square" lIns="0" tIns="0" rIns="0" bIns="0" rtlCol="0" anchor="t"/>
          <a:lstStyle/>
          <a:p>
            <a:pPr indent="0" marL="0">
              <a:buNone/>
            </a:pPr>
            <a:r>
              <a:rPr lang="en-US" sz="1250" dirty="0">
                <a:solidFill>
                  <a:schemeClr val="tx2"/>
                </a:solidFill>
              </a:rPr>
              <a:t>REST endpoints and Server-Sent Events chat stream</a:t>
            </a:r>
            <a:endParaRPr lang="en-US" sz="1250" dirty="0"/>
          </a:p>
        </p:txBody>
      </p:sp>
      <p:sp>
        <p:nvSpPr>
          <p:cNvPr id="28" name="card-456"/>
          <p:cNvSpPr/>
          <p:nvPr/>
        </p:nvSpPr>
        <p:spPr>
          <a:xfrm>
            <a:off x="548640" y="3675888"/>
            <a:ext cx="2587752" cy="1874520"/>
          </a:xfrm>
          <a:prstGeom prst="roundRect">
            <a:avLst>
              <a:gd name="adj" fmla="val 5854"/>
            </a:avLst>
          </a:prstGeom>
          <a:solidFill>
            <a:schemeClr val="bg2"/>
          </a:solidFill>
          <a:ln/>
        </p:spPr>
      </p:sp>
      <p:sp>
        <p:nvSpPr>
          <p:cNvPr id="29" name="card-457"/>
          <p:cNvSpPr/>
          <p:nvPr/>
        </p:nvSpPr>
        <p:spPr>
          <a:xfrm>
            <a:off x="749808" y="3877056"/>
            <a:ext cx="457200" cy="457200"/>
          </a:xfrm>
          <a:prstGeom prst="roundRect">
            <a:avLst>
              <a:gd name="adj" fmla="val 22000"/>
            </a:avLst>
          </a:prstGeom>
          <a:solidFill>
            <a:schemeClr val="accent1"/>
          </a:solidFill>
          <a:ln/>
        </p:spPr>
      </p:sp>
      <p:pic>
        <p:nvPicPr>
          <p:cNvPr id="30" name="icon-458" descr="Archive icon">    </p:cNvPr>
          <p:cNvPicPr>
            <a:picLocks noChangeAspect="1"/>
          </p:cNvPicPr>
          <p:nvPr/>
        </p:nvPicPr>
        <p:blipFill>
          <a:blip r:embed="rId5"/>
          <a:stretch>
            <a:fillRect/>
          </a:stretch>
        </p:blipFill>
        <p:spPr>
          <a:xfrm>
            <a:off x="850392" y="3977640"/>
            <a:ext cx="256032" cy="256032"/>
          </a:xfrm>
          <a:prstGeom prst="rect">
            <a:avLst/>
          </a:prstGeom>
        </p:spPr>
      </p:pic>
      <p:sp>
        <p:nvSpPr>
          <p:cNvPr id="31" name="text-459"/>
          <p:cNvSpPr txBox="1"/>
          <p:nvPr/>
        </p:nvSpPr>
        <p:spPr>
          <a:xfrm>
            <a:off x="1325880" y="3950208"/>
            <a:ext cx="1719072" cy="310896"/>
          </a:xfrm>
          <a:prstGeom prst="rect">
            <a:avLst/>
          </a:prstGeom>
          <a:noFill/>
          <a:ln/>
        </p:spPr>
        <p:txBody>
          <a:bodyPr wrap="square" lIns="0" tIns="0" rIns="0" bIns="0" rtlCol="0" anchor="ctr"/>
          <a:lstStyle/>
          <a:p>
            <a:pPr indent="0" marL="0">
              <a:buNone/>
            </a:pPr>
            <a:r>
              <a:rPr lang="en-US" sz="1000" b="1" spc="100" kern="0" dirty="0">
                <a:solidFill>
                  <a:schemeClr val="accent1"/>
                </a:solidFill>
              </a:rPr>
              <a:t>STORAGE</a:t>
            </a:r>
            <a:endParaRPr lang="en-US" sz="1000" dirty="0"/>
          </a:p>
        </p:txBody>
      </p:sp>
      <p:sp>
        <p:nvSpPr>
          <p:cNvPr id="32" name="text-460"/>
          <p:cNvSpPr txBox="1"/>
          <p:nvPr/>
        </p:nvSpPr>
        <p:spPr>
          <a:xfrm>
            <a:off x="749808" y="4480560"/>
            <a:ext cx="2258568" cy="310896"/>
          </a:xfrm>
          <a:prstGeom prst="rect">
            <a:avLst/>
          </a:prstGeom>
          <a:noFill/>
          <a:ln/>
        </p:spPr>
        <p:txBody>
          <a:bodyPr wrap="square" lIns="0" tIns="0" rIns="0" bIns="0" rtlCol="0" anchor="t"/>
          <a:lstStyle/>
          <a:p>
            <a:pPr indent="0" marL="0">
              <a:buNone/>
            </a:pPr>
            <a:r>
              <a:rPr lang="en-US" sz="1600" b="1" dirty="0">
                <a:solidFill>
                  <a:schemeClr val="tx1"/>
                </a:solidFill>
              </a:rPr>
              <a:t>DuckDB + SQLite</a:t>
            </a:r>
            <a:endParaRPr lang="en-US" sz="1600" dirty="0"/>
          </a:p>
        </p:txBody>
      </p:sp>
      <p:sp>
        <p:nvSpPr>
          <p:cNvPr id="33" name="text-461"/>
          <p:cNvSpPr txBox="1"/>
          <p:nvPr/>
        </p:nvSpPr>
        <p:spPr>
          <a:xfrm>
            <a:off x="749808" y="4809744"/>
            <a:ext cx="2221992" cy="658368"/>
          </a:xfrm>
          <a:prstGeom prst="rect">
            <a:avLst/>
          </a:prstGeom>
          <a:noFill/>
          <a:ln/>
        </p:spPr>
        <p:txBody>
          <a:bodyPr wrap="square" lIns="0" tIns="0" rIns="0" bIns="0" rtlCol="0" anchor="t"/>
          <a:lstStyle/>
          <a:p>
            <a:pPr indent="0" marL="0">
              <a:buNone/>
            </a:pPr>
            <a:r>
              <a:rPr lang="en-US" sz="1250" dirty="0">
                <a:solidFill>
                  <a:schemeClr val="tx2"/>
                </a:solidFill>
              </a:rPr>
              <a:t>Sector stores, canonical store and claim audit log</a:t>
            </a:r>
            <a:endParaRPr lang="en-US" sz="1250" dirty="0"/>
          </a:p>
        </p:txBody>
      </p:sp>
      <p:sp>
        <p:nvSpPr>
          <p:cNvPr id="34" name="card-462"/>
          <p:cNvSpPr/>
          <p:nvPr/>
        </p:nvSpPr>
        <p:spPr>
          <a:xfrm>
            <a:off x="3384194" y="3675888"/>
            <a:ext cx="2587752" cy="1874520"/>
          </a:xfrm>
          <a:prstGeom prst="roundRect">
            <a:avLst>
              <a:gd name="adj" fmla="val 5854"/>
            </a:avLst>
          </a:prstGeom>
          <a:solidFill>
            <a:schemeClr val="bg2"/>
          </a:solidFill>
          <a:ln/>
        </p:spPr>
      </p:sp>
      <p:sp>
        <p:nvSpPr>
          <p:cNvPr id="35" name="card-463"/>
          <p:cNvSpPr/>
          <p:nvPr/>
        </p:nvSpPr>
        <p:spPr>
          <a:xfrm>
            <a:off x="3585362" y="3877056"/>
            <a:ext cx="457200" cy="457200"/>
          </a:xfrm>
          <a:prstGeom prst="roundRect">
            <a:avLst>
              <a:gd name="adj" fmla="val 22000"/>
            </a:avLst>
          </a:prstGeom>
          <a:solidFill>
            <a:schemeClr val="tx1"/>
          </a:solidFill>
          <a:ln/>
        </p:spPr>
      </p:sp>
      <p:pic>
        <p:nvPicPr>
          <p:cNvPr id="36" name="icon-464" descr="Waypoints icon">    </p:cNvPr>
          <p:cNvPicPr>
            <a:picLocks noChangeAspect="1"/>
          </p:cNvPicPr>
          <p:nvPr/>
        </p:nvPicPr>
        <p:blipFill>
          <a:blip r:embed="rId6"/>
          <a:stretch>
            <a:fillRect/>
          </a:stretch>
        </p:blipFill>
        <p:spPr>
          <a:xfrm>
            <a:off x="3685946" y="3977640"/>
            <a:ext cx="256032" cy="256032"/>
          </a:xfrm>
          <a:prstGeom prst="rect">
            <a:avLst/>
          </a:prstGeom>
        </p:spPr>
      </p:pic>
      <p:sp>
        <p:nvSpPr>
          <p:cNvPr id="37" name="text-465"/>
          <p:cNvSpPr txBox="1"/>
          <p:nvPr/>
        </p:nvSpPr>
        <p:spPr>
          <a:xfrm>
            <a:off x="4161434" y="3950208"/>
            <a:ext cx="1719072" cy="310896"/>
          </a:xfrm>
          <a:prstGeom prst="rect">
            <a:avLst/>
          </a:prstGeom>
          <a:noFill/>
          <a:ln/>
        </p:spPr>
        <p:txBody>
          <a:bodyPr wrap="square" lIns="0" tIns="0" rIns="0" bIns="0" rtlCol="0" anchor="ctr"/>
          <a:lstStyle/>
          <a:p>
            <a:pPr indent="0" marL="0">
              <a:buNone/>
            </a:pPr>
            <a:r>
              <a:rPr lang="en-US" sz="1000" b="1" spc="100" kern="0" dirty="0">
                <a:solidFill>
                  <a:schemeClr val="accent1"/>
                </a:solidFill>
              </a:rPr>
              <a:t>GRAPH AND STATISTICS</a:t>
            </a:r>
            <a:endParaRPr lang="en-US" sz="1000" dirty="0"/>
          </a:p>
        </p:txBody>
      </p:sp>
      <p:sp>
        <p:nvSpPr>
          <p:cNvPr id="38" name="text-466"/>
          <p:cNvSpPr txBox="1"/>
          <p:nvPr/>
        </p:nvSpPr>
        <p:spPr>
          <a:xfrm>
            <a:off x="3585362" y="4480560"/>
            <a:ext cx="2258568" cy="310896"/>
          </a:xfrm>
          <a:prstGeom prst="rect">
            <a:avLst/>
          </a:prstGeom>
          <a:noFill/>
          <a:ln/>
        </p:spPr>
        <p:txBody>
          <a:bodyPr wrap="square" lIns="0" tIns="0" rIns="0" bIns="0" rtlCol="0" anchor="t"/>
          <a:lstStyle/>
          <a:p>
            <a:pPr indent="0" marL="0">
              <a:buNone/>
            </a:pPr>
            <a:r>
              <a:rPr lang="en-US" sz="1600" b="1" dirty="0">
                <a:solidFill>
                  <a:schemeClr val="tx1"/>
                </a:solidFill>
              </a:rPr>
              <a:t>NetworkX + statsmodels</a:t>
            </a:r>
            <a:endParaRPr lang="en-US" sz="1600" dirty="0"/>
          </a:p>
        </p:txBody>
      </p:sp>
      <p:sp>
        <p:nvSpPr>
          <p:cNvPr id="39" name="text-467"/>
          <p:cNvSpPr txBox="1"/>
          <p:nvPr/>
        </p:nvSpPr>
        <p:spPr>
          <a:xfrm>
            <a:off x="3585362" y="4809744"/>
            <a:ext cx="2221992" cy="658368"/>
          </a:xfrm>
          <a:prstGeom prst="rect">
            <a:avLst/>
          </a:prstGeom>
          <a:noFill/>
          <a:ln/>
        </p:spPr>
        <p:txBody>
          <a:bodyPr wrap="square" lIns="0" tIns="0" rIns="0" bIns="0" rtlCol="0" anchor="t"/>
          <a:lstStyle/>
          <a:p>
            <a:pPr indent="0" marL="0">
              <a:buNone/>
            </a:pPr>
            <a:r>
              <a:rPr lang="en-US" sz="1250" dirty="0">
                <a:solidFill>
                  <a:schemeClr val="tx2"/>
                </a:solidFill>
              </a:rPr>
              <a:t>Path queries, impact queries and Granger tests</a:t>
            </a:r>
            <a:endParaRPr lang="en-US" sz="1250" dirty="0"/>
          </a:p>
        </p:txBody>
      </p:sp>
      <p:sp>
        <p:nvSpPr>
          <p:cNvPr id="40" name="card-468"/>
          <p:cNvSpPr/>
          <p:nvPr/>
        </p:nvSpPr>
        <p:spPr>
          <a:xfrm>
            <a:off x="6219749" y="3675888"/>
            <a:ext cx="2587752" cy="1874520"/>
          </a:xfrm>
          <a:prstGeom prst="roundRect">
            <a:avLst>
              <a:gd name="adj" fmla="val 5854"/>
            </a:avLst>
          </a:prstGeom>
          <a:solidFill>
            <a:schemeClr val="bg2"/>
          </a:solidFill>
          <a:ln/>
        </p:spPr>
      </p:sp>
      <p:sp>
        <p:nvSpPr>
          <p:cNvPr id="41" name="card-469"/>
          <p:cNvSpPr/>
          <p:nvPr/>
        </p:nvSpPr>
        <p:spPr>
          <a:xfrm>
            <a:off x="6420917" y="3877056"/>
            <a:ext cx="457200" cy="457200"/>
          </a:xfrm>
          <a:prstGeom prst="roundRect">
            <a:avLst>
              <a:gd name="adj" fmla="val 22000"/>
            </a:avLst>
          </a:prstGeom>
          <a:solidFill>
            <a:schemeClr val="accent1"/>
          </a:solidFill>
          <a:ln/>
        </p:spPr>
      </p:sp>
      <p:pic>
        <p:nvPicPr>
          <p:cNvPr id="42" name="icon-470" descr="Brain icon">    </p:cNvPr>
          <p:cNvPicPr>
            <a:picLocks noChangeAspect="1"/>
          </p:cNvPicPr>
          <p:nvPr/>
        </p:nvPicPr>
        <p:blipFill>
          <a:blip r:embed="rId7"/>
          <a:stretch>
            <a:fillRect/>
          </a:stretch>
        </p:blipFill>
        <p:spPr>
          <a:xfrm>
            <a:off x="6521501" y="3977640"/>
            <a:ext cx="256032" cy="256032"/>
          </a:xfrm>
          <a:prstGeom prst="rect">
            <a:avLst/>
          </a:prstGeom>
        </p:spPr>
      </p:pic>
      <p:sp>
        <p:nvSpPr>
          <p:cNvPr id="43" name="text-471"/>
          <p:cNvSpPr txBox="1"/>
          <p:nvPr/>
        </p:nvSpPr>
        <p:spPr>
          <a:xfrm>
            <a:off x="6996989" y="3950208"/>
            <a:ext cx="1719072" cy="310896"/>
          </a:xfrm>
          <a:prstGeom prst="rect">
            <a:avLst/>
          </a:prstGeom>
          <a:noFill/>
          <a:ln/>
        </p:spPr>
        <p:txBody>
          <a:bodyPr wrap="square" lIns="0" tIns="0" rIns="0" bIns="0" rtlCol="0" anchor="ctr"/>
          <a:lstStyle/>
          <a:p>
            <a:pPr indent="0" marL="0">
              <a:buNone/>
            </a:pPr>
            <a:r>
              <a:rPr lang="en-US" sz="1000" b="1" spc="100" kern="0" dirty="0">
                <a:solidFill>
                  <a:schemeClr val="accent1"/>
                </a:solidFill>
              </a:rPr>
              <a:t>LANGUAGE MODELS</a:t>
            </a:r>
            <a:endParaRPr lang="en-US" sz="1000" dirty="0"/>
          </a:p>
        </p:txBody>
      </p:sp>
      <p:sp>
        <p:nvSpPr>
          <p:cNvPr id="44" name="text-472"/>
          <p:cNvSpPr txBox="1"/>
          <p:nvPr/>
        </p:nvSpPr>
        <p:spPr>
          <a:xfrm>
            <a:off x="6420917" y="4480560"/>
            <a:ext cx="2258568" cy="310896"/>
          </a:xfrm>
          <a:prstGeom prst="rect">
            <a:avLst/>
          </a:prstGeom>
          <a:noFill/>
          <a:ln/>
        </p:spPr>
        <p:txBody>
          <a:bodyPr wrap="square" lIns="0" tIns="0" rIns="0" bIns="0" rtlCol="0" anchor="t"/>
          <a:lstStyle/>
          <a:p>
            <a:pPr indent="0" marL="0">
              <a:buNone/>
            </a:pPr>
            <a:r>
              <a:rPr lang="en-US" sz="1600" b="1" dirty="0">
                <a:solidFill>
                  <a:schemeClr val="tx1"/>
                </a:solidFill>
              </a:rPr>
              <a:t>Groq gpt-oss-20b / 120b</a:t>
            </a:r>
            <a:endParaRPr lang="en-US" sz="1600" dirty="0"/>
          </a:p>
        </p:txBody>
      </p:sp>
      <p:sp>
        <p:nvSpPr>
          <p:cNvPr id="45" name="text-473"/>
          <p:cNvSpPr txBox="1"/>
          <p:nvPr/>
        </p:nvSpPr>
        <p:spPr>
          <a:xfrm>
            <a:off x="6420917" y="4809744"/>
            <a:ext cx="2221992" cy="658368"/>
          </a:xfrm>
          <a:prstGeom prst="rect">
            <a:avLst/>
          </a:prstGeom>
          <a:noFill/>
          <a:ln/>
        </p:spPr>
        <p:txBody>
          <a:bodyPr wrap="square" lIns="0" tIns="0" rIns="0" bIns="0" rtlCol="0" anchor="t"/>
          <a:lstStyle/>
          <a:p>
            <a:pPr indent="0" marL="0">
              <a:buNone/>
            </a:pPr>
            <a:r>
              <a:rPr lang="en-US" sz="1250" dirty="0">
                <a:solidFill>
                  <a:schemeClr val="tx2"/>
                </a:solidFill>
              </a:rPr>
              <a:t>Fast and reasoning models with offline fallback</a:t>
            </a:r>
            <a:endParaRPr lang="en-US" sz="1250" dirty="0"/>
          </a:p>
        </p:txBody>
      </p:sp>
      <p:sp>
        <p:nvSpPr>
          <p:cNvPr id="46" name="card-474"/>
          <p:cNvSpPr/>
          <p:nvPr/>
        </p:nvSpPr>
        <p:spPr>
          <a:xfrm>
            <a:off x="9055303" y="3675888"/>
            <a:ext cx="2587752" cy="1874520"/>
          </a:xfrm>
          <a:prstGeom prst="roundRect">
            <a:avLst>
              <a:gd name="adj" fmla="val 5854"/>
            </a:avLst>
          </a:prstGeom>
          <a:solidFill>
            <a:schemeClr val="bg2"/>
          </a:solidFill>
          <a:ln/>
        </p:spPr>
      </p:sp>
      <p:sp>
        <p:nvSpPr>
          <p:cNvPr id="47" name="card-475"/>
          <p:cNvSpPr/>
          <p:nvPr/>
        </p:nvSpPr>
        <p:spPr>
          <a:xfrm>
            <a:off x="9256471" y="3877056"/>
            <a:ext cx="457200" cy="457200"/>
          </a:xfrm>
          <a:prstGeom prst="roundRect">
            <a:avLst>
              <a:gd name="adj" fmla="val 22000"/>
            </a:avLst>
          </a:prstGeom>
          <a:solidFill>
            <a:schemeClr val="tx1"/>
          </a:solidFill>
          <a:ln/>
        </p:spPr>
      </p:sp>
      <p:pic>
        <p:nvPicPr>
          <p:cNvPr id="48" name="icon-476" descr="Monitor icon">    </p:cNvPr>
          <p:cNvPicPr>
            <a:picLocks noChangeAspect="1"/>
          </p:cNvPicPr>
          <p:nvPr/>
        </p:nvPicPr>
        <p:blipFill>
          <a:blip r:embed="rId8"/>
          <a:stretch>
            <a:fillRect/>
          </a:stretch>
        </p:blipFill>
        <p:spPr>
          <a:xfrm>
            <a:off x="9357055" y="3977640"/>
            <a:ext cx="256032" cy="256032"/>
          </a:xfrm>
          <a:prstGeom prst="rect">
            <a:avLst/>
          </a:prstGeom>
        </p:spPr>
      </p:pic>
      <p:sp>
        <p:nvSpPr>
          <p:cNvPr id="49" name="text-477"/>
          <p:cNvSpPr txBox="1"/>
          <p:nvPr/>
        </p:nvSpPr>
        <p:spPr>
          <a:xfrm>
            <a:off x="9832543" y="3950208"/>
            <a:ext cx="1719072" cy="310896"/>
          </a:xfrm>
          <a:prstGeom prst="rect">
            <a:avLst/>
          </a:prstGeom>
          <a:noFill/>
          <a:ln/>
        </p:spPr>
        <p:txBody>
          <a:bodyPr wrap="square" lIns="0" tIns="0" rIns="0" bIns="0" rtlCol="0" anchor="ctr"/>
          <a:lstStyle/>
          <a:p>
            <a:pPr indent="0" marL="0">
              <a:buNone/>
            </a:pPr>
            <a:r>
              <a:rPr lang="en-US" sz="1000" b="1" spc="100" kern="0" dirty="0">
                <a:solidFill>
                  <a:schemeClr val="accent1"/>
                </a:solidFill>
              </a:rPr>
              <a:t>FRONTEND</a:t>
            </a:r>
            <a:endParaRPr lang="en-US" sz="1000" dirty="0"/>
          </a:p>
        </p:txBody>
      </p:sp>
      <p:sp>
        <p:nvSpPr>
          <p:cNvPr id="50" name="text-478"/>
          <p:cNvSpPr txBox="1"/>
          <p:nvPr/>
        </p:nvSpPr>
        <p:spPr>
          <a:xfrm>
            <a:off x="9256471" y="4480560"/>
            <a:ext cx="2258568" cy="310896"/>
          </a:xfrm>
          <a:prstGeom prst="rect">
            <a:avLst/>
          </a:prstGeom>
          <a:noFill/>
          <a:ln/>
        </p:spPr>
        <p:txBody>
          <a:bodyPr wrap="square" lIns="0" tIns="0" rIns="0" bIns="0" rtlCol="0" anchor="t"/>
          <a:lstStyle/>
          <a:p>
            <a:pPr indent="0" marL="0">
              <a:buNone/>
            </a:pPr>
            <a:r>
              <a:rPr lang="en-US" sz="1600" b="1" dirty="0">
                <a:solidFill>
                  <a:schemeClr val="tx1"/>
                </a:solidFill>
              </a:rPr>
              <a:t>React 18 + TypeScript</a:t>
            </a:r>
            <a:endParaRPr lang="en-US" sz="1600" dirty="0"/>
          </a:p>
        </p:txBody>
      </p:sp>
      <p:sp>
        <p:nvSpPr>
          <p:cNvPr id="51" name="text-479"/>
          <p:cNvSpPr txBox="1"/>
          <p:nvPr/>
        </p:nvSpPr>
        <p:spPr>
          <a:xfrm>
            <a:off x="9256471" y="4809744"/>
            <a:ext cx="2221992" cy="658368"/>
          </a:xfrm>
          <a:prstGeom prst="rect">
            <a:avLst/>
          </a:prstGeom>
          <a:noFill/>
          <a:ln/>
        </p:spPr>
        <p:txBody>
          <a:bodyPr wrap="square" lIns="0" tIns="0" rIns="0" bIns="0" rtlCol="0" anchor="t"/>
          <a:lstStyle/>
          <a:p>
            <a:pPr indent="0" marL="0">
              <a:buNone/>
            </a:pPr>
            <a:r>
              <a:rPr lang="en-US" sz="1250" dirty="0">
                <a:solidFill>
                  <a:schemeClr val="tx2"/>
                </a:solidFill>
              </a:rPr>
              <a:t>Vite, Tailwind, GSAP and Mermaid diagrams</a:t>
            </a:r>
            <a:endParaRPr lang="en-US" sz="1250" dirty="0"/>
          </a:p>
        </p:txBody>
      </p:sp>
      <p:sp>
        <p:nvSpPr>
          <p:cNvPr id="52" name="card-480"/>
          <p:cNvSpPr/>
          <p:nvPr/>
        </p:nvSpPr>
        <p:spPr>
          <a:xfrm>
            <a:off x="548640" y="5733288"/>
            <a:ext cx="11094415" cy="411480"/>
          </a:xfrm>
          <a:prstGeom prst="roundRect">
            <a:avLst>
              <a:gd name="adj" fmla="val 48889"/>
            </a:avLst>
          </a:prstGeom>
          <a:solidFill>
            <a:schemeClr val="bg1"/>
          </a:solidFill>
          <a:ln w="9525">
            <a:solidFill>
              <a:schemeClr val="accent1"/>
            </a:solidFill>
            <a:prstDash val="solid"/>
          </a:ln>
        </p:spPr>
      </p:sp>
      <p:sp>
        <p:nvSpPr>
          <p:cNvPr id="53" name="text-481"/>
          <p:cNvSpPr txBox="1"/>
          <p:nvPr/>
        </p:nvSpPr>
        <p:spPr>
          <a:xfrm>
            <a:off x="822960" y="5733288"/>
            <a:ext cx="10545775" cy="411480"/>
          </a:xfrm>
          <a:prstGeom prst="rect">
            <a:avLst/>
          </a:prstGeom>
          <a:noFill/>
          <a:ln/>
        </p:spPr>
        <p:txBody>
          <a:bodyPr wrap="square" lIns="0" tIns="0" rIns="0" bIns="0" rtlCol="0" anchor="ctr"/>
          <a:lstStyle/>
          <a:p>
            <a:pPr indent="0" marL="0">
              <a:buNone/>
            </a:pPr>
            <a:r>
              <a:rPr lang="en-US" sz="1200" b="1" spc="100" kern="0" dirty="0">
                <a:solidFill>
                  <a:schemeClr val="accent1"/>
                </a:solidFill>
              </a:rPr>
              <a:t>ENGINEERING RULES   </a:t>
            </a:r>
            <a:pPr indent="0" marL="0">
              <a:buNone/>
            </a:pPr>
            <a:r>
              <a:rPr lang="en-US" sz="1200" dirty="0">
                <a:solidFill>
                  <a:schemeClr val="tx1"/>
                </a:solidFill>
              </a:rPr>
              <a:t>Python 3.12 with uv  ·  Pydantic v2 everywhere  ·  async I/O with Tenacity retries  ·  parameterised DuckDB SQL  ·  strict TypeScript</a:t>
            </a:r>
            <a:endParaRPr lang="en-US" sz="1200" dirty="0"/>
          </a:p>
        </p:txBody>
      </p:sp>
      <p:sp>
        <p:nvSpPr>
          <p:cNvPr id="25" name="Slide Number Placeholder 0"/>
          <p:cNvSpPr>
            <a:spLocks noGrp="1"/>
          </p:cNvSpPr>
          <p:nvPr>
            <p:ph type="sldNum" sz="quarter" idx="4294967295"/>
          </p:nvPr>
        </p:nvSpPr>
        <p:spPr>
          <a:xfrm>
            <a:off x="11091672" y="6446520"/>
            <a:ext cx="548640" cy="22860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51607A"/>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ctr"/>
          <a:lstStyle/>
          <a:p>
            <a:pPr indent="0" marL="0">
              <a:buNone/>
            </a:pPr>
            <a:r>
              <a:rPr lang="en-US" sz="1200" b="1" spc="200" kern="0" dirty="0">
                <a:solidFill>
                  <a:schemeClr val="accent1"/>
                </a:solidFill>
              </a:rPr>
              <a:t>ORCHESTRATION</a:t>
            </a:r>
            <a:endParaRPr lang="en-US" sz="1200" dirty="0"/>
          </a:p>
        </p:txBody>
      </p:sp>
      <p:sp>
        <p:nvSpPr>
          <p:cNvPr id="3" name="Text 0"/>
          <p:cNvSpPr/>
          <p:nvPr>
            <p:ph idx="101" type="title" hasCustomPrompt="1"/>
          </p:nvPr>
        </p:nvSpPr>
        <p:spPr>
          <a:xfrm>
            <a:off x="548640" y="676656"/>
            <a:ext cx="11094415" cy="713232"/>
          </a:xfrm>
          <a:prstGeom prst="rect">
            <a:avLst/>
          </a:prstGeom>
          <a:noFill/>
          <a:ln/>
        </p:spPr>
        <p:txBody>
          <a:bodyPr wrap="square" lIns="0" tIns="0" rIns="0" bIns="0" rtlCol="0" anchor="t"/>
          <a:lstStyle/>
          <a:p>
            <a:pPr algn="l" indent="0" marL="0">
              <a:buNone/>
            </a:pPr>
            <a:r>
              <a:rPr lang="en-US" sz="3600" b="1" dirty="0">
                <a:solidFill>
                  <a:schemeClr val="tx1"/>
                </a:solidFill>
              </a:rPr>
              <a:t>From question to cited report in four steps</a:t>
            </a:r>
            <a:endParaRPr lang="en-US" sz="3600" dirty="0"/>
          </a:p>
        </p:txBody>
      </p:sp>
      <p:sp>
        <p:nvSpPr>
          <p:cNvPr id="4" name="card-482"/>
          <p:cNvSpPr/>
          <p:nvPr/>
        </p:nvSpPr>
        <p:spPr>
          <a:xfrm>
            <a:off x="548640" y="1600200"/>
            <a:ext cx="2523744" cy="1783080"/>
          </a:xfrm>
          <a:prstGeom prst="roundRect">
            <a:avLst>
              <a:gd name="adj" fmla="val 5128"/>
            </a:avLst>
          </a:prstGeom>
          <a:solidFill>
            <a:schemeClr val="bg2"/>
          </a:solidFill>
          <a:ln/>
        </p:spPr>
      </p:sp>
      <p:sp>
        <p:nvSpPr>
          <p:cNvPr id="5" name="dot-483"/>
          <p:cNvSpPr/>
          <p:nvPr/>
        </p:nvSpPr>
        <p:spPr>
          <a:xfrm>
            <a:off x="731520" y="1783080"/>
            <a:ext cx="402336" cy="402336"/>
          </a:xfrm>
          <a:prstGeom prst="ellipse">
            <a:avLst/>
          </a:prstGeom>
          <a:solidFill>
            <a:schemeClr val="accent2"/>
          </a:solidFill>
          <a:ln/>
        </p:spPr>
      </p:sp>
      <p:sp>
        <p:nvSpPr>
          <p:cNvPr id="6" name="text-484"/>
          <p:cNvSpPr txBox="1"/>
          <p:nvPr/>
        </p:nvSpPr>
        <p:spPr>
          <a:xfrm>
            <a:off x="731520" y="1783080"/>
            <a:ext cx="402336" cy="402336"/>
          </a:xfrm>
          <a:prstGeom prst="rect">
            <a:avLst/>
          </a:prstGeom>
          <a:noFill/>
          <a:ln/>
        </p:spPr>
        <p:txBody>
          <a:bodyPr wrap="square" lIns="0" tIns="0" rIns="0" bIns="0" rtlCol="0" anchor="ctr"/>
          <a:lstStyle/>
          <a:p>
            <a:pPr algn="ctr" indent="0" marL="0">
              <a:buNone/>
            </a:pPr>
            <a:r>
              <a:rPr lang="en-US" sz="1500" b="1" dirty="0">
                <a:solidFill>
                  <a:schemeClr val="tx1"/>
                </a:solidFill>
              </a:rPr>
              <a:t>1</a:t>
            </a:r>
            <a:endParaRPr lang="en-US" sz="1500" dirty="0"/>
          </a:p>
        </p:txBody>
      </p:sp>
      <p:sp>
        <p:nvSpPr>
          <p:cNvPr id="7" name="text-485"/>
          <p:cNvSpPr txBox="1"/>
          <p:nvPr/>
        </p:nvSpPr>
        <p:spPr>
          <a:xfrm>
            <a:off x="1243584" y="1801368"/>
            <a:ext cx="1700784" cy="365760"/>
          </a:xfrm>
          <a:prstGeom prst="rect">
            <a:avLst/>
          </a:prstGeom>
          <a:noFill/>
          <a:ln/>
        </p:spPr>
        <p:txBody>
          <a:bodyPr wrap="square" lIns="0" tIns="0" rIns="0" bIns="0" rtlCol="0" anchor="ctr"/>
          <a:lstStyle/>
          <a:p>
            <a:pPr indent="0" marL="0">
              <a:buNone/>
            </a:pPr>
            <a:r>
              <a:rPr lang="en-US" sz="1600" b="1" dirty="0">
                <a:solidFill>
                  <a:schemeClr val="tx1"/>
                </a:solidFill>
              </a:rPr>
              <a:t>Route</a:t>
            </a:r>
            <a:endParaRPr lang="en-US" sz="1600" dirty="0"/>
          </a:p>
        </p:txBody>
      </p:sp>
      <p:sp>
        <p:nvSpPr>
          <p:cNvPr id="8" name="text-486"/>
          <p:cNvSpPr txBox="1"/>
          <p:nvPr/>
        </p:nvSpPr>
        <p:spPr>
          <a:xfrm>
            <a:off x="731520" y="2295144"/>
            <a:ext cx="2249424" cy="256032"/>
          </a:xfrm>
          <a:prstGeom prst="rect">
            <a:avLst/>
          </a:prstGeom>
          <a:noFill/>
          <a:ln/>
        </p:spPr>
        <p:txBody>
          <a:bodyPr wrap="square" lIns="0" tIns="0" rIns="0" bIns="0" rtlCol="0" anchor="t"/>
          <a:lstStyle/>
          <a:p>
            <a:pPr indent="0" marL="0">
              <a:buNone/>
            </a:pPr>
            <a:r>
              <a:rPr lang="en-US" sz="1150" b="1" dirty="0">
                <a:solidFill>
                  <a:schemeClr val="accent1"/>
                </a:solidFill>
                <a:latin typeface="Consolas" pitchFamily="34" charset="0"/>
                <a:ea typeface="Consolas" pitchFamily="34" charset="-122"/>
                <a:cs typeface="Consolas" pitchFamily="34" charset="-120"/>
              </a:rPr>
              <a:t>decompose</a:t>
            </a:r>
            <a:endParaRPr lang="en-US" sz="1150" dirty="0"/>
          </a:p>
        </p:txBody>
      </p:sp>
      <p:sp>
        <p:nvSpPr>
          <p:cNvPr id="9" name="text-487"/>
          <p:cNvSpPr txBox="1"/>
          <p:nvPr/>
        </p:nvSpPr>
        <p:spPr>
          <a:xfrm>
            <a:off x="731520" y="2587752"/>
            <a:ext cx="2203704" cy="731520"/>
          </a:xfrm>
          <a:prstGeom prst="rect">
            <a:avLst/>
          </a:prstGeom>
          <a:noFill/>
          <a:ln/>
        </p:spPr>
        <p:txBody>
          <a:bodyPr wrap="square" lIns="0" tIns="0" rIns="0" bIns="0" rtlCol="0" anchor="t"/>
          <a:lstStyle/>
          <a:p>
            <a:pPr indent="0" marL="0">
              <a:buNone/>
            </a:pPr>
            <a:r>
              <a:rPr lang="en-US" sz="1250" dirty="0">
                <a:solidFill>
                  <a:schemeClr val="tx2"/>
                </a:solidFill>
              </a:rPr>
              <a:t>Scores Agent Cards against the query; an LLM chooses only if no card matches</a:t>
            </a:r>
            <a:endParaRPr lang="en-US" sz="1250" dirty="0"/>
          </a:p>
        </p:txBody>
      </p:sp>
      <p:sp>
        <p:nvSpPr>
          <p:cNvPr id="10" name="link-488"/>
          <p:cNvSpPr/>
          <p:nvPr/>
        </p:nvSpPr>
        <p:spPr>
          <a:xfrm>
            <a:off x="3127248" y="2487168"/>
            <a:ext cx="223418" cy="0"/>
          </a:xfrm>
          <a:prstGeom prst="line">
            <a:avLst/>
          </a:prstGeom>
          <a:noFill/>
          <a:ln w="25400">
            <a:solidFill>
              <a:schemeClr val="accent1"/>
            </a:solidFill>
            <a:prstDash val="solid"/>
            <a:tailEnd type="triangle"/>
          </a:ln>
        </p:spPr>
      </p:sp>
      <p:sp>
        <p:nvSpPr>
          <p:cNvPr id="11" name="card-489"/>
          <p:cNvSpPr/>
          <p:nvPr/>
        </p:nvSpPr>
        <p:spPr>
          <a:xfrm>
            <a:off x="3405530" y="1600200"/>
            <a:ext cx="2523744" cy="1783080"/>
          </a:xfrm>
          <a:prstGeom prst="roundRect">
            <a:avLst>
              <a:gd name="adj" fmla="val 5128"/>
            </a:avLst>
          </a:prstGeom>
          <a:solidFill>
            <a:schemeClr val="bg2"/>
          </a:solidFill>
          <a:ln/>
        </p:spPr>
      </p:sp>
      <p:sp>
        <p:nvSpPr>
          <p:cNvPr id="12" name="dot-490"/>
          <p:cNvSpPr/>
          <p:nvPr/>
        </p:nvSpPr>
        <p:spPr>
          <a:xfrm>
            <a:off x="3588410" y="1783080"/>
            <a:ext cx="402336" cy="402336"/>
          </a:xfrm>
          <a:prstGeom prst="ellipse">
            <a:avLst/>
          </a:prstGeom>
          <a:solidFill>
            <a:schemeClr val="accent2"/>
          </a:solidFill>
          <a:ln/>
        </p:spPr>
      </p:sp>
      <p:sp>
        <p:nvSpPr>
          <p:cNvPr id="13" name="text-491"/>
          <p:cNvSpPr txBox="1"/>
          <p:nvPr/>
        </p:nvSpPr>
        <p:spPr>
          <a:xfrm>
            <a:off x="3588410" y="1783080"/>
            <a:ext cx="402336" cy="402336"/>
          </a:xfrm>
          <a:prstGeom prst="rect">
            <a:avLst/>
          </a:prstGeom>
          <a:noFill/>
          <a:ln/>
        </p:spPr>
        <p:txBody>
          <a:bodyPr wrap="square" lIns="0" tIns="0" rIns="0" bIns="0" rtlCol="0" anchor="ctr"/>
          <a:lstStyle/>
          <a:p>
            <a:pPr algn="ctr" indent="0" marL="0">
              <a:buNone/>
            </a:pPr>
            <a:r>
              <a:rPr lang="en-US" sz="1500" b="1" dirty="0">
                <a:solidFill>
                  <a:schemeClr val="tx1"/>
                </a:solidFill>
              </a:rPr>
              <a:t>2</a:t>
            </a:r>
            <a:endParaRPr lang="en-US" sz="1500" dirty="0"/>
          </a:p>
        </p:txBody>
      </p:sp>
      <p:sp>
        <p:nvSpPr>
          <p:cNvPr id="14" name="text-492"/>
          <p:cNvSpPr txBox="1"/>
          <p:nvPr/>
        </p:nvSpPr>
        <p:spPr>
          <a:xfrm>
            <a:off x="4100474" y="1801368"/>
            <a:ext cx="1700784" cy="365760"/>
          </a:xfrm>
          <a:prstGeom prst="rect">
            <a:avLst/>
          </a:prstGeom>
          <a:noFill/>
          <a:ln/>
        </p:spPr>
        <p:txBody>
          <a:bodyPr wrap="square" lIns="0" tIns="0" rIns="0" bIns="0" rtlCol="0" anchor="ctr"/>
          <a:lstStyle/>
          <a:p>
            <a:pPr indent="0" marL="0">
              <a:buNone/>
            </a:pPr>
            <a:r>
              <a:rPr lang="en-US" sz="1600" b="1" dirty="0">
                <a:solidFill>
                  <a:schemeClr val="tx1"/>
                </a:solidFill>
              </a:rPr>
              <a:t>Delegate</a:t>
            </a:r>
            <a:endParaRPr lang="en-US" sz="1600" dirty="0"/>
          </a:p>
        </p:txBody>
      </p:sp>
      <p:sp>
        <p:nvSpPr>
          <p:cNvPr id="15" name="text-493"/>
          <p:cNvSpPr txBox="1"/>
          <p:nvPr/>
        </p:nvSpPr>
        <p:spPr>
          <a:xfrm>
            <a:off x="3588410" y="2295144"/>
            <a:ext cx="2249424" cy="256032"/>
          </a:xfrm>
          <a:prstGeom prst="rect">
            <a:avLst/>
          </a:prstGeom>
          <a:noFill/>
          <a:ln/>
        </p:spPr>
        <p:txBody>
          <a:bodyPr wrap="square" lIns="0" tIns="0" rIns="0" bIns="0" rtlCol="0" anchor="t"/>
          <a:lstStyle/>
          <a:p>
            <a:pPr indent="0" marL="0">
              <a:buNone/>
            </a:pPr>
            <a:r>
              <a:rPr lang="en-US" sz="1150" b="1" dirty="0">
                <a:solidFill>
                  <a:schemeClr val="accent1"/>
                </a:solidFill>
                <a:latin typeface="Consolas" pitchFamily="34" charset="0"/>
                <a:ea typeface="Consolas" pitchFamily="34" charset="-122"/>
                <a:cs typeface="Consolas" pitchFamily="34" charset="-120"/>
              </a:rPr>
              <a:t>parallel_a2a_execute</a:t>
            </a:r>
            <a:endParaRPr lang="en-US" sz="1150" dirty="0"/>
          </a:p>
        </p:txBody>
      </p:sp>
      <p:sp>
        <p:nvSpPr>
          <p:cNvPr id="16" name="text-494"/>
          <p:cNvSpPr txBox="1"/>
          <p:nvPr/>
        </p:nvSpPr>
        <p:spPr>
          <a:xfrm>
            <a:off x="3588410" y="2587752"/>
            <a:ext cx="2203704" cy="731520"/>
          </a:xfrm>
          <a:prstGeom prst="rect">
            <a:avLst/>
          </a:prstGeom>
          <a:noFill/>
          <a:ln/>
        </p:spPr>
        <p:txBody>
          <a:bodyPr wrap="square" lIns="0" tIns="0" rIns="0" bIns="0" rtlCol="0" anchor="t"/>
          <a:lstStyle/>
          <a:p>
            <a:pPr indent="0" marL="0">
              <a:buNone/>
            </a:pPr>
            <a:r>
              <a:rPr lang="en-US" sz="1250" dirty="0">
                <a:solidFill>
                  <a:schemeClr val="tx2"/>
                </a:solidFill>
              </a:rPr>
              <a:t>Concurrent sector_analysis requests, plus one bounded follow-up round</a:t>
            </a:r>
            <a:endParaRPr lang="en-US" sz="1250" dirty="0"/>
          </a:p>
        </p:txBody>
      </p:sp>
      <p:sp>
        <p:nvSpPr>
          <p:cNvPr id="17" name="link-495"/>
          <p:cNvSpPr/>
          <p:nvPr/>
        </p:nvSpPr>
        <p:spPr>
          <a:xfrm>
            <a:off x="5984138" y="2487168"/>
            <a:ext cx="223418" cy="0"/>
          </a:xfrm>
          <a:prstGeom prst="line">
            <a:avLst/>
          </a:prstGeom>
          <a:noFill/>
          <a:ln w="25400">
            <a:solidFill>
              <a:schemeClr val="accent1"/>
            </a:solidFill>
            <a:prstDash val="solid"/>
            <a:tailEnd type="triangle"/>
          </a:ln>
        </p:spPr>
      </p:sp>
      <p:sp>
        <p:nvSpPr>
          <p:cNvPr id="18" name="card-496"/>
          <p:cNvSpPr/>
          <p:nvPr/>
        </p:nvSpPr>
        <p:spPr>
          <a:xfrm>
            <a:off x="6262421" y="1600200"/>
            <a:ext cx="2523744" cy="1783080"/>
          </a:xfrm>
          <a:prstGeom prst="roundRect">
            <a:avLst>
              <a:gd name="adj" fmla="val 5128"/>
            </a:avLst>
          </a:prstGeom>
          <a:solidFill>
            <a:schemeClr val="bg2"/>
          </a:solidFill>
          <a:ln/>
        </p:spPr>
      </p:sp>
      <p:sp>
        <p:nvSpPr>
          <p:cNvPr id="19" name="dot-497"/>
          <p:cNvSpPr/>
          <p:nvPr/>
        </p:nvSpPr>
        <p:spPr>
          <a:xfrm>
            <a:off x="6445301" y="1783080"/>
            <a:ext cx="402336" cy="402336"/>
          </a:xfrm>
          <a:prstGeom prst="ellipse">
            <a:avLst/>
          </a:prstGeom>
          <a:solidFill>
            <a:schemeClr val="accent2"/>
          </a:solidFill>
          <a:ln/>
        </p:spPr>
      </p:sp>
      <p:sp>
        <p:nvSpPr>
          <p:cNvPr id="20" name="text-498"/>
          <p:cNvSpPr txBox="1"/>
          <p:nvPr/>
        </p:nvSpPr>
        <p:spPr>
          <a:xfrm>
            <a:off x="6445301" y="1783080"/>
            <a:ext cx="402336" cy="402336"/>
          </a:xfrm>
          <a:prstGeom prst="rect">
            <a:avLst/>
          </a:prstGeom>
          <a:noFill/>
          <a:ln/>
        </p:spPr>
        <p:txBody>
          <a:bodyPr wrap="square" lIns="0" tIns="0" rIns="0" bIns="0" rtlCol="0" anchor="ctr"/>
          <a:lstStyle/>
          <a:p>
            <a:pPr algn="ctr" indent="0" marL="0">
              <a:buNone/>
            </a:pPr>
            <a:r>
              <a:rPr lang="en-US" sz="1500" b="1" dirty="0">
                <a:solidFill>
                  <a:schemeClr val="tx1"/>
                </a:solidFill>
              </a:rPr>
              <a:t>3</a:t>
            </a:r>
            <a:endParaRPr lang="en-US" sz="1500" dirty="0"/>
          </a:p>
        </p:txBody>
      </p:sp>
      <p:sp>
        <p:nvSpPr>
          <p:cNvPr id="21" name="text-499"/>
          <p:cNvSpPr txBox="1"/>
          <p:nvPr/>
        </p:nvSpPr>
        <p:spPr>
          <a:xfrm>
            <a:off x="6957365" y="1801368"/>
            <a:ext cx="1700784" cy="365760"/>
          </a:xfrm>
          <a:prstGeom prst="rect">
            <a:avLst/>
          </a:prstGeom>
          <a:noFill/>
          <a:ln/>
        </p:spPr>
        <p:txBody>
          <a:bodyPr wrap="square" lIns="0" tIns="0" rIns="0" bIns="0" rtlCol="0" anchor="ctr"/>
          <a:lstStyle/>
          <a:p>
            <a:pPr indent="0" marL="0">
              <a:buNone/>
            </a:pPr>
            <a:r>
              <a:rPr lang="en-US" sz="1600" b="1" dirty="0">
                <a:solidFill>
                  <a:schemeClr val="tx1"/>
                </a:solidFill>
              </a:rPr>
              <a:t>Enrich</a:t>
            </a:r>
            <a:endParaRPr lang="en-US" sz="1600" dirty="0"/>
          </a:p>
        </p:txBody>
      </p:sp>
      <p:sp>
        <p:nvSpPr>
          <p:cNvPr id="22" name="text-500"/>
          <p:cNvSpPr txBox="1"/>
          <p:nvPr/>
        </p:nvSpPr>
        <p:spPr>
          <a:xfrm>
            <a:off x="6445301" y="2295144"/>
            <a:ext cx="2249424" cy="256032"/>
          </a:xfrm>
          <a:prstGeom prst="rect">
            <a:avLst/>
          </a:prstGeom>
          <a:noFill/>
          <a:ln/>
        </p:spPr>
        <p:txBody>
          <a:bodyPr wrap="square" lIns="0" tIns="0" rIns="0" bIns="0" rtlCol="0" anchor="t"/>
          <a:lstStyle/>
          <a:p>
            <a:pPr indent="0" marL="0">
              <a:buNone/>
            </a:pPr>
            <a:r>
              <a:rPr lang="en-US" sz="1150" b="1" dirty="0">
                <a:solidFill>
                  <a:schemeClr val="accent1"/>
                </a:solidFill>
                <a:latin typeface="Consolas" pitchFamily="34" charset="0"/>
                <a:ea typeface="Consolas" pitchFamily="34" charset="-122"/>
                <a:cs typeface="Consolas" pitchFamily="34" charset="-120"/>
              </a:rPr>
              <a:t>kg_causal_enrichment</a:t>
            </a:r>
            <a:endParaRPr lang="en-US" sz="1150" dirty="0"/>
          </a:p>
        </p:txBody>
      </p:sp>
      <p:sp>
        <p:nvSpPr>
          <p:cNvPr id="23" name="text-501"/>
          <p:cNvSpPr txBox="1"/>
          <p:nvPr/>
        </p:nvSpPr>
        <p:spPr>
          <a:xfrm>
            <a:off x="6445301" y="2587752"/>
            <a:ext cx="2203704" cy="731520"/>
          </a:xfrm>
          <a:prstGeom prst="rect">
            <a:avLst/>
          </a:prstGeom>
          <a:noFill/>
          <a:ln/>
        </p:spPr>
        <p:txBody>
          <a:bodyPr wrap="square" lIns="0" tIns="0" rIns="0" bIns="0" rtlCol="0" anchor="t"/>
          <a:lstStyle/>
          <a:p>
            <a:pPr indent="0" marL="0">
              <a:buNone/>
            </a:pPr>
            <a:r>
              <a:rPr lang="en-US" sz="1250" dirty="0">
                <a:solidFill>
                  <a:schemeClr val="tx2"/>
                </a:solidFill>
              </a:rPr>
              <a:t>Shortest causal paths between observed indicators; optional shock simulation</a:t>
            </a:r>
            <a:endParaRPr lang="en-US" sz="1250" dirty="0"/>
          </a:p>
        </p:txBody>
      </p:sp>
      <p:sp>
        <p:nvSpPr>
          <p:cNvPr id="24" name="link-502"/>
          <p:cNvSpPr/>
          <p:nvPr/>
        </p:nvSpPr>
        <p:spPr>
          <a:xfrm>
            <a:off x="8841029" y="2487168"/>
            <a:ext cx="223418" cy="0"/>
          </a:xfrm>
          <a:prstGeom prst="line">
            <a:avLst/>
          </a:prstGeom>
          <a:noFill/>
          <a:ln w="25400">
            <a:solidFill>
              <a:schemeClr val="accent1"/>
            </a:solidFill>
            <a:prstDash val="solid"/>
            <a:tailEnd type="triangle"/>
          </a:ln>
        </p:spPr>
      </p:sp>
      <p:sp>
        <p:nvSpPr>
          <p:cNvPr id="25" name="card-503"/>
          <p:cNvSpPr/>
          <p:nvPr/>
        </p:nvSpPr>
        <p:spPr>
          <a:xfrm>
            <a:off x="9119311" y="1600200"/>
            <a:ext cx="2523744" cy="1783080"/>
          </a:xfrm>
          <a:prstGeom prst="roundRect">
            <a:avLst>
              <a:gd name="adj" fmla="val 5128"/>
            </a:avLst>
          </a:prstGeom>
          <a:solidFill>
            <a:schemeClr val="bg2"/>
          </a:solidFill>
          <a:ln/>
        </p:spPr>
      </p:sp>
      <p:sp>
        <p:nvSpPr>
          <p:cNvPr id="26" name="dot-504"/>
          <p:cNvSpPr/>
          <p:nvPr/>
        </p:nvSpPr>
        <p:spPr>
          <a:xfrm>
            <a:off x="9302191" y="1783080"/>
            <a:ext cx="402336" cy="402336"/>
          </a:xfrm>
          <a:prstGeom prst="ellipse">
            <a:avLst/>
          </a:prstGeom>
          <a:solidFill>
            <a:schemeClr val="accent2"/>
          </a:solidFill>
          <a:ln/>
        </p:spPr>
      </p:sp>
      <p:sp>
        <p:nvSpPr>
          <p:cNvPr id="27" name="text-505"/>
          <p:cNvSpPr txBox="1"/>
          <p:nvPr/>
        </p:nvSpPr>
        <p:spPr>
          <a:xfrm>
            <a:off x="9302191" y="1783080"/>
            <a:ext cx="402336" cy="402336"/>
          </a:xfrm>
          <a:prstGeom prst="rect">
            <a:avLst/>
          </a:prstGeom>
          <a:noFill/>
          <a:ln/>
        </p:spPr>
        <p:txBody>
          <a:bodyPr wrap="square" lIns="0" tIns="0" rIns="0" bIns="0" rtlCol="0" anchor="ctr"/>
          <a:lstStyle/>
          <a:p>
            <a:pPr algn="ctr" indent="0" marL="0">
              <a:buNone/>
            </a:pPr>
            <a:r>
              <a:rPr lang="en-US" sz="1500" b="1" dirty="0">
                <a:solidFill>
                  <a:schemeClr val="tx1"/>
                </a:solidFill>
              </a:rPr>
              <a:t>4</a:t>
            </a:r>
            <a:endParaRPr lang="en-US" sz="1500" dirty="0"/>
          </a:p>
        </p:txBody>
      </p:sp>
      <p:sp>
        <p:nvSpPr>
          <p:cNvPr id="28" name="text-506"/>
          <p:cNvSpPr txBox="1"/>
          <p:nvPr/>
        </p:nvSpPr>
        <p:spPr>
          <a:xfrm>
            <a:off x="9814255" y="1801368"/>
            <a:ext cx="1700784" cy="365760"/>
          </a:xfrm>
          <a:prstGeom prst="rect">
            <a:avLst/>
          </a:prstGeom>
          <a:noFill/>
          <a:ln/>
        </p:spPr>
        <p:txBody>
          <a:bodyPr wrap="square" lIns="0" tIns="0" rIns="0" bIns="0" rtlCol="0" anchor="ctr"/>
          <a:lstStyle/>
          <a:p>
            <a:pPr indent="0" marL="0">
              <a:buNone/>
            </a:pPr>
            <a:r>
              <a:rPr lang="en-US" sz="1600" b="1" dirty="0">
                <a:solidFill>
                  <a:schemeClr val="tx1"/>
                </a:solidFill>
              </a:rPr>
              <a:t>Synthesise</a:t>
            </a:r>
            <a:endParaRPr lang="en-US" sz="1600" dirty="0"/>
          </a:p>
        </p:txBody>
      </p:sp>
      <p:sp>
        <p:nvSpPr>
          <p:cNvPr id="29" name="text-507"/>
          <p:cNvSpPr txBox="1"/>
          <p:nvPr/>
        </p:nvSpPr>
        <p:spPr>
          <a:xfrm>
            <a:off x="9302191" y="2295144"/>
            <a:ext cx="2249424" cy="256032"/>
          </a:xfrm>
          <a:prstGeom prst="rect">
            <a:avLst/>
          </a:prstGeom>
          <a:noFill/>
          <a:ln/>
        </p:spPr>
        <p:txBody>
          <a:bodyPr wrap="square" lIns="0" tIns="0" rIns="0" bIns="0" rtlCol="0" anchor="t"/>
          <a:lstStyle/>
          <a:p>
            <a:pPr indent="0" marL="0">
              <a:buNone/>
            </a:pPr>
            <a:r>
              <a:rPr lang="en-US" sz="1150" b="1" dirty="0">
                <a:solidFill>
                  <a:schemeClr val="accent1"/>
                </a:solidFill>
                <a:latin typeface="Consolas" pitchFamily="34" charset="0"/>
                <a:ea typeface="Consolas" pitchFamily="34" charset="-122"/>
                <a:cs typeface="Consolas" pitchFamily="34" charset="-120"/>
              </a:rPr>
              <a:t>synthesis</a:t>
            </a:r>
            <a:endParaRPr lang="en-US" sz="1150" dirty="0"/>
          </a:p>
        </p:txBody>
      </p:sp>
      <p:sp>
        <p:nvSpPr>
          <p:cNvPr id="30" name="text-508"/>
          <p:cNvSpPr txBox="1"/>
          <p:nvPr/>
        </p:nvSpPr>
        <p:spPr>
          <a:xfrm>
            <a:off x="9302191" y="2587752"/>
            <a:ext cx="2203704" cy="731520"/>
          </a:xfrm>
          <a:prstGeom prst="rect">
            <a:avLst/>
          </a:prstGeom>
          <a:noFill/>
          <a:ln/>
        </p:spPr>
        <p:txBody>
          <a:bodyPr wrap="square" lIns="0" tIns="0" rIns="0" bIns="0" rtlCol="0" anchor="t"/>
          <a:lstStyle/>
          <a:p>
            <a:pPr indent="0" marL="0">
              <a:buNone/>
            </a:pPr>
            <a:r>
              <a:rPr lang="en-US" sz="1250" dirty="0">
                <a:solidFill>
                  <a:schemeClr val="tx2"/>
                </a:solidFill>
              </a:rPr>
              <a:t>Indicator matrix with provenance hashes, causal diagram and source table</a:t>
            </a:r>
            <a:endParaRPr lang="en-US" sz="1250" dirty="0"/>
          </a:p>
        </p:txBody>
      </p:sp>
      <p:sp>
        <p:nvSpPr>
          <p:cNvPr id="31" name="card-509"/>
          <p:cNvSpPr/>
          <p:nvPr/>
        </p:nvSpPr>
        <p:spPr>
          <a:xfrm>
            <a:off x="548640" y="3611880"/>
            <a:ext cx="11094415" cy="2514600"/>
          </a:xfrm>
          <a:prstGeom prst="roundRect">
            <a:avLst>
              <a:gd name="adj" fmla="val 5091"/>
            </a:avLst>
          </a:prstGeom>
          <a:solidFill>
            <a:schemeClr val="tx1"/>
          </a:solidFill>
          <a:ln/>
        </p:spPr>
      </p:sp>
      <p:sp>
        <p:nvSpPr>
          <p:cNvPr id="32" name="text-510"/>
          <p:cNvSpPr txBox="1"/>
          <p:nvPr/>
        </p:nvSpPr>
        <p:spPr>
          <a:xfrm>
            <a:off x="822960" y="3794760"/>
            <a:ext cx="3291840" cy="228600"/>
          </a:xfrm>
          <a:prstGeom prst="rect">
            <a:avLst/>
          </a:prstGeom>
          <a:noFill/>
          <a:ln/>
        </p:spPr>
        <p:txBody>
          <a:bodyPr wrap="square" lIns="0" tIns="0" rIns="0" bIns="0" rtlCol="0" anchor="t"/>
          <a:lstStyle/>
          <a:p>
            <a:pPr indent="0" marL="0">
              <a:buNone/>
            </a:pPr>
            <a:r>
              <a:rPr lang="en-US" sz="1100" b="1" spc="200" kern="0" dirty="0">
                <a:solidFill>
                  <a:schemeClr val="accent6"/>
                </a:solidFill>
              </a:rPr>
              <a:t>WORKED RUN  ·  OCTOBER 2026</a:t>
            </a:r>
            <a:endParaRPr lang="en-US" sz="1100" dirty="0"/>
          </a:p>
        </p:txBody>
      </p:sp>
      <p:sp>
        <p:nvSpPr>
          <p:cNvPr id="33" name="text-511"/>
          <p:cNvSpPr txBox="1"/>
          <p:nvPr/>
        </p:nvSpPr>
        <p:spPr>
          <a:xfrm>
            <a:off x="822960" y="4087368"/>
            <a:ext cx="3520440" cy="1005840"/>
          </a:xfrm>
          <a:prstGeom prst="rect">
            <a:avLst/>
          </a:prstGeom>
          <a:noFill/>
          <a:ln/>
        </p:spPr>
        <p:txBody>
          <a:bodyPr wrap="square" lIns="0" tIns="0" rIns="0" bIns="0" rtlCol="0" anchor="t"/>
          <a:lstStyle/>
          <a:p>
            <a:pPr indent="0" marL="0">
              <a:buNone/>
            </a:pPr>
            <a:r>
              <a:rPr lang="en-US" sz="1700" i="1" dirty="0">
                <a:solidFill>
                  <a:schemeClr val="bg1"/>
                </a:solidFill>
                <a:latin typeface="+mj-lt" pitchFamily="34" charset="0"/>
                <a:ea typeface="+mj-lt" pitchFamily="34" charset="-122"/>
                <a:cs typeface="+mj-lt" pitchFamily="34" charset="-120"/>
              </a:rPr>
              <a:t>“How does a rise in crude oil prices affect inflation and RBI repo rate policy?”</a:t>
            </a:r>
            <a:endParaRPr lang="en-US" sz="1700" dirty="0"/>
          </a:p>
        </p:txBody>
      </p:sp>
      <p:sp>
        <p:nvSpPr>
          <p:cNvPr id="34" name="card-512"/>
          <p:cNvSpPr/>
          <p:nvPr/>
        </p:nvSpPr>
        <p:spPr>
          <a:xfrm>
            <a:off x="822960" y="5184648"/>
            <a:ext cx="1965960" cy="292608"/>
          </a:xfrm>
          <a:prstGeom prst="roundRect">
            <a:avLst>
              <a:gd name="adj" fmla="val 50000"/>
            </a:avLst>
          </a:prstGeom>
          <a:solidFill>
            <a:schemeClr val="accent2"/>
          </a:solidFill>
          <a:ln/>
        </p:spPr>
      </p:sp>
      <p:sp>
        <p:nvSpPr>
          <p:cNvPr id="35" name="text-513"/>
          <p:cNvSpPr txBox="1"/>
          <p:nvPr/>
        </p:nvSpPr>
        <p:spPr>
          <a:xfrm>
            <a:off x="822960" y="5184648"/>
            <a:ext cx="1965960" cy="292608"/>
          </a:xfrm>
          <a:prstGeom prst="rect">
            <a:avLst/>
          </a:prstGeom>
          <a:noFill/>
          <a:ln/>
        </p:spPr>
        <p:txBody>
          <a:bodyPr wrap="square" lIns="0" tIns="0" rIns="0" bIns="0" rtlCol="0" anchor="ctr"/>
          <a:lstStyle/>
          <a:p>
            <a:pPr algn="ctr" indent="0" marL="0">
              <a:buNone/>
            </a:pPr>
            <a:r>
              <a:rPr lang="en-US" sz="1100" b="1" spc="50" kern="0" dirty="0">
                <a:solidFill>
                  <a:schemeClr val="tx1"/>
                </a:solidFill>
              </a:rPr>
              <a:t>Shock: Brent +$20 / bbl</a:t>
            </a:r>
            <a:endParaRPr lang="en-US" sz="1100" dirty="0"/>
          </a:p>
        </p:txBody>
      </p:sp>
      <p:sp>
        <p:nvSpPr>
          <p:cNvPr id="36" name="text-514"/>
          <p:cNvSpPr txBox="1"/>
          <p:nvPr/>
        </p:nvSpPr>
        <p:spPr>
          <a:xfrm>
            <a:off x="822960" y="5577840"/>
            <a:ext cx="3383280" cy="274320"/>
          </a:xfrm>
          <a:prstGeom prst="rect">
            <a:avLst/>
          </a:prstGeom>
          <a:noFill/>
          <a:ln/>
        </p:spPr>
        <p:txBody>
          <a:bodyPr wrap="square" lIns="0" tIns="0" rIns="0" bIns="0" rtlCol="0" anchor="t"/>
          <a:lstStyle/>
          <a:p>
            <a:pPr indent="0" marL="0">
              <a:buNone/>
            </a:pPr>
            <a:r>
              <a:rPr lang="en-US" sz="1250" dirty="0">
                <a:solidFill>
                  <a:schemeClr val="bg1">
                    <a:alpha val="75000"/>
                  </a:schemeClr>
                </a:solidFill>
              </a:rPr>
              <a:t>Routed to Monetary, Prices and Agriculture</a:t>
            </a:r>
            <a:endParaRPr lang="en-US" sz="1250" dirty="0"/>
          </a:p>
        </p:txBody>
      </p:sp>
      <p:sp>
        <p:nvSpPr>
          <p:cNvPr id="37" name="text-515"/>
          <p:cNvSpPr txBox="1"/>
          <p:nvPr/>
        </p:nvSpPr>
        <p:spPr>
          <a:xfrm>
            <a:off x="4526280" y="3794760"/>
            <a:ext cx="3657600" cy="228600"/>
          </a:xfrm>
          <a:prstGeom prst="rect">
            <a:avLst/>
          </a:prstGeom>
          <a:noFill/>
          <a:ln/>
        </p:spPr>
        <p:txBody>
          <a:bodyPr wrap="square" lIns="0" tIns="0" rIns="0" bIns="0" rtlCol="0" anchor="t"/>
          <a:lstStyle/>
          <a:p>
            <a:pPr indent="0" marL="0">
              <a:buNone/>
            </a:pPr>
            <a:r>
              <a:rPr lang="en-US" sz="1100" b="1" spc="200" kern="0" dirty="0">
                <a:solidFill>
                  <a:schemeClr val="accent6"/>
                </a:solidFill>
              </a:rPr>
              <a:t>OBSERVATIONS RETURNED</a:t>
            </a:r>
            <a:endParaRPr lang="en-US" sz="1100" dirty="0"/>
          </a:p>
        </p:txBody>
      </p:sp>
      <p:graphicFrame>
        <p:nvGraphicFramePr>
          <p:cNvPr id="10" name="observations-table"/>
          <p:cNvGraphicFramePr>
            <a:graphicFrameLocks noGrp="1"/>
          </p:cNvGraphicFramePr>
          <p:nvPr>
            <p:extLst>
              <p:ext uri="{D42A27DB-BD31-4B8C-83A1-F6EECF244321}">
                <p14:modId xmlns:p14="http://schemas.microsoft.com/office/powerpoint/2010/main" val="1579011935"/>
              </p:ext>
            </p:extLst>
          </p:nvPr>
        </p:nvGraphicFramePr>
        <p:xfrm>
          <a:off x="4526280" y="4087368"/>
          <a:ext cx="3886200" cy="914400"/>
        </p:xfrm>
        <a:graphic>
          <a:graphicData uri="http://schemas.openxmlformats.org/drawingml/2006/table">
            <a:tbl>
              <a:tblPr/>
              <a:tblGrid>
                <a:gridCol w="1463040"/>
                <a:gridCol w="960120"/>
                <a:gridCol w="731520"/>
                <a:gridCol w="731520"/>
              </a:tblGrid>
              <a:tr h="310896">
                <a:tc>
                  <a:txBody>
                    <a:bodyPr/>
                    <a:lstStyle/>
                    <a:p>
                      <a:pPr indent="0" marL="0">
                        <a:buNone/>
                      </a:pPr>
                      <a:r>
                        <a:rPr lang="en-US" sz="1200" b="1" dirty="0">
                          <a:solidFill>
                            <a:schemeClr val="accent6"/>
                          </a:solidFill>
                        </a:rPr>
                        <a:t>Indicator</a:t>
                      </a:r>
                      <a:endParaRPr lang="en-US" sz="1200" dirty="0"/>
                    </a:p>
                  </a:txBody>
                  <a:tcPr marL="54864" marR="54864" marT="18288" marB="18288" anchor="ctr">
                    <a:lnL w="0" cap="flat" cmpd="sng" algn="ctr">
                      <a:noFill/>
                    </a:lnL>
                    <a:lnR w="0" cap="flat" cmpd="sng" algn="ctr">
                      <a:noFill/>
                    </a:lnR>
                    <a:lnT w="0" cap="flat" cmpd="sng" algn="ctr">
                      <a:noFill/>
                    </a:lnT>
                    <a:lnB w="9525" cap="flat" cmpd="sng" algn="ctr">
                      <a:solidFill>
                        <a:schemeClr val="accent5"/>
                      </a:solidFill>
                      <a:prstDash val="solid"/>
                      <a:round/>
                      <a:headEnd type="none" w="med" len="med"/>
                      <a:tailEnd type="none" w="med" len="med"/>
                    </a:lnB>
                  </a:tcPr>
                </a:tc>
                <a:tc>
                  <a:txBody>
                    <a:bodyPr/>
                    <a:lstStyle/>
                    <a:p>
                      <a:pPr indent="0" marL="0">
                        <a:buNone/>
                      </a:pPr>
                      <a:r>
                        <a:rPr lang="en-US" sz="1200" b="1" dirty="0">
                          <a:solidFill>
                            <a:schemeClr val="accent6"/>
                          </a:solidFill>
                        </a:rPr>
                        <a:t>Value</a:t>
                      </a:r>
                      <a:endParaRPr lang="en-US" sz="1200" dirty="0"/>
                    </a:p>
                  </a:txBody>
                  <a:tcPr marL="54864" marR="54864" marT="18288" marB="18288" anchor="ctr">
                    <a:lnL w="0" cap="flat" cmpd="sng" algn="ctr">
                      <a:noFill/>
                    </a:lnL>
                    <a:lnR w="0" cap="flat" cmpd="sng" algn="ctr">
                      <a:noFill/>
                    </a:lnR>
                    <a:lnT w="0" cap="flat" cmpd="sng" algn="ctr">
                      <a:noFill/>
                    </a:lnT>
                    <a:lnB w="9525" cap="flat" cmpd="sng" algn="ctr">
                      <a:solidFill>
                        <a:schemeClr val="accent5"/>
                      </a:solidFill>
                      <a:prstDash val="solid"/>
                      <a:round/>
                      <a:headEnd type="none" w="med" len="med"/>
                      <a:tailEnd type="none" w="med" len="med"/>
                    </a:lnB>
                  </a:tcPr>
                </a:tc>
                <a:tc>
                  <a:txBody>
                    <a:bodyPr/>
                    <a:lstStyle/>
                    <a:p>
                      <a:pPr indent="0" marL="0">
                        <a:buNone/>
                      </a:pPr>
                      <a:r>
                        <a:rPr lang="en-US" sz="1200" b="1" dirty="0">
                          <a:solidFill>
                            <a:schemeClr val="accent6"/>
                          </a:solidFill>
                        </a:rPr>
                        <a:t>Period</a:t>
                      </a:r>
                      <a:endParaRPr lang="en-US" sz="1200" dirty="0"/>
                    </a:p>
                  </a:txBody>
                  <a:tcPr marL="54864" marR="54864" marT="18288" marB="18288" anchor="ctr">
                    <a:lnL w="0" cap="flat" cmpd="sng" algn="ctr">
                      <a:noFill/>
                    </a:lnL>
                    <a:lnR w="0" cap="flat" cmpd="sng" algn="ctr">
                      <a:noFill/>
                    </a:lnR>
                    <a:lnT w="0" cap="flat" cmpd="sng" algn="ctr">
                      <a:noFill/>
                    </a:lnT>
                    <a:lnB w="9525" cap="flat" cmpd="sng" algn="ctr">
                      <a:solidFill>
                        <a:schemeClr val="accent5"/>
                      </a:solidFill>
                      <a:prstDash val="solid"/>
                      <a:round/>
                      <a:headEnd type="none" w="med" len="med"/>
                      <a:tailEnd type="none" w="med" len="med"/>
                    </a:lnB>
                  </a:tcPr>
                </a:tc>
                <a:tc>
                  <a:txBody>
                    <a:bodyPr/>
                    <a:lstStyle/>
                    <a:p>
                      <a:pPr indent="0" marL="0">
                        <a:buNone/>
                      </a:pPr>
                      <a:r>
                        <a:rPr lang="en-US" sz="1200" b="1" dirty="0">
                          <a:solidFill>
                            <a:schemeClr val="accent6"/>
                          </a:solidFill>
                        </a:rPr>
                        <a:t>Source</a:t>
                      </a:r>
                      <a:endParaRPr lang="en-US" sz="1200" dirty="0"/>
                    </a:p>
                  </a:txBody>
                  <a:tcPr marL="54864" marR="54864" marT="18288" marB="18288" anchor="ctr">
                    <a:lnL w="0" cap="flat" cmpd="sng" algn="ctr">
                      <a:noFill/>
                    </a:lnL>
                    <a:lnR w="0" cap="flat" cmpd="sng" algn="ctr">
                      <a:noFill/>
                    </a:lnR>
                    <a:lnT w="0" cap="flat" cmpd="sng" algn="ctr">
                      <a:noFill/>
                    </a:lnT>
                    <a:lnB w="9525" cap="flat" cmpd="sng" algn="ctr">
                      <a:solidFill>
                        <a:schemeClr val="accent5"/>
                      </a:solidFill>
                      <a:prstDash val="solid"/>
                      <a:round/>
                      <a:headEnd type="none" w="med" len="med"/>
                      <a:tailEnd type="none" w="med" len="med"/>
                    </a:lnB>
                  </a:tcPr>
                </a:tc>
              </a:tr>
              <a:tr h="347472">
                <a:tc>
                  <a:txBody>
                    <a:bodyPr/>
                    <a:lstStyle/>
                    <a:p>
                      <a:pPr indent="0" marL="0">
                        <a:buNone/>
                      </a:pPr>
                      <a:r>
                        <a:rPr lang="en-US" sz="1200" dirty="0">
                          <a:solidFill>
                            <a:schemeClr val="bg1"/>
                          </a:solidFill>
                        </a:rPr>
                        <a:t>CPI headline (YoY)</a:t>
                      </a:r>
                      <a:endParaRPr lang="en-US" sz="1200" dirty="0"/>
                    </a:p>
                  </a:txBody>
                  <a:tcPr marL="54864" marR="54864" marT="18288" marB="18288" anchor="ctr">
                    <a:lnL w="0" cap="flat" cmpd="sng" algn="ctr">
                      <a:noFill/>
                    </a:lnL>
                    <a:lnR w="0" cap="flat" cmpd="sng" algn="ctr">
                      <a:noFill/>
                    </a:lnR>
                    <a:lnT w="0" cap="flat" cmpd="sng" algn="ctr">
                      <a:noFill/>
                    </a:lnT>
                    <a:lnB w="9525" cap="flat" cmpd="sng" algn="ctr">
                      <a:solidFill>
                        <a:schemeClr val="accent5"/>
                      </a:solidFill>
                      <a:prstDash val="solid"/>
                      <a:round/>
                      <a:headEnd type="none" w="med" len="med"/>
                      <a:tailEnd type="none" w="med" len="med"/>
                    </a:lnB>
                  </a:tcPr>
                </a:tc>
                <a:tc>
                  <a:txBody>
                    <a:bodyPr/>
                    <a:lstStyle/>
                    <a:p>
                      <a:pPr indent="0" marL="0">
                        <a:buNone/>
                      </a:pPr>
                      <a:r>
                        <a:rPr lang="en-US" sz="1200" b="1" dirty="0">
                          <a:solidFill>
                            <a:schemeClr val="bg1"/>
                          </a:solidFill>
                        </a:rPr>
                        <a:t>5.54%</a:t>
                      </a:r>
                      <a:endParaRPr lang="en-US" sz="1200" dirty="0"/>
                    </a:p>
                  </a:txBody>
                  <a:tcPr marL="54864" marR="54864" marT="18288" marB="18288" anchor="ctr">
                    <a:lnL w="0" cap="flat" cmpd="sng" algn="ctr">
                      <a:noFill/>
                    </a:lnL>
                    <a:lnR w="0" cap="flat" cmpd="sng" algn="ctr">
                      <a:noFill/>
                    </a:lnR>
                    <a:lnT w="0" cap="flat" cmpd="sng" algn="ctr">
                      <a:noFill/>
                    </a:lnT>
                    <a:lnB w="9525" cap="flat" cmpd="sng" algn="ctr">
                      <a:solidFill>
                        <a:schemeClr val="accent5"/>
                      </a:solidFill>
                      <a:prstDash val="solid"/>
                      <a:round/>
                      <a:headEnd type="none" w="med" len="med"/>
                      <a:tailEnd type="none" w="med" len="med"/>
                    </a:lnB>
                  </a:tcPr>
                </a:tc>
                <a:tc>
                  <a:txBody>
                    <a:bodyPr/>
                    <a:lstStyle/>
                    <a:p>
                      <a:pPr indent="0" marL="0">
                        <a:buNone/>
                      </a:pPr>
                      <a:r>
                        <a:rPr lang="en-US" sz="1200" dirty="0">
                          <a:solidFill>
                            <a:schemeClr val="bg1"/>
                          </a:solidFill>
                        </a:rPr>
                        <a:t>Sep 2026</a:t>
                      </a:r>
                      <a:endParaRPr lang="en-US" sz="1200" dirty="0"/>
                    </a:p>
                  </a:txBody>
                  <a:tcPr marL="54864" marR="54864" marT="18288" marB="18288" anchor="ctr">
                    <a:lnL w="0" cap="flat" cmpd="sng" algn="ctr">
                      <a:noFill/>
                    </a:lnL>
                    <a:lnR w="0" cap="flat" cmpd="sng" algn="ctr">
                      <a:noFill/>
                    </a:lnR>
                    <a:lnT w="0" cap="flat" cmpd="sng" algn="ctr">
                      <a:noFill/>
                    </a:lnT>
                    <a:lnB w="9525" cap="flat" cmpd="sng" algn="ctr">
                      <a:solidFill>
                        <a:schemeClr val="accent5"/>
                      </a:solidFill>
                      <a:prstDash val="solid"/>
                      <a:round/>
                      <a:headEnd type="none" w="med" len="med"/>
                      <a:tailEnd type="none" w="med" len="med"/>
                    </a:lnB>
                  </a:tcPr>
                </a:tc>
                <a:tc>
                  <a:txBody>
                    <a:bodyPr/>
                    <a:lstStyle/>
                    <a:p>
                      <a:pPr indent="0" marL="0">
                        <a:buNone/>
                      </a:pPr>
                      <a:r>
                        <a:rPr lang="en-US" sz="1200" dirty="0">
                          <a:solidFill>
                            <a:schemeClr val="bg1"/>
                          </a:solidFill>
                        </a:rPr>
                        <a:t>MoSPI</a:t>
                      </a:r>
                      <a:endParaRPr lang="en-US" sz="1200" dirty="0"/>
                    </a:p>
                  </a:txBody>
                  <a:tcPr marL="54864" marR="54864" marT="18288" marB="18288" anchor="ctr">
                    <a:lnL w="0" cap="flat" cmpd="sng" algn="ctr">
                      <a:noFill/>
                    </a:lnL>
                    <a:lnR w="0" cap="flat" cmpd="sng" algn="ctr">
                      <a:noFill/>
                    </a:lnR>
                    <a:lnT w="0" cap="flat" cmpd="sng" algn="ctr">
                      <a:noFill/>
                    </a:lnT>
                    <a:lnB w="9525" cap="flat" cmpd="sng" algn="ctr">
                      <a:solidFill>
                        <a:schemeClr val="accent5"/>
                      </a:solidFill>
                      <a:prstDash val="solid"/>
                      <a:round/>
                      <a:headEnd type="none" w="med" len="med"/>
                      <a:tailEnd type="none" w="med" len="med"/>
                    </a:lnB>
                  </a:tcPr>
                </a:tc>
              </a:tr>
              <a:tr h="347472">
                <a:tc>
                  <a:txBody>
                    <a:bodyPr/>
                    <a:lstStyle/>
                    <a:p>
                      <a:pPr indent="0" marL="0">
                        <a:buNone/>
                      </a:pPr>
                      <a:r>
                        <a:rPr lang="en-US" sz="1200" dirty="0">
                          <a:solidFill>
                            <a:schemeClr val="bg1"/>
                          </a:solidFill>
                        </a:rPr>
                        <a:t>Repo rate</a:t>
                      </a:r>
                      <a:endParaRPr lang="en-US" sz="1200" dirty="0"/>
                    </a:p>
                  </a:txBody>
                  <a:tcPr marL="54864" marR="54864" marT="18288" marB="18288" anchor="ctr">
                    <a:lnL w="0" cap="flat" cmpd="sng" algn="ctr">
                      <a:noFill/>
                    </a:lnL>
                    <a:lnR w="0" cap="flat" cmpd="sng" algn="ctr">
                      <a:noFill/>
                    </a:lnR>
                    <a:lnT w="0" cap="flat" cmpd="sng" algn="ctr">
                      <a:noFill/>
                    </a:lnT>
                    <a:lnB w="9525" cap="flat" cmpd="sng" algn="ctr">
                      <a:solidFill>
                        <a:schemeClr val="accent5"/>
                      </a:solidFill>
                      <a:prstDash val="solid"/>
                      <a:round/>
                      <a:headEnd type="none" w="med" len="med"/>
                      <a:tailEnd type="none" w="med" len="med"/>
                    </a:lnB>
                  </a:tcPr>
                </a:tc>
                <a:tc>
                  <a:txBody>
                    <a:bodyPr/>
                    <a:lstStyle/>
                    <a:p>
                      <a:pPr indent="0" marL="0">
                        <a:buNone/>
                      </a:pPr>
                      <a:r>
                        <a:rPr lang="en-US" sz="1200" b="1" dirty="0">
                          <a:solidFill>
                            <a:schemeClr val="bg1"/>
                          </a:solidFill>
                        </a:rPr>
                        <a:t>5.25%</a:t>
                      </a:r>
                      <a:endParaRPr lang="en-US" sz="1200" dirty="0"/>
                    </a:p>
                  </a:txBody>
                  <a:tcPr marL="54864" marR="54864" marT="18288" marB="18288" anchor="ctr">
                    <a:lnL w="0" cap="flat" cmpd="sng" algn="ctr">
                      <a:noFill/>
                    </a:lnL>
                    <a:lnR w="0" cap="flat" cmpd="sng" algn="ctr">
                      <a:noFill/>
                    </a:lnR>
                    <a:lnT w="0" cap="flat" cmpd="sng" algn="ctr">
                      <a:noFill/>
                    </a:lnT>
                    <a:lnB w="9525" cap="flat" cmpd="sng" algn="ctr">
                      <a:solidFill>
                        <a:schemeClr val="accent5"/>
                      </a:solidFill>
                      <a:prstDash val="solid"/>
                      <a:round/>
                      <a:headEnd type="none" w="med" len="med"/>
                      <a:tailEnd type="none" w="med" len="med"/>
                    </a:lnB>
                  </a:tcPr>
                </a:tc>
                <a:tc>
                  <a:txBody>
                    <a:bodyPr/>
                    <a:lstStyle/>
                    <a:p>
                      <a:pPr indent="0" marL="0">
                        <a:buNone/>
                      </a:pPr>
                      <a:r>
                        <a:rPr lang="en-US" sz="1200" dirty="0">
                          <a:solidFill>
                            <a:schemeClr val="bg1"/>
                          </a:solidFill>
                        </a:rPr>
                        <a:t>Feb 2026</a:t>
                      </a:r>
                      <a:endParaRPr lang="en-US" sz="1200" dirty="0"/>
                    </a:p>
                  </a:txBody>
                  <a:tcPr marL="54864" marR="54864" marT="18288" marB="18288" anchor="ctr">
                    <a:lnL w="0" cap="flat" cmpd="sng" algn="ctr">
                      <a:noFill/>
                    </a:lnL>
                    <a:lnR w="0" cap="flat" cmpd="sng" algn="ctr">
                      <a:noFill/>
                    </a:lnR>
                    <a:lnT w="0" cap="flat" cmpd="sng" algn="ctr">
                      <a:noFill/>
                    </a:lnT>
                    <a:lnB w="9525" cap="flat" cmpd="sng" algn="ctr">
                      <a:solidFill>
                        <a:schemeClr val="accent5"/>
                      </a:solidFill>
                      <a:prstDash val="solid"/>
                      <a:round/>
                      <a:headEnd type="none" w="med" len="med"/>
                      <a:tailEnd type="none" w="med" len="med"/>
                    </a:lnB>
                  </a:tcPr>
                </a:tc>
                <a:tc>
                  <a:txBody>
                    <a:bodyPr/>
                    <a:lstStyle/>
                    <a:p>
                      <a:pPr indent="0" marL="0">
                        <a:buNone/>
                      </a:pPr>
                      <a:r>
                        <a:rPr lang="en-US" sz="1200" dirty="0">
                          <a:solidFill>
                            <a:schemeClr val="bg1"/>
                          </a:solidFill>
                        </a:rPr>
                        <a:t>RBI DBIE</a:t>
                      </a:r>
                      <a:endParaRPr lang="en-US" sz="1200" dirty="0"/>
                    </a:p>
                  </a:txBody>
                  <a:tcPr marL="54864" marR="54864" marT="18288" marB="18288" anchor="ctr">
                    <a:lnL w="0" cap="flat" cmpd="sng" algn="ctr">
                      <a:noFill/>
                    </a:lnL>
                    <a:lnR w="0" cap="flat" cmpd="sng" algn="ctr">
                      <a:noFill/>
                    </a:lnR>
                    <a:lnT w="0" cap="flat" cmpd="sng" algn="ctr">
                      <a:noFill/>
                    </a:lnT>
                    <a:lnB w="9525" cap="flat" cmpd="sng" algn="ctr">
                      <a:solidFill>
                        <a:schemeClr val="accent5"/>
                      </a:solidFill>
                      <a:prstDash val="solid"/>
                      <a:round/>
                      <a:headEnd type="none" w="med" len="med"/>
                      <a:tailEnd type="none" w="med" len="med"/>
                    </a:lnB>
                  </a:tcPr>
                </a:tc>
              </a:tr>
              <a:tr h="347472">
                <a:tc>
                  <a:txBody>
                    <a:bodyPr/>
                    <a:lstStyle/>
                    <a:p>
                      <a:pPr indent="0" marL="0">
                        <a:buNone/>
                      </a:pPr>
                      <a:r>
                        <a:rPr lang="en-US" sz="1200" dirty="0">
                          <a:solidFill>
                            <a:schemeClr val="bg1"/>
                          </a:solidFill>
                        </a:rPr>
                        <a:t>M3 growth (YoY)</a:t>
                      </a:r>
                      <a:endParaRPr lang="en-US" sz="1200" dirty="0"/>
                    </a:p>
                  </a:txBody>
                  <a:tcPr marL="54864" marR="54864" marT="18288" marB="18288" anchor="ctr">
                    <a:lnL w="0" cap="flat" cmpd="sng" algn="ctr">
                      <a:noFill/>
                    </a:lnL>
                    <a:lnR w="0" cap="flat" cmpd="sng" algn="ctr">
                      <a:noFill/>
                    </a:lnR>
                    <a:lnT w="0" cap="flat" cmpd="sng" algn="ctr">
                      <a:noFill/>
                    </a:lnT>
                    <a:lnB w="9525" cap="flat" cmpd="sng" algn="ctr">
                      <a:solidFill>
                        <a:schemeClr val="accent5"/>
                      </a:solidFill>
                      <a:prstDash val="solid"/>
                      <a:round/>
                      <a:headEnd type="none" w="med" len="med"/>
                      <a:tailEnd type="none" w="med" len="med"/>
                    </a:lnB>
                  </a:tcPr>
                </a:tc>
                <a:tc>
                  <a:txBody>
                    <a:bodyPr/>
                    <a:lstStyle/>
                    <a:p>
                      <a:pPr indent="0" marL="0">
                        <a:buNone/>
                      </a:pPr>
                      <a:r>
                        <a:rPr lang="en-US" sz="1200" b="1" dirty="0">
                          <a:solidFill>
                            <a:schemeClr val="accent2"/>
                          </a:solidFill>
                        </a:rPr>
                        <a:t>unavailable</a:t>
                      </a:r>
                      <a:endParaRPr lang="en-US" sz="1200" dirty="0"/>
                    </a:p>
                  </a:txBody>
                  <a:tcPr marL="54864" marR="54864" marT="18288" marB="18288" anchor="ctr">
                    <a:lnL w="0" cap="flat" cmpd="sng" algn="ctr">
                      <a:noFill/>
                    </a:lnL>
                    <a:lnR w="0" cap="flat" cmpd="sng" algn="ctr">
                      <a:noFill/>
                    </a:lnR>
                    <a:lnT w="0" cap="flat" cmpd="sng" algn="ctr">
                      <a:noFill/>
                    </a:lnT>
                    <a:lnB w="9525" cap="flat" cmpd="sng" algn="ctr">
                      <a:solidFill>
                        <a:schemeClr val="accent5"/>
                      </a:solidFill>
                      <a:prstDash val="solid"/>
                      <a:round/>
                      <a:headEnd type="none" w="med" len="med"/>
                      <a:tailEnd type="none" w="med" len="med"/>
                    </a:lnB>
                  </a:tcPr>
                </a:tc>
                <a:tc>
                  <a:txBody>
                    <a:bodyPr/>
                    <a:lstStyle/>
                    <a:p>
                      <a:pPr indent="0" marL="0">
                        <a:buNone/>
                      </a:pPr>
                      <a:r>
                        <a:rPr lang="en-US" sz="1200" dirty="0">
                          <a:solidFill>
                            <a:schemeClr val="bg1"/>
                          </a:solidFill>
                        </a:rPr>
                        <a:t>Jun 2026</a:t>
                      </a:r>
                      <a:endParaRPr lang="en-US" sz="1200" dirty="0"/>
                    </a:p>
                  </a:txBody>
                  <a:tcPr marL="54864" marR="54864" marT="18288" marB="18288" anchor="ctr">
                    <a:lnL w="0" cap="flat" cmpd="sng" algn="ctr">
                      <a:noFill/>
                    </a:lnL>
                    <a:lnR w="0" cap="flat" cmpd="sng" algn="ctr">
                      <a:noFill/>
                    </a:lnR>
                    <a:lnT w="0" cap="flat" cmpd="sng" algn="ctr">
                      <a:noFill/>
                    </a:lnT>
                    <a:lnB w="9525" cap="flat" cmpd="sng" algn="ctr">
                      <a:solidFill>
                        <a:schemeClr val="accent5"/>
                      </a:solidFill>
                      <a:prstDash val="solid"/>
                      <a:round/>
                      <a:headEnd type="none" w="med" len="med"/>
                      <a:tailEnd type="none" w="med" len="med"/>
                    </a:lnB>
                  </a:tcPr>
                </a:tc>
                <a:tc>
                  <a:txBody>
                    <a:bodyPr/>
                    <a:lstStyle/>
                    <a:p>
                      <a:pPr indent="0" marL="0">
                        <a:buNone/>
                      </a:pPr>
                      <a:r>
                        <a:rPr lang="en-US" sz="1200" dirty="0">
                          <a:solidFill>
                            <a:schemeClr val="bg1"/>
                          </a:solidFill>
                        </a:rPr>
                        <a:t>RBI DBIE</a:t>
                      </a:r>
                      <a:endParaRPr lang="en-US" sz="1200" dirty="0"/>
                    </a:p>
                  </a:txBody>
                  <a:tcPr marL="54864" marR="54864" marT="18288" marB="18288" anchor="ctr">
                    <a:lnL w="0" cap="flat" cmpd="sng" algn="ctr">
                      <a:noFill/>
                    </a:lnL>
                    <a:lnR w="0" cap="flat" cmpd="sng" algn="ctr">
                      <a:noFill/>
                    </a:lnR>
                    <a:lnT w="0" cap="flat" cmpd="sng" algn="ctr">
                      <a:noFill/>
                    </a:lnT>
                    <a:lnB w="9525" cap="flat" cmpd="sng" algn="ctr">
                      <a:solidFill>
                        <a:schemeClr val="accent5"/>
                      </a:solidFill>
                      <a:prstDash val="solid"/>
                      <a:round/>
                      <a:headEnd type="none" w="med" len="med"/>
                      <a:tailEnd type="none" w="med" len="med"/>
                    </a:lnB>
                  </a:tcPr>
                </a:tc>
              </a:tr>
            </a:tbl>
          </a:graphicData>
        </a:graphic>
      </p:graphicFrame>
      <p:sp>
        <p:nvSpPr>
          <p:cNvPr id="39" name="text-516"/>
          <p:cNvSpPr txBox="1"/>
          <p:nvPr/>
        </p:nvSpPr>
        <p:spPr>
          <a:xfrm>
            <a:off x="4526280" y="5577840"/>
            <a:ext cx="3931920" cy="274320"/>
          </a:xfrm>
          <a:prstGeom prst="rect">
            <a:avLst/>
          </a:prstGeom>
          <a:noFill/>
          <a:ln/>
        </p:spPr>
        <p:txBody>
          <a:bodyPr wrap="square" lIns="0" tIns="0" rIns="0" bIns="0" rtlCol="0" anchor="t"/>
          <a:lstStyle/>
          <a:p>
            <a:pPr indent="0" marL="0">
              <a:buNone/>
            </a:pPr>
            <a:r>
              <a:rPr lang="en-US" sz="1150" dirty="0">
                <a:solidFill>
                  <a:schemeClr val="bg1">
                    <a:alpha val="70000"/>
                  </a:schemeClr>
                </a:solidFill>
              </a:rPr>
              <a:t>Every value keeps its period, status and SHA-256 hash</a:t>
            </a:r>
            <a:endParaRPr lang="en-US" sz="1150" dirty="0"/>
          </a:p>
        </p:txBody>
      </p:sp>
      <p:sp>
        <p:nvSpPr>
          <p:cNvPr id="40" name="text-517"/>
          <p:cNvSpPr txBox="1"/>
          <p:nvPr/>
        </p:nvSpPr>
        <p:spPr>
          <a:xfrm>
            <a:off x="8778240" y="3794760"/>
            <a:ext cx="2743200" cy="228600"/>
          </a:xfrm>
          <a:prstGeom prst="rect">
            <a:avLst/>
          </a:prstGeom>
          <a:noFill/>
          <a:ln/>
        </p:spPr>
        <p:txBody>
          <a:bodyPr wrap="square" lIns="0" tIns="0" rIns="0" bIns="0" rtlCol="0" anchor="t"/>
          <a:lstStyle/>
          <a:p>
            <a:pPr indent="0" marL="0">
              <a:buNone/>
            </a:pPr>
            <a:r>
              <a:rPr lang="en-US" sz="1100" b="1" spc="200" kern="0" dirty="0">
                <a:solidFill>
                  <a:schemeClr val="accent6"/>
                </a:solidFill>
              </a:rPr>
              <a:t>GRAPH PATHS FOUND</a:t>
            </a:r>
            <a:endParaRPr lang="en-US" sz="1100" dirty="0"/>
          </a:p>
        </p:txBody>
      </p:sp>
      <p:sp>
        <p:nvSpPr>
          <p:cNvPr id="41" name="text-518"/>
          <p:cNvSpPr txBox="1"/>
          <p:nvPr/>
        </p:nvSpPr>
        <p:spPr>
          <a:xfrm>
            <a:off x="8778240" y="4087368"/>
            <a:ext cx="2697480" cy="777240"/>
          </a:xfrm>
          <a:prstGeom prst="rect">
            <a:avLst/>
          </a:prstGeom>
          <a:noFill/>
          <a:ln/>
        </p:spPr>
        <p:txBody>
          <a:bodyPr wrap="square" lIns="0" tIns="0" rIns="0" bIns="0" rtlCol="0" anchor="t"/>
          <a:lstStyle/>
          <a:p>
            <a:pPr indent="0" marL="0">
              <a:spcAft>
                <a:spcPts val="300"/>
              </a:spcAft>
              <a:buNone/>
            </a:pPr>
            <a:r>
              <a:rPr lang="en-US" sz="1250" dirty="0">
                <a:solidFill>
                  <a:schemeClr val="bg1"/>
                </a:solidFill>
              </a:rPr>
              <a:t>CPI → repo  ·  1 hop, 1 month</a:t>
            </a:r>
            <a:endParaRPr lang="en-US" sz="1250" dirty="0"/>
          </a:p>
          <a:p>
            <a:pPr indent="0" marL="0">
              <a:spcAft>
                <a:spcPts val="300"/>
              </a:spcAft>
              <a:buNone/>
            </a:pPr>
            <a:r>
              <a:rPr lang="en-US" sz="1250" dirty="0">
                <a:solidFill>
                  <a:schemeClr val="bg1"/>
                </a:solidFill>
              </a:rPr>
              <a:t>Brent → CPI  ·  2 hops, 3 months</a:t>
            </a:r>
            <a:endParaRPr lang="en-US" sz="1250" dirty="0"/>
          </a:p>
          <a:p>
            <a:pPr indent="0" marL="0">
              <a:spcAft>
                <a:spcPts val="300"/>
              </a:spcAft>
              <a:buNone/>
            </a:pPr>
            <a:r>
              <a:rPr lang="en-US" sz="1250" dirty="0">
                <a:solidFill>
                  <a:schemeClr val="bg1"/>
                </a:solidFill>
              </a:rPr>
              <a:t>Brent → repo  ·  3 hops, 4 months</a:t>
            </a:r>
            <a:endParaRPr lang="en-US" sz="1250" dirty="0"/>
          </a:p>
        </p:txBody>
      </p:sp>
      <p:sp>
        <p:nvSpPr>
          <p:cNvPr id="42" name="text-519"/>
          <p:cNvSpPr txBox="1"/>
          <p:nvPr/>
        </p:nvSpPr>
        <p:spPr>
          <a:xfrm>
            <a:off x="8778240" y="4937760"/>
            <a:ext cx="2651760" cy="566928"/>
          </a:xfrm>
          <a:prstGeom prst="rect">
            <a:avLst/>
          </a:prstGeom>
          <a:noFill/>
          <a:ln/>
        </p:spPr>
        <p:txBody>
          <a:bodyPr wrap="square" lIns="0" tIns="0" rIns="0" bIns="0" rtlCol="0" anchor="t"/>
          <a:lstStyle/>
          <a:p>
            <a:pPr indent="0" marL="0">
              <a:buNone/>
            </a:pPr>
            <a:r>
              <a:rPr lang="en-US" sz="3400" b="1" dirty="0">
                <a:solidFill>
                  <a:schemeClr val="accent2"/>
                </a:solidFill>
                <a:latin typeface="+mj-lt" pitchFamily="34" charset="0"/>
                <a:ea typeface="+mj-lt" pitchFamily="34" charset="-122"/>
                <a:cs typeface="+mj-lt" pitchFamily="34" charset="-120"/>
              </a:rPr>
              <a:t>≈ 11 s</a:t>
            </a:r>
            <a:endParaRPr lang="en-US" sz="3400" dirty="0"/>
          </a:p>
        </p:txBody>
      </p:sp>
      <p:sp>
        <p:nvSpPr>
          <p:cNvPr id="43" name="text-520"/>
          <p:cNvSpPr txBox="1"/>
          <p:nvPr/>
        </p:nvSpPr>
        <p:spPr>
          <a:xfrm>
            <a:off x="8778240" y="5550408"/>
            <a:ext cx="2697480" cy="411480"/>
          </a:xfrm>
          <a:prstGeom prst="rect">
            <a:avLst/>
          </a:prstGeom>
          <a:noFill/>
          <a:ln/>
        </p:spPr>
        <p:txBody>
          <a:bodyPr wrap="square" lIns="0" tIns="0" rIns="0" bIns="0" rtlCol="0" anchor="t"/>
          <a:lstStyle/>
          <a:p>
            <a:pPr indent="0" marL="0">
              <a:buNone/>
            </a:pPr>
            <a:r>
              <a:rPr lang="en-US" sz="1150" dirty="0">
                <a:solidFill>
                  <a:schemeClr val="bg1">
                    <a:alpha val="75000"/>
                  </a:schemeClr>
                </a:solidFill>
              </a:rPr>
              <a:t>end to end with live official data</a:t>
            </a:r>
            <a:endParaRPr lang="en-US" sz="1150" dirty="0"/>
          </a:p>
          <a:p>
            <a:pPr indent="0" marL="0">
              <a:buNone/>
            </a:pPr>
            <a:r>
              <a:rPr lang="en-US" sz="1150" dirty="0">
                <a:solidFill>
                  <a:schemeClr val="bg1">
                    <a:alpha val="75000"/>
                  </a:schemeClr>
                </a:solidFill>
              </a:rPr>
              <a:t>and no LLM key</a:t>
            </a:r>
            <a:endParaRPr lang="en-US" sz="1150" dirty="0"/>
          </a:p>
        </p:txBody>
      </p:sp>
      <p:sp>
        <p:nvSpPr>
          <p:cNvPr id="25" name="Slide Number Placeholder 0"/>
          <p:cNvSpPr>
            <a:spLocks noGrp="1"/>
          </p:cNvSpPr>
          <p:nvPr>
            <p:ph type="sldNum" sz="quarter" idx="4294967295"/>
          </p:nvPr>
        </p:nvSpPr>
        <p:spPr>
          <a:xfrm>
            <a:off x="11091672" y="6446520"/>
            <a:ext cx="548640" cy="22860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51607A"/>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ctr"/>
          <a:lstStyle/>
          <a:p>
            <a:pPr indent="0" marL="0">
              <a:buNone/>
            </a:pPr>
            <a:r>
              <a:rPr lang="en-US" sz="1200" b="1" spc="200" kern="0" dirty="0">
                <a:solidFill>
                  <a:schemeClr val="accent1"/>
                </a:solidFill>
              </a:rPr>
              <a:t>TRUST LAYER  ·  A2A + MCP</a:t>
            </a:r>
            <a:endParaRPr lang="en-US" sz="1200" dirty="0"/>
          </a:p>
        </p:txBody>
      </p:sp>
      <p:sp>
        <p:nvSpPr>
          <p:cNvPr id="3" name="Text 0"/>
          <p:cNvSpPr/>
          <p:nvPr>
            <p:ph idx="101" type="title" hasCustomPrompt="1"/>
          </p:nvPr>
        </p:nvSpPr>
        <p:spPr>
          <a:xfrm>
            <a:off x="548640" y="676656"/>
            <a:ext cx="11094415" cy="713232"/>
          </a:xfrm>
          <a:prstGeom prst="rect">
            <a:avLst/>
          </a:prstGeom>
          <a:noFill/>
          <a:ln/>
        </p:spPr>
        <p:txBody>
          <a:bodyPr wrap="square" lIns="0" tIns="0" rIns="0" bIns="0" rtlCol="0" anchor="t"/>
          <a:lstStyle/>
          <a:p>
            <a:pPr algn="l" indent="0" marL="0">
              <a:buNone/>
            </a:pPr>
            <a:r>
              <a:rPr lang="en-US" sz="3600" b="1" dirty="0">
                <a:solidFill>
                  <a:schemeClr val="tx1"/>
                </a:solidFill>
              </a:rPr>
              <a:t>A protocol that refuses unsourced answers</a:t>
            </a:r>
            <a:endParaRPr lang="en-US" sz="3600" dirty="0"/>
          </a:p>
        </p:txBody>
      </p:sp>
      <p:sp>
        <p:nvSpPr>
          <p:cNvPr id="4" name="text-521"/>
          <p:cNvSpPr txBox="1"/>
          <p:nvPr/>
        </p:nvSpPr>
        <p:spPr>
          <a:xfrm>
            <a:off x="548640" y="1600200"/>
            <a:ext cx="5486400" cy="292608"/>
          </a:xfrm>
          <a:prstGeom prst="rect">
            <a:avLst/>
          </a:prstGeom>
          <a:noFill/>
          <a:ln/>
        </p:spPr>
        <p:txBody>
          <a:bodyPr wrap="square" lIns="0" tIns="0" rIns="0" bIns="0" rtlCol="0" anchor="t"/>
          <a:lstStyle/>
          <a:p>
            <a:pPr indent="0" marL="0">
              <a:buNone/>
            </a:pPr>
            <a:r>
              <a:rPr lang="en-US" sz="1500" b="1" dirty="0">
                <a:solidFill>
                  <a:schemeClr val="tx1"/>
                </a:solidFill>
              </a:rPr>
              <a:t>Six checks on every A2A request</a:t>
            </a:r>
            <a:endParaRPr lang="en-US" sz="1500" dirty="0"/>
          </a:p>
        </p:txBody>
      </p:sp>
      <p:sp>
        <p:nvSpPr>
          <p:cNvPr id="5" name="link-522"/>
          <p:cNvSpPr/>
          <p:nvPr/>
        </p:nvSpPr>
        <p:spPr>
          <a:xfrm>
            <a:off x="777240" y="2313432"/>
            <a:ext cx="0" cy="3429000"/>
          </a:xfrm>
          <a:prstGeom prst="line">
            <a:avLst/>
          </a:prstGeom>
          <a:noFill/>
          <a:ln w="25400">
            <a:solidFill>
              <a:schemeClr val="accent1">
                <a:alpha val="45000"/>
              </a:schemeClr>
            </a:solidFill>
            <a:prstDash val="solid"/>
          </a:ln>
        </p:spPr>
      </p:sp>
      <p:sp>
        <p:nvSpPr>
          <p:cNvPr id="6" name="dot-523"/>
          <p:cNvSpPr/>
          <p:nvPr/>
        </p:nvSpPr>
        <p:spPr>
          <a:xfrm>
            <a:off x="548640" y="2084832"/>
            <a:ext cx="457200" cy="457200"/>
          </a:xfrm>
          <a:prstGeom prst="ellipse">
            <a:avLst/>
          </a:prstGeom>
          <a:solidFill>
            <a:schemeClr val="accent1"/>
          </a:solidFill>
          <a:ln/>
        </p:spPr>
      </p:sp>
      <p:sp>
        <p:nvSpPr>
          <p:cNvPr id="7" name="text-524"/>
          <p:cNvSpPr txBox="1"/>
          <p:nvPr/>
        </p:nvSpPr>
        <p:spPr>
          <a:xfrm>
            <a:off x="548640" y="2084832"/>
            <a:ext cx="457200" cy="457200"/>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8" name="text-525"/>
          <p:cNvSpPr txBox="1"/>
          <p:nvPr/>
        </p:nvSpPr>
        <p:spPr>
          <a:xfrm>
            <a:off x="1188720" y="2029968"/>
            <a:ext cx="2926080" cy="274320"/>
          </a:xfrm>
          <a:prstGeom prst="rect">
            <a:avLst/>
          </a:prstGeom>
          <a:noFill/>
          <a:ln/>
        </p:spPr>
        <p:txBody>
          <a:bodyPr wrap="square" lIns="0" tIns="0" rIns="0" bIns="0" rtlCol="0" anchor="t"/>
          <a:lstStyle/>
          <a:p>
            <a:pPr indent="0" marL="0">
              <a:buNone/>
            </a:pPr>
            <a:r>
              <a:rPr lang="en-US" sz="1450" b="1" dirty="0">
                <a:solidFill>
                  <a:schemeClr val="tx1"/>
                </a:solidFill>
              </a:rPr>
              <a:t>Loop guards</a:t>
            </a:r>
            <a:endParaRPr lang="en-US" sz="1450" dirty="0"/>
          </a:p>
        </p:txBody>
      </p:sp>
      <p:sp>
        <p:nvSpPr>
          <p:cNvPr id="9" name="text-526"/>
          <p:cNvSpPr txBox="1"/>
          <p:nvPr/>
        </p:nvSpPr>
        <p:spPr>
          <a:xfrm>
            <a:off x="1188720" y="2313432"/>
            <a:ext cx="5166360" cy="274320"/>
          </a:xfrm>
          <a:prstGeom prst="rect">
            <a:avLst/>
          </a:prstGeom>
          <a:noFill/>
          <a:ln/>
        </p:spPr>
        <p:txBody>
          <a:bodyPr wrap="square" lIns="0" tIns="0" rIns="0" bIns="0" rtlCol="0" anchor="t"/>
          <a:lstStyle/>
          <a:p>
            <a:pPr indent="0" marL="0">
              <a:buNone/>
            </a:pPr>
            <a:r>
              <a:rPr lang="en-US" sz="1250" dirty="0">
                <a:solidFill>
                  <a:schemeClr val="tx2"/>
                </a:solidFill>
              </a:rPr>
              <a:t>Depth ≤ 5 · at most 25 requests per conversation · no cycles</a:t>
            </a:r>
            <a:endParaRPr lang="en-US" sz="1250" dirty="0"/>
          </a:p>
        </p:txBody>
      </p:sp>
      <p:sp>
        <p:nvSpPr>
          <p:cNvPr id="10" name="dot-527"/>
          <p:cNvSpPr/>
          <p:nvPr/>
        </p:nvSpPr>
        <p:spPr>
          <a:xfrm>
            <a:off x="548640" y="2770632"/>
            <a:ext cx="457200" cy="457200"/>
          </a:xfrm>
          <a:prstGeom prst="ellipse">
            <a:avLst/>
          </a:prstGeom>
          <a:solidFill>
            <a:schemeClr val="accent1"/>
          </a:solidFill>
          <a:ln/>
        </p:spPr>
      </p:sp>
      <p:sp>
        <p:nvSpPr>
          <p:cNvPr id="11" name="text-528"/>
          <p:cNvSpPr txBox="1"/>
          <p:nvPr/>
        </p:nvSpPr>
        <p:spPr>
          <a:xfrm>
            <a:off x="548640" y="2770632"/>
            <a:ext cx="457200" cy="457200"/>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2" name="text-529"/>
          <p:cNvSpPr txBox="1"/>
          <p:nvPr/>
        </p:nvSpPr>
        <p:spPr>
          <a:xfrm>
            <a:off x="1188720" y="2715768"/>
            <a:ext cx="2926080" cy="274320"/>
          </a:xfrm>
          <a:prstGeom prst="rect">
            <a:avLst/>
          </a:prstGeom>
          <a:noFill/>
          <a:ln/>
        </p:spPr>
        <p:txBody>
          <a:bodyPr wrap="square" lIns="0" tIns="0" rIns="0" bIns="0" rtlCol="0" anchor="t"/>
          <a:lstStyle/>
          <a:p>
            <a:pPr indent="0" marL="0">
              <a:buNone/>
            </a:pPr>
            <a:r>
              <a:rPr lang="en-US" sz="1450" b="1" dirty="0">
                <a:solidFill>
                  <a:schemeClr val="tx1"/>
                </a:solidFill>
              </a:rPr>
              <a:t>Declared dependency</a:t>
            </a:r>
            <a:endParaRPr lang="en-US" sz="1450" dirty="0"/>
          </a:p>
        </p:txBody>
      </p:sp>
      <p:sp>
        <p:nvSpPr>
          <p:cNvPr id="13" name="text-530"/>
          <p:cNvSpPr txBox="1"/>
          <p:nvPr/>
        </p:nvSpPr>
        <p:spPr>
          <a:xfrm>
            <a:off x="1188720" y="2999232"/>
            <a:ext cx="5166360" cy="274320"/>
          </a:xfrm>
          <a:prstGeom prst="rect">
            <a:avLst/>
          </a:prstGeom>
          <a:noFill/>
          <a:ln/>
        </p:spPr>
        <p:txBody>
          <a:bodyPr wrap="square" lIns="0" tIns="0" rIns="0" bIns="0" rtlCol="0" anchor="t"/>
          <a:lstStyle/>
          <a:p>
            <a:pPr indent="0" marL="0">
              <a:buNone/>
            </a:pPr>
            <a:r>
              <a:rPr lang="en-US" sz="1250" dirty="0">
                <a:solidFill>
                  <a:schemeClr val="tx2"/>
                </a:solidFill>
              </a:rPr>
              <a:t>Sector-to-sector calls only on the 7 declared edges</a:t>
            </a:r>
            <a:endParaRPr lang="en-US" sz="1250" dirty="0"/>
          </a:p>
        </p:txBody>
      </p:sp>
      <p:sp>
        <p:nvSpPr>
          <p:cNvPr id="14" name="dot-531"/>
          <p:cNvSpPr/>
          <p:nvPr/>
        </p:nvSpPr>
        <p:spPr>
          <a:xfrm>
            <a:off x="548640" y="3456432"/>
            <a:ext cx="457200" cy="457200"/>
          </a:xfrm>
          <a:prstGeom prst="ellipse">
            <a:avLst/>
          </a:prstGeom>
          <a:solidFill>
            <a:schemeClr val="accent1"/>
          </a:solidFill>
          <a:ln/>
        </p:spPr>
      </p:sp>
      <p:sp>
        <p:nvSpPr>
          <p:cNvPr id="15" name="text-532"/>
          <p:cNvSpPr txBox="1"/>
          <p:nvPr/>
        </p:nvSpPr>
        <p:spPr>
          <a:xfrm>
            <a:off x="548640" y="3456432"/>
            <a:ext cx="457200" cy="457200"/>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16" name="text-533"/>
          <p:cNvSpPr txBox="1"/>
          <p:nvPr/>
        </p:nvSpPr>
        <p:spPr>
          <a:xfrm>
            <a:off x="1188720" y="3401568"/>
            <a:ext cx="2926080" cy="274320"/>
          </a:xfrm>
          <a:prstGeom prst="rect">
            <a:avLst/>
          </a:prstGeom>
          <a:noFill/>
          <a:ln/>
        </p:spPr>
        <p:txBody>
          <a:bodyPr wrap="square" lIns="0" tIns="0" rIns="0" bIns="0" rtlCol="0" anchor="t"/>
          <a:lstStyle/>
          <a:p>
            <a:pPr indent="0" marL="0">
              <a:buNone/>
            </a:pPr>
            <a:r>
              <a:rPr lang="en-US" sz="1450" b="1" dirty="0">
                <a:solidFill>
                  <a:schemeClr val="tx1"/>
                </a:solidFill>
              </a:rPr>
              <a:t>Capability</a:t>
            </a:r>
            <a:endParaRPr lang="en-US" sz="1450" dirty="0"/>
          </a:p>
        </p:txBody>
      </p:sp>
      <p:sp>
        <p:nvSpPr>
          <p:cNvPr id="17" name="text-534"/>
          <p:cNvSpPr txBox="1"/>
          <p:nvPr/>
        </p:nvSpPr>
        <p:spPr>
          <a:xfrm>
            <a:off x="1188720" y="3685032"/>
            <a:ext cx="5166360" cy="274320"/>
          </a:xfrm>
          <a:prstGeom prst="rect">
            <a:avLst/>
          </a:prstGeom>
          <a:noFill/>
          <a:ln/>
        </p:spPr>
        <p:txBody>
          <a:bodyPr wrap="square" lIns="0" tIns="0" rIns="0" bIns="0" rtlCol="0" anchor="t"/>
          <a:lstStyle/>
          <a:p>
            <a:pPr indent="0" marL="0">
              <a:buNone/>
            </a:pPr>
            <a:r>
              <a:rPr lang="en-US" sz="1250" dirty="0">
                <a:solidFill>
                  <a:schemeClr val="tx2"/>
                </a:solidFill>
              </a:rPr>
              <a:t>The task must be listed in the receiver’s Agent Card</a:t>
            </a:r>
            <a:endParaRPr lang="en-US" sz="1250" dirty="0"/>
          </a:p>
        </p:txBody>
      </p:sp>
      <p:sp>
        <p:nvSpPr>
          <p:cNvPr id="18" name="dot-535"/>
          <p:cNvSpPr/>
          <p:nvPr/>
        </p:nvSpPr>
        <p:spPr>
          <a:xfrm>
            <a:off x="548640" y="4142232"/>
            <a:ext cx="457200" cy="457200"/>
          </a:xfrm>
          <a:prstGeom prst="ellipse">
            <a:avLst/>
          </a:prstGeom>
          <a:solidFill>
            <a:schemeClr val="accent1"/>
          </a:solidFill>
          <a:ln/>
        </p:spPr>
      </p:sp>
      <p:sp>
        <p:nvSpPr>
          <p:cNvPr id="19" name="text-536"/>
          <p:cNvSpPr txBox="1"/>
          <p:nvPr/>
        </p:nvSpPr>
        <p:spPr>
          <a:xfrm>
            <a:off x="548640" y="4142232"/>
            <a:ext cx="457200" cy="457200"/>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20" name="text-537"/>
          <p:cNvSpPr txBox="1"/>
          <p:nvPr/>
        </p:nvSpPr>
        <p:spPr>
          <a:xfrm>
            <a:off x="1188720" y="4087368"/>
            <a:ext cx="2926080" cy="274320"/>
          </a:xfrm>
          <a:prstGeom prst="rect">
            <a:avLst/>
          </a:prstGeom>
          <a:noFill/>
          <a:ln/>
        </p:spPr>
        <p:txBody>
          <a:bodyPr wrap="square" lIns="0" tIns="0" rIns="0" bIns="0" rtlCol="0" anchor="t"/>
          <a:lstStyle/>
          <a:p>
            <a:pPr indent="0" marL="0">
              <a:buNone/>
            </a:pPr>
            <a:r>
              <a:rPr lang="en-US" sz="1450" b="1" dirty="0">
                <a:solidFill>
                  <a:schemeClr val="tx1"/>
                </a:solidFill>
              </a:rPr>
              <a:t>Schema</a:t>
            </a:r>
            <a:endParaRPr lang="en-US" sz="1450" dirty="0"/>
          </a:p>
        </p:txBody>
      </p:sp>
      <p:sp>
        <p:nvSpPr>
          <p:cNvPr id="21" name="text-538"/>
          <p:cNvSpPr txBox="1"/>
          <p:nvPr/>
        </p:nvSpPr>
        <p:spPr>
          <a:xfrm>
            <a:off x="1188720" y="4370832"/>
            <a:ext cx="5166360" cy="274320"/>
          </a:xfrm>
          <a:prstGeom prst="rect">
            <a:avLst/>
          </a:prstGeom>
          <a:noFill/>
          <a:ln/>
        </p:spPr>
        <p:txBody>
          <a:bodyPr wrap="square" lIns="0" tIns="0" rIns="0" bIns="0" rtlCol="0" anchor="t"/>
          <a:lstStyle/>
          <a:p>
            <a:pPr indent="0" marL="0">
              <a:buNone/>
            </a:pPr>
            <a:r>
              <a:rPr lang="en-US" sz="1250" dirty="0">
                <a:solidFill>
                  <a:schemeClr val="tx2"/>
                </a:solidFill>
              </a:rPr>
              <a:t>Strict Pydantic v2 envelopes; extra fields rejected</a:t>
            </a:r>
            <a:endParaRPr lang="en-US" sz="1250" dirty="0"/>
          </a:p>
        </p:txBody>
      </p:sp>
      <p:sp>
        <p:nvSpPr>
          <p:cNvPr id="22" name="dot-539"/>
          <p:cNvSpPr/>
          <p:nvPr/>
        </p:nvSpPr>
        <p:spPr>
          <a:xfrm>
            <a:off x="548640" y="4828032"/>
            <a:ext cx="457200" cy="457200"/>
          </a:xfrm>
          <a:prstGeom prst="ellipse">
            <a:avLst/>
          </a:prstGeom>
          <a:solidFill>
            <a:schemeClr val="accent1"/>
          </a:solidFill>
          <a:ln/>
        </p:spPr>
      </p:sp>
      <p:sp>
        <p:nvSpPr>
          <p:cNvPr id="23" name="text-540"/>
          <p:cNvSpPr txBox="1"/>
          <p:nvPr/>
        </p:nvSpPr>
        <p:spPr>
          <a:xfrm>
            <a:off x="548640" y="4828032"/>
            <a:ext cx="457200" cy="457200"/>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24" name="text-541"/>
          <p:cNvSpPr txBox="1"/>
          <p:nvPr/>
        </p:nvSpPr>
        <p:spPr>
          <a:xfrm>
            <a:off x="1188720" y="4773168"/>
            <a:ext cx="2926080" cy="274320"/>
          </a:xfrm>
          <a:prstGeom prst="rect">
            <a:avLst/>
          </a:prstGeom>
          <a:noFill/>
          <a:ln/>
        </p:spPr>
        <p:txBody>
          <a:bodyPr wrap="square" lIns="0" tIns="0" rIns="0" bIns="0" rtlCol="0" anchor="t"/>
          <a:lstStyle/>
          <a:p>
            <a:pPr indent="0" marL="0">
              <a:buNone/>
            </a:pPr>
            <a:r>
              <a:rPr lang="en-US" sz="1450" b="1" dirty="0">
                <a:solidFill>
                  <a:schemeClr val="tx1"/>
                </a:solidFill>
              </a:rPr>
              <a:t>Timeout and retry</a:t>
            </a:r>
            <a:endParaRPr lang="en-US" sz="1450" dirty="0"/>
          </a:p>
        </p:txBody>
      </p:sp>
      <p:sp>
        <p:nvSpPr>
          <p:cNvPr id="25" name="text-542"/>
          <p:cNvSpPr txBox="1"/>
          <p:nvPr/>
        </p:nvSpPr>
        <p:spPr>
          <a:xfrm>
            <a:off x="1188720" y="5056632"/>
            <a:ext cx="5166360" cy="274320"/>
          </a:xfrm>
          <a:prstGeom prst="rect">
            <a:avLst/>
          </a:prstGeom>
          <a:noFill/>
          <a:ln/>
        </p:spPr>
        <p:txBody>
          <a:bodyPr wrap="square" lIns="0" tIns="0" rIns="0" bIns="0" rtlCol="0" anchor="t"/>
          <a:lstStyle/>
          <a:p>
            <a:pPr indent="0" marL="0">
              <a:buNone/>
            </a:pPr>
            <a:r>
              <a:rPr lang="en-US" sz="1250" dirty="0">
                <a:solidFill>
                  <a:schemeClr val="tx2"/>
                </a:solidFill>
              </a:rPr>
              <a:t>90 s request, 25 s peer; only transient errors are retried</a:t>
            </a:r>
            <a:endParaRPr lang="en-US" sz="1250" dirty="0"/>
          </a:p>
        </p:txBody>
      </p:sp>
      <p:sp>
        <p:nvSpPr>
          <p:cNvPr id="26" name="dot-543"/>
          <p:cNvSpPr/>
          <p:nvPr/>
        </p:nvSpPr>
        <p:spPr>
          <a:xfrm>
            <a:off x="548640" y="5513832"/>
            <a:ext cx="457200" cy="457200"/>
          </a:xfrm>
          <a:prstGeom prst="ellipse">
            <a:avLst/>
          </a:prstGeom>
          <a:solidFill>
            <a:schemeClr val="accent2"/>
          </a:solidFill>
          <a:ln/>
        </p:spPr>
      </p:sp>
      <p:sp>
        <p:nvSpPr>
          <p:cNvPr id="27" name="text-544"/>
          <p:cNvSpPr txBox="1"/>
          <p:nvPr/>
        </p:nvSpPr>
        <p:spPr>
          <a:xfrm>
            <a:off x="548640" y="5513832"/>
            <a:ext cx="457200" cy="457200"/>
          </a:xfrm>
          <a:prstGeom prst="rect">
            <a:avLst/>
          </a:prstGeom>
          <a:noFill/>
          <a:ln/>
        </p:spPr>
        <p:txBody>
          <a:bodyPr wrap="square" lIns="0" tIns="0" rIns="0" bIns="0" rtlCol="0" anchor="ctr"/>
          <a:lstStyle/>
          <a:p>
            <a:pPr algn="ctr" indent="0" marL="0">
              <a:buNone/>
            </a:pPr>
            <a:r>
              <a:rPr lang="en-US" sz="1300" b="1" dirty="0">
                <a:solidFill>
                  <a:schemeClr val="tx1"/>
                </a:solidFill>
              </a:rPr>
              <a:t>6</a:t>
            </a:r>
            <a:endParaRPr lang="en-US" sz="1300" dirty="0"/>
          </a:p>
        </p:txBody>
      </p:sp>
      <p:sp>
        <p:nvSpPr>
          <p:cNvPr id="28" name="text-545"/>
          <p:cNvSpPr txBox="1"/>
          <p:nvPr/>
        </p:nvSpPr>
        <p:spPr>
          <a:xfrm>
            <a:off x="1188720" y="5458968"/>
            <a:ext cx="1143000" cy="274320"/>
          </a:xfrm>
          <a:prstGeom prst="rect">
            <a:avLst/>
          </a:prstGeom>
          <a:noFill/>
          <a:ln/>
        </p:spPr>
        <p:txBody>
          <a:bodyPr wrap="square" lIns="0" tIns="0" rIns="0" bIns="0" rtlCol="0" anchor="t"/>
          <a:lstStyle/>
          <a:p>
            <a:pPr indent="0" marL="0">
              <a:buNone/>
            </a:pPr>
            <a:r>
              <a:rPr lang="en-US" sz="1450" b="1" dirty="0">
                <a:solidFill>
                  <a:schemeClr val="tx1"/>
                </a:solidFill>
              </a:rPr>
              <a:t>Provenance</a:t>
            </a:r>
            <a:endParaRPr lang="en-US" sz="1450" dirty="0"/>
          </a:p>
        </p:txBody>
      </p:sp>
      <p:sp>
        <p:nvSpPr>
          <p:cNvPr id="29" name="text-546"/>
          <p:cNvSpPr txBox="1"/>
          <p:nvPr/>
        </p:nvSpPr>
        <p:spPr>
          <a:xfrm>
            <a:off x="1188720" y="5742432"/>
            <a:ext cx="5166360" cy="274320"/>
          </a:xfrm>
          <a:prstGeom prst="rect">
            <a:avLst/>
          </a:prstGeom>
          <a:noFill/>
          <a:ln/>
        </p:spPr>
        <p:txBody>
          <a:bodyPr wrap="square" lIns="0" tIns="0" rIns="0" bIns="0" rtlCol="0" anchor="t"/>
          <a:lstStyle/>
          <a:p>
            <a:pPr indent="0" marL="0">
              <a:buNone/>
            </a:pPr>
            <a:r>
              <a:rPr lang="en-US" sz="1250" dirty="0">
                <a:solidFill>
                  <a:schemeClr val="tx2"/>
                </a:solidFill>
              </a:rPr>
              <a:t>A successful reply with no sources is rejected</a:t>
            </a:r>
            <a:endParaRPr lang="en-US" sz="1250" dirty="0"/>
          </a:p>
        </p:txBody>
      </p:sp>
      <p:sp>
        <p:nvSpPr>
          <p:cNvPr id="30" name="card-547"/>
          <p:cNvSpPr/>
          <p:nvPr/>
        </p:nvSpPr>
        <p:spPr>
          <a:xfrm>
            <a:off x="2423160" y="5468112"/>
            <a:ext cx="1783080" cy="256032"/>
          </a:xfrm>
          <a:prstGeom prst="roundRect">
            <a:avLst>
              <a:gd name="adj" fmla="val 50000"/>
            </a:avLst>
          </a:prstGeom>
          <a:solidFill>
            <a:schemeClr val="accent2"/>
          </a:solidFill>
          <a:ln/>
        </p:spPr>
      </p:sp>
      <p:sp>
        <p:nvSpPr>
          <p:cNvPr id="31" name="text-548"/>
          <p:cNvSpPr txBox="1"/>
          <p:nvPr/>
        </p:nvSpPr>
        <p:spPr>
          <a:xfrm>
            <a:off x="2423160" y="5468112"/>
            <a:ext cx="1783080" cy="256032"/>
          </a:xfrm>
          <a:prstGeom prst="rect">
            <a:avLst/>
          </a:prstGeom>
          <a:noFill/>
          <a:ln/>
        </p:spPr>
        <p:txBody>
          <a:bodyPr wrap="square" lIns="0" tIns="0" rIns="0" bIns="0" rtlCol="0" anchor="ctr"/>
          <a:lstStyle/>
          <a:p>
            <a:pPr algn="ctr" indent="0" marL="0">
              <a:buNone/>
            </a:pPr>
            <a:r>
              <a:rPr lang="en-US" sz="1050" b="1" spc="50" kern="0" dirty="0">
                <a:solidFill>
                  <a:schemeClr val="tx1"/>
                </a:solidFill>
              </a:rPr>
              <a:t>No Source, No Answer</a:t>
            </a:r>
            <a:endParaRPr lang="en-US" sz="1050" dirty="0"/>
          </a:p>
        </p:txBody>
      </p:sp>
      <p:sp>
        <p:nvSpPr>
          <p:cNvPr id="32" name="card-549"/>
          <p:cNvSpPr/>
          <p:nvPr/>
        </p:nvSpPr>
        <p:spPr>
          <a:xfrm>
            <a:off x="6720840" y="1600200"/>
            <a:ext cx="4922215" cy="2514600"/>
          </a:xfrm>
          <a:prstGeom prst="roundRect">
            <a:avLst>
              <a:gd name="adj" fmla="val 4364"/>
            </a:avLst>
          </a:prstGeom>
          <a:solidFill>
            <a:schemeClr val="bg2"/>
          </a:solidFill>
          <a:ln/>
        </p:spPr>
      </p:sp>
      <p:sp>
        <p:nvSpPr>
          <p:cNvPr id="33" name="text-550"/>
          <p:cNvSpPr txBox="1"/>
          <p:nvPr/>
        </p:nvSpPr>
        <p:spPr>
          <a:xfrm>
            <a:off x="6949440" y="1737360"/>
            <a:ext cx="3200400" cy="274320"/>
          </a:xfrm>
          <a:prstGeom prst="rect">
            <a:avLst/>
          </a:prstGeom>
          <a:noFill/>
          <a:ln/>
        </p:spPr>
        <p:txBody>
          <a:bodyPr wrap="square" lIns="0" tIns="0" rIns="0" bIns="0" rtlCol="0" anchor="t"/>
          <a:lstStyle/>
          <a:p>
            <a:pPr indent="0" marL="0">
              <a:buNone/>
            </a:pPr>
            <a:r>
              <a:rPr lang="en-US" sz="1500" b="1" dirty="0">
                <a:solidFill>
                  <a:schemeClr val="tx1"/>
                </a:solidFill>
              </a:rPr>
              <a:t>7 declared peer edges</a:t>
            </a:r>
            <a:endParaRPr lang="en-US" sz="1500" dirty="0"/>
          </a:p>
        </p:txBody>
      </p:sp>
      <p:sp>
        <p:nvSpPr>
          <p:cNvPr id="34" name="text-551"/>
          <p:cNvSpPr txBox="1"/>
          <p:nvPr/>
        </p:nvSpPr>
        <p:spPr>
          <a:xfrm>
            <a:off x="6949440" y="2011680"/>
            <a:ext cx="3200400" cy="228600"/>
          </a:xfrm>
          <a:prstGeom prst="rect">
            <a:avLst/>
          </a:prstGeom>
          <a:noFill/>
          <a:ln/>
        </p:spPr>
        <p:txBody>
          <a:bodyPr wrap="square" lIns="0" tIns="0" rIns="0" bIns="0" rtlCol="0" anchor="t"/>
          <a:lstStyle/>
          <a:p>
            <a:pPr indent="0" marL="0">
              <a:buNone/>
            </a:pPr>
            <a:r>
              <a:rPr lang="en-US" sz="1100" dirty="0">
                <a:solidFill>
                  <a:schemeClr val="tx2"/>
                </a:solidFill>
              </a:rPr>
              <a:t>consumer → provider · A2A task</a:t>
            </a:r>
            <a:endParaRPr lang="en-US" sz="1100" dirty="0"/>
          </a:p>
        </p:txBody>
      </p:sp>
      <p:sp>
        <p:nvSpPr>
          <p:cNvPr id="35" name="card-552"/>
          <p:cNvSpPr/>
          <p:nvPr/>
        </p:nvSpPr>
        <p:spPr>
          <a:xfrm>
            <a:off x="6949440" y="2377440"/>
            <a:ext cx="1234440" cy="457200"/>
          </a:xfrm>
          <a:prstGeom prst="roundRect">
            <a:avLst>
              <a:gd name="adj" fmla="val 16000"/>
            </a:avLst>
          </a:prstGeom>
          <a:solidFill>
            <a:schemeClr val="bg1"/>
          </a:solidFill>
          <a:ln/>
        </p:spPr>
      </p:sp>
      <p:sp>
        <p:nvSpPr>
          <p:cNvPr id="36" name="text-553"/>
          <p:cNvSpPr txBox="1"/>
          <p:nvPr/>
        </p:nvSpPr>
        <p:spPr>
          <a:xfrm>
            <a:off x="6949440" y="2377440"/>
            <a:ext cx="1234440" cy="457200"/>
          </a:xfrm>
          <a:prstGeom prst="rect">
            <a:avLst/>
          </a:prstGeom>
          <a:noFill/>
          <a:ln/>
        </p:spPr>
        <p:txBody>
          <a:bodyPr wrap="square" lIns="0" tIns="0" rIns="0" bIns="0" rtlCol="0" anchor="ctr"/>
          <a:lstStyle/>
          <a:p>
            <a:pPr algn="ctr" indent="0" marL="0">
              <a:buNone/>
            </a:pPr>
            <a:r>
              <a:rPr lang="en-US" sz="1250" b="1" dirty="0">
                <a:solidFill>
                  <a:schemeClr val="tx1"/>
                </a:solidFill>
              </a:rPr>
              <a:t>Finance</a:t>
            </a:r>
            <a:endParaRPr lang="en-US" sz="1250" dirty="0"/>
          </a:p>
        </p:txBody>
      </p:sp>
      <p:sp>
        <p:nvSpPr>
          <p:cNvPr id="37" name="card-554"/>
          <p:cNvSpPr/>
          <p:nvPr/>
        </p:nvSpPr>
        <p:spPr>
          <a:xfrm>
            <a:off x="6949440" y="2944368"/>
            <a:ext cx="1234440" cy="457200"/>
          </a:xfrm>
          <a:prstGeom prst="roundRect">
            <a:avLst>
              <a:gd name="adj" fmla="val 16000"/>
            </a:avLst>
          </a:prstGeom>
          <a:solidFill>
            <a:schemeClr val="bg1"/>
          </a:solidFill>
          <a:ln/>
        </p:spPr>
      </p:sp>
      <p:sp>
        <p:nvSpPr>
          <p:cNvPr id="38" name="text-555"/>
          <p:cNvSpPr txBox="1"/>
          <p:nvPr/>
        </p:nvSpPr>
        <p:spPr>
          <a:xfrm>
            <a:off x="6949440" y="2944368"/>
            <a:ext cx="1234440" cy="457200"/>
          </a:xfrm>
          <a:prstGeom prst="rect">
            <a:avLst/>
          </a:prstGeom>
          <a:noFill/>
          <a:ln/>
        </p:spPr>
        <p:txBody>
          <a:bodyPr wrap="square" lIns="0" tIns="0" rIns="0" bIns="0" rtlCol="0" anchor="ctr"/>
          <a:lstStyle/>
          <a:p>
            <a:pPr algn="ctr" indent="0" marL="0">
              <a:buNone/>
            </a:pPr>
            <a:r>
              <a:rPr lang="en-US" sz="1250" b="1" dirty="0">
                <a:solidFill>
                  <a:schemeClr val="tx1"/>
                </a:solidFill>
              </a:rPr>
              <a:t>Fiscal</a:t>
            </a:r>
            <a:endParaRPr lang="en-US" sz="1250" dirty="0"/>
          </a:p>
        </p:txBody>
      </p:sp>
      <p:sp>
        <p:nvSpPr>
          <p:cNvPr id="39" name="card-556"/>
          <p:cNvSpPr/>
          <p:nvPr/>
        </p:nvSpPr>
        <p:spPr>
          <a:xfrm>
            <a:off x="6949440" y="3511296"/>
            <a:ext cx="1234440" cy="457200"/>
          </a:xfrm>
          <a:prstGeom prst="roundRect">
            <a:avLst>
              <a:gd name="adj" fmla="val 16000"/>
            </a:avLst>
          </a:prstGeom>
          <a:solidFill>
            <a:schemeClr val="bg1"/>
          </a:solidFill>
          <a:ln/>
        </p:spPr>
      </p:sp>
      <p:sp>
        <p:nvSpPr>
          <p:cNvPr id="40" name="text-557"/>
          <p:cNvSpPr txBox="1"/>
          <p:nvPr/>
        </p:nvSpPr>
        <p:spPr>
          <a:xfrm>
            <a:off x="6949440" y="3511296"/>
            <a:ext cx="1234440" cy="457200"/>
          </a:xfrm>
          <a:prstGeom prst="rect">
            <a:avLst/>
          </a:prstGeom>
          <a:noFill/>
          <a:ln/>
        </p:spPr>
        <p:txBody>
          <a:bodyPr wrap="square" lIns="0" tIns="0" rIns="0" bIns="0" rtlCol="0" anchor="ctr"/>
          <a:lstStyle/>
          <a:p>
            <a:pPr algn="ctr" indent="0" marL="0">
              <a:buNone/>
            </a:pPr>
            <a:r>
              <a:rPr lang="en-US" sz="1250" b="1" dirty="0">
                <a:solidFill>
                  <a:schemeClr val="tx1"/>
                </a:solidFill>
              </a:rPr>
              <a:t>External</a:t>
            </a:r>
            <a:endParaRPr lang="en-US" sz="1250" dirty="0"/>
          </a:p>
        </p:txBody>
      </p:sp>
      <p:sp>
        <p:nvSpPr>
          <p:cNvPr id="41" name="card-558"/>
          <p:cNvSpPr/>
          <p:nvPr/>
        </p:nvSpPr>
        <p:spPr>
          <a:xfrm>
            <a:off x="9585655" y="2377440"/>
            <a:ext cx="1828800" cy="457200"/>
          </a:xfrm>
          <a:prstGeom prst="roundRect">
            <a:avLst>
              <a:gd name="adj" fmla="val 16000"/>
            </a:avLst>
          </a:prstGeom>
          <a:solidFill>
            <a:schemeClr val="bg1"/>
          </a:solidFill>
          <a:ln/>
        </p:spPr>
      </p:sp>
      <p:sp>
        <p:nvSpPr>
          <p:cNvPr id="42" name="text-559"/>
          <p:cNvSpPr txBox="1"/>
          <p:nvPr/>
        </p:nvSpPr>
        <p:spPr>
          <a:xfrm>
            <a:off x="9695383" y="2395728"/>
            <a:ext cx="1691640" cy="420624"/>
          </a:xfrm>
          <a:prstGeom prst="rect">
            <a:avLst/>
          </a:prstGeom>
          <a:noFill/>
          <a:ln/>
        </p:spPr>
        <p:txBody>
          <a:bodyPr wrap="square" lIns="0" tIns="0" rIns="0" bIns="0" rtlCol="0" anchor="ctr"/>
          <a:lstStyle/>
          <a:p>
            <a:pPr indent="0" marL="0">
              <a:buNone/>
            </a:pPr>
            <a:r>
              <a:rPr lang="en-US" sz="1200" b="1" dirty="0">
                <a:solidFill>
                  <a:schemeClr val="tx1"/>
                </a:solidFill>
              </a:rPr>
              <a:t>Monetary</a:t>
            </a:r>
            <a:endParaRPr lang="en-US" sz="1200" dirty="0"/>
          </a:p>
          <a:p>
            <a:pPr indent="0" marL="0">
              <a:buNone/>
            </a:pPr>
            <a:r>
              <a:rPr lang="en-US" sz="1000" dirty="0">
                <a:solidFill>
                  <a:schemeClr val="accent1"/>
                </a:solidFill>
                <a:latin typeface="Consolas" pitchFamily="34" charset="0"/>
                <a:ea typeface="Consolas" pitchFamily="34" charset="-122"/>
                <a:cs typeface="Consolas" pitchFamily="34" charset="-120"/>
              </a:rPr>
              <a:t>repo_rate</a:t>
            </a:r>
            <a:endParaRPr lang="en-US" sz="1200" dirty="0"/>
          </a:p>
        </p:txBody>
      </p:sp>
      <p:sp>
        <p:nvSpPr>
          <p:cNvPr id="43" name="card-560"/>
          <p:cNvSpPr/>
          <p:nvPr/>
        </p:nvSpPr>
        <p:spPr>
          <a:xfrm>
            <a:off x="9585655" y="2944368"/>
            <a:ext cx="1828800" cy="457200"/>
          </a:xfrm>
          <a:prstGeom prst="roundRect">
            <a:avLst>
              <a:gd name="adj" fmla="val 16000"/>
            </a:avLst>
          </a:prstGeom>
          <a:solidFill>
            <a:schemeClr val="bg1"/>
          </a:solidFill>
          <a:ln/>
        </p:spPr>
      </p:sp>
      <p:sp>
        <p:nvSpPr>
          <p:cNvPr id="44" name="text-561"/>
          <p:cNvSpPr txBox="1"/>
          <p:nvPr/>
        </p:nvSpPr>
        <p:spPr>
          <a:xfrm>
            <a:off x="9695383" y="2962656"/>
            <a:ext cx="1691640" cy="420624"/>
          </a:xfrm>
          <a:prstGeom prst="rect">
            <a:avLst/>
          </a:prstGeom>
          <a:noFill/>
          <a:ln/>
        </p:spPr>
        <p:txBody>
          <a:bodyPr wrap="square" lIns="0" tIns="0" rIns="0" bIns="0" rtlCol="0" anchor="ctr"/>
          <a:lstStyle/>
          <a:p>
            <a:pPr indent="0" marL="0">
              <a:buNone/>
            </a:pPr>
            <a:r>
              <a:rPr lang="en-US" sz="1200" b="1" dirty="0">
                <a:solidFill>
                  <a:schemeClr val="tx1"/>
                </a:solidFill>
              </a:rPr>
              <a:t>Prices</a:t>
            </a:r>
            <a:endParaRPr lang="en-US" sz="1200" dirty="0"/>
          </a:p>
          <a:p>
            <a:pPr indent="0" marL="0">
              <a:buNone/>
            </a:pPr>
            <a:r>
              <a:rPr lang="en-US" sz="1000" dirty="0">
                <a:solidFill>
                  <a:schemeClr val="accent1"/>
                </a:solidFill>
                <a:latin typeface="Consolas" pitchFamily="34" charset="0"/>
                <a:ea typeface="Consolas" pitchFamily="34" charset="-122"/>
                <a:cs typeface="Consolas" pitchFamily="34" charset="-120"/>
              </a:rPr>
              <a:t>cpi_headline</a:t>
            </a:r>
            <a:endParaRPr lang="en-US" sz="1200" dirty="0"/>
          </a:p>
        </p:txBody>
      </p:sp>
      <p:sp>
        <p:nvSpPr>
          <p:cNvPr id="45" name="card-562"/>
          <p:cNvSpPr/>
          <p:nvPr/>
        </p:nvSpPr>
        <p:spPr>
          <a:xfrm>
            <a:off x="9585655" y="3511296"/>
            <a:ext cx="1828800" cy="457200"/>
          </a:xfrm>
          <a:prstGeom prst="roundRect">
            <a:avLst>
              <a:gd name="adj" fmla="val 16000"/>
            </a:avLst>
          </a:prstGeom>
          <a:solidFill>
            <a:schemeClr val="bg1"/>
          </a:solidFill>
          <a:ln/>
        </p:spPr>
      </p:sp>
      <p:sp>
        <p:nvSpPr>
          <p:cNvPr id="46" name="text-563"/>
          <p:cNvSpPr txBox="1"/>
          <p:nvPr/>
        </p:nvSpPr>
        <p:spPr>
          <a:xfrm>
            <a:off x="9695383" y="3529584"/>
            <a:ext cx="1691640" cy="420624"/>
          </a:xfrm>
          <a:prstGeom prst="rect">
            <a:avLst/>
          </a:prstGeom>
          <a:noFill/>
          <a:ln/>
        </p:spPr>
        <p:txBody>
          <a:bodyPr wrap="square" lIns="0" tIns="0" rIns="0" bIns="0" rtlCol="0" anchor="ctr"/>
          <a:lstStyle/>
          <a:p>
            <a:pPr indent="0" marL="0">
              <a:buNone/>
            </a:pPr>
            <a:r>
              <a:rPr lang="en-US" sz="1200" b="1" dirty="0">
                <a:solidFill>
                  <a:schemeClr val="tx1"/>
                </a:solidFill>
              </a:rPr>
              <a:t>Finance</a:t>
            </a:r>
            <a:endParaRPr lang="en-US" sz="1200" dirty="0"/>
          </a:p>
          <a:p>
            <a:pPr indent="0" marL="0">
              <a:buNone/>
            </a:pPr>
            <a:r>
              <a:rPr lang="en-US" sz="1000" dirty="0">
                <a:solidFill>
                  <a:schemeClr val="accent1"/>
                </a:solidFill>
                <a:latin typeface="Consolas" pitchFamily="34" charset="0"/>
                <a:ea typeface="Consolas" pitchFamily="34" charset="-122"/>
                <a:cs typeface="Consolas" pitchFamily="34" charset="-120"/>
              </a:rPr>
              <a:t>bank_credit_growth</a:t>
            </a:r>
            <a:endParaRPr lang="en-US" sz="1200" dirty="0"/>
          </a:p>
        </p:txBody>
      </p:sp>
      <p:sp>
        <p:nvSpPr>
          <p:cNvPr id="47" name="link-564"/>
          <p:cNvSpPr/>
          <p:nvPr/>
        </p:nvSpPr>
        <p:spPr>
          <a:xfrm flipV="1">
            <a:off x="8202168" y="2514600"/>
            <a:ext cx="1356055" cy="27432"/>
          </a:xfrm>
          <a:prstGeom prst="line">
            <a:avLst/>
          </a:prstGeom>
          <a:noFill/>
          <a:ln w="15875">
            <a:solidFill>
              <a:schemeClr val="accent1"/>
            </a:solidFill>
            <a:prstDash val="solid"/>
            <a:tailEnd type="triangle"/>
          </a:ln>
        </p:spPr>
      </p:sp>
      <p:sp>
        <p:nvSpPr>
          <p:cNvPr id="48" name="link-565"/>
          <p:cNvSpPr/>
          <p:nvPr/>
        </p:nvSpPr>
        <p:spPr>
          <a:xfrm>
            <a:off x="8202168" y="2670048"/>
            <a:ext cx="1356055" cy="411480"/>
          </a:xfrm>
          <a:prstGeom prst="line">
            <a:avLst/>
          </a:prstGeom>
          <a:noFill/>
          <a:ln w="15875">
            <a:solidFill>
              <a:schemeClr val="accent1"/>
            </a:solidFill>
            <a:prstDash val="solid"/>
            <a:tailEnd type="triangle"/>
          </a:ln>
        </p:spPr>
      </p:sp>
      <p:sp>
        <p:nvSpPr>
          <p:cNvPr id="49" name="link-566"/>
          <p:cNvSpPr/>
          <p:nvPr/>
        </p:nvSpPr>
        <p:spPr>
          <a:xfrm flipV="1">
            <a:off x="8202168" y="2606040"/>
            <a:ext cx="1356055" cy="475488"/>
          </a:xfrm>
          <a:prstGeom prst="line">
            <a:avLst/>
          </a:prstGeom>
          <a:noFill/>
          <a:ln w="15875">
            <a:solidFill>
              <a:schemeClr val="accent1"/>
            </a:solidFill>
            <a:prstDash val="solid"/>
            <a:tailEnd type="triangle"/>
          </a:ln>
        </p:spPr>
      </p:sp>
      <p:sp>
        <p:nvSpPr>
          <p:cNvPr id="50" name="link-567"/>
          <p:cNvSpPr/>
          <p:nvPr/>
        </p:nvSpPr>
        <p:spPr>
          <a:xfrm>
            <a:off x="8202168" y="3172968"/>
            <a:ext cx="1356055" cy="0"/>
          </a:xfrm>
          <a:prstGeom prst="line">
            <a:avLst/>
          </a:prstGeom>
          <a:noFill/>
          <a:ln w="15875">
            <a:solidFill>
              <a:schemeClr val="accent1"/>
            </a:solidFill>
            <a:prstDash val="solid"/>
            <a:tailEnd type="triangle"/>
          </a:ln>
        </p:spPr>
      </p:sp>
      <p:sp>
        <p:nvSpPr>
          <p:cNvPr id="51" name="link-568"/>
          <p:cNvSpPr/>
          <p:nvPr/>
        </p:nvSpPr>
        <p:spPr>
          <a:xfrm>
            <a:off x="8202168" y="3264408"/>
            <a:ext cx="1356055" cy="475488"/>
          </a:xfrm>
          <a:prstGeom prst="line">
            <a:avLst/>
          </a:prstGeom>
          <a:noFill/>
          <a:ln w="15875">
            <a:solidFill>
              <a:schemeClr val="accent1"/>
            </a:solidFill>
            <a:prstDash val="solid"/>
            <a:tailEnd type="triangle"/>
          </a:ln>
        </p:spPr>
      </p:sp>
      <p:sp>
        <p:nvSpPr>
          <p:cNvPr id="52" name="link-569"/>
          <p:cNvSpPr/>
          <p:nvPr/>
        </p:nvSpPr>
        <p:spPr>
          <a:xfrm flipV="1">
            <a:off x="8202168" y="2697480"/>
            <a:ext cx="1356055" cy="978408"/>
          </a:xfrm>
          <a:prstGeom prst="line">
            <a:avLst/>
          </a:prstGeom>
          <a:noFill/>
          <a:ln w="15875">
            <a:solidFill>
              <a:schemeClr val="accent1"/>
            </a:solidFill>
            <a:prstDash val="solid"/>
            <a:tailEnd type="triangle"/>
          </a:ln>
        </p:spPr>
      </p:sp>
      <p:sp>
        <p:nvSpPr>
          <p:cNvPr id="53" name="link-570"/>
          <p:cNvSpPr/>
          <p:nvPr/>
        </p:nvSpPr>
        <p:spPr>
          <a:xfrm flipV="1">
            <a:off x="8202168" y="3264408"/>
            <a:ext cx="1356055" cy="539496"/>
          </a:xfrm>
          <a:prstGeom prst="line">
            <a:avLst/>
          </a:prstGeom>
          <a:noFill/>
          <a:ln w="15875">
            <a:solidFill>
              <a:schemeClr val="accent1"/>
            </a:solidFill>
            <a:prstDash val="solid"/>
            <a:tailEnd type="triangle"/>
          </a:ln>
        </p:spPr>
      </p:sp>
      <p:sp>
        <p:nvSpPr>
          <p:cNvPr id="54" name="card-571"/>
          <p:cNvSpPr/>
          <p:nvPr/>
        </p:nvSpPr>
        <p:spPr>
          <a:xfrm>
            <a:off x="6720840" y="4297680"/>
            <a:ext cx="4922215" cy="1828800"/>
          </a:xfrm>
          <a:prstGeom prst="roundRect">
            <a:avLst>
              <a:gd name="adj" fmla="val 6000"/>
            </a:avLst>
          </a:prstGeom>
          <a:solidFill>
            <a:schemeClr val="bg2"/>
          </a:solidFill>
          <a:ln/>
        </p:spPr>
      </p:sp>
      <p:sp>
        <p:nvSpPr>
          <p:cNvPr id="55" name="text-572"/>
          <p:cNvSpPr txBox="1"/>
          <p:nvPr/>
        </p:nvSpPr>
        <p:spPr>
          <a:xfrm>
            <a:off x="6949440" y="4434840"/>
            <a:ext cx="4114800" cy="274320"/>
          </a:xfrm>
          <a:prstGeom prst="rect">
            <a:avLst/>
          </a:prstGeom>
          <a:noFill/>
          <a:ln/>
        </p:spPr>
        <p:txBody>
          <a:bodyPr wrap="square" lIns="0" tIns="0" rIns="0" bIns="0" rtlCol="0" anchor="t"/>
          <a:lstStyle/>
          <a:p>
            <a:pPr indent="0" marL="0">
              <a:buNone/>
            </a:pPr>
            <a:r>
              <a:rPr lang="en-US" sz="1500" b="1" dirty="0">
                <a:solidFill>
                  <a:schemeClr val="tx1"/>
                </a:solidFill>
              </a:rPr>
              <a:t>MCP data path for every value</a:t>
            </a:r>
            <a:endParaRPr lang="en-US" sz="1500" dirty="0"/>
          </a:p>
        </p:txBody>
      </p:sp>
      <p:sp>
        <p:nvSpPr>
          <p:cNvPr id="56" name="card-573"/>
          <p:cNvSpPr/>
          <p:nvPr/>
        </p:nvSpPr>
        <p:spPr>
          <a:xfrm>
            <a:off x="6949440" y="4846320"/>
            <a:ext cx="1298448" cy="566928"/>
          </a:xfrm>
          <a:prstGeom prst="roundRect">
            <a:avLst>
              <a:gd name="adj" fmla="val 12903"/>
            </a:avLst>
          </a:prstGeom>
          <a:solidFill>
            <a:schemeClr val="bg1"/>
          </a:solidFill>
          <a:ln/>
        </p:spPr>
      </p:sp>
      <p:sp>
        <p:nvSpPr>
          <p:cNvPr id="57" name="card-574"/>
          <p:cNvSpPr/>
          <p:nvPr/>
        </p:nvSpPr>
        <p:spPr>
          <a:xfrm>
            <a:off x="7040880" y="4974336"/>
            <a:ext cx="310896" cy="310896"/>
          </a:xfrm>
          <a:prstGeom prst="roundRect">
            <a:avLst>
              <a:gd name="adj" fmla="val 22000"/>
            </a:avLst>
          </a:prstGeom>
          <a:solidFill>
            <a:schemeClr val="accent1"/>
          </a:solidFill>
          <a:ln/>
        </p:spPr>
      </p:sp>
      <p:pic>
        <p:nvPicPr>
          <p:cNvPr id="58" name="icon-575" descr="Signal icon">    </p:cNvPr>
          <p:cNvPicPr>
            <a:picLocks noChangeAspect="1"/>
          </p:cNvPicPr>
          <p:nvPr/>
        </p:nvPicPr>
        <p:blipFill>
          <a:blip r:embed="rId1"/>
          <a:stretch>
            <a:fillRect/>
          </a:stretch>
        </p:blipFill>
        <p:spPr>
          <a:xfrm>
            <a:off x="7109277" y="5042733"/>
            <a:ext cx="174102" cy="174102"/>
          </a:xfrm>
          <a:prstGeom prst="rect">
            <a:avLst/>
          </a:prstGeom>
        </p:spPr>
      </p:pic>
      <p:sp>
        <p:nvSpPr>
          <p:cNvPr id="59" name="text-576"/>
          <p:cNvSpPr txBox="1"/>
          <p:nvPr/>
        </p:nvSpPr>
        <p:spPr>
          <a:xfrm>
            <a:off x="7406640" y="4846320"/>
            <a:ext cx="795528" cy="566928"/>
          </a:xfrm>
          <a:prstGeom prst="rect">
            <a:avLst/>
          </a:prstGeom>
          <a:noFill/>
          <a:ln/>
        </p:spPr>
        <p:txBody>
          <a:bodyPr wrap="square" lIns="0" tIns="0" rIns="0" bIns="0" rtlCol="0" anchor="ctr"/>
          <a:lstStyle/>
          <a:p>
            <a:pPr indent="0" marL="0">
              <a:buNone/>
            </a:pPr>
            <a:r>
              <a:rPr lang="en-US" sz="1150" b="1" dirty="0">
                <a:solidFill>
                  <a:schemeClr val="tx1"/>
                </a:solidFill>
              </a:rPr>
              <a:t>Live official source</a:t>
            </a:r>
            <a:endParaRPr lang="en-US" sz="1150" dirty="0"/>
          </a:p>
        </p:txBody>
      </p:sp>
      <p:sp>
        <p:nvSpPr>
          <p:cNvPr id="60" name="link-577"/>
          <p:cNvSpPr/>
          <p:nvPr/>
        </p:nvSpPr>
        <p:spPr>
          <a:xfrm>
            <a:off x="8284464" y="5129784"/>
            <a:ext cx="211684" cy="0"/>
          </a:xfrm>
          <a:prstGeom prst="line">
            <a:avLst/>
          </a:prstGeom>
          <a:noFill/>
          <a:ln w="22225">
            <a:solidFill>
              <a:schemeClr val="accent1"/>
            </a:solidFill>
            <a:prstDash val="solid"/>
            <a:tailEnd type="triangle"/>
          </a:ln>
        </p:spPr>
      </p:sp>
      <p:sp>
        <p:nvSpPr>
          <p:cNvPr id="61" name="card-578"/>
          <p:cNvSpPr/>
          <p:nvPr/>
        </p:nvSpPr>
        <p:spPr>
          <a:xfrm>
            <a:off x="8532724" y="4846320"/>
            <a:ext cx="1298448" cy="566928"/>
          </a:xfrm>
          <a:prstGeom prst="roundRect">
            <a:avLst>
              <a:gd name="adj" fmla="val 12903"/>
            </a:avLst>
          </a:prstGeom>
          <a:solidFill>
            <a:schemeClr val="bg1"/>
          </a:solidFill>
          <a:ln/>
        </p:spPr>
      </p:sp>
      <p:sp>
        <p:nvSpPr>
          <p:cNvPr id="62" name="card-579"/>
          <p:cNvSpPr/>
          <p:nvPr/>
        </p:nvSpPr>
        <p:spPr>
          <a:xfrm>
            <a:off x="8624164" y="4974336"/>
            <a:ext cx="310896" cy="310896"/>
          </a:xfrm>
          <a:prstGeom prst="roundRect">
            <a:avLst>
              <a:gd name="adj" fmla="val 22000"/>
            </a:avLst>
          </a:prstGeom>
          <a:solidFill>
            <a:schemeClr val="accent1"/>
          </a:solidFill>
          <a:ln/>
        </p:spPr>
      </p:sp>
      <p:pic>
        <p:nvPicPr>
          <p:cNvPr id="63" name="icon-580" descr="Archive icon">    </p:cNvPr>
          <p:cNvPicPr>
            <a:picLocks noChangeAspect="1"/>
          </p:cNvPicPr>
          <p:nvPr/>
        </p:nvPicPr>
        <p:blipFill>
          <a:blip r:embed="rId2"/>
          <a:stretch>
            <a:fillRect/>
          </a:stretch>
        </p:blipFill>
        <p:spPr>
          <a:xfrm>
            <a:off x="8692561" y="5042733"/>
            <a:ext cx="174102" cy="174102"/>
          </a:xfrm>
          <a:prstGeom prst="rect">
            <a:avLst/>
          </a:prstGeom>
        </p:spPr>
      </p:pic>
      <p:sp>
        <p:nvSpPr>
          <p:cNvPr id="64" name="text-581"/>
          <p:cNvSpPr txBox="1"/>
          <p:nvPr/>
        </p:nvSpPr>
        <p:spPr>
          <a:xfrm>
            <a:off x="8989924" y="4846320"/>
            <a:ext cx="795528" cy="566928"/>
          </a:xfrm>
          <a:prstGeom prst="rect">
            <a:avLst/>
          </a:prstGeom>
          <a:noFill/>
          <a:ln/>
        </p:spPr>
        <p:txBody>
          <a:bodyPr wrap="square" lIns="0" tIns="0" rIns="0" bIns="0" rtlCol="0" anchor="ctr"/>
          <a:lstStyle/>
          <a:p>
            <a:pPr indent="0" marL="0">
              <a:buNone/>
            </a:pPr>
            <a:r>
              <a:rPr lang="en-US" sz="1150" b="1" dirty="0">
                <a:solidFill>
                  <a:schemeClr val="tx1"/>
                </a:solidFill>
              </a:rPr>
              <a:t>Cached snapshot</a:t>
            </a:r>
            <a:endParaRPr lang="en-US" sz="1150" dirty="0"/>
          </a:p>
        </p:txBody>
      </p:sp>
      <p:sp>
        <p:nvSpPr>
          <p:cNvPr id="65" name="link-582"/>
          <p:cNvSpPr/>
          <p:nvPr/>
        </p:nvSpPr>
        <p:spPr>
          <a:xfrm>
            <a:off x="9867748" y="5129784"/>
            <a:ext cx="211684" cy="0"/>
          </a:xfrm>
          <a:prstGeom prst="line">
            <a:avLst/>
          </a:prstGeom>
          <a:noFill/>
          <a:ln w="22225">
            <a:solidFill>
              <a:schemeClr val="accent1"/>
            </a:solidFill>
            <a:prstDash val="solid"/>
            <a:tailEnd type="triangle"/>
          </a:ln>
        </p:spPr>
      </p:sp>
      <p:sp>
        <p:nvSpPr>
          <p:cNvPr id="66" name="card-583"/>
          <p:cNvSpPr/>
          <p:nvPr/>
        </p:nvSpPr>
        <p:spPr>
          <a:xfrm>
            <a:off x="10116007" y="4846320"/>
            <a:ext cx="1298448" cy="566928"/>
          </a:xfrm>
          <a:prstGeom prst="roundRect">
            <a:avLst>
              <a:gd name="adj" fmla="val 12903"/>
            </a:avLst>
          </a:prstGeom>
          <a:solidFill>
            <a:schemeClr val="bg1"/>
          </a:solidFill>
          <a:ln/>
        </p:spPr>
      </p:sp>
      <p:sp>
        <p:nvSpPr>
          <p:cNvPr id="67" name="card-584"/>
          <p:cNvSpPr/>
          <p:nvPr/>
        </p:nvSpPr>
        <p:spPr>
          <a:xfrm>
            <a:off x="10207447" y="4974336"/>
            <a:ext cx="310896" cy="310896"/>
          </a:xfrm>
          <a:prstGeom prst="roundRect">
            <a:avLst>
              <a:gd name="adj" fmla="val 22000"/>
            </a:avLst>
          </a:prstGeom>
          <a:solidFill>
            <a:schemeClr val="accent2"/>
          </a:solidFill>
          <a:ln/>
        </p:spPr>
      </p:sp>
      <p:pic>
        <p:nvPicPr>
          <p:cNvPr id="68" name="icon-585" descr="CircleSlash icon">    </p:cNvPr>
          <p:cNvPicPr>
            <a:picLocks noChangeAspect="1"/>
          </p:cNvPicPr>
          <p:nvPr/>
        </p:nvPicPr>
        <p:blipFill>
          <a:blip r:embed="rId3"/>
          <a:stretch>
            <a:fillRect/>
          </a:stretch>
        </p:blipFill>
        <p:spPr>
          <a:xfrm>
            <a:off x="10275844" y="5042733"/>
            <a:ext cx="174102" cy="174102"/>
          </a:xfrm>
          <a:prstGeom prst="rect">
            <a:avLst/>
          </a:prstGeom>
        </p:spPr>
      </p:pic>
      <p:sp>
        <p:nvSpPr>
          <p:cNvPr id="69" name="text-586"/>
          <p:cNvSpPr txBox="1"/>
          <p:nvPr/>
        </p:nvSpPr>
        <p:spPr>
          <a:xfrm>
            <a:off x="10573207" y="4846320"/>
            <a:ext cx="795528" cy="566928"/>
          </a:xfrm>
          <a:prstGeom prst="rect">
            <a:avLst/>
          </a:prstGeom>
          <a:noFill/>
          <a:ln/>
        </p:spPr>
        <p:txBody>
          <a:bodyPr wrap="square" lIns="0" tIns="0" rIns="0" bIns="0" rtlCol="0" anchor="ctr"/>
          <a:lstStyle/>
          <a:p>
            <a:pPr indent="0" marL="0">
              <a:buNone/>
            </a:pPr>
            <a:r>
              <a:rPr lang="en-US" sz="1150" b="1" dirty="0">
                <a:solidFill>
                  <a:schemeClr val="tx1"/>
                </a:solidFill>
              </a:rPr>
              <a:t>Structured unavailable</a:t>
            </a:r>
            <a:endParaRPr lang="en-US" sz="1150" dirty="0"/>
          </a:p>
        </p:txBody>
      </p:sp>
      <p:sp>
        <p:nvSpPr>
          <p:cNvPr id="70" name="text-587"/>
          <p:cNvSpPr txBox="1"/>
          <p:nvPr/>
        </p:nvSpPr>
        <p:spPr>
          <a:xfrm>
            <a:off x="6949440" y="5532120"/>
            <a:ext cx="4465015" cy="457200"/>
          </a:xfrm>
          <a:prstGeom prst="rect">
            <a:avLst/>
          </a:prstGeom>
          <a:noFill/>
          <a:ln/>
        </p:spPr>
        <p:txBody>
          <a:bodyPr wrap="square" lIns="0" tIns="0" rIns="0" bIns="0" rtlCol="0" anchor="t"/>
          <a:lstStyle/>
          <a:p>
            <a:pPr indent="0" marL="0">
              <a:buNone/>
            </a:pPr>
            <a:r>
              <a:rPr lang="en-US" sz="1150" dirty="0">
                <a:solidFill>
                  <a:schemeClr val="tx2"/>
                </a:solidFill>
              </a:rPr>
              <a:t>Never an estimate. Each value keeps source URL, dataset, table, period, retrieval time and a record reference.</a:t>
            </a:r>
            <a:endParaRPr lang="en-US" sz="1150" dirty="0"/>
          </a:p>
        </p:txBody>
      </p:sp>
      <p:sp>
        <p:nvSpPr>
          <p:cNvPr id="25" name="Slide Number Placeholder 0"/>
          <p:cNvSpPr>
            <a:spLocks noGrp="1"/>
          </p:cNvSpPr>
          <p:nvPr>
            <p:ph type="sldNum" sz="quarter" idx="4294967295"/>
          </p:nvPr>
        </p:nvSpPr>
        <p:spPr>
          <a:xfrm>
            <a:off x="11091672" y="6446520"/>
            <a:ext cx="548640" cy="22860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51607A"/>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ctr"/>
          <a:lstStyle/>
          <a:p>
            <a:pPr indent="0" marL="0">
              <a:buNone/>
            </a:pPr>
            <a:r>
              <a:rPr lang="en-US" sz="1200" b="1" spc="200" kern="0" dirty="0">
                <a:solidFill>
                  <a:schemeClr val="accent1"/>
                </a:solidFill>
              </a:rPr>
              <a:t>CAUSAL KNOWLEDGE GRAPH</a:t>
            </a:r>
            <a:endParaRPr lang="en-US" sz="1200" dirty="0"/>
          </a:p>
        </p:txBody>
      </p:sp>
      <p:sp>
        <p:nvSpPr>
          <p:cNvPr id="3" name="Text 0"/>
          <p:cNvSpPr/>
          <p:nvPr>
            <p:ph idx="101" type="title" hasCustomPrompt="1"/>
          </p:nvPr>
        </p:nvSpPr>
        <p:spPr>
          <a:xfrm>
            <a:off x="548640" y="676656"/>
            <a:ext cx="11094415" cy="713232"/>
          </a:xfrm>
          <a:prstGeom prst="rect">
            <a:avLst/>
          </a:prstGeom>
          <a:noFill/>
          <a:ln/>
        </p:spPr>
        <p:txBody>
          <a:bodyPr wrap="square" lIns="0" tIns="0" rIns="0" bIns="0" rtlCol="0" anchor="t"/>
          <a:lstStyle/>
          <a:p>
            <a:pPr algn="l" indent="0" marL="0">
              <a:buNone/>
            </a:pPr>
            <a:r>
              <a:rPr lang="en-US" sz="3600" b="1" dirty="0">
                <a:solidFill>
                  <a:schemeClr val="tx1"/>
                </a:solidFill>
              </a:rPr>
              <a:t>20 indicators, 12 typed transmission edges</a:t>
            </a:r>
            <a:endParaRPr lang="en-US" sz="3600" dirty="0"/>
          </a:p>
        </p:txBody>
      </p:sp>
      <p:sp>
        <p:nvSpPr>
          <p:cNvPr id="4" name="link-588"/>
          <p:cNvSpPr/>
          <p:nvPr/>
        </p:nvSpPr>
        <p:spPr>
          <a:xfrm>
            <a:off x="1837944" y="3072384"/>
            <a:ext cx="301752" cy="0"/>
          </a:xfrm>
          <a:prstGeom prst="line">
            <a:avLst/>
          </a:prstGeom>
          <a:noFill/>
          <a:ln w="25400">
            <a:solidFill>
              <a:schemeClr val="accent1"/>
            </a:solidFill>
            <a:prstDash val="solid"/>
            <a:tailEnd type="triangle"/>
          </a:ln>
        </p:spPr>
      </p:sp>
      <p:sp>
        <p:nvSpPr>
          <p:cNvPr id="5" name="text-589"/>
          <p:cNvSpPr txBox="1"/>
          <p:nvPr/>
        </p:nvSpPr>
        <p:spPr>
          <a:xfrm>
            <a:off x="1783080" y="2807208"/>
            <a:ext cx="411480" cy="182880"/>
          </a:xfrm>
          <a:prstGeom prst="rect">
            <a:avLst/>
          </a:prstGeom>
          <a:noFill/>
          <a:ln/>
        </p:spPr>
        <p:txBody>
          <a:bodyPr wrap="square" lIns="0" tIns="0" rIns="0" bIns="0" rtlCol="0" anchor="t"/>
          <a:lstStyle/>
          <a:p>
            <a:pPr algn="ctr" indent="0" marL="0">
              <a:buNone/>
            </a:pPr>
            <a:r>
              <a:rPr lang="en-US" sz="1000" b="1" dirty="0">
                <a:solidFill>
                  <a:schemeClr val="tx2"/>
                </a:solidFill>
              </a:rPr>
              <a:t>+1m</a:t>
            </a:r>
            <a:endParaRPr lang="en-US" sz="1000" dirty="0"/>
          </a:p>
        </p:txBody>
      </p:sp>
      <p:sp>
        <p:nvSpPr>
          <p:cNvPr id="6" name="link-590"/>
          <p:cNvSpPr/>
          <p:nvPr/>
        </p:nvSpPr>
        <p:spPr>
          <a:xfrm>
            <a:off x="3456432" y="3072384"/>
            <a:ext cx="301752" cy="0"/>
          </a:xfrm>
          <a:prstGeom prst="line">
            <a:avLst/>
          </a:prstGeom>
          <a:noFill/>
          <a:ln w="38100">
            <a:solidFill>
              <a:schemeClr val="accent1"/>
            </a:solidFill>
            <a:prstDash val="solid"/>
            <a:tailEnd type="triangle"/>
          </a:ln>
        </p:spPr>
      </p:sp>
      <p:sp>
        <p:nvSpPr>
          <p:cNvPr id="7" name="text-591"/>
          <p:cNvSpPr txBox="1"/>
          <p:nvPr/>
        </p:nvSpPr>
        <p:spPr>
          <a:xfrm>
            <a:off x="3401568" y="2807208"/>
            <a:ext cx="411480" cy="182880"/>
          </a:xfrm>
          <a:prstGeom prst="rect">
            <a:avLst/>
          </a:prstGeom>
          <a:noFill/>
          <a:ln/>
        </p:spPr>
        <p:txBody>
          <a:bodyPr wrap="square" lIns="0" tIns="0" rIns="0" bIns="0" rtlCol="0" anchor="t"/>
          <a:lstStyle/>
          <a:p>
            <a:pPr algn="ctr" indent="0" marL="0">
              <a:buNone/>
            </a:pPr>
            <a:r>
              <a:rPr lang="en-US" sz="1000" b="1" dirty="0">
                <a:solidFill>
                  <a:schemeClr val="tx2"/>
                </a:solidFill>
              </a:rPr>
              <a:t>+2m</a:t>
            </a:r>
            <a:endParaRPr lang="en-US" sz="1000" dirty="0"/>
          </a:p>
        </p:txBody>
      </p:sp>
      <p:sp>
        <p:nvSpPr>
          <p:cNvPr id="8" name="link-592"/>
          <p:cNvSpPr/>
          <p:nvPr/>
        </p:nvSpPr>
        <p:spPr>
          <a:xfrm>
            <a:off x="5074920" y="3072384"/>
            <a:ext cx="301752" cy="0"/>
          </a:xfrm>
          <a:prstGeom prst="line">
            <a:avLst/>
          </a:prstGeom>
          <a:noFill/>
          <a:ln w="44450">
            <a:solidFill>
              <a:schemeClr val="tx1"/>
            </a:solidFill>
            <a:prstDash val="solid"/>
            <a:tailEnd type="triangle"/>
          </a:ln>
        </p:spPr>
      </p:sp>
      <p:sp>
        <p:nvSpPr>
          <p:cNvPr id="9" name="text-593"/>
          <p:cNvSpPr txBox="1"/>
          <p:nvPr/>
        </p:nvSpPr>
        <p:spPr>
          <a:xfrm>
            <a:off x="5020056" y="2807208"/>
            <a:ext cx="411480" cy="182880"/>
          </a:xfrm>
          <a:prstGeom prst="rect">
            <a:avLst/>
          </a:prstGeom>
          <a:noFill/>
          <a:ln/>
        </p:spPr>
        <p:txBody>
          <a:bodyPr wrap="square" lIns="0" tIns="0" rIns="0" bIns="0" rtlCol="0" anchor="t"/>
          <a:lstStyle/>
          <a:p>
            <a:pPr algn="ctr" indent="0" marL="0">
              <a:buNone/>
            </a:pPr>
            <a:r>
              <a:rPr lang="en-US" sz="1000" b="1" dirty="0">
                <a:solidFill>
                  <a:schemeClr val="tx2"/>
                </a:solidFill>
              </a:rPr>
              <a:t>+1m</a:t>
            </a:r>
            <a:endParaRPr lang="en-US" sz="1000" dirty="0"/>
          </a:p>
        </p:txBody>
      </p:sp>
      <p:sp>
        <p:nvSpPr>
          <p:cNvPr id="10" name="link-594"/>
          <p:cNvSpPr/>
          <p:nvPr/>
        </p:nvSpPr>
        <p:spPr>
          <a:xfrm>
            <a:off x="6693408" y="3072384"/>
            <a:ext cx="301752" cy="0"/>
          </a:xfrm>
          <a:prstGeom prst="line">
            <a:avLst/>
          </a:prstGeom>
          <a:noFill/>
          <a:ln w="38100">
            <a:solidFill>
              <a:schemeClr val="accent1"/>
            </a:solidFill>
            <a:prstDash val="solid"/>
            <a:tailEnd type="triangle"/>
          </a:ln>
        </p:spPr>
      </p:sp>
      <p:sp>
        <p:nvSpPr>
          <p:cNvPr id="11" name="text-595"/>
          <p:cNvSpPr txBox="1"/>
          <p:nvPr/>
        </p:nvSpPr>
        <p:spPr>
          <a:xfrm>
            <a:off x="6638544" y="2807208"/>
            <a:ext cx="411480" cy="182880"/>
          </a:xfrm>
          <a:prstGeom prst="rect">
            <a:avLst/>
          </a:prstGeom>
          <a:noFill/>
          <a:ln/>
        </p:spPr>
        <p:txBody>
          <a:bodyPr wrap="square" lIns="0" tIns="0" rIns="0" bIns="0" rtlCol="0" anchor="t"/>
          <a:lstStyle/>
          <a:p>
            <a:pPr algn="ctr" indent="0" marL="0">
              <a:buNone/>
            </a:pPr>
            <a:r>
              <a:rPr lang="en-US" sz="1000" b="1" dirty="0">
                <a:solidFill>
                  <a:schemeClr val="tx2"/>
                </a:solidFill>
              </a:rPr>
              <a:t>−3m</a:t>
            </a:r>
            <a:endParaRPr lang="en-US" sz="1000" dirty="0"/>
          </a:p>
        </p:txBody>
      </p:sp>
      <p:sp>
        <p:nvSpPr>
          <p:cNvPr id="12" name="link-596"/>
          <p:cNvSpPr/>
          <p:nvPr/>
        </p:nvSpPr>
        <p:spPr>
          <a:xfrm>
            <a:off x="8311896" y="3072384"/>
            <a:ext cx="301752" cy="0"/>
          </a:xfrm>
          <a:prstGeom prst="line">
            <a:avLst/>
          </a:prstGeom>
          <a:noFill/>
          <a:ln w="15875">
            <a:solidFill>
              <a:schemeClr val="accent1"/>
            </a:solidFill>
            <a:prstDash val="solid"/>
            <a:tailEnd type="triangle"/>
          </a:ln>
        </p:spPr>
      </p:sp>
      <p:sp>
        <p:nvSpPr>
          <p:cNvPr id="13" name="text-597"/>
          <p:cNvSpPr txBox="1"/>
          <p:nvPr/>
        </p:nvSpPr>
        <p:spPr>
          <a:xfrm>
            <a:off x="8257032" y="2807208"/>
            <a:ext cx="411480" cy="182880"/>
          </a:xfrm>
          <a:prstGeom prst="rect">
            <a:avLst/>
          </a:prstGeom>
          <a:noFill/>
          <a:ln/>
        </p:spPr>
        <p:txBody>
          <a:bodyPr wrap="square" lIns="0" tIns="0" rIns="0" bIns="0" rtlCol="0" anchor="t"/>
          <a:lstStyle/>
          <a:p>
            <a:pPr algn="ctr" indent="0" marL="0">
              <a:buNone/>
            </a:pPr>
            <a:r>
              <a:rPr lang="en-US" sz="1000" b="1" dirty="0">
                <a:solidFill>
                  <a:schemeClr val="tx2"/>
                </a:solidFill>
              </a:rPr>
              <a:t>+2m</a:t>
            </a:r>
            <a:endParaRPr lang="en-US" sz="1000" dirty="0"/>
          </a:p>
        </p:txBody>
      </p:sp>
      <p:sp>
        <p:nvSpPr>
          <p:cNvPr id="14" name="link-598"/>
          <p:cNvSpPr/>
          <p:nvPr/>
        </p:nvSpPr>
        <p:spPr>
          <a:xfrm>
            <a:off x="9930384" y="3072384"/>
            <a:ext cx="301752" cy="0"/>
          </a:xfrm>
          <a:prstGeom prst="line">
            <a:avLst/>
          </a:prstGeom>
          <a:noFill/>
          <a:ln w="44450">
            <a:solidFill>
              <a:schemeClr val="tx1"/>
            </a:solidFill>
            <a:prstDash val="solid"/>
            <a:tailEnd type="triangle"/>
          </a:ln>
        </p:spPr>
      </p:sp>
      <p:sp>
        <p:nvSpPr>
          <p:cNvPr id="15" name="text-599"/>
          <p:cNvSpPr txBox="1"/>
          <p:nvPr/>
        </p:nvSpPr>
        <p:spPr>
          <a:xfrm>
            <a:off x="9875520" y="2807208"/>
            <a:ext cx="411480" cy="182880"/>
          </a:xfrm>
          <a:prstGeom prst="rect">
            <a:avLst/>
          </a:prstGeom>
          <a:noFill/>
          <a:ln/>
        </p:spPr>
        <p:txBody>
          <a:bodyPr wrap="square" lIns="0" tIns="0" rIns="0" bIns="0" rtlCol="0" anchor="t"/>
          <a:lstStyle/>
          <a:p>
            <a:pPr algn="ctr" indent="0" marL="0">
              <a:buNone/>
            </a:pPr>
            <a:r>
              <a:rPr lang="en-US" sz="1000" b="1" dirty="0">
                <a:solidFill>
                  <a:schemeClr val="tx2"/>
                </a:solidFill>
              </a:rPr>
              <a:t>+1m</a:t>
            </a:r>
            <a:endParaRPr lang="en-US" sz="1000" dirty="0"/>
          </a:p>
        </p:txBody>
      </p:sp>
      <p:sp>
        <p:nvSpPr>
          <p:cNvPr id="16" name="link-600"/>
          <p:cNvSpPr/>
          <p:nvPr/>
        </p:nvSpPr>
        <p:spPr>
          <a:xfrm flipV="1">
            <a:off x="1581912" y="2258568"/>
            <a:ext cx="813816" cy="530352"/>
          </a:xfrm>
          <a:prstGeom prst="line">
            <a:avLst/>
          </a:prstGeom>
          <a:noFill/>
          <a:ln w="15875">
            <a:solidFill>
              <a:schemeClr val="tx2"/>
            </a:solidFill>
            <a:prstDash val="dash"/>
            <a:tailEnd type="triangle"/>
          </a:ln>
        </p:spPr>
      </p:sp>
      <p:sp>
        <p:nvSpPr>
          <p:cNvPr id="17" name="text-601"/>
          <p:cNvSpPr txBox="1"/>
          <p:nvPr/>
        </p:nvSpPr>
        <p:spPr>
          <a:xfrm>
            <a:off x="2043684" y="2505456"/>
            <a:ext cx="411480" cy="182880"/>
          </a:xfrm>
          <a:prstGeom prst="rect">
            <a:avLst/>
          </a:prstGeom>
          <a:noFill/>
          <a:ln/>
        </p:spPr>
        <p:txBody>
          <a:bodyPr wrap="square" lIns="0" tIns="0" rIns="0" bIns="0" rtlCol="0" anchor="t"/>
          <a:lstStyle/>
          <a:p>
            <a:pPr indent="0" marL="0">
              <a:buNone/>
            </a:pPr>
            <a:r>
              <a:rPr lang="en-US" sz="1000" b="1" dirty="0">
                <a:solidFill>
                  <a:schemeClr val="tx2"/>
                </a:solidFill>
              </a:rPr>
              <a:t>−1m</a:t>
            </a:r>
            <a:endParaRPr lang="en-US" sz="1000" dirty="0"/>
          </a:p>
        </p:txBody>
      </p:sp>
      <p:sp>
        <p:nvSpPr>
          <p:cNvPr id="18" name="link-602"/>
          <p:cNvSpPr/>
          <p:nvPr/>
        </p:nvSpPr>
        <p:spPr>
          <a:xfrm>
            <a:off x="3456432" y="1975104"/>
            <a:ext cx="301752" cy="0"/>
          </a:xfrm>
          <a:prstGeom prst="line">
            <a:avLst/>
          </a:prstGeom>
          <a:noFill/>
          <a:ln w="15875">
            <a:solidFill>
              <a:schemeClr val="accent1"/>
            </a:solidFill>
            <a:prstDash val="solid"/>
            <a:tailEnd type="triangle"/>
          </a:ln>
        </p:spPr>
      </p:sp>
      <p:sp>
        <p:nvSpPr>
          <p:cNvPr id="19" name="text-603"/>
          <p:cNvSpPr txBox="1"/>
          <p:nvPr/>
        </p:nvSpPr>
        <p:spPr>
          <a:xfrm>
            <a:off x="3401568" y="1709928"/>
            <a:ext cx="411480" cy="182880"/>
          </a:xfrm>
          <a:prstGeom prst="rect">
            <a:avLst/>
          </a:prstGeom>
          <a:noFill/>
          <a:ln/>
        </p:spPr>
        <p:txBody>
          <a:bodyPr wrap="square" lIns="0" tIns="0" rIns="0" bIns="0" rtlCol="0" anchor="t"/>
          <a:lstStyle/>
          <a:p>
            <a:pPr algn="ctr" indent="0" marL="0">
              <a:buNone/>
            </a:pPr>
            <a:r>
              <a:rPr lang="en-US" sz="1000" b="1" dirty="0">
                <a:solidFill>
                  <a:schemeClr val="tx2"/>
                </a:solidFill>
              </a:rPr>
              <a:t>+1m</a:t>
            </a:r>
            <a:endParaRPr lang="en-US" sz="1000" dirty="0"/>
          </a:p>
        </p:txBody>
      </p:sp>
      <p:sp>
        <p:nvSpPr>
          <p:cNvPr id="20" name="link-604"/>
          <p:cNvSpPr/>
          <p:nvPr/>
        </p:nvSpPr>
        <p:spPr>
          <a:xfrm flipV="1">
            <a:off x="6437376" y="2258568"/>
            <a:ext cx="813816" cy="530352"/>
          </a:xfrm>
          <a:prstGeom prst="line">
            <a:avLst/>
          </a:prstGeom>
          <a:noFill/>
          <a:ln w="25400">
            <a:solidFill>
              <a:schemeClr val="accent1"/>
            </a:solidFill>
            <a:prstDash val="solid"/>
            <a:tailEnd type="triangle"/>
          </a:ln>
        </p:spPr>
      </p:sp>
      <p:sp>
        <p:nvSpPr>
          <p:cNvPr id="21" name="text-605"/>
          <p:cNvSpPr txBox="1"/>
          <p:nvPr/>
        </p:nvSpPr>
        <p:spPr>
          <a:xfrm>
            <a:off x="6899148" y="2505456"/>
            <a:ext cx="411480" cy="182880"/>
          </a:xfrm>
          <a:prstGeom prst="rect">
            <a:avLst/>
          </a:prstGeom>
          <a:noFill/>
          <a:ln/>
        </p:spPr>
        <p:txBody>
          <a:bodyPr wrap="square" lIns="0" tIns="0" rIns="0" bIns="0" rtlCol="0" anchor="t"/>
          <a:lstStyle/>
          <a:p>
            <a:pPr indent="0" marL="0">
              <a:buNone/>
            </a:pPr>
            <a:r>
              <a:rPr lang="en-US" sz="1000" b="1" dirty="0">
                <a:solidFill>
                  <a:schemeClr val="tx2"/>
                </a:solidFill>
              </a:rPr>
              <a:t>−1m</a:t>
            </a:r>
            <a:endParaRPr lang="en-US" sz="1000" dirty="0"/>
          </a:p>
        </p:txBody>
      </p:sp>
      <p:sp>
        <p:nvSpPr>
          <p:cNvPr id="22" name="link-606"/>
          <p:cNvSpPr/>
          <p:nvPr/>
        </p:nvSpPr>
        <p:spPr>
          <a:xfrm>
            <a:off x="8311896" y="4169664"/>
            <a:ext cx="301752" cy="0"/>
          </a:xfrm>
          <a:prstGeom prst="line">
            <a:avLst/>
          </a:prstGeom>
          <a:noFill/>
          <a:ln w="15875">
            <a:solidFill>
              <a:schemeClr val="tx2"/>
            </a:solidFill>
            <a:prstDash val="dash"/>
            <a:tailEnd type="triangle"/>
          </a:ln>
        </p:spPr>
      </p:sp>
      <p:sp>
        <p:nvSpPr>
          <p:cNvPr id="23" name="text-607"/>
          <p:cNvSpPr txBox="1"/>
          <p:nvPr/>
        </p:nvSpPr>
        <p:spPr>
          <a:xfrm>
            <a:off x="8257032" y="3904488"/>
            <a:ext cx="411480" cy="182880"/>
          </a:xfrm>
          <a:prstGeom prst="rect">
            <a:avLst/>
          </a:prstGeom>
          <a:noFill/>
          <a:ln/>
        </p:spPr>
        <p:txBody>
          <a:bodyPr wrap="square" lIns="0" tIns="0" rIns="0" bIns="0" rtlCol="0" anchor="t"/>
          <a:lstStyle/>
          <a:p>
            <a:pPr algn="ctr" indent="0" marL="0">
              <a:buNone/>
            </a:pPr>
            <a:r>
              <a:rPr lang="en-US" sz="1000" b="1" dirty="0">
                <a:solidFill>
                  <a:schemeClr val="tx2"/>
                </a:solidFill>
              </a:rPr>
              <a:t>+2m</a:t>
            </a:r>
            <a:endParaRPr lang="en-US" sz="1000" dirty="0"/>
          </a:p>
        </p:txBody>
      </p:sp>
      <p:sp>
        <p:nvSpPr>
          <p:cNvPr id="24" name="link-608"/>
          <p:cNvSpPr/>
          <p:nvPr/>
        </p:nvSpPr>
        <p:spPr>
          <a:xfrm>
            <a:off x="1837944" y="4169664"/>
            <a:ext cx="301752" cy="0"/>
          </a:xfrm>
          <a:prstGeom prst="line">
            <a:avLst/>
          </a:prstGeom>
          <a:noFill/>
          <a:ln w="15875">
            <a:solidFill>
              <a:schemeClr val="tx2"/>
            </a:solidFill>
            <a:prstDash val="dash"/>
            <a:tailEnd type="triangle"/>
          </a:ln>
        </p:spPr>
      </p:sp>
      <p:sp>
        <p:nvSpPr>
          <p:cNvPr id="25" name="text-609"/>
          <p:cNvSpPr txBox="1"/>
          <p:nvPr/>
        </p:nvSpPr>
        <p:spPr>
          <a:xfrm>
            <a:off x="1783080" y="3904488"/>
            <a:ext cx="411480" cy="182880"/>
          </a:xfrm>
          <a:prstGeom prst="rect">
            <a:avLst/>
          </a:prstGeom>
          <a:noFill/>
          <a:ln/>
        </p:spPr>
        <p:txBody>
          <a:bodyPr wrap="square" lIns="0" tIns="0" rIns="0" bIns="0" rtlCol="0" anchor="t"/>
          <a:lstStyle/>
          <a:p>
            <a:pPr algn="ctr" indent="0" marL="0">
              <a:buNone/>
            </a:pPr>
            <a:r>
              <a:rPr lang="en-US" sz="1000" b="1" dirty="0">
                <a:solidFill>
                  <a:schemeClr val="tx2"/>
                </a:solidFill>
              </a:rPr>
              <a:t>+3m</a:t>
            </a:r>
            <a:endParaRPr lang="en-US" sz="1000" dirty="0"/>
          </a:p>
        </p:txBody>
      </p:sp>
      <p:sp>
        <p:nvSpPr>
          <p:cNvPr id="26" name="link-610"/>
          <p:cNvSpPr/>
          <p:nvPr/>
        </p:nvSpPr>
        <p:spPr>
          <a:xfrm>
            <a:off x="3456432" y="4169664"/>
            <a:ext cx="301752" cy="0"/>
          </a:xfrm>
          <a:prstGeom prst="line">
            <a:avLst/>
          </a:prstGeom>
          <a:noFill/>
          <a:ln w="15875">
            <a:solidFill>
              <a:schemeClr val="accent1"/>
            </a:solidFill>
            <a:prstDash val="solid"/>
            <a:tailEnd type="triangle"/>
          </a:ln>
        </p:spPr>
      </p:sp>
      <p:sp>
        <p:nvSpPr>
          <p:cNvPr id="27" name="text-611"/>
          <p:cNvSpPr txBox="1"/>
          <p:nvPr/>
        </p:nvSpPr>
        <p:spPr>
          <a:xfrm>
            <a:off x="3401568" y="3904488"/>
            <a:ext cx="411480" cy="182880"/>
          </a:xfrm>
          <a:prstGeom prst="rect">
            <a:avLst/>
          </a:prstGeom>
          <a:noFill/>
          <a:ln/>
        </p:spPr>
        <p:txBody>
          <a:bodyPr wrap="square" lIns="0" tIns="0" rIns="0" bIns="0" rtlCol="0" anchor="t"/>
          <a:lstStyle/>
          <a:p>
            <a:pPr algn="ctr" indent="0" marL="0">
              <a:buNone/>
            </a:pPr>
            <a:r>
              <a:rPr lang="en-US" sz="1000" b="1" dirty="0">
                <a:solidFill>
                  <a:schemeClr val="tx2"/>
                </a:solidFill>
              </a:rPr>
              <a:t>−2m</a:t>
            </a:r>
            <a:endParaRPr lang="en-US" sz="1000" dirty="0"/>
          </a:p>
        </p:txBody>
      </p:sp>
      <p:sp>
        <p:nvSpPr>
          <p:cNvPr id="28" name="kg-node-brent"/>
          <p:cNvSpPr/>
          <p:nvPr/>
        </p:nvSpPr>
        <p:spPr>
          <a:xfrm>
            <a:off x="548640" y="2788920"/>
            <a:ext cx="1261872" cy="566928"/>
          </a:xfrm>
          <a:prstGeom prst="roundRect">
            <a:avLst>
              <a:gd name="adj" fmla="val 16129"/>
            </a:avLst>
          </a:prstGeom>
          <a:solidFill>
            <a:schemeClr val="accent2"/>
          </a:solidFill>
          <a:ln w="15875">
            <a:solidFill>
              <a:schemeClr val="accent2"/>
            </a:solidFill>
            <a:prstDash val="solid"/>
          </a:ln>
        </p:spPr>
      </p:sp>
      <p:sp>
        <p:nvSpPr>
          <p:cNvPr id="29" name="text-613"/>
          <p:cNvSpPr txBox="1"/>
          <p:nvPr/>
        </p:nvSpPr>
        <p:spPr>
          <a:xfrm>
            <a:off x="594360" y="2788920"/>
            <a:ext cx="1170432" cy="566928"/>
          </a:xfrm>
          <a:prstGeom prst="rect">
            <a:avLst/>
          </a:prstGeom>
          <a:noFill/>
          <a:ln/>
        </p:spPr>
        <p:txBody>
          <a:bodyPr wrap="square" lIns="0" tIns="0" rIns="0" bIns="0" rtlCol="0" anchor="ctr"/>
          <a:lstStyle/>
          <a:p>
            <a:pPr algn="ctr" indent="0" marL="0">
              <a:buNone/>
            </a:pPr>
            <a:r>
              <a:rPr lang="en-US" sz="1200" b="1" dirty="0">
                <a:solidFill>
                  <a:schemeClr val="tx1"/>
                </a:solidFill>
              </a:rPr>
              <a:t>Brent crude</a:t>
            </a:r>
            <a:endParaRPr lang="en-US" sz="1200" dirty="0"/>
          </a:p>
        </p:txBody>
      </p:sp>
      <p:sp>
        <p:nvSpPr>
          <p:cNvPr id="30" name="kg-node-wpi"/>
          <p:cNvSpPr/>
          <p:nvPr/>
        </p:nvSpPr>
        <p:spPr>
          <a:xfrm>
            <a:off x="2167128" y="2788920"/>
            <a:ext cx="1261872" cy="566928"/>
          </a:xfrm>
          <a:prstGeom prst="roundRect">
            <a:avLst>
              <a:gd name="adj" fmla="val 16129"/>
            </a:avLst>
          </a:prstGeom>
          <a:solidFill>
            <a:schemeClr val="bg1"/>
          </a:solidFill>
          <a:ln w="15875">
            <a:solidFill>
              <a:schemeClr val="accent1"/>
            </a:solidFill>
            <a:prstDash val="solid"/>
          </a:ln>
        </p:spPr>
      </p:sp>
      <p:sp>
        <p:nvSpPr>
          <p:cNvPr id="31" name="text-615"/>
          <p:cNvSpPr txBox="1"/>
          <p:nvPr/>
        </p:nvSpPr>
        <p:spPr>
          <a:xfrm>
            <a:off x="2212848" y="2788920"/>
            <a:ext cx="1170432" cy="566928"/>
          </a:xfrm>
          <a:prstGeom prst="rect">
            <a:avLst/>
          </a:prstGeom>
          <a:noFill/>
          <a:ln/>
        </p:spPr>
        <p:txBody>
          <a:bodyPr wrap="square" lIns="0" tIns="0" rIns="0" bIns="0" rtlCol="0" anchor="ctr"/>
          <a:lstStyle/>
          <a:p>
            <a:pPr algn="ctr" indent="0" marL="0">
              <a:buNone/>
            </a:pPr>
            <a:r>
              <a:rPr lang="en-US" sz="1200" b="1" dirty="0">
                <a:solidFill>
                  <a:schemeClr val="tx1"/>
                </a:solidFill>
              </a:rPr>
              <a:t>WPI inflation</a:t>
            </a:r>
            <a:endParaRPr lang="en-US" sz="1200" dirty="0"/>
          </a:p>
        </p:txBody>
      </p:sp>
      <p:sp>
        <p:nvSpPr>
          <p:cNvPr id="32" name="kg-node-cpi"/>
          <p:cNvSpPr/>
          <p:nvPr/>
        </p:nvSpPr>
        <p:spPr>
          <a:xfrm>
            <a:off x="3785616" y="2788920"/>
            <a:ext cx="1261872" cy="566928"/>
          </a:xfrm>
          <a:prstGeom prst="roundRect">
            <a:avLst>
              <a:gd name="adj" fmla="val 16129"/>
            </a:avLst>
          </a:prstGeom>
          <a:solidFill>
            <a:schemeClr val="bg1"/>
          </a:solidFill>
          <a:ln w="15875">
            <a:solidFill>
              <a:schemeClr val="accent1"/>
            </a:solidFill>
            <a:prstDash val="solid"/>
          </a:ln>
        </p:spPr>
      </p:sp>
      <p:sp>
        <p:nvSpPr>
          <p:cNvPr id="33" name="text-617"/>
          <p:cNvSpPr txBox="1"/>
          <p:nvPr/>
        </p:nvSpPr>
        <p:spPr>
          <a:xfrm>
            <a:off x="3831336" y="2788920"/>
            <a:ext cx="1170432" cy="566928"/>
          </a:xfrm>
          <a:prstGeom prst="rect">
            <a:avLst/>
          </a:prstGeom>
          <a:noFill/>
          <a:ln/>
        </p:spPr>
        <p:txBody>
          <a:bodyPr wrap="square" lIns="0" tIns="0" rIns="0" bIns="0" rtlCol="0" anchor="ctr"/>
          <a:lstStyle/>
          <a:p>
            <a:pPr algn="ctr" indent="0" marL="0">
              <a:buNone/>
            </a:pPr>
            <a:r>
              <a:rPr lang="en-US" sz="1200" b="1" dirty="0">
                <a:solidFill>
                  <a:schemeClr val="tx1"/>
                </a:solidFill>
              </a:rPr>
              <a:t>CPI headline</a:t>
            </a:r>
            <a:endParaRPr lang="en-US" sz="1200" dirty="0"/>
          </a:p>
        </p:txBody>
      </p:sp>
      <p:sp>
        <p:nvSpPr>
          <p:cNvPr id="34" name="kg-node-repo"/>
          <p:cNvSpPr/>
          <p:nvPr/>
        </p:nvSpPr>
        <p:spPr>
          <a:xfrm>
            <a:off x="5404104" y="2788920"/>
            <a:ext cx="1261872" cy="566928"/>
          </a:xfrm>
          <a:prstGeom prst="roundRect">
            <a:avLst>
              <a:gd name="adj" fmla="val 16129"/>
            </a:avLst>
          </a:prstGeom>
          <a:solidFill>
            <a:schemeClr val="bg1"/>
          </a:solidFill>
          <a:ln w="15875">
            <a:solidFill>
              <a:schemeClr val="accent1"/>
            </a:solidFill>
            <a:prstDash val="solid"/>
          </a:ln>
        </p:spPr>
      </p:sp>
      <p:sp>
        <p:nvSpPr>
          <p:cNvPr id="35" name="text-619"/>
          <p:cNvSpPr txBox="1"/>
          <p:nvPr/>
        </p:nvSpPr>
        <p:spPr>
          <a:xfrm>
            <a:off x="5449824" y="2788920"/>
            <a:ext cx="1170432" cy="566928"/>
          </a:xfrm>
          <a:prstGeom prst="rect">
            <a:avLst/>
          </a:prstGeom>
          <a:noFill/>
          <a:ln/>
        </p:spPr>
        <p:txBody>
          <a:bodyPr wrap="square" lIns="0" tIns="0" rIns="0" bIns="0" rtlCol="0" anchor="ctr"/>
          <a:lstStyle/>
          <a:p>
            <a:pPr algn="ctr" indent="0" marL="0">
              <a:buNone/>
            </a:pPr>
            <a:r>
              <a:rPr lang="en-US" sz="1200" b="1" dirty="0">
                <a:solidFill>
                  <a:schemeClr val="tx1"/>
                </a:solidFill>
              </a:rPr>
              <a:t>Repo rate</a:t>
            </a:r>
            <a:endParaRPr lang="en-US" sz="1200" dirty="0"/>
          </a:p>
        </p:txBody>
      </p:sp>
      <p:sp>
        <p:nvSpPr>
          <p:cNvPr id="36" name="kg-node-credit"/>
          <p:cNvSpPr/>
          <p:nvPr/>
        </p:nvSpPr>
        <p:spPr>
          <a:xfrm>
            <a:off x="7022592" y="2788920"/>
            <a:ext cx="1261872" cy="566928"/>
          </a:xfrm>
          <a:prstGeom prst="roundRect">
            <a:avLst>
              <a:gd name="adj" fmla="val 16129"/>
            </a:avLst>
          </a:prstGeom>
          <a:solidFill>
            <a:schemeClr val="bg1"/>
          </a:solidFill>
          <a:ln w="15875">
            <a:solidFill>
              <a:schemeClr val="accent1"/>
            </a:solidFill>
            <a:prstDash val="solid"/>
          </a:ln>
        </p:spPr>
      </p:sp>
      <p:sp>
        <p:nvSpPr>
          <p:cNvPr id="37" name="text-621"/>
          <p:cNvSpPr txBox="1"/>
          <p:nvPr/>
        </p:nvSpPr>
        <p:spPr>
          <a:xfrm>
            <a:off x="7068312" y="2788920"/>
            <a:ext cx="1170432" cy="566928"/>
          </a:xfrm>
          <a:prstGeom prst="rect">
            <a:avLst/>
          </a:prstGeom>
          <a:noFill/>
          <a:ln/>
        </p:spPr>
        <p:txBody>
          <a:bodyPr wrap="square" lIns="0" tIns="0" rIns="0" bIns="0" rtlCol="0" anchor="ctr"/>
          <a:lstStyle/>
          <a:p>
            <a:pPr algn="ctr" indent="0" marL="0">
              <a:buNone/>
            </a:pPr>
            <a:r>
              <a:rPr lang="en-US" sz="1200" b="1" dirty="0">
                <a:solidFill>
                  <a:schemeClr val="tx1"/>
                </a:solidFill>
              </a:rPr>
              <a:t>Bank credit growth</a:t>
            </a:r>
            <a:endParaRPr lang="en-US" sz="1200" dirty="0"/>
          </a:p>
        </p:txBody>
      </p:sp>
      <p:sp>
        <p:nvSpPr>
          <p:cNvPr id="38" name="kg-node-iip"/>
          <p:cNvSpPr/>
          <p:nvPr/>
        </p:nvSpPr>
        <p:spPr>
          <a:xfrm>
            <a:off x="8641080" y="2788920"/>
            <a:ext cx="1261872" cy="566928"/>
          </a:xfrm>
          <a:prstGeom prst="roundRect">
            <a:avLst>
              <a:gd name="adj" fmla="val 16129"/>
            </a:avLst>
          </a:prstGeom>
          <a:solidFill>
            <a:schemeClr val="bg1"/>
          </a:solidFill>
          <a:ln w="15875">
            <a:solidFill>
              <a:schemeClr val="accent1"/>
            </a:solidFill>
            <a:prstDash val="solid"/>
          </a:ln>
        </p:spPr>
      </p:sp>
      <p:sp>
        <p:nvSpPr>
          <p:cNvPr id="39" name="text-623"/>
          <p:cNvSpPr txBox="1"/>
          <p:nvPr/>
        </p:nvSpPr>
        <p:spPr>
          <a:xfrm>
            <a:off x="8686800" y="2788920"/>
            <a:ext cx="1170432" cy="566928"/>
          </a:xfrm>
          <a:prstGeom prst="rect">
            <a:avLst/>
          </a:prstGeom>
          <a:noFill/>
          <a:ln/>
        </p:spPr>
        <p:txBody>
          <a:bodyPr wrap="square" lIns="0" tIns="0" rIns="0" bIns="0" rtlCol="0" anchor="ctr"/>
          <a:lstStyle/>
          <a:p>
            <a:pPr algn="ctr" indent="0" marL="0">
              <a:buNone/>
            </a:pPr>
            <a:r>
              <a:rPr lang="en-US" sz="1200" b="1" dirty="0">
                <a:solidFill>
                  <a:schemeClr val="tx1"/>
                </a:solidFill>
              </a:rPr>
              <a:t>IIP growth</a:t>
            </a:r>
            <a:endParaRPr lang="en-US" sz="1200" dirty="0"/>
          </a:p>
        </p:txBody>
      </p:sp>
      <p:sp>
        <p:nvSpPr>
          <p:cNvPr id="40" name="kg-node-gdp"/>
          <p:cNvSpPr/>
          <p:nvPr/>
        </p:nvSpPr>
        <p:spPr>
          <a:xfrm>
            <a:off x="10259568" y="2788920"/>
            <a:ext cx="1261872" cy="566928"/>
          </a:xfrm>
          <a:prstGeom prst="roundRect">
            <a:avLst>
              <a:gd name="adj" fmla="val 16129"/>
            </a:avLst>
          </a:prstGeom>
          <a:solidFill>
            <a:schemeClr val="bg1"/>
          </a:solidFill>
          <a:ln w="15875">
            <a:solidFill>
              <a:schemeClr val="accent1"/>
            </a:solidFill>
            <a:prstDash val="solid"/>
          </a:ln>
        </p:spPr>
      </p:sp>
      <p:sp>
        <p:nvSpPr>
          <p:cNvPr id="41" name="text-625"/>
          <p:cNvSpPr txBox="1"/>
          <p:nvPr/>
        </p:nvSpPr>
        <p:spPr>
          <a:xfrm>
            <a:off x="10305288" y="2788920"/>
            <a:ext cx="1170432" cy="566928"/>
          </a:xfrm>
          <a:prstGeom prst="rect">
            <a:avLst/>
          </a:prstGeom>
          <a:noFill/>
          <a:ln/>
        </p:spPr>
        <p:txBody>
          <a:bodyPr wrap="square" lIns="0" tIns="0" rIns="0" bIns="0" rtlCol="0" anchor="ctr"/>
          <a:lstStyle/>
          <a:p>
            <a:pPr algn="ctr" indent="0" marL="0">
              <a:buNone/>
            </a:pPr>
            <a:r>
              <a:rPr lang="en-US" sz="1200" b="1" dirty="0">
                <a:solidFill>
                  <a:schemeClr val="tx1"/>
                </a:solidFill>
              </a:rPr>
              <a:t>GDP growth</a:t>
            </a:r>
            <a:endParaRPr lang="en-US" sz="1200" dirty="0"/>
          </a:p>
        </p:txBody>
      </p:sp>
      <p:sp>
        <p:nvSpPr>
          <p:cNvPr id="42" name="kg-node-trade"/>
          <p:cNvSpPr/>
          <p:nvPr/>
        </p:nvSpPr>
        <p:spPr>
          <a:xfrm>
            <a:off x="2167128" y="1691640"/>
            <a:ext cx="1261872" cy="566928"/>
          </a:xfrm>
          <a:prstGeom prst="roundRect">
            <a:avLst>
              <a:gd name="adj" fmla="val 16129"/>
            </a:avLst>
          </a:prstGeom>
          <a:solidFill>
            <a:schemeClr val="bg1"/>
          </a:solidFill>
          <a:ln w="15875">
            <a:solidFill>
              <a:schemeClr val="accent1"/>
            </a:solidFill>
            <a:prstDash val="solid"/>
          </a:ln>
        </p:spPr>
      </p:sp>
      <p:sp>
        <p:nvSpPr>
          <p:cNvPr id="43" name="text-627"/>
          <p:cNvSpPr txBox="1"/>
          <p:nvPr/>
        </p:nvSpPr>
        <p:spPr>
          <a:xfrm>
            <a:off x="2212848" y="1691640"/>
            <a:ext cx="1170432" cy="566928"/>
          </a:xfrm>
          <a:prstGeom prst="rect">
            <a:avLst/>
          </a:prstGeom>
          <a:noFill/>
          <a:ln/>
        </p:spPr>
        <p:txBody>
          <a:bodyPr wrap="square" lIns="0" tIns="0" rIns="0" bIns="0" rtlCol="0" anchor="ctr"/>
          <a:lstStyle/>
          <a:p>
            <a:pPr algn="ctr" indent="0" marL="0">
              <a:buNone/>
            </a:pPr>
            <a:r>
              <a:rPr lang="en-US" sz="1200" b="1" dirty="0">
                <a:solidFill>
                  <a:schemeClr val="tx1"/>
                </a:solidFill>
              </a:rPr>
              <a:t>Trade balance</a:t>
            </a:r>
            <a:endParaRPr lang="en-US" sz="1200" dirty="0"/>
          </a:p>
        </p:txBody>
      </p:sp>
      <p:sp>
        <p:nvSpPr>
          <p:cNvPr id="44" name="kg-node-usdinr"/>
          <p:cNvSpPr/>
          <p:nvPr/>
        </p:nvSpPr>
        <p:spPr>
          <a:xfrm>
            <a:off x="3785616" y="1691640"/>
            <a:ext cx="1261872" cy="566928"/>
          </a:xfrm>
          <a:prstGeom prst="roundRect">
            <a:avLst>
              <a:gd name="adj" fmla="val 16129"/>
            </a:avLst>
          </a:prstGeom>
          <a:solidFill>
            <a:schemeClr val="bg1"/>
          </a:solidFill>
          <a:ln w="15875">
            <a:solidFill>
              <a:schemeClr val="accent1"/>
            </a:solidFill>
            <a:prstDash val="solid"/>
          </a:ln>
        </p:spPr>
      </p:sp>
      <p:sp>
        <p:nvSpPr>
          <p:cNvPr id="45" name="text-629"/>
          <p:cNvSpPr txBox="1"/>
          <p:nvPr/>
        </p:nvSpPr>
        <p:spPr>
          <a:xfrm>
            <a:off x="3831336" y="1691640"/>
            <a:ext cx="1170432" cy="566928"/>
          </a:xfrm>
          <a:prstGeom prst="rect">
            <a:avLst/>
          </a:prstGeom>
          <a:noFill/>
          <a:ln/>
        </p:spPr>
        <p:txBody>
          <a:bodyPr wrap="square" lIns="0" tIns="0" rIns="0" bIns="0" rtlCol="0" anchor="ctr"/>
          <a:lstStyle/>
          <a:p>
            <a:pPr algn="ctr" indent="0" marL="0">
              <a:buNone/>
            </a:pPr>
            <a:r>
              <a:rPr lang="en-US" sz="1200" b="1" dirty="0">
                <a:solidFill>
                  <a:schemeClr val="tx1"/>
                </a:solidFill>
              </a:rPr>
              <a:t>USD/INR</a:t>
            </a:r>
            <a:endParaRPr lang="en-US" sz="1200" dirty="0"/>
          </a:p>
        </p:txBody>
      </p:sp>
      <p:sp>
        <p:nvSpPr>
          <p:cNvPr id="46" name="kg-node-banknifty"/>
          <p:cNvSpPr/>
          <p:nvPr/>
        </p:nvSpPr>
        <p:spPr>
          <a:xfrm>
            <a:off x="7022592" y="1691640"/>
            <a:ext cx="1261872" cy="566928"/>
          </a:xfrm>
          <a:prstGeom prst="roundRect">
            <a:avLst>
              <a:gd name="adj" fmla="val 16129"/>
            </a:avLst>
          </a:prstGeom>
          <a:solidFill>
            <a:schemeClr val="bg1"/>
          </a:solidFill>
          <a:ln w="15875">
            <a:solidFill>
              <a:schemeClr val="accent1"/>
            </a:solidFill>
            <a:prstDash val="solid"/>
          </a:ln>
        </p:spPr>
      </p:sp>
      <p:sp>
        <p:nvSpPr>
          <p:cNvPr id="47" name="text-631"/>
          <p:cNvSpPr txBox="1"/>
          <p:nvPr/>
        </p:nvSpPr>
        <p:spPr>
          <a:xfrm>
            <a:off x="7068312" y="1691640"/>
            <a:ext cx="1170432" cy="566928"/>
          </a:xfrm>
          <a:prstGeom prst="rect">
            <a:avLst/>
          </a:prstGeom>
          <a:noFill/>
          <a:ln/>
        </p:spPr>
        <p:txBody>
          <a:bodyPr wrap="square" lIns="0" tIns="0" rIns="0" bIns="0" rtlCol="0" anchor="ctr"/>
          <a:lstStyle/>
          <a:p>
            <a:pPr algn="ctr" indent="0" marL="0">
              <a:buNone/>
            </a:pPr>
            <a:r>
              <a:rPr lang="en-US" sz="1200" b="1" dirty="0">
                <a:solidFill>
                  <a:schemeClr val="tx1"/>
                </a:solidFill>
              </a:rPr>
              <a:t>Bank NIFTY</a:t>
            </a:r>
            <a:endParaRPr lang="en-US" sz="1200" dirty="0"/>
          </a:p>
        </p:txBody>
      </p:sp>
      <p:sp>
        <p:nvSpPr>
          <p:cNvPr id="48" name="kg-node-monsoon"/>
          <p:cNvSpPr/>
          <p:nvPr/>
        </p:nvSpPr>
        <p:spPr>
          <a:xfrm>
            <a:off x="548640" y="3886200"/>
            <a:ext cx="1261872" cy="566928"/>
          </a:xfrm>
          <a:prstGeom prst="roundRect">
            <a:avLst>
              <a:gd name="adj" fmla="val 16129"/>
            </a:avLst>
          </a:prstGeom>
          <a:solidFill>
            <a:schemeClr val="bg1"/>
          </a:solidFill>
          <a:ln w="15875">
            <a:solidFill>
              <a:schemeClr val="accent1"/>
            </a:solidFill>
            <a:prstDash val="solid"/>
          </a:ln>
        </p:spPr>
      </p:sp>
      <p:sp>
        <p:nvSpPr>
          <p:cNvPr id="49" name="text-633"/>
          <p:cNvSpPr txBox="1"/>
          <p:nvPr/>
        </p:nvSpPr>
        <p:spPr>
          <a:xfrm>
            <a:off x="594360" y="3886200"/>
            <a:ext cx="1170432" cy="566928"/>
          </a:xfrm>
          <a:prstGeom prst="rect">
            <a:avLst/>
          </a:prstGeom>
          <a:noFill/>
          <a:ln/>
        </p:spPr>
        <p:txBody>
          <a:bodyPr wrap="square" lIns="0" tIns="0" rIns="0" bIns="0" rtlCol="0" anchor="ctr"/>
          <a:lstStyle/>
          <a:p>
            <a:pPr algn="ctr" indent="0" marL="0">
              <a:buNone/>
            </a:pPr>
            <a:r>
              <a:rPr lang="en-US" sz="1200" b="1" dirty="0">
                <a:solidFill>
                  <a:schemeClr val="tx1"/>
                </a:solidFill>
              </a:rPr>
              <a:t>Monsoon departure</a:t>
            </a:r>
            <a:endParaRPr lang="en-US" sz="1200" dirty="0"/>
          </a:p>
        </p:txBody>
      </p:sp>
      <p:sp>
        <p:nvSpPr>
          <p:cNvPr id="50" name="kg-node-food"/>
          <p:cNvSpPr/>
          <p:nvPr/>
        </p:nvSpPr>
        <p:spPr>
          <a:xfrm>
            <a:off x="2167128" y="3886200"/>
            <a:ext cx="1261872" cy="566928"/>
          </a:xfrm>
          <a:prstGeom prst="roundRect">
            <a:avLst>
              <a:gd name="adj" fmla="val 16129"/>
            </a:avLst>
          </a:prstGeom>
          <a:solidFill>
            <a:schemeClr val="bg1"/>
          </a:solidFill>
          <a:ln w="15875">
            <a:solidFill>
              <a:schemeClr val="accent1"/>
            </a:solidFill>
            <a:prstDash val="solid"/>
          </a:ln>
        </p:spPr>
      </p:sp>
      <p:sp>
        <p:nvSpPr>
          <p:cNvPr id="51" name="text-635"/>
          <p:cNvSpPr txBox="1"/>
          <p:nvPr/>
        </p:nvSpPr>
        <p:spPr>
          <a:xfrm>
            <a:off x="2212848" y="3886200"/>
            <a:ext cx="1170432" cy="566928"/>
          </a:xfrm>
          <a:prstGeom prst="rect">
            <a:avLst/>
          </a:prstGeom>
          <a:noFill/>
          <a:ln/>
        </p:spPr>
        <p:txBody>
          <a:bodyPr wrap="square" lIns="0" tIns="0" rIns="0" bIns="0" rtlCol="0" anchor="ctr"/>
          <a:lstStyle/>
          <a:p>
            <a:pPr algn="ctr" indent="0" marL="0">
              <a:buNone/>
            </a:pPr>
            <a:r>
              <a:rPr lang="en-US" sz="1200" b="1" dirty="0">
                <a:solidFill>
                  <a:schemeClr val="tx1"/>
                </a:solidFill>
              </a:rPr>
              <a:t>Foodgrain output</a:t>
            </a:r>
            <a:endParaRPr lang="en-US" sz="1200" dirty="0"/>
          </a:p>
        </p:txBody>
      </p:sp>
      <p:sp>
        <p:nvSpPr>
          <p:cNvPr id="52" name="kg-node-cpifood"/>
          <p:cNvSpPr/>
          <p:nvPr/>
        </p:nvSpPr>
        <p:spPr>
          <a:xfrm>
            <a:off x="3785616" y="3886200"/>
            <a:ext cx="1261872" cy="566928"/>
          </a:xfrm>
          <a:prstGeom prst="roundRect">
            <a:avLst>
              <a:gd name="adj" fmla="val 16129"/>
            </a:avLst>
          </a:prstGeom>
          <a:solidFill>
            <a:schemeClr val="bg1"/>
          </a:solidFill>
          <a:ln w="15875">
            <a:solidFill>
              <a:schemeClr val="accent1"/>
            </a:solidFill>
            <a:prstDash val="solid"/>
          </a:ln>
        </p:spPr>
      </p:sp>
      <p:sp>
        <p:nvSpPr>
          <p:cNvPr id="53" name="text-637"/>
          <p:cNvSpPr txBox="1"/>
          <p:nvPr/>
        </p:nvSpPr>
        <p:spPr>
          <a:xfrm>
            <a:off x="3831336" y="3886200"/>
            <a:ext cx="1170432" cy="566928"/>
          </a:xfrm>
          <a:prstGeom prst="rect">
            <a:avLst/>
          </a:prstGeom>
          <a:noFill/>
          <a:ln/>
        </p:spPr>
        <p:txBody>
          <a:bodyPr wrap="square" lIns="0" tIns="0" rIns="0" bIns="0" rtlCol="0" anchor="ctr"/>
          <a:lstStyle/>
          <a:p>
            <a:pPr algn="ctr" indent="0" marL="0">
              <a:buNone/>
            </a:pPr>
            <a:r>
              <a:rPr lang="en-US" sz="1200" b="1" dirty="0">
                <a:solidFill>
                  <a:schemeClr val="tx1"/>
                </a:solidFill>
              </a:rPr>
              <a:t>CPI food</a:t>
            </a:r>
            <a:endParaRPr lang="en-US" sz="1200" dirty="0"/>
          </a:p>
        </p:txBody>
      </p:sp>
      <p:sp>
        <p:nvSpPr>
          <p:cNvPr id="54" name="kg-node-capex"/>
          <p:cNvSpPr/>
          <p:nvPr/>
        </p:nvSpPr>
        <p:spPr>
          <a:xfrm>
            <a:off x="7022592" y="3886200"/>
            <a:ext cx="1261872" cy="566928"/>
          </a:xfrm>
          <a:prstGeom prst="roundRect">
            <a:avLst>
              <a:gd name="adj" fmla="val 16129"/>
            </a:avLst>
          </a:prstGeom>
          <a:solidFill>
            <a:schemeClr val="bg1"/>
          </a:solidFill>
          <a:ln w="15875">
            <a:solidFill>
              <a:schemeClr val="accent1"/>
            </a:solidFill>
            <a:prstDash val="solid"/>
          </a:ln>
        </p:spPr>
      </p:sp>
      <p:sp>
        <p:nvSpPr>
          <p:cNvPr id="55" name="text-639"/>
          <p:cNvSpPr txBox="1"/>
          <p:nvPr/>
        </p:nvSpPr>
        <p:spPr>
          <a:xfrm>
            <a:off x="7068312" y="3886200"/>
            <a:ext cx="1170432" cy="566928"/>
          </a:xfrm>
          <a:prstGeom prst="rect">
            <a:avLst/>
          </a:prstGeom>
          <a:noFill/>
          <a:ln/>
        </p:spPr>
        <p:txBody>
          <a:bodyPr wrap="square" lIns="0" tIns="0" rIns="0" bIns="0" rtlCol="0" anchor="ctr"/>
          <a:lstStyle/>
          <a:p>
            <a:pPr algn="ctr" indent="0" marL="0">
              <a:buNone/>
            </a:pPr>
            <a:r>
              <a:rPr lang="en-US" sz="1200" b="1" dirty="0">
                <a:solidFill>
                  <a:schemeClr val="tx1"/>
                </a:solidFill>
              </a:rPr>
              <a:t>Central capex</a:t>
            </a:r>
            <a:endParaRPr lang="en-US" sz="1200" dirty="0"/>
          </a:p>
        </p:txBody>
      </p:sp>
      <p:sp>
        <p:nvSpPr>
          <p:cNvPr id="56" name="kg-node-gfcf"/>
          <p:cNvSpPr/>
          <p:nvPr/>
        </p:nvSpPr>
        <p:spPr>
          <a:xfrm>
            <a:off x="8641080" y="3886200"/>
            <a:ext cx="1261872" cy="566928"/>
          </a:xfrm>
          <a:prstGeom prst="roundRect">
            <a:avLst>
              <a:gd name="adj" fmla="val 16129"/>
            </a:avLst>
          </a:prstGeom>
          <a:solidFill>
            <a:schemeClr val="bg1"/>
          </a:solidFill>
          <a:ln w="15875">
            <a:solidFill>
              <a:schemeClr val="accent1"/>
            </a:solidFill>
            <a:prstDash val="solid"/>
          </a:ln>
        </p:spPr>
      </p:sp>
      <p:sp>
        <p:nvSpPr>
          <p:cNvPr id="57" name="text-641"/>
          <p:cNvSpPr txBox="1"/>
          <p:nvPr/>
        </p:nvSpPr>
        <p:spPr>
          <a:xfrm>
            <a:off x="8686800" y="3886200"/>
            <a:ext cx="1170432" cy="566928"/>
          </a:xfrm>
          <a:prstGeom prst="rect">
            <a:avLst/>
          </a:prstGeom>
          <a:noFill/>
          <a:ln/>
        </p:spPr>
        <p:txBody>
          <a:bodyPr wrap="square" lIns="0" tIns="0" rIns="0" bIns="0" rtlCol="0" anchor="ctr"/>
          <a:lstStyle/>
          <a:p>
            <a:pPr algn="ctr" indent="0" marL="0">
              <a:buNone/>
            </a:pPr>
            <a:r>
              <a:rPr lang="en-US" sz="1200" b="1" dirty="0">
                <a:solidFill>
                  <a:schemeClr val="tx1"/>
                </a:solidFill>
              </a:rPr>
              <a:t>GFCF investment</a:t>
            </a:r>
            <a:endParaRPr lang="en-US" sz="1200" dirty="0"/>
          </a:p>
        </p:txBody>
      </p:sp>
      <p:sp>
        <p:nvSpPr>
          <p:cNvPr id="58" name="text-642"/>
          <p:cNvSpPr txBox="1"/>
          <p:nvPr/>
        </p:nvSpPr>
        <p:spPr>
          <a:xfrm>
            <a:off x="548640" y="4645152"/>
            <a:ext cx="1097280" cy="310896"/>
          </a:xfrm>
          <a:prstGeom prst="rect">
            <a:avLst/>
          </a:prstGeom>
          <a:noFill/>
          <a:ln/>
        </p:spPr>
        <p:txBody>
          <a:bodyPr wrap="square" lIns="0" tIns="0" rIns="0" bIns="0" rtlCol="0" anchor="ctr"/>
          <a:lstStyle/>
          <a:p>
            <a:pPr indent="0" marL="0">
              <a:buNone/>
            </a:pPr>
            <a:r>
              <a:rPr lang="en-US" sz="1150" b="1" dirty="0">
                <a:solidFill>
                  <a:schemeClr val="tx2"/>
                </a:solidFill>
              </a:rPr>
              <a:t>No edges yet</a:t>
            </a:r>
            <a:endParaRPr lang="en-US" sz="1150" dirty="0"/>
          </a:p>
        </p:txBody>
      </p:sp>
      <p:sp>
        <p:nvSpPr>
          <p:cNvPr id="59" name="card-643"/>
          <p:cNvSpPr/>
          <p:nvPr/>
        </p:nvSpPr>
        <p:spPr>
          <a:xfrm>
            <a:off x="1691640" y="4672584"/>
            <a:ext cx="844906" cy="274320"/>
          </a:xfrm>
          <a:prstGeom prst="roundRect">
            <a:avLst>
              <a:gd name="adj" fmla="val 50000"/>
            </a:avLst>
          </a:prstGeom>
          <a:solidFill>
            <a:schemeClr val="bg1"/>
          </a:solidFill>
          <a:ln w="9525">
            <a:solidFill>
              <a:schemeClr val="tx2"/>
            </a:solidFill>
            <a:prstDash val="dash"/>
          </a:ln>
        </p:spPr>
      </p:sp>
      <p:sp>
        <p:nvSpPr>
          <p:cNvPr id="60" name="text-644"/>
          <p:cNvSpPr txBox="1"/>
          <p:nvPr/>
        </p:nvSpPr>
        <p:spPr>
          <a:xfrm>
            <a:off x="1691640" y="4672584"/>
            <a:ext cx="844906" cy="274320"/>
          </a:xfrm>
          <a:prstGeom prst="rect">
            <a:avLst/>
          </a:prstGeom>
          <a:noFill/>
          <a:ln/>
        </p:spPr>
        <p:txBody>
          <a:bodyPr wrap="square" lIns="0" tIns="0" rIns="0" bIns="0" rtlCol="0" anchor="ctr"/>
          <a:lstStyle/>
          <a:p>
            <a:pPr algn="ctr" indent="0" marL="0">
              <a:buNone/>
            </a:pPr>
            <a:r>
              <a:rPr lang="en-US" sz="1050" spc="50" kern="0" dirty="0">
                <a:solidFill>
                  <a:schemeClr val="tx2"/>
                </a:solidFill>
              </a:rPr>
              <a:t>NIFTY 50</a:t>
            </a:r>
            <a:endParaRPr lang="en-US" sz="1050" dirty="0"/>
          </a:p>
        </p:txBody>
      </p:sp>
      <p:sp>
        <p:nvSpPr>
          <p:cNvPr id="61" name="card-645"/>
          <p:cNvSpPr/>
          <p:nvPr/>
        </p:nvSpPr>
        <p:spPr>
          <a:xfrm>
            <a:off x="2646274" y="4672584"/>
            <a:ext cx="916229" cy="274320"/>
          </a:xfrm>
          <a:prstGeom prst="roundRect">
            <a:avLst>
              <a:gd name="adj" fmla="val 50000"/>
            </a:avLst>
          </a:prstGeom>
          <a:solidFill>
            <a:schemeClr val="bg1"/>
          </a:solidFill>
          <a:ln w="9525">
            <a:solidFill>
              <a:schemeClr val="tx2"/>
            </a:solidFill>
            <a:prstDash val="dash"/>
          </a:ln>
        </p:spPr>
      </p:sp>
      <p:sp>
        <p:nvSpPr>
          <p:cNvPr id="62" name="text-646"/>
          <p:cNvSpPr txBox="1"/>
          <p:nvPr/>
        </p:nvSpPr>
        <p:spPr>
          <a:xfrm>
            <a:off x="2646274" y="4672584"/>
            <a:ext cx="916229" cy="274320"/>
          </a:xfrm>
          <a:prstGeom prst="rect">
            <a:avLst/>
          </a:prstGeom>
          <a:noFill/>
          <a:ln/>
        </p:spPr>
        <p:txBody>
          <a:bodyPr wrap="square" lIns="0" tIns="0" rIns="0" bIns="0" rtlCol="0" anchor="ctr"/>
          <a:lstStyle/>
          <a:p>
            <a:pPr algn="ctr" indent="0" marL="0">
              <a:buNone/>
            </a:pPr>
            <a:r>
              <a:rPr lang="en-US" sz="1050" spc="50" kern="0" dirty="0">
                <a:solidFill>
                  <a:schemeClr val="tx2"/>
                </a:solidFill>
              </a:rPr>
              <a:t>India VIX</a:t>
            </a:r>
            <a:endParaRPr lang="en-US" sz="1050" dirty="0"/>
          </a:p>
        </p:txBody>
      </p:sp>
      <p:sp>
        <p:nvSpPr>
          <p:cNvPr id="63" name="card-647"/>
          <p:cNvSpPr/>
          <p:nvPr/>
        </p:nvSpPr>
        <p:spPr>
          <a:xfrm>
            <a:off x="3672230" y="4672584"/>
            <a:ext cx="1272845" cy="274320"/>
          </a:xfrm>
          <a:prstGeom prst="roundRect">
            <a:avLst>
              <a:gd name="adj" fmla="val 50000"/>
            </a:avLst>
          </a:prstGeom>
          <a:solidFill>
            <a:schemeClr val="bg1"/>
          </a:solidFill>
          <a:ln w="9525">
            <a:solidFill>
              <a:schemeClr val="tx2"/>
            </a:solidFill>
            <a:prstDash val="dash"/>
          </a:ln>
        </p:spPr>
      </p:sp>
      <p:sp>
        <p:nvSpPr>
          <p:cNvPr id="64" name="text-648"/>
          <p:cNvSpPr txBox="1"/>
          <p:nvPr/>
        </p:nvSpPr>
        <p:spPr>
          <a:xfrm>
            <a:off x="3672230" y="4672584"/>
            <a:ext cx="1272845" cy="274320"/>
          </a:xfrm>
          <a:prstGeom prst="rect">
            <a:avLst/>
          </a:prstGeom>
          <a:noFill/>
          <a:ln/>
        </p:spPr>
        <p:txBody>
          <a:bodyPr wrap="square" lIns="0" tIns="0" rIns="0" bIns="0" rtlCol="0" anchor="ctr"/>
          <a:lstStyle/>
          <a:p>
            <a:pPr algn="ctr" indent="0" marL="0">
              <a:buNone/>
            </a:pPr>
            <a:r>
              <a:rPr lang="en-US" sz="1050" spc="50" kern="0" dirty="0">
                <a:solidFill>
                  <a:schemeClr val="tx2"/>
                </a:solidFill>
              </a:rPr>
              <a:t>Forex reserves</a:t>
            </a:r>
            <a:endParaRPr lang="en-US" sz="1050" dirty="0"/>
          </a:p>
        </p:txBody>
      </p:sp>
      <p:sp>
        <p:nvSpPr>
          <p:cNvPr id="65" name="card-649"/>
          <p:cNvSpPr/>
          <p:nvPr/>
        </p:nvSpPr>
        <p:spPr>
          <a:xfrm>
            <a:off x="5054803" y="4672584"/>
            <a:ext cx="1058875" cy="274320"/>
          </a:xfrm>
          <a:prstGeom prst="roundRect">
            <a:avLst>
              <a:gd name="adj" fmla="val 50000"/>
            </a:avLst>
          </a:prstGeom>
          <a:solidFill>
            <a:schemeClr val="bg1"/>
          </a:solidFill>
          <a:ln w="9525">
            <a:solidFill>
              <a:schemeClr val="tx2"/>
            </a:solidFill>
            <a:prstDash val="dash"/>
          </a:ln>
        </p:spPr>
      </p:sp>
      <p:sp>
        <p:nvSpPr>
          <p:cNvPr id="66" name="text-650"/>
          <p:cNvSpPr txBox="1"/>
          <p:nvPr/>
        </p:nvSpPr>
        <p:spPr>
          <a:xfrm>
            <a:off x="5054803" y="4672584"/>
            <a:ext cx="1058875" cy="274320"/>
          </a:xfrm>
          <a:prstGeom prst="rect">
            <a:avLst/>
          </a:prstGeom>
          <a:noFill/>
          <a:ln/>
        </p:spPr>
        <p:txBody>
          <a:bodyPr wrap="square" lIns="0" tIns="0" rIns="0" bIns="0" rtlCol="0" anchor="ctr"/>
          <a:lstStyle/>
          <a:p>
            <a:pPr algn="ctr" indent="0" marL="0">
              <a:buNone/>
            </a:pPr>
            <a:r>
              <a:rPr lang="en-US" sz="1050" spc="50" kern="0" dirty="0">
                <a:solidFill>
                  <a:schemeClr val="tx2"/>
                </a:solidFill>
              </a:rPr>
              <a:t>Debt-to-GDP</a:t>
            </a:r>
            <a:endParaRPr lang="en-US" sz="1050" dirty="0"/>
          </a:p>
        </p:txBody>
      </p:sp>
      <p:sp>
        <p:nvSpPr>
          <p:cNvPr id="67" name="card-651"/>
          <p:cNvSpPr/>
          <p:nvPr/>
        </p:nvSpPr>
        <p:spPr>
          <a:xfrm>
            <a:off x="6223406" y="4672584"/>
            <a:ext cx="1272845" cy="274320"/>
          </a:xfrm>
          <a:prstGeom prst="roundRect">
            <a:avLst>
              <a:gd name="adj" fmla="val 50000"/>
            </a:avLst>
          </a:prstGeom>
          <a:solidFill>
            <a:schemeClr val="bg1"/>
          </a:solidFill>
          <a:ln w="9525">
            <a:solidFill>
              <a:schemeClr val="tx2"/>
            </a:solidFill>
            <a:prstDash val="dash"/>
          </a:ln>
        </p:spPr>
      </p:sp>
      <p:sp>
        <p:nvSpPr>
          <p:cNvPr id="68" name="text-652"/>
          <p:cNvSpPr txBox="1"/>
          <p:nvPr/>
        </p:nvSpPr>
        <p:spPr>
          <a:xfrm>
            <a:off x="6223406" y="4672584"/>
            <a:ext cx="1272845" cy="274320"/>
          </a:xfrm>
          <a:prstGeom prst="rect">
            <a:avLst/>
          </a:prstGeom>
          <a:noFill/>
          <a:ln/>
        </p:spPr>
        <p:txBody>
          <a:bodyPr wrap="square" lIns="0" tIns="0" rIns="0" bIns="0" rtlCol="0" anchor="ctr"/>
          <a:lstStyle/>
          <a:p>
            <a:pPr algn="ctr" indent="0" marL="0">
              <a:buNone/>
            </a:pPr>
            <a:r>
              <a:rPr lang="en-US" sz="1050" spc="50" kern="0" dirty="0">
                <a:solidFill>
                  <a:schemeClr val="tx2"/>
                </a:solidFill>
              </a:rPr>
              <a:t>EPFO additions</a:t>
            </a:r>
            <a:endParaRPr lang="en-US" sz="1050" dirty="0"/>
          </a:p>
        </p:txBody>
      </p:sp>
      <p:sp>
        <p:nvSpPr>
          <p:cNvPr id="69" name="card-653"/>
          <p:cNvSpPr/>
          <p:nvPr/>
        </p:nvSpPr>
        <p:spPr>
          <a:xfrm>
            <a:off x="548640" y="5120640"/>
            <a:ext cx="11094415" cy="1005840"/>
          </a:xfrm>
          <a:prstGeom prst="roundRect">
            <a:avLst>
              <a:gd name="adj" fmla="val 10909"/>
            </a:avLst>
          </a:prstGeom>
          <a:solidFill>
            <a:schemeClr val="bg2"/>
          </a:solidFill>
          <a:ln/>
        </p:spPr>
      </p:sp>
      <p:sp>
        <p:nvSpPr>
          <p:cNvPr id="70" name="text-654"/>
          <p:cNvSpPr txBox="1"/>
          <p:nvPr/>
        </p:nvSpPr>
        <p:spPr>
          <a:xfrm>
            <a:off x="777240" y="5230368"/>
            <a:ext cx="5120640" cy="219456"/>
          </a:xfrm>
          <a:prstGeom prst="rect">
            <a:avLst/>
          </a:prstGeom>
          <a:noFill/>
          <a:ln/>
        </p:spPr>
        <p:txBody>
          <a:bodyPr wrap="square" lIns="0" tIns="0" rIns="0" bIns="0" rtlCol="0" anchor="t"/>
          <a:lstStyle/>
          <a:p>
            <a:pPr indent="0" marL="0">
              <a:buNone/>
            </a:pPr>
            <a:r>
              <a:rPr lang="en-US" sz="1050" b="1" spc="100" kern="0" dirty="0">
                <a:solidFill>
                  <a:schemeClr val="accent1"/>
                </a:solidFill>
              </a:rPr>
              <a:t>EVIDENCE TIER OF EACH EDGE</a:t>
            </a:r>
            <a:endParaRPr lang="en-US" sz="1050" dirty="0"/>
          </a:p>
        </p:txBody>
      </p:sp>
      <p:sp>
        <p:nvSpPr>
          <p:cNvPr id="71" name="link-655"/>
          <p:cNvSpPr/>
          <p:nvPr/>
        </p:nvSpPr>
        <p:spPr>
          <a:xfrm>
            <a:off x="777240" y="5650992"/>
            <a:ext cx="384048" cy="0"/>
          </a:xfrm>
          <a:prstGeom prst="line">
            <a:avLst/>
          </a:prstGeom>
          <a:noFill/>
          <a:ln w="15875">
            <a:solidFill>
              <a:schemeClr val="tx2"/>
            </a:solidFill>
            <a:prstDash val="dash"/>
          </a:ln>
        </p:spPr>
      </p:sp>
      <p:sp>
        <p:nvSpPr>
          <p:cNvPr id="72" name="text-656"/>
          <p:cNvSpPr txBox="1"/>
          <p:nvPr/>
        </p:nvSpPr>
        <p:spPr>
          <a:xfrm>
            <a:off x="1234440" y="5559552"/>
            <a:ext cx="1645920" cy="182880"/>
          </a:xfrm>
          <a:prstGeom prst="rect">
            <a:avLst/>
          </a:prstGeom>
          <a:noFill/>
          <a:ln/>
        </p:spPr>
        <p:txBody>
          <a:bodyPr wrap="square" lIns="0" tIns="0" rIns="0" bIns="0" rtlCol="0" anchor="ctr"/>
          <a:lstStyle/>
          <a:p>
            <a:pPr indent="0" marL="0">
              <a:buNone/>
            </a:pPr>
            <a:r>
              <a:rPr lang="en-US" sz="1100" dirty="0">
                <a:solidFill>
                  <a:schemeClr val="tx1"/>
                </a:solidFill>
              </a:rPr>
              <a:t>Theory</a:t>
            </a:r>
            <a:endParaRPr lang="en-US" sz="1100" dirty="0"/>
          </a:p>
        </p:txBody>
      </p:sp>
      <p:sp>
        <p:nvSpPr>
          <p:cNvPr id="73" name="link-657"/>
          <p:cNvSpPr/>
          <p:nvPr/>
        </p:nvSpPr>
        <p:spPr>
          <a:xfrm>
            <a:off x="2606040" y="5650992"/>
            <a:ext cx="384048" cy="0"/>
          </a:xfrm>
          <a:prstGeom prst="line">
            <a:avLst/>
          </a:prstGeom>
          <a:noFill/>
          <a:ln w="15875">
            <a:solidFill>
              <a:schemeClr val="accent1"/>
            </a:solidFill>
            <a:prstDash val="solid"/>
          </a:ln>
        </p:spPr>
      </p:sp>
      <p:sp>
        <p:nvSpPr>
          <p:cNvPr id="74" name="text-658"/>
          <p:cNvSpPr txBox="1"/>
          <p:nvPr/>
        </p:nvSpPr>
        <p:spPr>
          <a:xfrm>
            <a:off x="3063240" y="5559552"/>
            <a:ext cx="1645920" cy="182880"/>
          </a:xfrm>
          <a:prstGeom prst="rect">
            <a:avLst/>
          </a:prstGeom>
          <a:noFill/>
          <a:ln/>
        </p:spPr>
        <p:txBody>
          <a:bodyPr wrap="square" lIns="0" tIns="0" rIns="0" bIns="0" rtlCol="0" anchor="ctr"/>
          <a:lstStyle/>
          <a:p>
            <a:pPr indent="0" marL="0">
              <a:buNone/>
            </a:pPr>
            <a:r>
              <a:rPr lang="en-US" sz="1100" dirty="0">
                <a:solidFill>
                  <a:schemeClr val="tx1"/>
                </a:solidFill>
              </a:rPr>
              <a:t>Statistical association</a:t>
            </a:r>
            <a:endParaRPr lang="en-US" sz="1100" dirty="0"/>
          </a:p>
        </p:txBody>
      </p:sp>
      <p:sp>
        <p:nvSpPr>
          <p:cNvPr id="75" name="link-659"/>
          <p:cNvSpPr/>
          <p:nvPr/>
        </p:nvSpPr>
        <p:spPr>
          <a:xfrm>
            <a:off x="4754880" y="5650992"/>
            <a:ext cx="384048" cy="0"/>
          </a:xfrm>
          <a:prstGeom prst="line">
            <a:avLst/>
          </a:prstGeom>
          <a:noFill/>
          <a:ln w="25400">
            <a:solidFill>
              <a:schemeClr val="accent1"/>
            </a:solidFill>
            <a:prstDash val="solid"/>
          </a:ln>
        </p:spPr>
      </p:sp>
      <p:sp>
        <p:nvSpPr>
          <p:cNvPr id="76" name="text-660"/>
          <p:cNvSpPr txBox="1"/>
          <p:nvPr/>
        </p:nvSpPr>
        <p:spPr>
          <a:xfrm>
            <a:off x="5212080" y="5559552"/>
            <a:ext cx="1645920" cy="182880"/>
          </a:xfrm>
          <a:prstGeom prst="rect">
            <a:avLst/>
          </a:prstGeom>
          <a:noFill/>
          <a:ln/>
        </p:spPr>
        <p:txBody>
          <a:bodyPr wrap="square" lIns="0" tIns="0" rIns="0" bIns="0" rtlCol="0" anchor="ctr"/>
          <a:lstStyle/>
          <a:p>
            <a:pPr indent="0" marL="0">
              <a:buNone/>
            </a:pPr>
            <a:r>
              <a:rPr lang="en-US" sz="1100" dirty="0">
                <a:solidFill>
                  <a:schemeClr val="tx1"/>
                </a:solidFill>
              </a:rPr>
              <a:t>Lagged relationship</a:t>
            </a:r>
            <a:endParaRPr lang="en-US" sz="1100" dirty="0"/>
          </a:p>
        </p:txBody>
      </p:sp>
      <p:sp>
        <p:nvSpPr>
          <p:cNvPr id="77" name="link-661"/>
          <p:cNvSpPr/>
          <p:nvPr/>
        </p:nvSpPr>
        <p:spPr>
          <a:xfrm>
            <a:off x="777240" y="5925312"/>
            <a:ext cx="384048" cy="0"/>
          </a:xfrm>
          <a:prstGeom prst="line">
            <a:avLst/>
          </a:prstGeom>
          <a:noFill/>
          <a:ln w="38100">
            <a:solidFill>
              <a:schemeClr val="accent1"/>
            </a:solidFill>
            <a:prstDash val="solid"/>
          </a:ln>
        </p:spPr>
      </p:sp>
      <p:sp>
        <p:nvSpPr>
          <p:cNvPr id="78" name="text-662"/>
          <p:cNvSpPr txBox="1"/>
          <p:nvPr/>
        </p:nvSpPr>
        <p:spPr>
          <a:xfrm>
            <a:off x="1234440" y="5833872"/>
            <a:ext cx="1645920" cy="182880"/>
          </a:xfrm>
          <a:prstGeom prst="rect">
            <a:avLst/>
          </a:prstGeom>
          <a:noFill/>
          <a:ln/>
        </p:spPr>
        <p:txBody>
          <a:bodyPr wrap="square" lIns="0" tIns="0" rIns="0" bIns="0" rtlCol="0" anchor="ctr"/>
          <a:lstStyle/>
          <a:p>
            <a:pPr indent="0" marL="0">
              <a:buNone/>
            </a:pPr>
            <a:r>
              <a:rPr lang="en-US" sz="1100" dirty="0">
                <a:solidFill>
                  <a:schemeClr val="tx1"/>
                </a:solidFill>
              </a:rPr>
              <a:t>Granger predictive</a:t>
            </a:r>
            <a:endParaRPr lang="en-US" sz="1100" dirty="0"/>
          </a:p>
        </p:txBody>
      </p:sp>
      <p:sp>
        <p:nvSpPr>
          <p:cNvPr id="79" name="link-663"/>
          <p:cNvSpPr/>
          <p:nvPr/>
        </p:nvSpPr>
        <p:spPr>
          <a:xfrm>
            <a:off x="2606040" y="5925312"/>
            <a:ext cx="384048" cy="0"/>
          </a:xfrm>
          <a:prstGeom prst="line">
            <a:avLst/>
          </a:prstGeom>
          <a:noFill/>
          <a:ln w="44450">
            <a:solidFill>
              <a:schemeClr val="tx1"/>
            </a:solidFill>
            <a:prstDash val="solid"/>
          </a:ln>
        </p:spPr>
      </p:sp>
      <p:sp>
        <p:nvSpPr>
          <p:cNvPr id="80" name="text-664"/>
          <p:cNvSpPr txBox="1"/>
          <p:nvPr/>
        </p:nvSpPr>
        <p:spPr>
          <a:xfrm>
            <a:off x="3063240" y="5833872"/>
            <a:ext cx="1645920" cy="182880"/>
          </a:xfrm>
          <a:prstGeom prst="rect">
            <a:avLst/>
          </a:prstGeom>
          <a:noFill/>
          <a:ln/>
        </p:spPr>
        <p:txBody>
          <a:bodyPr wrap="square" lIns="0" tIns="0" rIns="0" bIns="0" rtlCol="0" anchor="ctr"/>
          <a:lstStyle/>
          <a:p>
            <a:pPr indent="0" marL="0">
              <a:buNone/>
            </a:pPr>
            <a:r>
              <a:rPr lang="en-US" sz="1100" dirty="0">
                <a:solidFill>
                  <a:schemeClr val="tx1"/>
                </a:solidFill>
              </a:rPr>
              <a:t>Structural causal model</a:t>
            </a:r>
            <a:endParaRPr lang="en-US" sz="1100" dirty="0"/>
          </a:p>
        </p:txBody>
      </p:sp>
      <p:sp>
        <p:nvSpPr>
          <p:cNvPr id="81" name="text-665"/>
          <p:cNvSpPr txBox="1"/>
          <p:nvPr/>
        </p:nvSpPr>
        <p:spPr>
          <a:xfrm>
            <a:off x="6812280" y="5230368"/>
            <a:ext cx="2743200" cy="219456"/>
          </a:xfrm>
          <a:prstGeom prst="rect">
            <a:avLst/>
          </a:prstGeom>
          <a:noFill/>
          <a:ln/>
        </p:spPr>
        <p:txBody>
          <a:bodyPr wrap="square" lIns="0" tIns="0" rIns="0" bIns="0" rtlCol="0" anchor="t"/>
          <a:lstStyle/>
          <a:p>
            <a:pPr indent="0" marL="0">
              <a:buNone/>
            </a:pPr>
            <a:r>
              <a:rPr lang="en-US" sz="1050" b="1" spc="100" kern="0" dirty="0">
                <a:solidFill>
                  <a:schemeClr val="accent1"/>
                </a:solidFill>
              </a:rPr>
              <a:t>EDGE ANATOMY</a:t>
            </a:r>
            <a:endParaRPr lang="en-US" sz="1050" dirty="0"/>
          </a:p>
        </p:txBody>
      </p:sp>
      <p:sp>
        <p:nvSpPr>
          <p:cNvPr id="82" name="text-666"/>
          <p:cNvSpPr txBox="1"/>
          <p:nvPr/>
        </p:nvSpPr>
        <p:spPr>
          <a:xfrm>
            <a:off x="6812280" y="5504688"/>
            <a:ext cx="4709160" cy="585216"/>
          </a:xfrm>
          <a:prstGeom prst="rect">
            <a:avLst/>
          </a:prstGeom>
          <a:noFill/>
          <a:ln/>
        </p:spPr>
        <p:txBody>
          <a:bodyPr wrap="square" lIns="0" tIns="0" rIns="0" bIns="0" rtlCol="0" anchor="t"/>
          <a:lstStyle/>
          <a:p>
            <a:pPr indent="0" marL="0">
              <a:spcAft>
                <a:spcPts val="100"/>
              </a:spcAft>
              <a:buNone/>
            </a:pPr>
            <a:r>
              <a:rPr lang="en-US" sz="1100" dirty="0">
                <a:solidFill>
                  <a:schemeClr val="tx1"/>
                </a:solidFill>
              </a:rPr>
              <a:t>Each edge: stable rel-id, lag, sign, confidence and mechanism</a:t>
            </a:r>
            <a:endParaRPr lang="en-US" sz="1100" dirty="0"/>
          </a:p>
          <a:p>
            <a:pPr indent="0" marL="0">
              <a:spcAft>
                <a:spcPts val="100"/>
              </a:spcAft>
              <a:buNone/>
            </a:pPr>
            <a:r>
              <a:rPr lang="en-US" sz="1100" dirty="0">
                <a:solidFill>
                  <a:schemeClr val="tx1"/>
                </a:solidFill>
              </a:rPr>
              <a:t>Checked on load: no self-loops, unknown endpoints, duplicates</a:t>
            </a:r>
            <a:endParaRPr lang="en-US" sz="1100" dirty="0"/>
          </a:p>
          <a:p>
            <a:pPr indent="0" marL="0">
              <a:spcAft>
                <a:spcPts val="100"/>
              </a:spcAft>
              <a:buNone/>
            </a:pPr>
            <a:r>
              <a:rPr lang="en-US" sz="1100" dirty="0">
                <a:solidFill>
                  <a:schemeClr val="tx1"/>
                </a:solidFill>
              </a:rPr>
              <a:t>NetworkX answers path and impact queries; Neo4j mirror optional</a:t>
            </a:r>
            <a:endParaRPr lang="en-US" sz="1100" dirty="0"/>
          </a:p>
        </p:txBody>
      </p:sp>
      <p:sp>
        <p:nvSpPr>
          <p:cNvPr id="25" name="Slide Number Placeholder 0"/>
          <p:cNvSpPr>
            <a:spLocks noGrp="1"/>
          </p:cNvSpPr>
          <p:nvPr>
            <p:ph type="sldNum" sz="quarter" idx="4294967295"/>
          </p:nvPr>
        </p:nvSpPr>
        <p:spPr>
          <a:xfrm>
            <a:off x="11091672" y="6446520"/>
            <a:ext cx="548640" cy="22860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51607A"/>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ctr"/>
          <a:lstStyle/>
          <a:p>
            <a:pPr indent="0" marL="0">
              <a:buNone/>
            </a:pPr>
            <a:r>
              <a:rPr lang="en-US" sz="1200" b="1" spc="200" kern="0" dirty="0">
                <a:solidFill>
                  <a:schemeClr val="accent1"/>
                </a:solidFill>
              </a:rPr>
              <a:t>SCENARIO ENGINE</a:t>
            </a:r>
            <a:endParaRPr lang="en-US" sz="1200" dirty="0"/>
          </a:p>
        </p:txBody>
      </p:sp>
      <p:sp>
        <p:nvSpPr>
          <p:cNvPr id="3" name="Text 0"/>
          <p:cNvSpPr/>
          <p:nvPr>
            <p:ph idx="101" type="title" hasCustomPrompt="1"/>
          </p:nvPr>
        </p:nvSpPr>
        <p:spPr>
          <a:xfrm>
            <a:off x="548640" y="676656"/>
            <a:ext cx="11094415" cy="713232"/>
          </a:xfrm>
          <a:prstGeom prst="rect">
            <a:avLst/>
          </a:prstGeom>
          <a:noFill/>
          <a:ln/>
        </p:spPr>
        <p:txBody>
          <a:bodyPr wrap="square" lIns="0" tIns="0" rIns="0" bIns="0" rtlCol="0" anchor="t"/>
          <a:lstStyle/>
          <a:p>
            <a:pPr algn="l" indent="0" marL="0">
              <a:buNone/>
            </a:pPr>
            <a:r>
              <a:rPr lang="en-US" sz="3600" b="1" dirty="0">
                <a:solidFill>
                  <a:schemeClr val="tx1"/>
                </a:solidFill>
              </a:rPr>
              <a:t>Tracing a $20 oil shock, hop by hop</a:t>
            </a:r>
            <a:endParaRPr lang="en-US" sz="3600" dirty="0"/>
          </a:p>
        </p:txBody>
      </p:sp>
      <p:sp>
        <p:nvSpPr>
          <p:cNvPr id="4" name="card-667"/>
          <p:cNvSpPr/>
          <p:nvPr/>
        </p:nvSpPr>
        <p:spPr>
          <a:xfrm>
            <a:off x="548640" y="1600200"/>
            <a:ext cx="4343400" cy="2395728"/>
          </a:xfrm>
          <a:prstGeom prst="roundRect">
            <a:avLst>
              <a:gd name="adj" fmla="val 5344"/>
            </a:avLst>
          </a:prstGeom>
          <a:solidFill>
            <a:schemeClr val="tx1"/>
          </a:solidFill>
          <a:ln/>
        </p:spPr>
      </p:sp>
      <p:sp>
        <p:nvSpPr>
          <p:cNvPr id="5" name="text-668"/>
          <p:cNvSpPr txBox="1"/>
          <p:nvPr/>
        </p:nvSpPr>
        <p:spPr>
          <a:xfrm>
            <a:off x="822960" y="1783080"/>
            <a:ext cx="3657600" cy="228600"/>
          </a:xfrm>
          <a:prstGeom prst="rect">
            <a:avLst/>
          </a:prstGeom>
          <a:noFill/>
          <a:ln/>
        </p:spPr>
        <p:txBody>
          <a:bodyPr wrap="square" lIns="0" tIns="0" rIns="0" bIns="0" rtlCol="0" anchor="t"/>
          <a:lstStyle/>
          <a:p>
            <a:pPr indent="0" marL="0">
              <a:buNone/>
            </a:pPr>
            <a:r>
              <a:rPr lang="en-US" sz="1100" b="1" spc="200" kern="0" dirty="0">
                <a:solidFill>
                  <a:schemeClr val="accent6"/>
                </a:solidFill>
              </a:rPr>
              <a:t>PROPAGATION RULE</a:t>
            </a:r>
            <a:endParaRPr lang="en-US" sz="1100" dirty="0"/>
          </a:p>
        </p:txBody>
      </p:sp>
      <p:sp>
        <p:nvSpPr>
          <p:cNvPr id="6" name="text-669"/>
          <p:cNvSpPr txBox="1"/>
          <p:nvPr/>
        </p:nvSpPr>
        <p:spPr>
          <a:xfrm>
            <a:off x="822960" y="2075688"/>
            <a:ext cx="3886200" cy="713232"/>
          </a:xfrm>
          <a:prstGeom prst="rect">
            <a:avLst/>
          </a:prstGeom>
          <a:noFill/>
          <a:ln/>
        </p:spPr>
        <p:txBody>
          <a:bodyPr wrap="square" lIns="0" tIns="0" rIns="0" bIns="0" rtlCol="0" anchor="t"/>
          <a:lstStyle/>
          <a:p>
            <a:pPr indent="0" marL="0">
              <a:buNone/>
            </a:pPr>
            <a:r>
              <a:rPr lang="en-US" sz="1800" b="1" dirty="0">
                <a:solidFill>
                  <a:schemeClr val="bg1"/>
                </a:solidFill>
                <a:latin typeface="+mj-lt" pitchFamily="34" charset="0"/>
                <a:ea typeface="+mj-lt" pitchFamily="34" charset="-122"/>
                <a:cs typeface="+mj-lt" pitchFamily="34" charset="-120"/>
              </a:rPr>
              <a:t>Δ target = shock × Π (sign × 0.55 × confidence) × 0.15</a:t>
            </a:r>
            <a:endParaRPr lang="en-US" sz="1800" dirty="0"/>
          </a:p>
        </p:txBody>
      </p:sp>
      <p:sp>
        <p:nvSpPr>
          <p:cNvPr id="7" name="text-670"/>
          <p:cNvSpPr txBox="1"/>
          <p:nvPr/>
        </p:nvSpPr>
        <p:spPr>
          <a:xfrm>
            <a:off x="822960" y="2816352"/>
            <a:ext cx="3886200" cy="457200"/>
          </a:xfrm>
          <a:prstGeom prst="rect">
            <a:avLst/>
          </a:prstGeom>
          <a:noFill/>
          <a:ln/>
        </p:spPr>
        <p:txBody>
          <a:bodyPr wrap="square" lIns="0" tIns="0" rIns="0" bIns="0" rtlCol="0" anchor="t"/>
          <a:lstStyle/>
          <a:p>
            <a:pPr indent="0" marL="0">
              <a:buNone/>
            </a:pPr>
            <a:r>
              <a:rPr lang="en-US" sz="1250" dirty="0">
                <a:solidFill>
                  <a:schemeClr val="bg1">
                    <a:alpha val="80000"/>
                  </a:schemeClr>
                </a:solidFill>
              </a:rPr>
              <a:t>Lags add up along the path, confidence multiplies, and the band is ±25% of Δ.</a:t>
            </a:r>
            <a:endParaRPr lang="en-US" sz="1250" dirty="0"/>
          </a:p>
        </p:txBody>
      </p:sp>
      <p:sp>
        <p:nvSpPr>
          <p:cNvPr id="8" name="text-671"/>
          <p:cNvSpPr txBox="1"/>
          <p:nvPr/>
        </p:nvSpPr>
        <p:spPr>
          <a:xfrm>
            <a:off x="822960" y="3346704"/>
            <a:ext cx="3886200" cy="457200"/>
          </a:xfrm>
          <a:prstGeom prst="rect">
            <a:avLst/>
          </a:prstGeom>
          <a:noFill/>
          <a:ln/>
        </p:spPr>
        <p:txBody>
          <a:bodyPr wrap="square" lIns="0" tIns="0" rIns="0" bIns="0" rtlCol="0" anchor="t"/>
          <a:lstStyle/>
          <a:p>
            <a:pPr indent="0" marL="0">
              <a:buNone/>
            </a:pPr>
            <a:r>
              <a:rPr lang="en-US" sz="1250" b="1" dirty="0">
                <a:solidFill>
                  <a:schemeClr val="accent2"/>
                </a:solidFill>
              </a:rPr>
              <a:t>Hop 1: 20 × (0.55 × 0.95) × 0.15 = +1.57</a:t>
            </a:r>
            <a:endParaRPr lang="en-US" sz="1250" dirty="0"/>
          </a:p>
          <a:p>
            <a:pPr indent="0" marL="0">
              <a:buNone/>
            </a:pPr>
            <a:r>
              <a:rPr lang="en-US" sz="1250" b="1" dirty="0">
                <a:solidFill>
                  <a:schemeClr val="accent2"/>
                </a:solidFill>
              </a:rPr>
              <a:t>so WPI moves from 2.45 to 4.02</a:t>
            </a:r>
            <a:endParaRPr lang="en-US" sz="1250" dirty="0"/>
          </a:p>
        </p:txBody>
      </p:sp>
      <p:sp>
        <p:nvSpPr>
          <p:cNvPr id="9" name="card-672"/>
          <p:cNvSpPr/>
          <p:nvPr/>
        </p:nvSpPr>
        <p:spPr>
          <a:xfrm>
            <a:off x="548640" y="4160520"/>
            <a:ext cx="4343400" cy="932688"/>
          </a:xfrm>
          <a:prstGeom prst="roundRect">
            <a:avLst>
              <a:gd name="adj" fmla="val 11765"/>
            </a:avLst>
          </a:prstGeom>
          <a:solidFill>
            <a:schemeClr val="bg2"/>
          </a:solidFill>
          <a:ln/>
        </p:spPr>
      </p:sp>
      <p:sp>
        <p:nvSpPr>
          <p:cNvPr id="10" name="card-673"/>
          <p:cNvSpPr/>
          <p:nvPr/>
        </p:nvSpPr>
        <p:spPr>
          <a:xfrm>
            <a:off x="777240" y="4297680"/>
            <a:ext cx="1097280" cy="256032"/>
          </a:xfrm>
          <a:prstGeom prst="roundRect">
            <a:avLst>
              <a:gd name="adj" fmla="val 50000"/>
            </a:avLst>
          </a:prstGeom>
          <a:solidFill>
            <a:schemeClr val="accent2"/>
          </a:solidFill>
          <a:ln/>
        </p:spPr>
      </p:sp>
      <p:sp>
        <p:nvSpPr>
          <p:cNvPr id="11" name="text-674"/>
          <p:cNvSpPr txBox="1"/>
          <p:nvPr/>
        </p:nvSpPr>
        <p:spPr>
          <a:xfrm>
            <a:off x="777240" y="4297680"/>
            <a:ext cx="1097280" cy="256032"/>
          </a:xfrm>
          <a:prstGeom prst="rect">
            <a:avLst/>
          </a:prstGeom>
          <a:noFill/>
          <a:ln/>
        </p:spPr>
        <p:txBody>
          <a:bodyPr wrap="square" lIns="0" tIns="0" rIns="0" bIns="0" rtlCol="0" anchor="ctr"/>
          <a:lstStyle/>
          <a:p>
            <a:pPr algn="ctr" indent="0" marL="0">
              <a:buNone/>
            </a:pPr>
            <a:r>
              <a:rPr lang="en-US" sz="1050" b="1" spc="50" kern="0" dirty="0">
                <a:solidFill>
                  <a:schemeClr val="tx1"/>
                </a:solidFill>
              </a:rPr>
              <a:t>SIMULATED</a:t>
            </a:r>
            <a:endParaRPr lang="en-US" sz="1050" dirty="0"/>
          </a:p>
        </p:txBody>
      </p:sp>
      <p:sp>
        <p:nvSpPr>
          <p:cNvPr id="12" name="text-675"/>
          <p:cNvSpPr txBox="1"/>
          <p:nvPr/>
        </p:nvSpPr>
        <p:spPr>
          <a:xfrm>
            <a:off x="777240" y="4608576"/>
            <a:ext cx="3931920" cy="438912"/>
          </a:xfrm>
          <a:prstGeom prst="rect">
            <a:avLst/>
          </a:prstGeom>
          <a:noFill/>
          <a:ln/>
        </p:spPr>
        <p:txBody>
          <a:bodyPr wrap="square" lIns="0" tIns="0" rIns="0" bIns="0" rtlCol="0" anchor="t"/>
          <a:lstStyle/>
          <a:p>
            <a:pPr indent="0" marL="0">
              <a:buNone/>
            </a:pPr>
            <a:r>
              <a:rPr lang="en-US" sz="1200" dirty="0">
                <a:solidFill>
                  <a:schemeClr val="tx1"/>
                </a:solidFill>
              </a:rPr>
              <a:t>Transparent by design: every delta traces back to named edges, lags and confidences.</a:t>
            </a:r>
            <a:endParaRPr lang="en-US" sz="1200" dirty="0"/>
          </a:p>
        </p:txBody>
      </p:sp>
      <p:sp>
        <p:nvSpPr>
          <p:cNvPr id="13" name="card-676"/>
          <p:cNvSpPr/>
          <p:nvPr/>
        </p:nvSpPr>
        <p:spPr>
          <a:xfrm>
            <a:off x="548640" y="5257800"/>
            <a:ext cx="4343400" cy="868680"/>
          </a:xfrm>
          <a:prstGeom prst="roundRect">
            <a:avLst>
              <a:gd name="adj" fmla="val 12632"/>
            </a:avLst>
          </a:prstGeom>
          <a:solidFill>
            <a:schemeClr val="accent1">
              <a:alpha val="12000"/>
            </a:schemeClr>
          </a:solidFill>
          <a:ln/>
        </p:spPr>
      </p:sp>
      <p:sp>
        <p:nvSpPr>
          <p:cNvPr id="14" name="card-677"/>
          <p:cNvSpPr/>
          <p:nvPr/>
        </p:nvSpPr>
        <p:spPr>
          <a:xfrm>
            <a:off x="731520" y="5458968"/>
            <a:ext cx="457200" cy="457200"/>
          </a:xfrm>
          <a:prstGeom prst="roundRect">
            <a:avLst>
              <a:gd name="adj" fmla="val 22000"/>
            </a:avLst>
          </a:prstGeom>
          <a:solidFill>
            <a:schemeClr val="accent1"/>
          </a:solidFill>
          <a:ln/>
        </p:spPr>
      </p:sp>
      <p:pic>
        <p:nvPicPr>
          <p:cNvPr id="15" name="icon-678" descr="Activity icon">    </p:cNvPr>
          <p:cNvPicPr>
            <a:picLocks noChangeAspect="1"/>
          </p:cNvPicPr>
          <p:nvPr/>
        </p:nvPicPr>
        <p:blipFill>
          <a:blip r:embed="rId1"/>
          <a:stretch>
            <a:fillRect/>
          </a:stretch>
        </p:blipFill>
        <p:spPr>
          <a:xfrm>
            <a:off x="832104" y="5559552"/>
            <a:ext cx="256032" cy="256032"/>
          </a:xfrm>
          <a:prstGeom prst="rect">
            <a:avLst/>
          </a:prstGeom>
        </p:spPr>
      </p:pic>
      <p:sp>
        <p:nvSpPr>
          <p:cNvPr id="16" name="text-679"/>
          <p:cNvSpPr txBox="1"/>
          <p:nvPr/>
        </p:nvSpPr>
        <p:spPr>
          <a:xfrm>
            <a:off x="1353312" y="5349240"/>
            <a:ext cx="3429000" cy="713232"/>
          </a:xfrm>
          <a:prstGeom prst="rect">
            <a:avLst/>
          </a:prstGeom>
          <a:noFill/>
          <a:ln/>
        </p:spPr>
        <p:txBody>
          <a:bodyPr wrap="square" lIns="0" tIns="0" rIns="0" bIns="0" rtlCol="0" anchor="ctr"/>
          <a:lstStyle/>
          <a:p>
            <a:pPr indent="0" marL="0">
              <a:buNone/>
            </a:pPr>
            <a:r>
              <a:rPr lang="en-US" sz="1200" dirty="0">
                <a:solidFill>
                  <a:schemeClr val="tx1"/>
                </a:solidFill>
              </a:rPr>
              <a:t>One engine powers Shockwave, Twin and the orchestrator report, so every view tells the same story.</a:t>
            </a:r>
            <a:endParaRPr lang="en-US" sz="1200" dirty="0"/>
          </a:p>
        </p:txBody>
      </p:sp>
      <p:graphicFrame>
        <p:nvGraphicFramePr>
          <p:cNvPr id="17" name="scenario-chart" descr=""/>
          <p:cNvGraphicFramePr/>
          <p:nvPr/>
        </p:nvGraphicFramePr>
        <p:xfrm>
          <a:off x="5166360" y="1554480"/>
          <a:ext cx="6476695" cy="3840480"/>
        </p:xfrm>
        <a:graphic xmlns:a="http://schemas.openxmlformats.org/drawingml/2006/main">
          <a:graphicData uri="http://schemas.openxmlformats.org/drawingml/2006/chart">
            <c:chart xmlns:c="http://schemas.openxmlformats.org/drawingml/2006/chart" r:id="rId2"/>
          </a:graphicData>
        </a:graphic>
      </p:graphicFrame>
      <p:sp>
        <p:nvSpPr>
          <p:cNvPr id="18" name="text-680"/>
          <p:cNvSpPr txBox="1"/>
          <p:nvPr/>
        </p:nvSpPr>
        <p:spPr>
          <a:xfrm>
            <a:off x="5257800" y="5522976"/>
            <a:ext cx="6385255" cy="256032"/>
          </a:xfrm>
          <a:prstGeom prst="rect">
            <a:avLst/>
          </a:prstGeom>
          <a:noFill/>
          <a:ln/>
        </p:spPr>
        <p:txBody>
          <a:bodyPr wrap="square" lIns="0" tIns="0" rIns="0" bIns="0" rtlCol="0" anchor="t"/>
          <a:lstStyle/>
          <a:p>
            <a:pPr indent="0" marL="0">
              <a:buNone/>
            </a:pPr>
            <a:r>
              <a:rPr lang="en-US" sz="1200" b="1" dirty="0">
                <a:solidFill>
                  <a:schemeClr val="tx1"/>
                </a:solidFill>
              </a:rPr>
              <a:t>Path confidence  </a:t>
            </a:r>
            <a:pPr indent="0" marL="0">
              <a:buNone/>
            </a:pPr>
            <a:r>
              <a:rPr lang="en-US" sz="1200" dirty="0">
                <a:solidFill>
                  <a:schemeClr val="tx2"/>
                </a:solidFill>
              </a:rPr>
              <a:t>0.95 → 0.85 → 0.81 → 0.71 → 0.59 → 0.57 over six hops</a:t>
            </a:r>
            <a:endParaRPr lang="en-US" sz="1200" dirty="0"/>
          </a:p>
        </p:txBody>
      </p:sp>
      <p:sp>
        <p:nvSpPr>
          <p:cNvPr id="19" name="text-681"/>
          <p:cNvSpPr txBox="1"/>
          <p:nvPr/>
        </p:nvSpPr>
        <p:spPr>
          <a:xfrm>
            <a:off x="5257800" y="5833872"/>
            <a:ext cx="6385255" cy="256032"/>
          </a:xfrm>
          <a:prstGeom prst="rect">
            <a:avLst/>
          </a:prstGeom>
          <a:noFill/>
          <a:ln/>
        </p:spPr>
        <p:txBody>
          <a:bodyPr wrap="square" lIns="0" tIns="0" rIns="0" bIns="0" rtlCol="0" anchor="t"/>
          <a:lstStyle/>
          <a:p>
            <a:pPr indent="0" marL="0">
              <a:buNone/>
            </a:pPr>
            <a:r>
              <a:rPr lang="en-US" sz="1200" b="1" dirty="0">
                <a:solidFill>
                  <a:schemeClr val="tx1"/>
                </a:solidFill>
              </a:rPr>
              <a:t>Live baselines  </a:t>
            </a:r>
            <a:pPr indent="0" marL="0">
              <a:buNone/>
            </a:pPr>
            <a:r>
              <a:rPr lang="en-US" sz="1200" dirty="0">
                <a:solidFill>
                  <a:schemeClr val="tx2"/>
                </a:solidFill>
              </a:rPr>
              <a:t>live CPI 5.54% (MoSPI, Sep 2026) replaces the default; peak 6.32%</a:t>
            </a:r>
            <a:endParaRPr lang="en-US" sz="1200" dirty="0"/>
          </a:p>
        </p:txBody>
      </p:sp>
      <p:sp>
        <p:nvSpPr>
          <p:cNvPr id="25" name="Slide Number Placeholder 0"/>
          <p:cNvSpPr>
            <a:spLocks noGrp="1"/>
          </p:cNvSpPr>
          <p:nvPr>
            <p:ph type="sldNum" sz="quarter" idx="4294967295"/>
          </p:nvPr>
        </p:nvSpPr>
        <p:spPr>
          <a:xfrm>
            <a:off x="11091672" y="6446520"/>
            <a:ext cx="548640" cy="22860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51607A"/>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ctr"/>
          <a:lstStyle/>
          <a:p>
            <a:pPr indent="0" marL="0">
              <a:buNone/>
            </a:pPr>
            <a:r>
              <a:rPr lang="en-US" sz="1200" b="1" spc="200" kern="0" dirty="0">
                <a:solidFill>
                  <a:schemeClr val="accent1"/>
                </a:solidFill>
              </a:rPr>
              <a:t>CAUSAL LAB</a:t>
            </a:r>
            <a:endParaRPr lang="en-US" sz="1200" dirty="0"/>
          </a:p>
        </p:txBody>
      </p:sp>
      <p:sp>
        <p:nvSpPr>
          <p:cNvPr id="3" name="Text 0"/>
          <p:cNvSpPr/>
          <p:nvPr>
            <p:ph idx="101" type="title" hasCustomPrompt="1"/>
          </p:nvPr>
        </p:nvSpPr>
        <p:spPr>
          <a:xfrm>
            <a:off x="548640" y="676656"/>
            <a:ext cx="11094415" cy="713232"/>
          </a:xfrm>
          <a:prstGeom prst="rect">
            <a:avLst/>
          </a:prstGeom>
          <a:noFill/>
          <a:ln/>
        </p:spPr>
        <p:txBody>
          <a:bodyPr wrap="square" lIns="0" tIns="0" rIns="0" bIns="0" rtlCol="0" anchor="t"/>
          <a:lstStyle/>
          <a:p>
            <a:pPr algn="l" indent="0" marL="0">
              <a:buNone/>
            </a:pPr>
            <a:r>
              <a:rPr lang="en-US" sz="3600" b="1" dirty="0">
                <a:solidFill>
                  <a:schemeClr val="tx1"/>
                </a:solidFill>
              </a:rPr>
              <a:t>An interactive lab for every shock</a:t>
            </a:r>
            <a:endParaRPr lang="en-US" sz="3600" dirty="0"/>
          </a:p>
        </p:txBody>
      </p:sp>
      <p:sp>
        <p:nvSpPr>
          <p:cNvPr id="4" name="card-682"/>
          <p:cNvSpPr/>
          <p:nvPr/>
        </p:nvSpPr>
        <p:spPr>
          <a:xfrm>
            <a:off x="548640" y="1600200"/>
            <a:ext cx="5440680" cy="3633597"/>
          </a:xfrm>
          <a:prstGeom prst="roundRect">
            <a:avLst>
              <a:gd name="adj" fmla="val 2265"/>
            </a:avLst>
          </a:prstGeom>
          <a:solidFill>
            <a:schemeClr val="tx1"/>
          </a:solidFill>
          <a:ln/>
          <a:effectLst>
            <a:outerShdw sx="100000" sy="100000" kx="0" ky="0" algn="bl" rotWithShape="0" blurRad="177800" dist="50800" dir="5400000">
              <a:srgbClr val="0B1630">
                <a:alpha val="22000"/>
              </a:srgbClr>
            </a:outerShdw>
          </a:effectLst>
        </p:spPr>
      </p:sp>
      <p:sp>
        <p:nvSpPr>
          <p:cNvPr id="5" name="dot-683"/>
          <p:cNvSpPr/>
          <p:nvPr/>
        </p:nvSpPr>
        <p:spPr>
          <a:xfrm>
            <a:off x="676656" y="1687068"/>
            <a:ext cx="77724" cy="77724"/>
          </a:xfrm>
          <a:prstGeom prst="ellipse">
            <a:avLst/>
          </a:prstGeom>
          <a:solidFill>
            <a:schemeClr val="accent4"/>
          </a:solidFill>
          <a:ln/>
        </p:spPr>
      </p:sp>
      <p:sp>
        <p:nvSpPr>
          <p:cNvPr id="6" name="dot-684"/>
          <p:cNvSpPr/>
          <p:nvPr/>
        </p:nvSpPr>
        <p:spPr>
          <a:xfrm>
            <a:off x="813816" y="1687068"/>
            <a:ext cx="77724" cy="77724"/>
          </a:xfrm>
          <a:prstGeom prst="ellipse">
            <a:avLst/>
          </a:prstGeom>
          <a:solidFill>
            <a:schemeClr val="accent2"/>
          </a:solidFill>
          <a:ln/>
        </p:spPr>
      </p:sp>
      <p:sp>
        <p:nvSpPr>
          <p:cNvPr id="7" name="dot-685"/>
          <p:cNvSpPr/>
          <p:nvPr/>
        </p:nvSpPr>
        <p:spPr>
          <a:xfrm>
            <a:off x="950976" y="1687068"/>
            <a:ext cx="77724" cy="77724"/>
          </a:xfrm>
          <a:prstGeom prst="ellipse">
            <a:avLst/>
          </a:prstGeom>
          <a:solidFill>
            <a:schemeClr val="accent3"/>
          </a:solidFill>
          <a:ln/>
        </p:spPr>
      </p:sp>
      <p:sp>
        <p:nvSpPr>
          <p:cNvPr id="8" name="text-686"/>
          <p:cNvSpPr txBox="1"/>
          <p:nvPr/>
        </p:nvSpPr>
        <p:spPr>
          <a:xfrm>
            <a:off x="1115568" y="1632204"/>
            <a:ext cx="4709160" cy="182880"/>
          </a:xfrm>
          <a:prstGeom prst="rect">
            <a:avLst/>
          </a:prstGeom>
          <a:noFill/>
          <a:ln/>
        </p:spPr>
        <p:txBody>
          <a:bodyPr wrap="square" lIns="0" tIns="0" rIns="0" bIns="0" rtlCol="0" anchor="ctr"/>
          <a:lstStyle/>
          <a:p>
            <a:pPr indent="0" marL="0">
              <a:buNone/>
            </a:pPr>
            <a:r>
              <a:rPr lang="en-US" sz="950" dirty="0">
                <a:solidFill>
                  <a:schemeClr val="bg1">
                    <a:alpha val="60000"/>
                  </a:schemeClr>
                </a:solidFill>
              </a:rPr>
              <a:t>Causal Lab  ·  Shockwave  ·  Brent crude +20</a:t>
            </a:r>
            <a:endParaRPr lang="en-US" sz="950" dirty="0"/>
          </a:p>
        </p:txBody>
      </p:sp>
      <p:pic>
        <p:nvPicPr>
          <p:cNvPr id="9" name="screenshot-687" descr="Shockwave tab animating a Brent crude shock through the causal graph">    </p:cNvPr>
          <p:cNvPicPr>
            <a:picLocks noChangeAspect="1"/>
          </p:cNvPicPr>
          <p:nvPr/>
        </p:nvPicPr>
        <p:blipFill>
          <a:blip r:embed="rId1"/>
          <a:stretch>
            <a:fillRect/>
          </a:stretch>
        </p:blipFill>
        <p:spPr>
          <a:xfrm>
            <a:off x="603504" y="1847088"/>
            <a:ext cx="5330952" cy="3331845"/>
          </a:xfrm>
          <a:prstGeom prst="rect">
            <a:avLst/>
          </a:prstGeom>
        </p:spPr>
      </p:pic>
      <p:sp>
        <p:nvSpPr>
          <p:cNvPr id="10" name="card-688"/>
          <p:cNvSpPr/>
          <p:nvPr/>
        </p:nvSpPr>
        <p:spPr>
          <a:xfrm>
            <a:off x="6202375" y="1600200"/>
            <a:ext cx="5440680" cy="3633597"/>
          </a:xfrm>
          <a:prstGeom prst="roundRect">
            <a:avLst>
              <a:gd name="adj" fmla="val 2265"/>
            </a:avLst>
          </a:prstGeom>
          <a:solidFill>
            <a:schemeClr val="tx1"/>
          </a:solidFill>
          <a:ln/>
          <a:effectLst>
            <a:outerShdw sx="100000" sy="100000" kx="0" ky="0" algn="bl" rotWithShape="0" blurRad="177800" dist="50800" dir="5400000">
              <a:srgbClr val="0B1630">
                <a:alpha val="22000"/>
              </a:srgbClr>
            </a:outerShdw>
          </a:effectLst>
        </p:spPr>
      </p:sp>
      <p:sp>
        <p:nvSpPr>
          <p:cNvPr id="11" name="dot-689"/>
          <p:cNvSpPr/>
          <p:nvPr/>
        </p:nvSpPr>
        <p:spPr>
          <a:xfrm>
            <a:off x="6330391" y="1687068"/>
            <a:ext cx="77724" cy="77724"/>
          </a:xfrm>
          <a:prstGeom prst="ellipse">
            <a:avLst/>
          </a:prstGeom>
          <a:solidFill>
            <a:schemeClr val="accent4"/>
          </a:solidFill>
          <a:ln/>
        </p:spPr>
      </p:sp>
      <p:sp>
        <p:nvSpPr>
          <p:cNvPr id="12" name="dot-690"/>
          <p:cNvSpPr/>
          <p:nvPr/>
        </p:nvSpPr>
        <p:spPr>
          <a:xfrm>
            <a:off x="6467551" y="1687068"/>
            <a:ext cx="77724" cy="77724"/>
          </a:xfrm>
          <a:prstGeom prst="ellipse">
            <a:avLst/>
          </a:prstGeom>
          <a:solidFill>
            <a:schemeClr val="accent2"/>
          </a:solidFill>
          <a:ln/>
        </p:spPr>
      </p:sp>
      <p:sp>
        <p:nvSpPr>
          <p:cNvPr id="13" name="dot-691"/>
          <p:cNvSpPr/>
          <p:nvPr/>
        </p:nvSpPr>
        <p:spPr>
          <a:xfrm>
            <a:off x="6604711" y="1687068"/>
            <a:ext cx="77724" cy="77724"/>
          </a:xfrm>
          <a:prstGeom prst="ellipse">
            <a:avLst/>
          </a:prstGeom>
          <a:solidFill>
            <a:schemeClr val="accent3"/>
          </a:solidFill>
          <a:ln/>
        </p:spPr>
      </p:sp>
      <p:sp>
        <p:nvSpPr>
          <p:cNvPr id="14" name="text-692"/>
          <p:cNvSpPr txBox="1"/>
          <p:nvPr/>
        </p:nvSpPr>
        <p:spPr>
          <a:xfrm>
            <a:off x="6769303" y="1632204"/>
            <a:ext cx="4709160" cy="182880"/>
          </a:xfrm>
          <a:prstGeom prst="rect">
            <a:avLst/>
          </a:prstGeom>
          <a:noFill/>
          <a:ln/>
        </p:spPr>
        <p:txBody>
          <a:bodyPr wrap="square" lIns="0" tIns="0" rIns="0" bIns="0" rtlCol="0" anchor="ctr"/>
          <a:lstStyle/>
          <a:p>
            <a:pPr indent="0" marL="0">
              <a:buNone/>
            </a:pPr>
            <a:r>
              <a:rPr lang="en-US" sz="950" dirty="0">
                <a:solidFill>
                  <a:schemeClr val="bg1">
                    <a:alpha val="60000"/>
                  </a:schemeClr>
                </a:solidFill>
              </a:rPr>
              <a:t>Causal Lab  ·  MPC  ·  rule-based mode</a:t>
            </a:r>
            <a:endParaRPr lang="en-US" sz="950" dirty="0"/>
          </a:p>
        </p:txBody>
      </p:sp>
      <p:pic>
        <p:nvPicPr>
          <p:cNvPr id="15" name="screenshot-693" descr="Simulated six-seat monetary policy committee, labelled simulated">    </p:cNvPr>
          <p:cNvPicPr>
            <a:picLocks noChangeAspect="1"/>
          </p:cNvPicPr>
          <p:nvPr/>
        </p:nvPicPr>
        <p:blipFill>
          <a:blip r:embed="rId2"/>
          <a:stretch>
            <a:fillRect/>
          </a:stretch>
        </p:blipFill>
        <p:spPr>
          <a:xfrm>
            <a:off x="6257239" y="1847088"/>
            <a:ext cx="5330952" cy="3331845"/>
          </a:xfrm>
          <a:prstGeom prst="rect">
            <a:avLst/>
          </a:prstGeom>
        </p:spPr>
      </p:pic>
      <p:sp>
        <p:nvSpPr>
          <p:cNvPr id="16" name="dot-694"/>
          <p:cNvSpPr/>
          <p:nvPr/>
        </p:nvSpPr>
        <p:spPr>
          <a:xfrm>
            <a:off x="566928" y="5468112"/>
            <a:ext cx="91440" cy="91440"/>
          </a:xfrm>
          <a:prstGeom prst="ellipse">
            <a:avLst/>
          </a:prstGeom>
          <a:solidFill>
            <a:schemeClr val="accent1"/>
          </a:solidFill>
          <a:ln/>
        </p:spPr>
      </p:sp>
      <p:sp>
        <p:nvSpPr>
          <p:cNvPr id="17" name="text-695"/>
          <p:cNvSpPr txBox="1"/>
          <p:nvPr/>
        </p:nvSpPr>
        <p:spPr>
          <a:xfrm>
            <a:off x="749808" y="5394960"/>
            <a:ext cx="5212080" cy="237744"/>
          </a:xfrm>
          <a:prstGeom prst="rect">
            <a:avLst/>
          </a:prstGeom>
          <a:noFill/>
          <a:ln/>
        </p:spPr>
        <p:txBody>
          <a:bodyPr wrap="square" lIns="0" tIns="0" rIns="0" bIns="0" rtlCol="0" anchor="ctr"/>
          <a:lstStyle/>
          <a:p>
            <a:pPr indent="0" marL="0">
              <a:buNone/>
            </a:pPr>
            <a:r>
              <a:rPr lang="en-US" sz="1350" b="1" dirty="0">
                <a:solidFill>
                  <a:schemeClr val="accent1"/>
                </a:solidFill>
              </a:rPr>
              <a:t>Path  </a:t>
            </a:r>
            <a:pPr indent="0" marL="0">
              <a:buNone/>
            </a:pPr>
            <a:r>
              <a:rPr lang="en-US" sz="1350" dirty="0">
                <a:solidFill>
                  <a:schemeClr val="tx1"/>
                </a:solidFill>
              </a:rPr>
              <a:t>shortest route and cumulative lag</a:t>
            </a:r>
            <a:endParaRPr lang="en-US" sz="1350" dirty="0"/>
          </a:p>
        </p:txBody>
      </p:sp>
      <p:sp>
        <p:nvSpPr>
          <p:cNvPr id="18" name="dot-696"/>
          <p:cNvSpPr/>
          <p:nvPr/>
        </p:nvSpPr>
        <p:spPr>
          <a:xfrm>
            <a:off x="566928" y="5724144"/>
            <a:ext cx="91440" cy="91440"/>
          </a:xfrm>
          <a:prstGeom prst="ellipse">
            <a:avLst/>
          </a:prstGeom>
          <a:solidFill>
            <a:schemeClr val="accent1"/>
          </a:solidFill>
          <a:ln/>
        </p:spPr>
      </p:sp>
      <p:sp>
        <p:nvSpPr>
          <p:cNvPr id="19" name="text-697"/>
          <p:cNvSpPr txBox="1"/>
          <p:nvPr/>
        </p:nvSpPr>
        <p:spPr>
          <a:xfrm>
            <a:off x="749808" y="5650992"/>
            <a:ext cx="5212080" cy="237744"/>
          </a:xfrm>
          <a:prstGeom prst="rect">
            <a:avLst/>
          </a:prstGeom>
          <a:noFill/>
          <a:ln/>
        </p:spPr>
        <p:txBody>
          <a:bodyPr wrap="square" lIns="0" tIns="0" rIns="0" bIns="0" rtlCol="0" anchor="ctr"/>
          <a:lstStyle/>
          <a:p>
            <a:pPr indent="0" marL="0">
              <a:buNone/>
            </a:pPr>
            <a:r>
              <a:rPr lang="en-US" sz="1350" b="1" dirty="0">
                <a:solidFill>
                  <a:schemeClr val="accent1"/>
                </a:solidFill>
              </a:rPr>
              <a:t>Shockwave  </a:t>
            </a:r>
            <a:pPr indent="0" marL="0">
              <a:buNone/>
            </a:pPr>
            <a:r>
              <a:rPr lang="en-US" sz="1350" dirty="0">
                <a:solidFill>
                  <a:schemeClr val="tx1"/>
                </a:solidFill>
              </a:rPr>
              <a:t>month-by-month propagation, step or decay</a:t>
            </a:r>
            <a:endParaRPr lang="en-US" sz="1350" dirty="0"/>
          </a:p>
        </p:txBody>
      </p:sp>
      <p:sp>
        <p:nvSpPr>
          <p:cNvPr id="20" name="dot-698"/>
          <p:cNvSpPr/>
          <p:nvPr/>
        </p:nvSpPr>
        <p:spPr>
          <a:xfrm>
            <a:off x="566928" y="5980176"/>
            <a:ext cx="91440" cy="91440"/>
          </a:xfrm>
          <a:prstGeom prst="ellipse">
            <a:avLst/>
          </a:prstGeom>
          <a:solidFill>
            <a:schemeClr val="accent1"/>
          </a:solidFill>
          <a:ln/>
        </p:spPr>
      </p:sp>
      <p:sp>
        <p:nvSpPr>
          <p:cNvPr id="21" name="text-699"/>
          <p:cNvSpPr txBox="1"/>
          <p:nvPr/>
        </p:nvSpPr>
        <p:spPr>
          <a:xfrm>
            <a:off x="749808" y="5907024"/>
            <a:ext cx="5212080" cy="237744"/>
          </a:xfrm>
          <a:prstGeom prst="rect">
            <a:avLst/>
          </a:prstGeom>
          <a:noFill/>
          <a:ln/>
        </p:spPr>
        <p:txBody>
          <a:bodyPr wrap="square" lIns="0" tIns="0" rIns="0" bIns="0" rtlCol="0" anchor="ctr"/>
          <a:lstStyle/>
          <a:p>
            <a:pPr indent="0" marL="0">
              <a:buNone/>
            </a:pPr>
            <a:r>
              <a:rPr lang="en-US" sz="1350" b="1" dirty="0">
                <a:solidFill>
                  <a:schemeClr val="accent1"/>
                </a:solidFill>
              </a:rPr>
              <a:t>Twin  </a:t>
            </a:r>
            <a:pPr indent="0" marL="0">
              <a:buNone/>
            </a:pPr>
            <a:r>
              <a:rPr lang="en-US" sz="1350" dirty="0">
                <a:solidFill>
                  <a:schemeClr val="tx1"/>
                </a:solidFill>
              </a:rPr>
              <a:t>base vs shocked world, weakest hop</a:t>
            </a:r>
            <a:endParaRPr lang="en-US" sz="1350" dirty="0"/>
          </a:p>
        </p:txBody>
      </p:sp>
      <p:sp>
        <p:nvSpPr>
          <p:cNvPr id="22" name="dot-700"/>
          <p:cNvSpPr/>
          <p:nvPr/>
        </p:nvSpPr>
        <p:spPr>
          <a:xfrm>
            <a:off x="6220663" y="5468112"/>
            <a:ext cx="91440" cy="91440"/>
          </a:xfrm>
          <a:prstGeom prst="ellipse">
            <a:avLst/>
          </a:prstGeom>
          <a:solidFill>
            <a:schemeClr val="accent1"/>
          </a:solidFill>
          <a:ln/>
        </p:spPr>
      </p:sp>
      <p:sp>
        <p:nvSpPr>
          <p:cNvPr id="23" name="text-701"/>
          <p:cNvSpPr txBox="1"/>
          <p:nvPr/>
        </p:nvSpPr>
        <p:spPr>
          <a:xfrm>
            <a:off x="6403543" y="5394960"/>
            <a:ext cx="5212080" cy="237744"/>
          </a:xfrm>
          <a:prstGeom prst="rect">
            <a:avLst/>
          </a:prstGeom>
          <a:noFill/>
          <a:ln/>
        </p:spPr>
        <p:txBody>
          <a:bodyPr wrap="square" lIns="0" tIns="0" rIns="0" bIns="0" rtlCol="0" anchor="ctr"/>
          <a:lstStyle/>
          <a:p>
            <a:pPr indent="0" marL="0">
              <a:buNone/>
            </a:pPr>
            <a:r>
              <a:rPr lang="en-US" sz="1350" b="1" dirty="0">
                <a:solidFill>
                  <a:schemeClr val="accent1"/>
                </a:solidFill>
              </a:rPr>
              <a:t>MPC  </a:t>
            </a:r>
            <a:pPr indent="0" marL="0">
              <a:buNone/>
            </a:pPr>
            <a:r>
              <a:rPr lang="en-US" sz="1350" dirty="0">
                <a:solidFill>
                  <a:schemeClr val="tx1"/>
                </a:solidFill>
              </a:rPr>
              <a:t>six simulated seats vs a rule baseline</a:t>
            </a:r>
            <a:endParaRPr lang="en-US" sz="1350" dirty="0"/>
          </a:p>
        </p:txBody>
      </p:sp>
      <p:sp>
        <p:nvSpPr>
          <p:cNvPr id="24" name="dot-702"/>
          <p:cNvSpPr/>
          <p:nvPr/>
        </p:nvSpPr>
        <p:spPr>
          <a:xfrm>
            <a:off x="6220663" y="5724144"/>
            <a:ext cx="91440" cy="91440"/>
          </a:xfrm>
          <a:prstGeom prst="ellipse">
            <a:avLst/>
          </a:prstGeom>
          <a:solidFill>
            <a:schemeClr val="accent1"/>
          </a:solidFill>
          <a:ln/>
        </p:spPr>
      </p:sp>
      <p:sp>
        <p:nvSpPr>
          <p:cNvPr id="25" name="text-703"/>
          <p:cNvSpPr txBox="1"/>
          <p:nvPr/>
        </p:nvSpPr>
        <p:spPr>
          <a:xfrm>
            <a:off x="6403543" y="5650992"/>
            <a:ext cx="5212080" cy="237744"/>
          </a:xfrm>
          <a:prstGeom prst="rect">
            <a:avLst/>
          </a:prstGeom>
          <a:noFill/>
          <a:ln/>
        </p:spPr>
        <p:txBody>
          <a:bodyPr wrap="square" lIns="0" tIns="0" rIns="0" bIns="0" rtlCol="0" anchor="ctr"/>
          <a:lstStyle/>
          <a:p>
            <a:pPr indent="0" marL="0">
              <a:buNone/>
            </a:pPr>
            <a:r>
              <a:rPr lang="en-US" sz="1350" b="1" dirty="0">
                <a:solidFill>
                  <a:schemeClr val="accent1"/>
                </a:solidFill>
              </a:rPr>
              <a:t>Radar  </a:t>
            </a:r>
            <a:pPr indent="0" marL="0">
              <a:buNone/>
            </a:pPr>
            <a:r>
              <a:rPr lang="en-US" sz="1350" dirty="0">
                <a:solidFill>
                  <a:schemeClr val="tx1"/>
                </a:solidFill>
              </a:rPr>
              <a:t>z-score anomalies, propagating or isolated</a:t>
            </a:r>
            <a:endParaRPr lang="en-US" sz="1350" dirty="0"/>
          </a:p>
        </p:txBody>
      </p:sp>
      <p:sp>
        <p:nvSpPr>
          <p:cNvPr id="26" name="dot-704"/>
          <p:cNvSpPr/>
          <p:nvPr/>
        </p:nvSpPr>
        <p:spPr>
          <a:xfrm>
            <a:off x="6220663" y="5980176"/>
            <a:ext cx="91440" cy="91440"/>
          </a:xfrm>
          <a:prstGeom prst="ellipse">
            <a:avLst/>
          </a:prstGeom>
          <a:solidFill>
            <a:schemeClr val="accent1"/>
          </a:solidFill>
          <a:ln/>
        </p:spPr>
      </p:sp>
      <p:sp>
        <p:nvSpPr>
          <p:cNvPr id="27" name="text-705"/>
          <p:cNvSpPr txBox="1"/>
          <p:nvPr/>
        </p:nvSpPr>
        <p:spPr>
          <a:xfrm>
            <a:off x="6403543" y="5907024"/>
            <a:ext cx="5212080" cy="237744"/>
          </a:xfrm>
          <a:prstGeom prst="rect">
            <a:avLst/>
          </a:prstGeom>
          <a:noFill/>
          <a:ln/>
        </p:spPr>
        <p:txBody>
          <a:bodyPr wrap="square" lIns="0" tIns="0" rIns="0" bIns="0" rtlCol="0" anchor="ctr"/>
          <a:lstStyle/>
          <a:p>
            <a:pPr indent="0" marL="0">
              <a:buNone/>
            </a:pPr>
            <a:r>
              <a:rPr lang="en-US" sz="1350" b="1" dirty="0">
                <a:solidFill>
                  <a:schemeClr val="accent1"/>
                </a:solidFill>
              </a:rPr>
              <a:t>Edge audit  </a:t>
            </a:r>
            <a:pPr indent="0" marL="0">
              <a:buNone/>
            </a:pPr>
            <a:r>
              <a:rPr lang="en-US" sz="1350" dirty="0">
                <a:solidFill>
                  <a:schemeClr val="tx1"/>
                </a:solidFill>
              </a:rPr>
              <a:t>Granger tests grade each edge’s evidence</a:t>
            </a:r>
            <a:endParaRPr lang="en-US" sz="1350" dirty="0"/>
          </a:p>
        </p:txBody>
      </p:sp>
      <p:sp>
        <p:nvSpPr>
          <p:cNvPr id="25" name="Slide Number Placeholder 0"/>
          <p:cNvSpPr>
            <a:spLocks noGrp="1"/>
          </p:cNvSpPr>
          <p:nvPr>
            <p:ph type="sldNum" sz="quarter" idx="4294967295"/>
          </p:nvPr>
        </p:nvSpPr>
        <p:spPr>
          <a:xfrm>
            <a:off x="11091672" y="6446520"/>
            <a:ext cx="548640" cy="22860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51607A"/>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ctr"/>
          <a:lstStyle/>
          <a:p>
            <a:pPr indent="0" marL="0">
              <a:buNone/>
            </a:pPr>
            <a:r>
              <a:rPr lang="en-US" sz="1200" b="1" spc="200" kern="0" dirty="0">
                <a:solidFill>
                  <a:schemeClr val="accent1"/>
                </a:solidFill>
              </a:rPr>
              <a:t>CLAIM VERIFICATION</a:t>
            </a:r>
            <a:endParaRPr lang="en-US" sz="1200" dirty="0"/>
          </a:p>
        </p:txBody>
      </p:sp>
      <p:sp>
        <p:nvSpPr>
          <p:cNvPr id="3" name="Text 0"/>
          <p:cNvSpPr/>
          <p:nvPr>
            <p:ph idx="101" type="title" hasCustomPrompt="1"/>
          </p:nvPr>
        </p:nvSpPr>
        <p:spPr>
          <a:xfrm>
            <a:off x="548640" y="676656"/>
            <a:ext cx="11094415" cy="713232"/>
          </a:xfrm>
          <a:prstGeom prst="rect">
            <a:avLst/>
          </a:prstGeom>
          <a:noFill/>
          <a:ln/>
        </p:spPr>
        <p:txBody>
          <a:bodyPr wrap="square" lIns="0" tIns="0" rIns="0" bIns="0" rtlCol="0" anchor="t"/>
          <a:lstStyle/>
          <a:p>
            <a:pPr algn="l" indent="0" marL="0">
              <a:buNone/>
            </a:pPr>
            <a:r>
              <a:rPr lang="en-US" sz="3600" b="1" dirty="0">
                <a:solidFill>
                  <a:schemeClr val="tx1"/>
                </a:solidFill>
              </a:rPr>
              <a:t>Numbers checked before they are shown</a:t>
            </a:r>
            <a:endParaRPr lang="en-US" sz="3600" dirty="0"/>
          </a:p>
        </p:txBody>
      </p:sp>
      <p:sp>
        <p:nvSpPr>
          <p:cNvPr id="4" name="card-706"/>
          <p:cNvSpPr/>
          <p:nvPr/>
        </p:nvSpPr>
        <p:spPr>
          <a:xfrm>
            <a:off x="548640" y="1600200"/>
            <a:ext cx="2011680" cy="1371600"/>
          </a:xfrm>
          <a:prstGeom prst="roundRect">
            <a:avLst>
              <a:gd name="adj" fmla="val 8000"/>
            </a:avLst>
          </a:prstGeom>
          <a:solidFill>
            <a:schemeClr val="bg2"/>
          </a:solidFill>
          <a:ln/>
        </p:spPr>
      </p:sp>
      <p:sp>
        <p:nvSpPr>
          <p:cNvPr id="5" name="card-707"/>
          <p:cNvSpPr/>
          <p:nvPr/>
        </p:nvSpPr>
        <p:spPr>
          <a:xfrm>
            <a:off x="713232" y="1764792"/>
            <a:ext cx="420624" cy="420624"/>
          </a:xfrm>
          <a:prstGeom prst="roundRect">
            <a:avLst>
              <a:gd name="adj" fmla="val 22000"/>
            </a:avLst>
          </a:prstGeom>
          <a:solidFill>
            <a:schemeClr val="accent1"/>
          </a:solidFill>
          <a:ln/>
        </p:spPr>
      </p:sp>
      <p:pic>
        <p:nvPicPr>
          <p:cNvPr id="6" name="icon-708" descr="Fingerprint icon">    </p:cNvPr>
          <p:cNvPicPr>
            <a:picLocks noChangeAspect="1"/>
          </p:cNvPicPr>
          <p:nvPr/>
        </p:nvPicPr>
        <p:blipFill>
          <a:blip r:embed="rId1"/>
          <a:stretch>
            <a:fillRect/>
          </a:stretch>
        </p:blipFill>
        <p:spPr>
          <a:xfrm>
            <a:off x="805769" y="1857329"/>
            <a:ext cx="235549" cy="235549"/>
          </a:xfrm>
          <a:prstGeom prst="rect">
            <a:avLst/>
          </a:prstGeom>
        </p:spPr>
      </p:pic>
      <p:sp>
        <p:nvSpPr>
          <p:cNvPr id="7" name="text-709"/>
          <p:cNvSpPr txBox="1"/>
          <p:nvPr/>
        </p:nvSpPr>
        <p:spPr>
          <a:xfrm>
            <a:off x="2057400" y="1746504"/>
            <a:ext cx="347472" cy="365760"/>
          </a:xfrm>
          <a:prstGeom prst="rect">
            <a:avLst/>
          </a:prstGeom>
          <a:noFill/>
          <a:ln/>
        </p:spPr>
        <p:txBody>
          <a:bodyPr wrap="square" lIns="0" tIns="0" rIns="0" bIns="0" rtlCol="0" anchor="t"/>
          <a:lstStyle/>
          <a:p>
            <a:pPr algn="r" indent="0" marL="0">
              <a:buNone/>
            </a:pPr>
            <a:r>
              <a:rPr lang="en-US" sz="2000" b="1" dirty="0">
                <a:solidFill>
                  <a:schemeClr val="accent1">
                    <a:alpha val="55000"/>
                  </a:schemeClr>
                </a:solidFill>
                <a:latin typeface="+mj-lt" pitchFamily="34" charset="0"/>
                <a:ea typeface="+mj-lt" pitchFamily="34" charset="-122"/>
                <a:cs typeface="+mj-lt" pitchFamily="34" charset="-120"/>
              </a:rPr>
              <a:t>1</a:t>
            </a:r>
            <a:endParaRPr lang="en-US" sz="2000" dirty="0"/>
          </a:p>
        </p:txBody>
      </p:sp>
      <p:sp>
        <p:nvSpPr>
          <p:cNvPr id="8" name="text-710"/>
          <p:cNvSpPr txBox="1"/>
          <p:nvPr/>
        </p:nvSpPr>
        <p:spPr>
          <a:xfrm>
            <a:off x="713232" y="2276856"/>
            <a:ext cx="1737360" cy="274320"/>
          </a:xfrm>
          <a:prstGeom prst="rect">
            <a:avLst/>
          </a:prstGeom>
          <a:noFill/>
          <a:ln/>
        </p:spPr>
        <p:txBody>
          <a:bodyPr wrap="square" lIns="0" tIns="0" rIns="0" bIns="0" rtlCol="0" anchor="t"/>
          <a:lstStyle/>
          <a:p>
            <a:pPr indent="0" marL="0">
              <a:buNone/>
            </a:pPr>
            <a:r>
              <a:rPr lang="en-US" sz="1450" b="1" dirty="0">
                <a:solidFill>
                  <a:schemeClr val="tx1"/>
                </a:solidFill>
              </a:rPr>
              <a:t>Snapshot evidence</a:t>
            </a:r>
            <a:endParaRPr lang="en-US" sz="1450" dirty="0"/>
          </a:p>
        </p:txBody>
      </p:sp>
      <p:sp>
        <p:nvSpPr>
          <p:cNvPr id="9" name="text-711"/>
          <p:cNvSpPr txBox="1"/>
          <p:nvPr/>
        </p:nvSpPr>
        <p:spPr>
          <a:xfrm>
            <a:off x="713232" y="2551176"/>
            <a:ext cx="1755648" cy="384048"/>
          </a:xfrm>
          <a:prstGeom prst="rect">
            <a:avLst/>
          </a:prstGeom>
          <a:noFill/>
          <a:ln/>
        </p:spPr>
        <p:txBody>
          <a:bodyPr wrap="square" lIns="0" tIns="0" rIns="0" bIns="0" rtlCol="0" anchor="t"/>
          <a:lstStyle/>
          <a:p>
            <a:pPr indent="0" marL="0">
              <a:buNone/>
            </a:pPr>
            <a:r>
              <a:rPr lang="en-US" sz="1150" dirty="0">
                <a:solidFill>
                  <a:schemeClr val="tx2"/>
                </a:solidFill>
              </a:rPr>
              <a:t>Observations get</a:t>
            </a:r>
            <a:endParaRPr lang="en-US" sz="1150" dirty="0"/>
          </a:p>
          <a:p>
            <a:pPr indent="0" marL="0">
              <a:buNone/>
            </a:pPr>
            <a:r>
              <a:rPr lang="en-US" sz="1150" dirty="0">
                <a:solidFill>
                  <a:schemeClr val="tx2"/>
                </a:solidFill>
              </a:rPr>
              <a:t>content-addressed IDs</a:t>
            </a:r>
            <a:endParaRPr lang="en-US" sz="1150" dirty="0"/>
          </a:p>
        </p:txBody>
      </p:sp>
      <p:sp>
        <p:nvSpPr>
          <p:cNvPr id="10" name="link-712"/>
          <p:cNvSpPr/>
          <p:nvPr/>
        </p:nvSpPr>
        <p:spPr>
          <a:xfrm>
            <a:off x="2587752" y="2286000"/>
            <a:ext cx="204140" cy="0"/>
          </a:xfrm>
          <a:prstGeom prst="line">
            <a:avLst/>
          </a:prstGeom>
          <a:noFill/>
          <a:ln w="22225">
            <a:solidFill>
              <a:schemeClr val="accent1"/>
            </a:solidFill>
            <a:prstDash val="solid"/>
            <a:tailEnd type="triangle"/>
          </a:ln>
        </p:spPr>
      </p:sp>
      <p:sp>
        <p:nvSpPr>
          <p:cNvPr id="11" name="card-713"/>
          <p:cNvSpPr/>
          <p:nvPr/>
        </p:nvSpPr>
        <p:spPr>
          <a:xfrm>
            <a:off x="2819324" y="1600200"/>
            <a:ext cx="2011680" cy="1371600"/>
          </a:xfrm>
          <a:prstGeom prst="roundRect">
            <a:avLst>
              <a:gd name="adj" fmla="val 8000"/>
            </a:avLst>
          </a:prstGeom>
          <a:solidFill>
            <a:schemeClr val="bg2"/>
          </a:solidFill>
          <a:ln/>
        </p:spPr>
      </p:sp>
      <p:sp>
        <p:nvSpPr>
          <p:cNvPr id="12" name="card-714"/>
          <p:cNvSpPr/>
          <p:nvPr/>
        </p:nvSpPr>
        <p:spPr>
          <a:xfrm>
            <a:off x="2983916" y="1764792"/>
            <a:ext cx="420624" cy="420624"/>
          </a:xfrm>
          <a:prstGeom prst="roundRect">
            <a:avLst>
              <a:gd name="adj" fmla="val 22000"/>
            </a:avLst>
          </a:prstGeom>
          <a:solidFill>
            <a:schemeClr val="accent1"/>
          </a:solidFill>
          <a:ln/>
        </p:spPr>
      </p:sp>
      <p:pic>
        <p:nvPicPr>
          <p:cNvPr id="13" name="icon-715" descr="Braces icon">    </p:cNvPr>
          <p:cNvPicPr>
            <a:picLocks noChangeAspect="1"/>
          </p:cNvPicPr>
          <p:nvPr/>
        </p:nvPicPr>
        <p:blipFill>
          <a:blip r:embed="rId2"/>
          <a:stretch>
            <a:fillRect/>
          </a:stretch>
        </p:blipFill>
        <p:spPr>
          <a:xfrm>
            <a:off x="3076453" y="1857329"/>
            <a:ext cx="235549" cy="235549"/>
          </a:xfrm>
          <a:prstGeom prst="rect">
            <a:avLst/>
          </a:prstGeom>
        </p:spPr>
      </p:pic>
      <p:sp>
        <p:nvSpPr>
          <p:cNvPr id="14" name="text-716"/>
          <p:cNvSpPr txBox="1"/>
          <p:nvPr/>
        </p:nvSpPr>
        <p:spPr>
          <a:xfrm>
            <a:off x="4328084" y="1746504"/>
            <a:ext cx="347472" cy="365760"/>
          </a:xfrm>
          <a:prstGeom prst="rect">
            <a:avLst/>
          </a:prstGeom>
          <a:noFill/>
          <a:ln/>
        </p:spPr>
        <p:txBody>
          <a:bodyPr wrap="square" lIns="0" tIns="0" rIns="0" bIns="0" rtlCol="0" anchor="t"/>
          <a:lstStyle/>
          <a:p>
            <a:pPr algn="r" indent="0" marL="0">
              <a:buNone/>
            </a:pPr>
            <a:r>
              <a:rPr lang="en-US" sz="2000" b="1" dirty="0">
                <a:solidFill>
                  <a:schemeClr val="accent1">
                    <a:alpha val="55000"/>
                  </a:schemeClr>
                </a:solidFill>
                <a:latin typeface="+mj-lt" pitchFamily="34" charset="0"/>
                <a:ea typeface="+mj-lt" pitchFamily="34" charset="-122"/>
                <a:cs typeface="+mj-lt" pitchFamily="34" charset="-120"/>
              </a:rPr>
              <a:t>2</a:t>
            </a:r>
            <a:endParaRPr lang="en-US" sz="2000" dirty="0"/>
          </a:p>
        </p:txBody>
      </p:sp>
      <p:sp>
        <p:nvSpPr>
          <p:cNvPr id="15" name="text-717"/>
          <p:cNvSpPr txBox="1"/>
          <p:nvPr/>
        </p:nvSpPr>
        <p:spPr>
          <a:xfrm>
            <a:off x="2983916" y="2276856"/>
            <a:ext cx="1737360" cy="274320"/>
          </a:xfrm>
          <a:prstGeom prst="rect">
            <a:avLst/>
          </a:prstGeom>
          <a:noFill/>
          <a:ln/>
        </p:spPr>
        <p:txBody>
          <a:bodyPr wrap="square" lIns="0" tIns="0" rIns="0" bIns="0" rtlCol="0" anchor="t"/>
          <a:lstStyle/>
          <a:p>
            <a:pPr indent="0" marL="0">
              <a:buNone/>
            </a:pPr>
            <a:r>
              <a:rPr lang="en-US" sz="1450" b="1" dirty="0">
                <a:solidFill>
                  <a:schemeClr val="tx1"/>
                </a:solidFill>
              </a:rPr>
              <a:t>Propose claims</a:t>
            </a:r>
            <a:endParaRPr lang="en-US" sz="1450" dirty="0"/>
          </a:p>
        </p:txBody>
      </p:sp>
      <p:sp>
        <p:nvSpPr>
          <p:cNvPr id="16" name="text-718"/>
          <p:cNvSpPr txBox="1"/>
          <p:nvPr/>
        </p:nvSpPr>
        <p:spPr>
          <a:xfrm>
            <a:off x="2983916" y="2551176"/>
            <a:ext cx="1755648" cy="384048"/>
          </a:xfrm>
          <a:prstGeom prst="rect">
            <a:avLst/>
          </a:prstGeom>
          <a:noFill/>
          <a:ln/>
        </p:spPr>
        <p:txBody>
          <a:bodyPr wrap="square" lIns="0" tIns="0" rIns="0" bIns="0" rtlCol="0" anchor="t"/>
          <a:lstStyle/>
          <a:p>
            <a:pPr indent="0" marL="0">
              <a:buNone/>
            </a:pPr>
            <a:r>
              <a:rPr lang="en-US" sz="1150" dirty="0">
                <a:solidFill>
                  <a:schemeClr val="tx2"/>
                </a:solidFill>
              </a:rPr>
              <a:t>Server and model emit typed claims only</a:t>
            </a:r>
            <a:endParaRPr lang="en-US" sz="1150" dirty="0"/>
          </a:p>
        </p:txBody>
      </p:sp>
      <p:sp>
        <p:nvSpPr>
          <p:cNvPr id="17" name="link-719"/>
          <p:cNvSpPr/>
          <p:nvPr/>
        </p:nvSpPr>
        <p:spPr>
          <a:xfrm>
            <a:off x="4858436" y="2286000"/>
            <a:ext cx="204140" cy="0"/>
          </a:xfrm>
          <a:prstGeom prst="line">
            <a:avLst/>
          </a:prstGeom>
          <a:noFill/>
          <a:ln w="22225">
            <a:solidFill>
              <a:schemeClr val="accent1"/>
            </a:solidFill>
            <a:prstDash val="solid"/>
            <a:tailEnd type="triangle"/>
          </a:ln>
        </p:spPr>
      </p:sp>
      <p:sp>
        <p:nvSpPr>
          <p:cNvPr id="18" name="card-720"/>
          <p:cNvSpPr/>
          <p:nvPr/>
        </p:nvSpPr>
        <p:spPr>
          <a:xfrm>
            <a:off x="5090008" y="1600200"/>
            <a:ext cx="2011680" cy="1371600"/>
          </a:xfrm>
          <a:prstGeom prst="roundRect">
            <a:avLst>
              <a:gd name="adj" fmla="val 8000"/>
            </a:avLst>
          </a:prstGeom>
          <a:solidFill>
            <a:schemeClr val="bg2"/>
          </a:solidFill>
          <a:ln/>
        </p:spPr>
      </p:sp>
      <p:sp>
        <p:nvSpPr>
          <p:cNvPr id="19" name="card-721"/>
          <p:cNvSpPr/>
          <p:nvPr/>
        </p:nvSpPr>
        <p:spPr>
          <a:xfrm>
            <a:off x="5254600" y="1764792"/>
            <a:ext cx="420624" cy="420624"/>
          </a:xfrm>
          <a:prstGeom prst="roundRect">
            <a:avLst>
              <a:gd name="adj" fmla="val 22000"/>
            </a:avLst>
          </a:prstGeom>
          <a:solidFill>
            <a:schemeClr val="accent1"/>
          </a:solidFill>
          <a:ln/>
        </p:spPr>
      </p:sp>
      <p:pic>
        <p:nvPicPr>
          <p:cNvPr id="20" name="icon-722" descr="Calculator icon">    </p:cNvPr>
          <p:cNvPicPr>
            <a:picLocks noChangeAspect="1"/>
          </p:cNvPicPr>
          <p:nvPr/>
        </p:nvPicPr>
        <p:blipFill>
          <a:blip r:embed="rId3"/>
          <a:stretch>
            <a:fillRect/>
          </a:stretch>
        </p:blipFill>
        <p:spPr>
          <a:xfrm>
            <a:off x="5347137" y="1857329"/>
            <a:ext cx="235549" cy="235549"/>
          </a:xfrm>
          <a:prstGeom prst="rect">
            <a:avLst/>
          </a:prstGeom>
        </p:spPr>
      </p:pic>
      <p:sp>
        <p:nvSpPr>
          <p:cNvPr id="21" name="text-723"/>
          <p:cNvSpPr txBox="1"/>
          <p:nvPr/>
        </p:nvSpPr>
        <p:spPr>
          <a:xfrm>
            <a:off x="6598768" y="1746504"/>
            <a:ext cx="347472" cy="365760"/>
          </a:xfrm>
          <a:prstGeom prst="rect">
            <a:avLst/>
          </a:prstGeom>
          <a:noFill/>
          <a:ln/>
        </p:spPr>
        <p:txBody>
          <a:bodyPr wrap="square" lIns="0" tIns="0" rIns="0" bIns="0" rtlCol="0" anchor="t"/>
          <a:lstStyle/>
          <a:p>
            <a:pPr algn="r" indent="0" marL="0">
              <a:buNone/>
            </a:pPr>
            <a:r>
              <a:rPr lang="en-US" sz="2000" b="1" dirty="0">
                <a:solidFill>
                  <a:schemeClr val="accent1">
                    <a:alpha val="55000"/>
                  </a:schemeClr>
                </a:solidFill>
                <a:latin typeface="+mj-lt" pitchFamily="34" charset="0"/>
                <a:ea typeface="+mj-lt" pitchFamily="34" charset="-122"/>
                <a:cs typeface="+mj-lt" pitchFamily="34" charset="-120"/>
              </a:rPr>
              <a:t>3</a:t>
            </a:r>
            <a:endParaRPr lang="en-US" sz="2000" dirty="0"/>
          </a:p>
        </p:txBody>
      </p:sp>
      <p:sp>
        <p:nvSpPr>
          <p:cNvPr id="22" name="text-724"/>
          <p:cNvSpPr txBox="1"/>
          <p:nvPr/>
        </p:nvSpPr>
        <p:spPr>
          <a:xfrm>
            <a:off x="5254600" y="2276856"/>
            <a:ext cx="1737360" cy="274320"/>
          </a:xfrm>
          <a:prstGeom prst="rect">
            <a:avLst/>
          </a:prstGeom>
          <a:noFill/>
          <a:ln/>
        </p:spPr>
        <p:txBody>
          <a:bodyPr wrap="square" lIns="0" tIns="0" rIns="0" bIns="0" rtlCol="0" anchor="t"/>
          <a:lstStyle/>
          <a:p>
            <a:pPr indent="0" marL="0">
              <a:buNone/>
            </a:pPr>
            <a:r>
              <a:rPr lang="en-US" sz="1450" b="1" dirty="0">
                <a:solidFill>
                  <a:schemeClr val="tx1"/>
                </a:solidFill>
              </a:rPr>
              <a:t>Recompute</a:t>
            </a:r>
            <a:endParaRPr lang="en-US" sz="1450" dirty="0"/>
          </a:p>
        </p:txBody>
      </p:sp>
      <p:sp>
        <p:nvSpPr>
          <p:cNvPr id="23" name="text-725"/>
          <p:cNvSpPr txBox="1"/>
          <p:nvPr/>
        </p:nvSpPr>
        <p:spPr>
          <a:xfrm>
            <a:off x="5254600" y="2551176"/>
            <a:ext cx="1755648" cy="384048"/>
          </a:xfrm>
          <a:prstGeom prst="rect">
            <a:avLst/>
          </a:prstGeom>
          <a:noFill/>
          <a:ln/>
        </p:spPr>
        <p:txBody>
          <a:bodyPr wrap="square" lIns="0" tIns="0" rIns="0" bIns="0" rtlCol="0" anchor="t"/>
          <a:lstStyle/>
          <a:p>
            <a:pPr indent="0" marL="0">
              <a:buNone/>
            </a:pPr>
            <a:r>
              <a:rPr lang="en-US" sz="1150" dirty="0">
                <a:solidFill>
                  <a:schemeClr val="tx2"/>
                </a:solidFill>
              </a:rPr>
              <a:t>Decimal checks at displayed precision</a:t>
            </a:r>
            <a:endParaRPr lang="en-US" sz="1150" dirty="0"/>
          </a:p>
        </p:txBody>
      </p:sp>
      <p:sp>
        <p:nvSpPr>
          <p:cNvPr id="24" name="link-726"/>
          <p:cNvSpPr/>
          <p:nvPr/>
        </p:nvSpPr>
        <p:spPr>
          <a:xfrm>
            <a:off x="7129120" y="2286000"/>
            <a:ext cx="204140" cy="0"/>
          </a:xfrm>
          <a:prstGeom prst="line">
            <a:avLst/>
          </a:prstGeom>
          <a:noFill/>
          <a:ln w="22225">
            <a:solidFill>
              <a:schemeClr val="accent1"/>
            </a:solidFill>
            <a:prstDash val="solid"/>
            <a:tailEnd type="triangle"/>
          </a:ln>
        </p:spPr>
      </p:sp>
      <p:sp>
        <p:nvSpPr>
          <p:cNvPr id="25" name="card-727"/>
          <p:cNvSpPr/>
          <p:nvPr/>
        </p:nvSpPr>
        <p:spPr>
          <a:xfrm>
            <a:off x="7360691" y="1600200"/>
            <a:ext cx="2011680" cy="1371600"/>
          </a:xfrm>
          <a:prstGeom prst="roundRect">
            <a:avLst>
              <a:gd name="adj" fmla="val 8000"/>
            </a:avLst>
          </a:prstGeom>
          <a:solidFill>
            <a:schemeClr val="bg2"/>
          </a:solidFill>
          <a:ln/>
        </p:spPr>
      </p:sp>
      <p:sp>
        <p:nvSpPr>
          <p:cNvPr id="26" name="card-728"/>
          <p:cNvSpPr/>
          <p:nvPr/>
        </p:nvSpPr>
        <p:spPr>
          <a:xfrm>
            <a:off x="7525283" y="1764792"/>
            <a:ext cx="420624" cy="420624"/>
          </a:xfrm>
          <a:prstGeom prst="roundRect">
            <a:avLst>
              <a:gd name="adj" fmla="val 22000"/>
            </a:avLst>
          </a:prstGeom>
          <a:solidFill>
            <a:schemeClr val="accent1"/>
          </a:solidFill>
          <a:ln/>
        </p:spPr>
      </p:sp>
      <p:pic>
        <p:nvPicPr>
          <p:cNvPr id="27" name="icon-729" descr="FileCheck icon">    </p:cNvPr>
          <p:cNvPicPr>
            <a:picLocks noChangeAspect="1"/>
          </p:cNvPicPr>
          <p:nvPr/>
        </p:nvPicPr>
        <p:blipFill>
          <a:blip r:embed="rId4"/>
          <a:stretch>
            <a:fillRect/>
          </a:stretch>
        </p:blipFill>
        <p:spPr>
          <a:xfrm>
            <a:off x="7617821" y="1857329"/>
            <a:ext cx="235549" cy="235549"/>
          </a:xfrm>
          <a:prstGeom prst="rect">
            <a:avLst/>
          </a:prstGeom>
        </p:spPr>
      </p:pic>
      <p:sp>
        <p:nvSpPr>
          <p:cNvPr id="28" name="text-730"/>
          <p:cNvSpPr txBox="1"/>
          <p:nvPr/>
        </p:nvSpPr>
        <p:spPr>
          <a:xfrm>
            <a:off x="8869451" y="1746504"/>
            <a:ext cx="347472" cy="365760"/>
          </a:xfrm>
          <a:prstGeom prst="rect">
            <a:avLst/>
          </a:prstGeom>
          <a:noFill/>
          <a:ln/>
        </p:spPr>
        <p:txBody>
          <a:bodyPr wrap="square" lIns="0" tIns="0" rIns="0" bIns="0" rtlCol="0" anchor="t"/>
          <a:lstStyle/>
          <a:p>
            <a:pPr algn="r" indent="0" marL="0">
              <a:buNone/>
            </a:pPr>
            <a:r>
              <a:rPr lang="en-US" sz="2000" b="1" dirty="0">
                <a:solidFill>
                  <a:schemeClr val="accent1">
                    <a:alpha val="55000"/>
                  </a:schemeClr>
                </a:solidFill>
                <a:latin typeface="+mj-lt" pitchFamily="34" charset="0"/>
                <a:ea typeface="+mj-lt" pitchFamily="34" charset="-122"/>
                <a:cs typeface="+mj-lt" pitchFamily="34" charset="-120"/>
              </a:rPr>
              <a:t>4</a:t>
            </a:r>
            <a:endParaRPr lang="en-US" sz="2000" dirty="0"/>
          </a:p>
        </p:txBody>
      </p:sp>
      <p:sp>
        <p:nvSpPr>
          <p:cNvPr id="29" name="text-731"/>
          <p:cNvSpPr txBox="1"/>
          <p:nvPr/>
        </p:nvSpPr>
        <p:spPr>
          <a:xfrm>
            <a:off x="7525283" y="2276856"/>
            <a:ext cx="1737360" cy="274320"/>
          </a:xfrm>
          <a:prstGeom prst="rect">
            <a:avLst/>
          </a:prstGeom>
          <a:noFill/>
          <a:ln/>
        </p:spPr>
        <p:txBody>
          <a:bodyPr wrap="square" lIns="0" tIns="0" rIns="0" bIns="0" rtlCol="0" anchor="t"/>
          <a:lstStyle/>
          <a:p>
            <a:pPr indent="0" marL="0">
              <a:buNone/>
            </a:pPr>
            <a:r>
              <a:rPr lang="en-US" sz="1450" b="1" dirty="0">
                <a:solidFill>
                  <a:schemeClr val="tx1"/>
                </a:solidFill>
              </a:rPr>
              <a:t>Render</a:t>
            </a:r>
            <a:endParaRPr lang="en-US" sz="1450" dirty="0"/>
          </a:p>
        </p:txBody>
      </p:sp>
      <p:sp>
        <p:nvSpPr>
          <p:cNvPr id="30" name="text-732"/>
          <p:cNvSpPr txBox="1"/>
          <p:nvPr/>
        </p:nvSpPr>
        <p:spPr>
          <a:xfrm>
            <a:off x="7525283" y="2551176"/>
            <a:ext cx="1755648" cy="384048"/>
          </a:xfrm>
          <a:prstGeom prst="rect">
            <a:avLst/>
          </a:prstGeom>
          <a:noFill/>
          <a:ln/>
        </p:spPr>
        <p:txBody>
          <a:bodyPr wrap="square" lIns="0" tIns="0" rIns="0" bIns="0" rtlCol="0" anchor="t"/>
          <a:lstStyle/>
          <a:p>
            <a:pPr indent="0" marL="0">
              <a:buNone/>
            </a:pPr>
            <a:r>
              <a:rPr lang="en-US" sz="1150" dirty="0">
                <a:solidFill>
                  <a:schemeClr val="tx2"/>
                </a:solidFill>
              </a:rPr>
              <a:t>Only verified wording reaches the reader</a:t>
            </a:r>
            <a:endParaRPr lang="en-US" sz="1150" dirty="0"/>
          </a:p>
        </p:txBody>
      </p:sp>
      <p:sp>
        <p:nvSpPr>
          <p:cNvPr id="31" name="link-733"/>
          <p:cNvSpPr/>
          <p:nvPr/>
        </p:nvSpPr>
        <p:spPr>
          <a:xfrm>
            <a:off x="9399803" y="2286000"/>
            <a:ext cx="204140" cy="0"/>
          </a:xfrm>
          <a:prstGeom prst="line">
            <a:avLst/>
          </a:prstGeom>
          <a:noFill/>
          <a:ln w="22225">
            <a:solidFill>
              <a:schemeClr val="accent1"/>
            </a:solidFill>
            <a:prstDash val="solid"/>
            <a:tailEnd type="triangle"/>
          </a:ln>
        </p:spPr>
      </p:sp>
      <p:sp>
        <p:nvSpPr>
          <p:cNvPr id="32" name="card-734"/>
          <p:cNvSpPr/>
          <p:nvPr/>
        </p:nvSpPr>
        <p:spPr>
          <a:xfrm>
            <a:off x="9631375" y="1600200"/>
            <a:ext cx="2011680" cy="1371600"/>
          </a:xfrm>
          <a:prstGeom prst="roundRect">
            <a:avLst>
              <a:gd name="adj" fmla="val 8000"/>
            </a:avLst>
          </a:prstGeom>
          <a:solidFill>
            <a:schemeClr val="bg2"/>
          </a:solidFill>
          <a:ln/>
        </p:spPr>
      </p:sp>
      <p:sp>
        <p:nvSpPr>
          <p:cNvPr id="33" name="card-735"/>
          <p:cNvSpPr/>
          <p:nvPr/>
        </p:nvSpPr>
        <p:spPr>
          <a:xfrm>
            <a:off x="9795967" y="1764792"/>
            <a:ext cx="420624" cy="420624"/>
          </a:xfrm>
          <a:prstGeom prst="roundRect">
            <a:avLst>
              <a:gd name="adj" fmla="val 22000"/>
            </a:avLst>
          </a:prstGeom>
          <a:solidFill>
            <a:schemeClr val="accent1"/>
          </a:solidFill>
          <a:ln/>
        </p:spPr>
      </p:sp>
      <p:pic>
        <p:nvPicPr>
          <p:cNvPr id="34" name="icon-736" descr="Archive icon">    </p:cNvPr>
          <p:cNvPicPr>
            <a:picLocks noChangeAspect="1"/>
          </p:cNvPicPr>
          <p:nvPr/>
        </p:nvPicPr>
        <p:blipFill>
          <a:blip r:embed="rId5"/>
          <a:stretch>
            <a:fillRect/>
          </a:stretch>
        </p:blipFill>
        <p:spPr>
          <a:xfrm>
            <a:off x="9888504" y="1857329"/>
            <a:ext cx="235549" cy="235549"/>
          </a:xfrm>
          <a:prstGeom prst="rect">
            <a:avLst/>
          </a:prstGeom>
        </p:spPr>
      </p:pic>
      <p:sp>
        <p:nvSpPr>
          <p:cNvPr id="35" name="text-737"/>
          <p:cNvSpPr txBox="1"/>
          <p:nvPr/>
        </p:nvSpPr>
        <p:spPr>
          <a:xfrm>
            <a:off x="11140135" y="1746504"/>
            <a:ext cx="347472" cy="365760"/>
          </a:xfrm>
          <a:prstGeom prst="rect">
            <a:avLst/>
          </a:prstGeom>
          <a:noFill/>
          <a:ln/>
        </p:spPr>
        <p:txBody>
          <a:bodyPr wrap="square" lIns="0" tIns="0" rIns="0" bIns="0" rtlCol="0" anchor="t"/>
          <a:lstStyle/>
          <a:p>
            <a:pPr algn="r" indent="0" marL="0">
              <a:buNone/>
            </a:pPr>
            <a:r>
              <a:rPr lang="en-US" sz="2000" b="1" dirty="0">
                <a:solidFill>
                  <a:schemeClr val="accent1">
                    <a:alpha val="55000"/>
                  </a:schemeClr>
                </a:solidFill>
                <a:latin typeface="+mj-lt" pitchFamily="34" charset="0"/>
                <a:ea typeface="+mj-lt" pitchFamily="34" charset="-122"/>
                <a:cs typeface="+mj-lt" pitchFamily="34" charset="-120"/>
              </a:rPr>
              <a:t>5</a:t>
            </a:r>
            <a:endParaRPr lang="en-US" sz="2000" dirty="0"/>
          </a:p>
        </p:txBody>
      </p:sp>
      <p:sp>
        <p:nvSpPr>
          <p:cNvPr id="36" name="text-738"/>
          <p:cNvSpPr txBox="1"/>
          <p:nvPr/>
        </p:nvSpPr>
        <p:spPr>
          <a:xfrm>
            <a:off x="9795967" y="2276856"/>
            <a:ext cx="1737360" cy="274320"/>
          </a:xfrm>
          <a:prstGeom prst="rect">
            <a:avLst/>
          </a:prstGeom>
          <a:noFill/>
          <a:ln/>
        </p:spPr>
        <p:txBody>
          <a:bodyPr wrap="square" lIns="0" tIns="0" rIns="0" bIns="0" rtlCol="0" anchor="t"/>
          <a:lstStyle/>
          <a:p>
            <a:pPr indent="0" marL="0">
              <a:buNone/>
            </a:pPr>
            <a:r>
              <a:rPr lang="en-US" sz="1450" b="1" dirty="0">
                <a:solidFill>
                  <a:schemeClr val="tx1"/>
                </a:solidFill>
              </a:rPr>
              <a:t>Audit</a:t>
            </a:r>
            <a:endParaRPr lang="en-US" sz="1450" dirty="0"/>
          </a:p>
        </p:txBody>
      </p:sp>
      <p:sp>
        <p:nvSpPr>
          <p:cNvPr id="37" name="text-739"/>
          <p:cNvSpPr txBox="1"/>
          <p:nvPr/>
        </p:nvSpPr>
        <p:spPr>
          <a:xfrm>
            <a:off x="9795967" y="2551176"/>
            <a:ext cx="1755648" cy="384048"/>
          </a:xfrm>
          <a:prstGeom prst="rect">
            <a:avLst/>
          </a:prstGeom>
          <a:noFill/>
          <a:ln/>
        </p:spPr>
        <p:txBody>
          <a:bodyPr wrap="square" lIns="0" tIns="0" rIns="0" bIns="0" rtlCol="0" anchor="t"/>
          <a:lstStyle/>
          <a:p>
            <a:pPr indent="0" marL="0">
              <a:buNone/>
            </a:pPr>
            <a:r>
              <a:rPr lang="en-US" sz="1150" dirty="0">
                <a:solidFill>
                  <a:schemeClr val="tx2"/>
                </a:solidFill>
              </a:rPr>
              <a:t>Append-only SQLite record, replayable</a:t>
            </a:r>
            <a:endParaRPr lang="en-US" sz="1150" dirty="0"/>
          </a:p>
        </p:txBody>
      </p:sp>
      <p:graphicFrame>
        <p:nvGraphicFramePr>
          <p:cNvPr id="15" name="verification-status-table"/>
          <p:cNvGraphicFramePr>
            <a:graphicFrameLocks noGrp="1"/>
          </p:cNvGraphicFramePr>
          <p:nvPr>
            <p:extLst>
              <p:ext uri="{D42A27DB-BD31-4B8C-83A1-F6EECF244321}">
                <p14:modId xmlns:p14="http://schemas.microsoft.com/office/powerpoint/2010/main" val="1579011935"/>
              </p:ext>
            </p:extLst>
          </p:nvPr>
        </p:nvGraphicFramePr>
        <p:xfrm>
          <a:off x="548640" y="3200400"/>
          <a:ext cx="6949440" cy="914400"/>
        </p:xfrm>
        <a:graphic>
          <a:graphicData uri="http://schemas.openxmlformats.org/drawingml/2006/table">
            <a:tbl>
              <a:tblPr/>
              <a:tblGrid>
                <a:gridCol w="2240280"/>
                <a:gridCol w="4709160"/>
              </a:tblGrid>
              <a:tr h="347472">
                <a:tc>
                  <a:txBody>
                    <a:bodyPr/>
                    <a:lstStyle/>
                    <a:p>
                      <a:pPr indent="0" marL="0">
                        <a:buNone/>
                      </a:pPr>
                      <a:r>
                        <a:rPr lang="en-US" sz="1250" b="1" dirty="0">
                          <a:solidFill>
                            <a:schemeClr val="bg1"/>
                          </a:solidFill>
                        </a:rPr>
                        <a:t>Status</a:t>
                      </a:r>
                      <a:endParaRPr lang="en-US" sz="1250" dirty="0"/>
                    </a:p>
                  </a:txBody>
                  <a:tcPr marL="109728" marR="109728" marT="27432" marB="27432" anchor="ctr">
                    <a:lnL w="0" cap="flat" cmpd="sng" algn="ctr">
                      <a:noFill/>
                    </a:lnL>
                    <a:lnR w="0" cap="flat" cmpd="sng" algn="ctr">
                      <a:noFill/>
                    </a:lnR>
                    <a:lnT w="0" cap="flat" cmpd="sng" algn="ctr">
                      <a:noFill/>
                    </a:lnT>
                    <a:lnB w="0" cap="flat" cmpd="sng" algn="ctr">
                      <a:noFill/>
                    </a:lnB>
                    <a:solidFill>
                      <a:schemeClr val="tx1"/>
                    </a:solidFill>
                  </a:tcPr>
                </a:tc>
                <a:tc>
                  <a:txBody>
                    <a:bodyPr/>
                    <a:lstStyle/>
                    <a:p>
                      <a:pPr indent="0" marL="0">
                        <a:buNone/>
                      </a:pPr>
                      <a:r>
                        <a:rPr lang="en-US" sz="1250" b="1" dirty="0">
                          <a:solidFill>
                            <a:schemeClr val="bg1"/>
                          </a:solidFill>
                        </a:rPr>
                        <a:t>What it guarantees</a:t>
                      </a:r>
                      <a:endParaRPr lang="en-US" sz="1250" dirty="0"/>
                    </a:p>
                  </a:txBody>
                  <a:tcPr marL="109728" marR="109728" marT="27432" marB="27432" anchor="ctr">
                    <a:lnL w="0" cap="flat" cmpd="sng" algn="ctr">
                      <a:noFill/>
                    </a:lnL>
                    <a:lnR w="0" cap="flat" cmpd="sng" algn="ctr">
                      <a:noFill/>
                    </a:lnR>
                    <a:lnT w="0" cap="flat" cmpd="sng" algn="ctr">
                      <a:noFill/>
                    </a:lnT>
                    <a:lnB w="0" cap="flat" cmpd="sng" algn="ctr">
                      <a:noFill/>
                    </a:lnB>
                    <a:solidFill>
                      <a:schemeClr val="tx1"/>
                    </a:solidFill>
                  </a:tcPr>
                </a:tc>
              </a:tr>
              <a:tr h="457200">
                <a:tc>
                  <a:txBody>
                    <a:bodyPr/>
                    <a:lstStyle/>
                    <a:p>
                      <a:pPr indent="0" marL="0">
                        <a:buNone/>
                      </a:pPr>
                      <a:r>
                        <a:rPr lang="en-US" sz="1200" b="1" dirty="0">
                          <a:solidFill>
                            <a:schemeClr val="accent3"/>
                          </a:solidFill>
                          <a:latin typeface="Consolas" pitchFamily="34" charset="0"/>
                          <a:ea typeface="Consolas" pitchFamily="34" charset="-122"/>
                          <a:cs typeface="Consolas" pitchFamily="34" charset="-120"/>
                        </a:rPr>
                        <a:t>verified</a:t>
                      </a:r>
                      <a:endParaRPr lang="en-US" sz="1200" dirty="0">
                        <a:latin typeface="Consolas" charset="0"/>
                        <a:ea typeface="Consolas" charset="0"/>
                        <a:cs typeface="Consolas" charset="0"/>
                      </a:endParaRPr>
                    </a:p>
                  </a:txBody>
                  <a:tcPr marL="109728" marR="109728" marT="27432" marB="27432"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250" dirty="0">
                          <a:solidFill>
                            <a:schemeClr val="tx1"/>
                          </a:solidFill>
                        </a:rPr>
                        <a:t>Numerical claim passed deterministic checks against the snapshot</a:t>
                      </a:r>
                      <a:endParaRPr lang="en-US" sz="1250" dirty="0"/>
                    </a:p>
                  </a:txBody>
                  <a:tcPr marL="109728" marR="109728" marT="27432" marB="27432" anchor="ctr">
                    <a:lnL w="0" cap="flat" cmpd="sng" algn="ctr">
                      <a:noFill/>
                    </a:lnL>
                    <a:lnR w="0" cap="flat" cmpd="sng" algn="ctr">
                      <a:noFill/>
                    </a:lnR>
                    <a:lnT w="0" cap="flat" cmpd="sng" algn="ctr">
                      <a:noFill/>
                    </a:lnT>
                    <a:lnB w="0" cap="flat" cmpd="sng" algn="ctr">
                      <a:noFill/>
                    </a:lnB>
                    <a:solidFill>
                      <a:schemeClr val="bg1"/>
                    </a:solidFill>
                  </a:tcPr>
                </a:tc>
              </a:tr>
              <a:tr h="457200">
                <a:tc>
                  <a:txBody>
                    <a:bodyPr/>
                    <a:lstStyle/>
                    <a:p>
                      <a:pPr indent="0" marL="0">
                        <a:buNone/>
                      </a:pPr>
                      <a:r>
                        <a:rPr lang="en-US" sz="1200" b="1" dirty="0">
                          <a:solidFill>
                            <a:schemeClr val="accent1"/>
                          </a:solidFill>
                          <a:latin typeface="Consolas" pitchFamily="34" charset="0"/>
                          <a:ea typeface="Consolas" pitchFamily="34" charset="-122"/>
                          <a:cs typeface="Consolas" pitchFamily="34" charset="-120"/>
                        </a:rPr>
                        <a:t>source_attributed</a:t>
                      </a:r>
                      <a:endParaRPr lang="en-US" sz="1200" dirty="0">
                        <a:latin typeface="Consolas" charset="0"/>
                        <a:ea typeface="Consolas" charset="0"/>
                        <a:cs typeface="Consolas" charset="0"/>
                      </a:endParaRPr>
                    </a:p>
                  </a:txBody>
                  <a:tcPr marL="109728" marR="109728" marT="27432" marB="27432"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250" dirty="0">
                          <a:solidFill>
                            <a:schemeClr val="tx1"/>
                          </a:solidFill>
                        </a:rPr>
                        <a:t>Exact sentence found in a retrieved passage; not a causal proof</a:t>
                      </a:r>
                      <a:endParaRPr lang="en-US" sz="1250" dirty="0"/>
                    </a:p>
                  </a:txBody>
                  <a:tcPr marL="109728" marR="109728" marT="27432" marB="27432" anchor="ctr">
                    <a:lnL w="0" cap="flat" cmpd="sng" algn="ctr">
                      <a:noFill/>
                    </a:lnL>
                    <a:lnR w="0" cap="flat" cmpd="sng" algn="ctr">
                      <a:noFill/>
                    </a:lnR>
                    <a:lnT w="0" cap="flat" cmpd="sng" algn="ctr">
                      <a:noFill/>
                    </a:lnT>
                    <a:lnB w="0" cap="flat" cmpd="sng" algn="ctr">
                      <a:noFill/>
                    </a:lnB>
                    <a:solidFill>
                      <a:schemeClr val="bg2"/>
                    </a:solidFill>
                  </a:tcPr>
                </a:tc>
              </a:tr>
              <a:tr h="457200">
                <a:tc>
                  <a:txBody>
                    <a:bodyPr/>
                    <a:lstStyle/>
                    <a:p>
                      <a:pPr indent="0" marL="0">
                        <a:buNone/>
                      </a:pPr>
                      <a:r>
                        <a:rPr lang="en-US" sz="1200" b="1" dirty="0">
                          <a:solidFill>
                            <a:schemeClr val="tx2"/>
                          </a:solidFill>
                          <a:latin typeface="Consolas" pitchFamily="34" charset="0"/>
                          <a:ea typeface="Consolas" pitchFamily="34" charset="-122"/>
                          <a:cs typeface="Consolas" pitchFamily="34" charset="-120"/>
                        </a:rPr>
                        <a:t>general_mechanism</a:t>
                      </a:r>
                      <a:endParaRPr lang="en-US" sz="1200" dirty="0">
                        <a:latin typeface="Consolas" charset="0"/>
                        <a:ea typeface="Consolas" charset="0"/>
                        <a:cs typeface="Consolas" charset="0"/>
                      </a:endParaRPr>
                    </a:p>
                  </a:txBody>
                  <a:tcPr marL="109728" marR="109728" marT="27432" marB="27432"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250" dirty="0">
                          <a:solidFill>
                            <a:schemeClr val="tx1"/>
                          </a:solidFill>
                        </a:rPr>
                        <a:t>Reviewed educational template, not a finding about this period</a:t>
                      </a:r>
                      <a:endParaRPr lang="en-US" sz="1250" dirty="0"/>
                    </a:p>
                  </a:txBody>
                  <a:tcPr marL="109728" marR="109728" marT="27432" marB="27432" anchor="ctr">
                    <a:lnL w="0" cap="flat" cmpd="sng" algn="ctr">
                      <a:noFill/>
                    </a:lnL>
                    <a:lnR w="0" cap="flat" cmpd="sng" algn="ctr">
                      <a:noFill/>
                    </a:lnR>
                    <a:lnT w="0" cap="flat" cmpd="sng" algn="ctr">
                      <a:noFill/>
                    </a:lnT>
                    <a:lnB w="0" cap="flat" cmpd="sng" algn="ctr">
                      <a:noFill/>
                    </a:lnB>
                    <a:solidFill>
                      <a:schemeClr val="bg1"/>
                    </a:solidFill>
                  </a:tcPr>
                </a:tc>
              </a:tr>
              <a:tr h="457200">
                <a:tc>
                  <a:txBody>
                    <a:bodyPr/>
                    <a:lstStyle/>
                    <a:p>
                      <a:pPr indent="0" marL="0">
                        <a:buNone/>
                      </a:pPr>
                      <a:r>
                        <a:rPr lang="en-US" sz="1200" b="1" dirty="0">
                          <a:solidFill>
                            <a:schemeClr val="accent4"/>
                          </a:solidFill>
                          <a:latin typeface="Consolas" pitchFamily="34" charset="0"/>
                          <a:ea typeface="Consolas" pitchFamily="34" charset="-122"/>
                          <a:cs typeface="Consolas" pitchFamily="34" charset="-120"/>
                        </a:rPr>
                        <a:t>rejected</a:t>
                      </a:r>
                      <a:endParaRPr lang="en-US" sz="1200" dirty="0">
                        <a:latin typeface="Consolas" charset="0"/>
                        <a:ea typeface="Consolas" charset="0"/>
                        <a:cs typeface="Consolas" charset="0"/>
                      </a:endParaRPr>
                    </a:p>
                  </a:txBody>
                  <a:tcPr marL="109728" marR="109728" marT="27432" marB="27432"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250" dirty="0">
                          <a:solidFill>
                            <a:schemeClr val="tx1"/>
                          </a:solidFill>
                        </a:rPr>
                        <a:t>Bad schema, wrong arithmetic or direction, or an altered quote</a:t>
                      </a:r>
                      <a:endParaRPr lang="en-US" sz="1250" dirty="0"/>
                    </a:p>
                  </a:txBody>
                  <a:tcPr marL="109728" marR="109728" marT="27432" marB="27432" anchor="ctr">
                    <a:lnL w="0" cap="flat" cmpd="sng" algn="ctr">
                      <a:noFill/>
                    </a:lnL>
                    <a:lnR w="0" cap="flat" cmpd="sng" algn="ctr">
                      <a:noFill/>
                    </a:lnR>
                    <a:lnT w="0" cap="flat" cmpd="sng" algn="ctr">
                      <a:noFill/>
                    </a:lnT>
                    <a:lnB w="0" cap="flat" cmpd="sng" algn="ctr">
                      <a:noFill/>
                    </a:lnB>
                    <a:solidFill>
                      <a:schemeClr val="bg2"/>
                    </a:solidFill>
                  </a:tcPr>
                </a:tc>
              </a:tr>
              <a:tr h="457200">
                <a:tc>
                  <a:txBody>
                    <a:bodyPr/>
                    <a:lstStyle/>
                    <a:p>
                      <a:pPr indent="0" marL="0">
                        <a:buNone/>
                      </a:pPr>
                      <a:r>
                        <a:rPr lang="en-US" sz="1200" b="1" dirty="0">
                          <a:solidFill>
                            <a:schemeClr val="tx1"/>
                          </a:solidFill>
                          <a:latin typeface="Consolas" pitchFamily="34" charset="0"/>
                          <a:ea typeface="Consolas" pitchFamily="34" charset="-122"/>
                          <a:cs typeface="Consolas" pitchFamily="34" charset="-120"/>
                        </a:rPr>
                        <a:t>insufficient_evidence</a:t>
                      </a:r>
                      <a:endParaRPr lang="en-US" sz="1200" dirty="0">
                        <a:latin typeface="Consolas" charset="0"/>
                        <a:ea typeface="Consolas" charset="0"/>
                        <a:cs typeface="Consolas" charset="0"/>
                      </a:endParaRPr>
                    </a:p>
                  </a:txBody>
                  <a:tcPr marL="109728" marR="109728" marT="27432" marB="27432"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250" dirty="0">
                          <a:solidFill>
                            <a:schemeClr val="tx1"/>
                          </a:solidFill>
                        </a:rPr>
                        <a:t>Missing, conflicting or out-of-scope evidence: claim withheld</a:t>
                      </a:r>
                      <a:endParaRPr lang="en-US" sz="1250" dirty="0"/>
                    </a:p>
                  </a:txBody>
                  <a:tcPr marL="109728" marR="109728" marT="27432" marB="27432" anchor="ctr">
                    <a:lnL w="0" cap="flat" cmpd="sng" algn="ctr">
                      <a:noFill/>
                    </a:lnL>
                    <a:lnR w="0" cap="flat" cmpd="sng" algn="ctr">
                      <a:noFill/>
                    </a:lnR>
                    <a:lnT w="0" cap="flat" cmpd="sng" algn="ctr">
                      <a:noFill/>
                    </a:lnT>
                    <a:lnB w="0" cap="flat" cmpd="sng" algn="ctr">
                      <a:noFill/>
                    </a:lnB>
                    <a:solidFill>
                      <a:schemeClr val="bg1"/>
                    </a:solidFill>
                  </a:tcPr>
                </a:tc>
              </a:tr>
            </a:tbl>
          </a:graphicData>
        </a:graphic>
      </p:graphicFrame>
      <p:sp>
        <p:nvSpPr>
          <p:cNvPr id="39" name="card-740"/>
          <p:cNvSpPr/>
          <p:nvPr/>
        </p:nvSpPr>
        <p:spPr>
          <a:xfrm>
            <a:off x="7772400" y="3200400"/>
            <a:ext cx="3870655" cy="2926080"/>
          </a:xfrm>
          <a:prstGeom prst="roundRect">
            <a:avLst>
              <a:gd name="adj" fmla="val 4375"/>
            </a:avLst>
          </a:prstGeom>
          <a:solidFill>
            <a:schemeClr val="tx1"/>
          </a:solidFill>
          <a:ln/>
        </p:spPr>
      </p:sp>
      <p:sp>
        <p:nvSpPr>
          <p:cNvPr id="40" name="text-741"/>
          <p:cNvSpPr txBox="1"/>
          <p:nvPr/>
        </p:nvSpPr>
        <p:spPr>
          <a:xfrm>
            <a:off x="8028432" y="3364992"/>
            <a:ext cx="3200400" cy="219456"/>
          </a:xfrm>
          <a:prstGeom prst="rect">
            <a:avLst/>
          </a:prstGeom>
          <a:noFill/>
          <a:ln/>
        </p:spPr>
        <p:txBody>
          <a:bodyPr wrap="square" lIns="0" tIns="0" rIns="0" bIns="0" rtlCol="0" anchor="t"/>
          <a:lstStyle/>
          <a:p>
            <a:pPr indent="0" marL="0">
              <a:buNone/>
            </a:pPr>
            <a:r>
              <a:rPr lang="en-US" sz="1100" b="1" spc="200" kern="0" dirty="0">
                <a:solidFill>
                  <a:schemeClr val="accent6"/>
                </a:solidFill>
              </a:rPr>
              <a:t>DESIGN GUARANTEES</a:t>
            </a:r>
            <a:endParaRPr lang="en-US" sz="1100" dirty="0"/>
          </a:p>
        </p:txBody>
      </p:sp>
      <p:sp>
        <p:nvSpPr>
          <p:cNvPr id="41" name="text-742"/>
          <p:cNvSpPr txBox="1"/>
          <p:nvPr/>
        </p:nvSpPr>
        <p:spPr>
          <a:xfrm>
            <a:off x="8028432" y="3657600"/>
            <a:ext cx="3459175" cy="1325880"/>
          </a:xfrm>
          <a:prstGeom prst="rect">
            <a:avLst/>
          </a:prstGeom>
          <a:noFill/>
          <a:ln/>
        </p:spPr>
        <p:txBody>
          <a:bodyPr wrap="square" lIns="0" tIns="0" rIns="0" bIns="0" rtlCol="0" anchor="t"/>
          <a:lstStyle/>
          <a:p>
            <a:pPr indent="0" marL="0">
              <a:spcAft>
                <a:spcPts val="500"/>
              </a:spcAft>
              <a:buNone/>
            </a:pPr>
            <a:r>
              <a:rPr lang="en-US" sz="1250" dirty="0">
                <a:solidFill>
                  <a:schemeClr val="bg1"/>
                </a:solidFill>
              </a:rPr>
              <a:t>Model prose is never rendered as fact</a:t>
            </a:r>
            <a:endParaRPr lang="en-US" sz="1250" dirty="0"/>
          </a:p>
          <a:p>
            <a:pPr indent="0" marL="0">
              <a:spcAft>
                <a:spcPts val="500"/>
              </a:spcAft>
              <a:buNone/>
            </a:pPr>
            <a:r>
              <a:rPr lang="en-US" sz="1250" dirty="0">
                <a:solidFill>
                  <a:schemeClr val="bg1"/>
                </a:solidFill>
              </a:rPr>
              <a:t>Unknown claim types cannot bypass the schema</a:t>
            </a:r>
            <a:endParaRPr lang="en-US" sz="1250" dirty="0"/>
          </a:p>
          <a:p>
            <a:pPr indent="0" marL="0">
              <a:spcAft>
                <a:spcPts val="500"/>
              </a:spcAft>
              <a:buNone/>
            </a:pPr>
            <a:r>
              <a:rPr lang="en-US" sz="1250" dirty="0">
                <a:solidFill>
                  <a:schemeClr val="bg1"/>
                </a:solidFill>
              </a:rPr>
              <a:t>A 6% to 4% move renders as −2 percentage points</a:t>
            </a:r>
            <a:endParaRPr lang="en-US" sz="1250" dirty="0"/>
          </a:p>
          <a:p>
            <a:pPr indent="0" marL="0">
              <a:spcAft>
                <a:spcPts val="500"/>
              </a:spcAft>
              <a:buNone/>
            </a:pPr>
            <a:r>
              <a:rPr lang="en-US" sz="1250" dirty="0">
                <a:solidFill>
                  <a:schemeClr val="bg1"/>
                </a:solidFill>
              </a:rPr>
              <a:t>Retrieval time never changes evidence identity</a:t>
            </a:r>
            <a:endParaRPr lang="en-US" sz="1250" dirty="0"/>
          </a:p>
        </p:txBody>
      </p:sp>
      <p:sp>
        <p:nvSpPr>
          <p:cNvPr id="42" name="card-743"/>
          <p:cNvSpPr/>
          <p:nvPr/>
        </p:nvSpPr>
        <p:spPr>
          <a:xfrm>
            <a:off x="8028432" y="4937760"/>
            <a:ext cx="1463040" cy="256032"/>
          </a:xfrm>
          <a:prstGeom prst="roundRect">
            <a:avLst>
              <a:gd name="adj" fmla="val 50000"/>
            </a:avLst>
          </a:prstGeom>
          <a:solidFill>
            <a:schemeClr val="accent2"/>
          </a:solidFill>
          <a:ln/>
        </p:spPr>
      </p:sp>
      <p:sp>
        <p:nvSpPr>
          <p:cNvPr id="43" name="text-744"/>
          <p:cNvSpPr txBox="1"/>
          <p:nvPr/>
        </p:nvSpPr>
        <p:spPr>
          <a:xfrm>
            <a:off x="8028432" y="4937760"/>
            <a:ext cx="1463040" cy="256032"/>
          </a:xfrm>
          <a:prstGeom prst="rect">
            <a:avLst/>
          </a:prstGeom>
          <a:noFill/>
          <a:ln/>
        </p:spPr>
        <p:txBody>
          <a:bodyPr wrap="square" lIns="0" tIns="0" rIns="0" bIns="0" rtlCol="0" anchor="ctr"/>
          <a:lstStyle/>
          <a:p>
            <a:pPr algn="ctr" indent="0" marL="0">
              <a:buNone/>
            </a:pPr>
            <a:r>
              <a:rPr lang="en-US" sz="1000" b="1" spc="50" kern="0" dirty="0">
                <a:solidFill>
                  <a:schemeClr val="tx1"/>
                </a:solidFill>
              </a:rPr>
              <a:t>TESTED MODULE</a:t>
            </a:r>
            <a:endParaRPr lang="en-US" sz="1000" dirty="0"/>
          </a:p>
        </p:txBody>
      </p:sp>
      <p:sp>
        <p:nvSpPr>
          <p:cNvPr id="44" name="text-745"/>
          <p:cNvSpPr txBox="1"/>
          <p:nvPr/>
        </p:nvSpPr>
        <p:spPr>
          <a:xfrm>
            <a:off x="8028432" y="5285232"/>
            <a:ext cx="3504895" cy="548640"/>
          </a:xfrm>
          <a:prstGeom prst="rect">
            <a:avLst/>
          </a:prstGeom>
          <a:noFill/>
          <a:ln/>
        </p:spPr>
        <p:txBody>
          <a:bodyPr wrap="square" lIns="0" tIns="0" rIns="0" bIns="0" rtlCol="0" anchor="t"/>
          <a:lstStyle/>
          <a:p>
            <a:pPr indent="0" marL="0">
              <a:buNone/>
            </a:pPr>
            <a:r>
              <a:rPr lang="en-US" sz="1200" dirty="0">
                <a:solidFill>
                  <a:schemeClr val="bg1">
                    <a:alpha val="80000"/>
                  </a:schemeClr>
                </a:solidFill>
              </a:rPr>
              <a:t>Focused tests cover arithmetic, scope checks,</a:t>
            </a:r>
            <a:endParaRPr lang="en-US" sz="1200" dirty="0"/>
          </a:p>
          <a:p>
            <a:pPr indent="0" marL="0">
              <a:buNone/>
            </a:pPr>
            <a:r>
              <a:rPr lang="en-US" sz="1200" dirty="0">
                <a:solidFill>
                  <a:schemeClr val="bg1">
                    <a:alpha val="80000"/>
                  </a:schemeClr>
                </a:solidFill>
              </a:rPr>
              <a:t>negated quotes and exact audit replay.</a:t>
            </a:r>
            <a:endParaRPr lang="en-US" sz="1200" dirty="0"/>
          </a:p>
        </p:txBody>
      </p:sp>
      <p:sp>
        <p:nvSpPr>
          <p:cNvPr id="25" name="Slide Number Placeholder 0"/>
          <p:cNvSpPr>
            <a:spLocks noGrp="1"/>
          </p:cNvSpPr>
          <p:nvPr>
            <p:ph type="sldNum" sz="quarter" idx="4294967295"/>
          </p:nvPr>
        </p:nvSpPr>
        <p:spPr>
          <a:xfrm>
            <a:off x="11091672" y="6446520"/>
            <a:ext cx="548640" cy="22860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51607A"/>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ctr"/>
          <a:lstStyle/>
          <a:p>
            <a:pPr indent="0" marL="0">
              <a:buNone/>
            </a:pPr>
            <a:r>
              <a:rPr lang="en-US" sz="1200" b="1" spc="200" kern="0" dirty="0">
                <a:solidFill>
                  <a:schemeClr val="accent6"/>
                </a:solidFill>
              </a:rPr>
              <a:t>PRODUCT SHOWCASE</a:t>
            </a:r>
            <a:endParaRPr lang="en-US" sz="1200" dirty="0"/>
          </a:p>
        </p:txBody>
      </p:sp>
      <p:sp>
        <p:nvSpPr>
          <p:cNvPr id="3" name="Text 0"/>
          <p:cNvSpPr/>
          <p:nvPr>
            <p:ph idx="101" type="title" hasCustomPrompt="1"/>
          </p:nvPr>
        </p:nvSpPr>
        <p:spPr>
          <a:xfrm>
            <a:off x="548640" y="676656"/>
            <a:ext cx="11094415" cy="713232"/>
          </a:xfrm>
          <a:prstGeom prst="rect">
            <a:avLst/>
          </a:prstGeom>
          <a:noFill/>
          <a:ln/>
        </p:spPr>
        <p:txBody>
          <a:bodyPr wrap="square" lIns="0" tIns="0" rIns="0" bIns="0" rtlCol="0" anchor="t"/>
          <a:lstStyle/>
          <a:p>
            <a:pPr algn="l" indent="0" marL="0">
              <a:buNone/>
            </a:pPr>
            <a:r>
              <a:rPr lang="en-US" sz="3600" b="1" dirty="0">
                <a:solidFill>
                  <a:schemeClr val="bg1"/>
                </a:solidFill>
              </a:rPr>
              <a:t>A working product, not a notebook</a:t>
            </a:r>
            <a:endParaRPr lang="en-US" sz="3600" dirty="0"/>
          </a:p>
        </p:txBody>
      </p:sp>
      <p:sp>
        <p:nvSpPr>
          <p:cNvPr id="4" name="card-746"/>
          <p:cNvSpPr/>
          <p:nvPr/>
        </p:nvSpPr>
        <p:spPr>
          <a:xfrm>
            <a:off x="548640" y="1600200"/>
            <a:ext cx="3520440" cy="2982951"/>
          </a:xfrm>
          <a:prstGeom prst="roundRect">
            <a:avLst>
              <a:gd name="adj" fmla="val 2759"/>
            </a:avLst>
          </a:prstGeom>
          <a:solidFill>
            <a:schemeClr val="accent5"/>
          </a:solidFill>
          <a:ln w="9525">
            <a:solidFill>
              <a:schemeClr val="accent6">
                <a:alpha val="35000"/>
              </a:schemeClr>
            </a:solidFill>
            <a:prstDash val="solid"/>
          </a:ln>
        </p:spPr>
      </p:sp>
      <p:sp>
        <p:nvSpPr>
          <p:cNvPr id="5" name="dot-747"/>
          <p:cNvSpPr/>
          <p:nvPr/>
        </p:nvSpPr>
        <p:spPr>
          <a:xfrm>
            <a:off x="676656" y="1687068"/>
            <a:ext cx="77724" cy="77724"/>
          </a:xfrm>
          <a:prstGeom prst="ellipse">
            <a:avLst/>
          </a:prstGeom>
          <a:solidFill>
            <a:schemeClr val="accent4"/>
          </a:solidFill>
          <a:ln/>
        </p:spPr>
      </p:sp>
      <p:sp>
        <p:nvSpPr>
          <p:cNvPr id="6" name="dot-748"/>
          <p:cNvSpPr/>
          <p:nvPr/>
        </p:nvSpPr>
        <p:spPr>
          <a:xfrm>
            <a:off x="813816" y="1687068"/>
            <a:ext cx="77724" cy="77724"/>
          </a:xfrm>
          <a:prstGeom prst="ellipse">
            <a:avLst/>
          </a:prstGeom>
          <a:solidFill>
            <a:schemeClr val="accent2"/>
          </a:solidFill>
          <a:ln/>
        </p:spPr>
      </p:sp>
      <p:sp>
        <p:nvSpPr>
          <p:cNvPr id="7" name="dot-749"/>
          <p:cNvSpPr/>
          <p:nvPr/>
        </p:nvSpPr>
        <p:spPr>
          <a:xfrm>
            <a:off x="950976" y="1687068"/>
            <a:ext cx="77724" cy="77724"/>
          </a:xfrm>
          <a:prstGeom prst="ellipse">
            <a:avLst/>
          </a:prstGeom>
          <a:solidFill>
            <a:schemeClr val="accent3"/>
          </a:solidFill>
          <a:ln/>
        </p:spPr>
      </p:sp>
      <p:sp>
        <p:nvSpPr>
          <p:cNvPr id="8" name="text-750"/>
          <p:cNvSpPr txBox="1"/>
          <p:nvPr/>
        </p:nvSpPr>
        <p:spPr>
          <a:xfrm>
            <a:off x="1115568" y="1632204"/>
            <a:ext cx="2788920" cy="182880"/>
          </a:xfrm>
          <a:prstGeom prst="rect">
            <a:avLst/>
          </a:prstGeom>
          <a:noFill/>
          <a:ln/>
        </p:spPr>
        <p:txBody>
          <a:bodyPr wrap="square" lIns="0" tIns="0" rIns="0" bIns="0" rtlCol="0" anchor="ctr"/>
          <a:lstStyle/>
          <a:p>
            <a:pPr indent="0" marL="0">
              <a:buNone/>
            </a:pPr>
            <a:r>
              <a:rPr lang="en-US" sz="950" dirty="0">
                <a:solidFill>
                  <a:schemeClr val="bg1">
                    <a:alpha val="60000"/>
                  </a:schemeClr>
                </a:solidFill>
              </a:rPr>
              <a:t>Dashboard  ·  All sectors</a:t>
            </a:r>
            <a:endParaRPr lang="en-US" sz="950" dirty="0"/>
          </a:p>
        </p:txBody>
      </p:sp>
      <p:pic>
        <p:nvPicPr>
          <p:cNvPr id="9" name="screenshot-751" descr="Cross-sector dashboard with ticker and early-warning brief">    </p:cNvPr>
          <p:cNvPicPr>
            <a:picLocks noChangeAspect="1"/>
          </p:cNvPicPr>
          <p:nvPr/>
        </p:nvPicPr>
        <p:blipFill>
          <a:blip r:embed="rId1"/>
          <a:stretch>
            <a:fillRect/>
          </a:stretch>
        </p:blipFill>
        <p:spPr>
          <a:xfrm>
            <a:off x="603504" y="1847088"/>
            <a:ext cx="3410712" cy="2681199"/>
          </a:xfrm>
          <a:prstGeom prst="rect">
            <a:avLst/>
          </a:prstGeom>
        </p:spPr>
      </p:pic>
      <p:sp>
        <p:nvSpPr>
          <p:cNvPr id="10" name="text-752"/>
          <p:cNvSpPr txBox="1"/>
          <p:nvPr/>
        </p:nvSpPr>
        <p:spPr>
          <a:xfrm>
            <a:off x="548640" y="4766031"/>
            <a:ext cx="3520440" cy="292608"/>
          </a:xfrm>
          <a:prstGeom prst="rect">
            <a:avLst/>
          </a:prstGeom>
          <a:noFill/>
          <a:ln/>
        </p:spPr>
        <p:txBody>
          <a:bodyPr wrap="square" lIns="0" tIns="0" rIns="0" bIns="0" rtlCol="0" anchor="t"/>
          <a:lstStyle/>
          <a:p>
            <a:pPr indent="0" marL="0">
              <a:buNone/>
            </a:pPr>
            <a:r>
              <a:rPr lang="en-US" sz="1550" b="1" dirty="0">
                <a:solidFill>
                  <a:schemeClr val="bg1"/>
                </a:solidFill>
              </a:rPr>
              <a:t>Cross-sector dashboard</a:t>
            </a:r>
            <a:endParaRPr lang="en-US" sz="1550" dirty="0"/>
          </a:p>
        </p:txBody>
      </p:sp>
      <p:sp>
        <p:nvSpPr>
          <p:cNvPr id="11" name="text-753"/>
          <p:cNvSpPr txBox="1"/>
          <p:nvPr/>
        </p:nvSpPr>
        <p:spPr>
          <a:xfrm>
            <a:off x="548640" y="5067783"/>
            <a:ext cx="3520440" cy="566928"/>
          </a:xfrm>
          <a:prstGeom prst="rect">
            <a:avLst/>
          </a:prstGeom>
          <a:noFill/>
          <a:ln/>
        </p:spPr>
        <p:txBody>
          <a:bodyPr wrap="square" lIns="0" tIns="0" rIns="0" bIns="0" rtlCol="0" anchor="t"/>
          <a:lstStyle/>
          <a:p>
            <a:pPr indent="0" marL="0">
              <a:buNone/>
            </a:pPr>
            <a:r>
              <a:rPr lang="en-US" sz="1250" dirty="0">
                <a:solidFill>
                  <a:schemeClr val="bg1">
                    <a:alpha val="78000"/>
                  </a:schemeClr>
                </a:solidFill>
              </a:rPr>
              <a:t>Live ticker, early-warning brief and sector tabs; KPIs carry their table and period.</a:t>
            </a:r>
            <a:endParaRPr lang="en-US" sz="1250" dirty="0"/>
          </a:p>
        </p:txBody>
      </p:sp>
      <p:sp>
        <p:nvSpPr>
          <p:cNvPr id="12" name="card-754"/>
          <p:cNvSpPr/>
          <p:nvPr/>
        </p:nvSpPr>
        <p:spPr>
          <a:xfrm>
            <a:off x="4335628" y="1600200"/>
            <a:ext cx="3520440" cy="2982951"/>
          </a:xfrm>
          <a:prstGeom prst="roundRect">
            <a:avLst>
              <a:gd name="adj" fmla="val 2759"/>
            </a:avLst>
          </a:prstGeom>
          <a:solidFill>
            <a:schemeClr val="accent5"/>
          </a:solidFill>
          <a:ln w="9525">
            <a:solidFill>
              <a:schemeClr val="accent6">
                <a:alpha val="35000"/>
              </a:schemeClr>
            </a:solidFill>
            <a:prstDash val="solid"/>
          </a:ln>
        </p:spPr>
      </p:sp>
      <p:sp>
        <p:nvSpPr>
          <p:cNvPr id="13" name="dot-755"/>
          <p:cNvSpPr/>
          <p:nvPr/>
        </p:nvSpPr>
        <p:spPr>
          <a:xfrm>
            <a:off x="4463644" y="1687068"/>
            <a:ext cx="77724" cy="77724"/>
          </a:xfrm>
          <a:prstGeom prst="ellipse">
            <a:avLst/>
          </a:prstGeom>
          <a:solidFill>
            <a:schemeClr val="accent4"/>
          </a:solidFill>
          <a:ln/>
        </p:spPr>
      </p:sp>
      <p:sp>
        <p:nvSpPr>
          <p:cNvPr id="14" name="dot-756"/>
          <p:cNvSpPr/>
          <p:nvPr/>
        </p:nvSpPr>
        <p:spPr>
          <a:xfrm>
            <a:off x="4600804" y="1687068"/>
            <a:ext cx="77724" cy="77724"/>
          </a:xfrm>
          <a:prstGeom prst="ellipse">
            <a:avLst/>
          </a:prstGeom>
          <a:solidFill>
            <a:schemeClr val="accent2"/>
          </a:solidFill>
          <a:ln/>
        </p:spPr>
      </p:sp>
      <p:sp>
        <p:nvSpPr>
          <p:cNvPr id="15" name="dot-757"/>
          <p:cNvSpPr/>
          <p:nvPr/>
        </p:nvSpPr>
        <p:spPr>
          <a:xfrm>
            <a:off x="4737964" y="1687068"/>
            <a:ext cx="77724" cy="77724"/>
          </a:xfrm>
          <a:prstGeom prst="ellipse">
            <a:avLst/>
          </a:prstGeom>
          <a:solidFill>
            <a:schemeClr val="accent3"/>
          </a:solidFill>
          <a:ln/>
        </p:spPr>
      </p:sp>
      <p:sp>
        <p:nvSpPr>
          <p:cNvPr id="16" name="text-758"/>
          <p:cNvSpPr txBox="1"/>
          <p:nvPr/>
        </p:nvSpPr>
        <p:spPr>
          <a:xfrm>
            <a:off x="4902556" y="1632204"/>
            <a:ext cx="2788920" cy="182880"/>
          </a:xfrm>
          <a:prstGeom prst="rect">
            <a:avLst/>
          </a:prstGeom>
          <a:noFill/>
          <a:ln/>
        </p:spPr>
        <p:txBody>
          <a:bodyPr wrap="square" lIns="0" tIns="0" rIns="0" bIns="0" rtlCol="0" anchor="ctr"/>
          <a:lstStyle/>
          <a:p>
            <a:pPr indent="0" marL="0">
              <a:buNone/>
            </a:pPr>
            <a:r>
              <a:rPr lang="en-US" sz="950" dirty="0">
                <a:solidFill>
                  <a:schemeClr val="bg1">
                    <a:alpha val="60000"/>
                  </a:schemeClr>
                </a:solidFill>
              </a:rPr>
              <a:t>Dashboard  ·  Finance &amp; banking</a:t>
            </a:r>
            <a:endParaRPr lang="en-US" sz="950" dirty="0"/>
          </a:p>
        </p:txBody>
      </p:sp>
      <p:pic>
        <p:nvPicPr>
          <p:cNvPr id="17" name="screenshot-759" descr="Finance and banking tab with RBI DBIE indicators">    </p:cNvPr>
          <p:cNvPicPr>
            <a:picLocks noChangeAspect="1"/>
          </p:cNvPicPr>
          <p:nvPr/>
        </p:nvPicPr>
        <p:blipFill>
          <a:blip r:embed="rId2"/>
          <a:stretch>
            <a:fillRect/>
          </a:stretch>
        </p:blipFill>
        <p:spPr>
          <a:xfrm>
            <a:off x="4390492" y="1847088"/>
            <a:ext cx="3410712" cy="2681199"/>
          </a:xfrm>
          <a:prstGeom prst="rect">
            <a:avLst/>
          </a:prstGeom>
        </p:spPr>
      </p:pic>
      <p:sp>
        <p:nvSpPr>
          <p:cNvPr id="18" name="text-760"/>
          <p:cNvSpPr txBox="1"/>
          <p:nvPr/>
        </p:nvSpPr>
        <p:spPr>
          <a:xfrm>
            <a:off x="4335628" y="4766031"/>
            <a:ext cx="3520440" cy="292608"/>
          </a:xfrm>
          <a:prstGeom prst="rect">
            <a:avLst/>
          </a:prstGeom>
          <a:noFill/>
          <a:ln/>
        </p:spPr>
        <p:txBody>
          <a:bodyPr wrap="square" lIns="0" tIns="0" rIns="0" bIns="0" rtlCol="0" anchor="t"/>
          <a:lstStyle/>
          <a:p>
            <a:pPr indent="0" marL="0">
              <a:buNone/>
            </a:pPr>
            <a:r>
              <a:rPr lang="en-US" sz="1550" b="1" dirty="0">
                <a:solidFill>
                  <a:schemeClr val="bg1"/>
                </a:solidFill>
              </a:rPr>
              <a:t>Finance and banking</a:t>
            </a:r>
            <a:endParaRPr lang="en-US" sz="1550" dirty="0"/>
          </a:p>
        </p:txBody>
      </p:sp>
      <p:sp>
        <p:nvSpPr>
          <p:cNvPr id="19" name="text-761"/>
          <p:cNvSpPr txBox="1"/>
          <p:nvPr/>
        </p:nvSpPr>
        <p:spPr>
          <a:xfrm>
            <a:off x="4335628" y="5067783"/>
            <a:ext cx="3520440" cy="566928"/>
          </a:xfrm>
          <a:prstGeom prst="rect">
            <a:avLst/>
          </a:prstGeom>
          <a:noFill/>
          <a:ln/>
        </p:spPr>
        <p:txBody>
          <a:bodyPr wrap="square" lIns="0" tIns="0" rIns="0" bIns="0" rtlCol="0" anchor="t"/>
          <a:lstStyle/>
          <a:p>
            <a:pPr indent="0" marL="0">
              <a:buNone/>
            </a:pPr>
            <a:r>
              <a:rPr lang="en-US" sz="1250" dirty="0">
                <a:solidFill>
                  <a:schemeClr val="bg1">
                    <a:alpha val="78000"/>
                  </a:schemeClr>
                </a:solidFill>
              </a:rPr>
              <a:t>Credit, asset quality and capital gauges from RBI DBIE tables r539, r330, r531 and r689.</a:t>
            </a:r>
            <a:endParaRPr lang="en-US" sz="1250" dirty="0"/>
          </a:p>
        </p:txBody>
      </p:sp>
      <p:sp>
        <p:nvSpPr>
          <p:cNvPr id="20" name="card-762"/>
          <p:cNvSpPr/>
          <p:nvPr/>
        </p:nvSpPr>
        <p:spPr>
          <a:xfrm>
            <a:off x="8122615" y="1600200"/>
            <a:ext cx="3520440" cy="2982951"/>
          </a:xfrm>
          <a:prstGeom prst="roundRect">
            <a:avLst>
              <a:gd name="adj" fmla="val 2759"/>
            </a:avLst>
          </a:prstGeom>
          <a:solidFill>
            <a:schemeClr val="accent5"/>
          </a:solidFill>
          <a:ln w="9525">
            <a:solidFill>
              <a:schemeClr val="accent6">
                <a:alpha val="35000"/>
              </a:schemeClr>
            </a:solidFill>
            <a:prstDash val="solid"/>
          </a:ln>
        </p:spPr>
      </p:sp>
      <p:sp>
        <p:nvSpPr>
          <p:cNvPr id="21" name="dot-763"/>
          <p:cNvSpPr/>
          <p:nvPr/>
        </p:nvSpPr>
        <p:spPr>
          <a:xfrm>
            <a:off x="8250631" y="1687068"/>
            <a:ext cx="77724" cy="77724"/>
          </a:xfrm>
          <a:prstGeom prst="ellipse">
            <a:avLst/>
          </a:prstGeom>
          <a:solidFill>
            <a:schemeClr val="accent4"/>
          </a:solidFill>
          <a:ln/>
        </p:spPr>
      </p:sp>
      <p:sp>
        <p:nvSpPr>
          <p:cNvPr id="22" name="dot-764"/>
          <p:cNvSpPr/>
          <p:nvPr/>
        </p:nvSpPr>
        <p:spPr>
          <a:xfrm>
            <a:off x="8387791" y="1687068"/>
            <a:ext cx="77724" cy="77724"/>
          </a:xfrm>
          <a:prstGeom prst="ellipse">
            <a:avLst/>
          </a:prstGeom>
          <a:solidFill>
            <a:schemeClr val="accent2"/>
          </a:solidFill>
          <a:ln/>
        </p:spPr>
      </p:sp>
      <p:sp>
        <p:nvSpPr>
          <p:cNvPr id="23" name="dot-765"/>
          <p:cNvSpPr/>
          <p:nvPr/>
        </p:nvSpPr>
        <p:spPr>
          <a:xfrm>
            <a:off x="8524951" y="1687068"/>
            <a:ext cx="77724" cy="77724"/>
          </a:xfrm>
          <a:prstGeom prst="ellipse">
            <a:avLst/>
          </a:prstGeom>
          <a:solidFill>
            <a:schemeClr val="accent3"/>
          </a:solidFill>
          <a:ln/>
        </p:spPr>
      </p:sp>
      <p:sp>
        <p:nvSpPr>
          <p:cNvPr id="24" name="text-766"/>
          <p:cNvSpPr txBox="1"/>
          <p:nvPr/>
        </p:nvSpPr>
        <p:spPr>
          <a:xfrm>
            <a:off x="8689543" y="1632204"/>
            <a:ext cx="2788920" cy="182880"/>
          </a:xfrm>
          <a:prstGeom prst="rect">
            <a:avLst/>
          </a:prstGeom>
          <a:noFill/>
          <a:ln/>
        </p:spPr>
        <p:txBody>
          <a:bodyPr wrap="square" lIns="0" tIns="0" rIns="0" bIns="0" rtlCol="0" anchor="ctr"/>
          <a:lstStyle/>
          <a:p>
            <a:pPr indent="0" marL="0">
              <a:buNone/>
            </a:pPr>
            <a:r>
              <a:rPr lang="en-US" sz="950" dirty="0">
                <a:solidFill>
                  <a:schemeClr val="bg1">
                    <a:alpha val="60000"/>
                  </a:schemeClr>
                </a:solidFill>
              </a:rPr>
              <a:t>A2A agent registry</a:t>
            </a:r>
            <a:endParaRPr lang="en-US" sz="950" dirty="0"/>
          </a:p>
        </p:txBody>
      </p:sp>
      <p:pic>
        <p:nvPicPr>
          <p:cNvPr id="25" name="screenshot-767" descr="A2A registry listing sector Agent Cards">    </p:cNvPr>
          <p:cNvPicPr>
            <a:picLocks noChangeAspect="1"/>
          </p:cNvPicPr>
          <p:nvPr/>
        </p:nvPicPr>
        <p:blipFill>
          <a:blip r:embed="rId3"/>
          <a:stretch>
            <a:fillRect/>
          </a:stretch>
        </p:blipFill>
        <p:spPr>
          <a:xfrm>
            <a:off x="8177479" y="1847088"/>
            <a:ext cx="3410712" cy="2681199"/>
          </a:xfrm>
          <a:prstGeom prst="rect">
            <a:avLst/>
          </a:prstGeom>
        </p:spPr>
      </p:pic>
      <p:sp>
        <p:nvSpPr>
          <p:cNvPr id="26" name="text-768"/>
          <p:cNvSpPr txBox="1"/>
          <p:nvPr/>
        </p:nvSpPr>
        <p:spPr>
          <a:xfrm>
            <a:off x="8122615" y="4766031"/>
            <a:ext cx="3520440" cy="292608"/>
          </a:xfrm>
          <a:prstGeom prst="rect">
            <a:avLst/>
          </a:prstGeom>
          <a:noFill/>
          <a:ln/>
        </p:spPr>
        <p:txBody>
          <a:bodyPr wrap="square" lIns="0" tIns="0" rIns="0" bIns="0" rtlCol="0" anchor="t"/>
          <a:lstStyle/>
          <a:p>
            <a:pPr indent="0" marL="0">
              <a:buNone/>
            </a:pPr>
            <a:r>
              <a:rPr lang="en-US" sz="1550" b="1" dirty="0">
                <a:solidFill>
                  <a:schemeClr val="bg1"/>
                </a:solidFill>
              </a:rPr>
              <a:t>A2A agent registry</a:t>
            </a:r>
            <a:endParaRPr lang="en-US" sz="1550" dirty="0"/>
          </a:p>
        </p:txBody>
      </p:sp>
      <p:sp>
        <p:nvSpPr>
          <p:cNvPr id="27" name="text-769"/>
          <p:cNvSpPr txBox="1"/>
          <p:nvPr/>
        </p:nvSpPr>
        <p:spPr>
          <a:xfrm>
            <a:off x="8122615" y="5067783"/>
            <a:ext cx="3520440" cy="566928"/>
          </a:xfrm>
          <a:prstGeom prst="rect">
            <a:avLst/>
          </a:prstGeom>
          <a:noFill/>
          <a:ln/>
        </p:spPr>
        <p:txBody>
          <a:bodyPr wrap="square" lIns="0" tIns="0" rIns="0" bIns="0" rtlCol="0" anchor="t"/>
          <a:lstStyle/>
          <a:p>
            <a:pPr indent="0" marL="0">
              <a:buNone/>
            </a:pPr>
            <a:r>
              <a:rPr lang="en-US" sz="1250" dirty="0">
                <a:solidFill>
                  <a:schemeClr val="bg1">
                    <a:alpha val="78000"/>
                  </a:schemeClr>
                </a:solidFill>
              </a:rPr>
              <a:t>Agent Cards with skills, A2A tasks and the declared peer edges between sectors.</a:t>
            </a:r>
            <a:endParaRPr lang="en-US" sz="1250" dirty="0"/>
          </a:p>
        </p:txBody>
      </p:sp>
      <p:sp>
        <p:nvSpPr>
          <p:cNvPr id="28" name="card-770"/>
          <p:cNvSpPr/>
          <p:nvPr/>
        </p:nvSpPr>
        <p:spPr>
          <a:xfrm>
            <a:off x="548640" y="5779008"/>
            <a:ext cx="11094415" cy="402336"/>
          </a:xfrm>
          <a:prstGeom prst="roundRect">
            <a:avLst>
              <a:gd name="adj" fmla="val 50000"/>
            </a:avLst>
          </a:prstGeom>
          <a:solidFill>
            <a:schemeClr val="accent5"/>
          </a:solidFill>
          <a:ln/>
        </p:spPr>
      </p:sp>
      <p:sp>
        <p:nvSpPr>
          <p:cNvPr id="29" name="text-771"/>
          <p:cNvSpPr txBox="1"/>
          <p:nvPr/>
        </p:nvSpPr>
        <p:spPr>
          <a:xfrm>
            <a:off x="822960" y="5779008"/>
            <a:ext cx="10545775" cy="402336"/>
          </a:xfrm>
          <a:prstGeom prst="rect">
            <a:avLst/>
          </a:prstGeom>
          <a:noFill/>
          <a:ln/>
        </p:spPr>
        <p:txBody>
          <a:bodyPr wrap="square" lIns="0" tIns="0" rIns="0" bIns="0" rtlCol="0" anchor="ctr"/>
          <a:lstStyle/>
          <a:p>
            <a:pPr indent="0" marL="0">
              <a:buNone/>
            </a:pPr>
            <a:r>
              <a:rPr lang="en-US" sz="1200" b="1" spc="150" kern="0" dirty="0">
                <a:solidFill>
                  <a:schemeClr val="accent6"/>
                </a:solidFill>
              </a:rPr>
              <a:t>ALSO IN THE APP   </a:t>
            </a:r>
            <a:pPr indent="0" marL="0">
              <a:buNone/>
            </a:pPr>
            <a:r>
              <a:rPr lang="en-US" sz="1200" dirty="0">
                <a:solidFill>
                  <a:schemeClr val="bg1">
                    <a:alpha val="85000"/>
                  </a:schemeClr>
                </a:solidFill>
              </a:rPr>
              <a:t>Streaming chat with a live A2A trace  ·  Evidence drawer  ·  Knowledge-graph explorer  ·  Google sign-in  ·  Command palette</a:t>
            </a:r>
            <a:endParaRPr lang="en-US" sz="1200" dirty="0"/>
          </a:p>
        </p:txBody>
      </p:sp>
      <p:sp>
        <p:nvSpPr>
          <p:cNvPr id="25" name="Slide Number Placeholder 0"/>
          <p:cNvSpPr>
            <a:spLocks noGrp="1"/>
          </p:cNvSpPr>
          <p:nvPr>
            <p:ph type="sldNum" sz="quarter" idx="4294967295"/>
          </p:nvPr>
        </p:nvSpPr>
        <p:spPr>
          <a:xfrm>
            <a:off x="11091672" y="6446520"/>
            <a:ext cx="548640" cy="22860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FFFFFF"/>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ctr"/>
          <a:lstStyle/>
          <a:p>
            <a:pPr indent="0" marL="0">
              <a:buNone/>
            </a:pPr>
            <a:r>
              <a:rPr lang="en-US" sz="1200" b="1" spc="200" kern="0" dirty="0">
                <a:solidFill>
                  <a:schemeClr val="accent1"/>
                </a:solidFill>
              </a:rPr>
              <a:t>RESULTS</a:t>
            </a:r>
            <a:endParaRPr lang="en-US" sz="1200" dirty="0"/>
          </a:p>
        </p:txBody>
      </p:sp>
      <p:sp>
        <p:nvSpPr>
          <p:cNvPr id="3" name="Text 0"/>
          <p:cNvSpPr/>
          <p:nvPr>
            <p:ph idx="101" type="title" hasCustomPrompt="1"/>
          </p:nvPr>
        </p:nvSpPr>
        <p:spPr>
          <a:xfrm>
            <a:off x="548640" y="676656"/>
            <a:ext cx="11094415" cy="713232"/>
          </a:xfrm>
          <a:prstGeom prst="rect">
            <a:avLst/>
          </a:prstGeom>
          <a:noFill/>
          <a:ln/>
        </p:spPr>
        <p:txBody>
          <a:bodyPr wrap="square" lIns="0" tIns="0" rIns="0" bIns="0" rtlCol="0" anchor="t"/>
          <a:lstStyle/>
          <a:p>
            <a:pPr algn="l" indent="0" marL="0">
              <a:buNone/>
            </a:pPr>
            <a:r>
              <a:rPr lang="en-US" sz="3600" b="1" dirty="0">
                <a:solidFill>
                  <a:schemeClr val="tx1"/>
                </a:solidFill>
              </a:rPr>
              <a:t>What the measurements show</a:t>
            </a:r>
            <a:endParaRPr lang="en-US" sz="3600" dirty="0"/>
          </a:p>
        </p:txBody>
      </p:sp>
      <p:sp>
        <p:nvSpPr>
          <p:cNvPr id="4" name="card-772"/>
          <p:cNvSpPr/>
          <p:nvPr/>
        </p:nvSpPr>
        <p:spPr>
          <a:xfrm>
            <a:off x="548640" y="1600200"/>
            <a:ext cx="2715768" cy="2148840"/>
          </a:xfrm>
          <a:prstGeom prst="roundRect">
            <a:avLst>
              <a:gd name="adj" fmla="val 5106"/>
            </a:avLst>
          </a:prstGeom>
          <a:solidFill>
            <a:schemeClr val="bg2"/>
          </a:solidFill>
          <a:ln/>
        </p:spPr>
      </p:sp>
      <p:sp>
        <p:nvSpPr>
          <p:cNvPr id="5" name="text-773"/>
          <p:cNvSpPr txBox="1"/>
          <p:nvPr/>
        </p:nvSpPr>
        <p:spPr>
          <a:xfrm>
            <a:off x="777240" y="1783080"/>
            <a:ext cx="2350008" cy="685800"/>
          </a:xfrm>
          <a:prstGeom prst="rect">
            <a:avLst/>
          </a:prstGeom>
          <a:noFill/>
          <a:ln/>
        </p:spPr>
        <p:txBody>
          <a:bodyPr wrap="square" lIns="0" tIns="0" rIns="0" bIns="0" rtlCol="0" anchor="ctr"/>
          <a:lstStyle/>
          <a:p>
            <a:pPr indent="0" marL="0">
              <a:buNone/>
            </a:pPr>
            <a:r>
              <a:rPr lang="en-US" sz="4000" b="1" dirty="0">
                <a:solidFill>
                  <a:schemeClr val="tx1"/>
                </a:solidFill>
                <a:latin typeface="+mj-lt" pitchFamily="34" charset="0"/>
                <a:ea typeface="+mj-lt" pitchFamily="34" charset="-122"/>
                <a:cs typeface="+mj-lt" pitchFamily="34" charset="-120"/>
              </a:rPr>
              <a:t>550 / 551</a:t>
            </a:r>
            <a:endParaRPr lang="en-US" sz="4000" dirty="0"/>
          </a:p>
        </p:txBody>
      </p:sp>
      <p:sp>
        <p:nvSpPr>
          <p:cNvPr id="6" name="text-774"/>
          <p:cNvSpPr txBox="1"/>
          <p:nvPr/>
        </p:nvSpPr>
        <p:spPr>
          <a:xfrm>
            <a:off x="777240" y="2514600"/>
            <a:ext cx="2350008" cy="777240"/>
          </a:xfrm>
          <a:prstGeom prst="rect">
            <a:avLst/>
          </a:prstGeom>
          <a:noFill/>
          <a:ln/>
        </p:spPr>
        <p:txBody>
          <a:bodyPr wrap="square" lIns="0" tIns="0" rIns="0" bIns="0" rtlCol="0" anchor="t"/>
          <a:lstStyle/>
          <a:p>
            <a:pPr indent="0" marL="0">
              <a:buNone/>
            </a:pPr>
            <a:r>
              <a:rPr lang="en-US" sz="1300" dirty="0">
                <a:solidFill>
                  <a:schemeClr val="tx1"/>
                </a:solidFill>
              </a:rPr>
              <a:t>test cases passed across all ten</a:t>
            </a:r>
            <a:endParaRPr lang="en-US" sz="1300" dirty="0"/>
          </a:p>
          <a:p>
            <a:pPr indent="0" marL="0">
              <a:buNone/>
            </a:pPr>
            <a:r>
              <a:rPr lang="en-US" sz="1300" dirty="0">
                <a:solidFill>
                  <a:schemeClr val="tx1"/>
                </a:solidFill>
              </a:rPr>
              <a:t>sector suites (455 test functions)</a:t>
            </a:r>
            <a:endParaRPr lang="en-US" sz="1300" dirty="0"/>
          </a:p>
        </p:txBody>
      </p:sp>
      <p:sp>
        <p:nvSpPr>
          <p:cNvPr id="7" name="card-775"/>
          <p:cNvSpPr/>
          <p:nvPr/>
        </p:nvSpPr>
        <p:spPr>
          <a:xfrm>
            <a:off x="777240" y="3337560"/>
            <a:ext cx="1762963" cy="256032"/>
          </a:xfrm>
          <a:prstGeom prst="roundRect">
            <a:avLst>
              <a:gd name="adj" fmla="val 50000"/>
            </a:avLst>
          </a:prstGeom>
          <a:solidFill>
            <a:schemeClr val="bg1"/>
          </a:solidFill>
          <a:ln/>
        </p:spPr>
      </p:sp>
      <p:sp>
        <p:nvSpPr>
          <p:cNvPr id="8" name="text-776"/>
          <p:cNvSpPr txBox="1"/>
          <p:nvPr/>
        </p:nvSpPr>
        <p:spPr>
          <a:xfrm>
            <a:off x="777240" y="3337560"/>
            <a:ext cx="1762963" cy="256032"/>
          </a:xfrm>
          <a:prstGeom prst="rect">
            <a:avLst/>
          </a:prstGeom>
          <a:noFill/>
          <a:ln/>
        </p:spPr>
        <p:txBody>
          <a:bodyPr wrap="square" lIns="0" tIns="0" rIns="0" bIns="0" rtlCol="0" anchor="ctr"/>
          <a:lstStyle/>
          <a:p>
            <a:pPr algn="ctr" indent="0" marL="0">
              <a:buNone/>
            </a:pPr>
            <a:r>
              <a:rPr lang="en-US" sz="950" b="1" spc="50" kern="0" dirty="0">
                <a:solidFill>
                  <a:schemeClr val="accent1"/>
                </a:solidFill>
              </a:rPr>
              <a:t>PYTEST  ·  12 OCT 2026</a:t>
            </a:r>
            <a:endParaRPr lang="en-US" sz="950" dirty="0"/>
          </a:p>
        </p:txBody>
      </p:sp>
      <p:sp>
        <p:nvSpPr>
          <p:cNvPr id="9" name="card-777"/>
          <p:cNvSpPr/>
          <p:nvPr/>
        </p:nvSpPr>
        <p:spPr>
          <a:xfrm>
            <a:off x="3401568" y="1600200"/>
            <a:ext cx="2715768" cy="2148840"/>
          </a:xfrm>
          <a:prstGeom prst="roundRect">
            <a:avLst>
              <a:gd name="adj" fmla="val 5106"/>
            </a:avLst>
          </a:prstGeom>
          <a:solidFill>
            <a:schemeClr val="bg2"/>
          </a:solidFill>
          <a:ln/>
        </p:spPr>
      </p:sp>
      <p:sp>
        <p:nvSpPr>
          <p:cNvPr id="10" name="text-778"/>
          <p:cNvSpPr txBox="1"/>
          <p:nvPr/>
        </p:nvSpPr>
        <p:spPr>
          <a:xfrm>
            <a:off x="3630168" y="1783080"/>
            <a:ext cx="2350008" cy="685800"/>
          </a:xfrm>
          <a:prstGeom prst="rect">
            <a:avLst/>
          </a:prstGeom>
          <a:noFill/>
          <a:ln/>
        </p:spPr>
        <p:txBody>
          <a:bodyPr wrap="square" lIns="0" tIns="0" rIns="0" bIns="0" rtlCol="0" anchor="ctr"/>
          <a:lstStyle/>
          <a:p>
            <a:pPr indent="0" marL="0">
              <a:buNone/>
            </a:pPr>
            <a:r>
              <a:rPr lang="en-US" sz="4000" b="1" dirty="0">
                <a:solidFill>
                  <a:schemeClr val="tx1"/>
                </a:solidFill>
                <a:latin typeface="+mj-lt" pitchFamily="34" charset="0"/>
                <a:ea typeface="+mj-lt" pitchFamily="34" charset="-122"/>
                <a:cs typeface="+mj-lt" pitchFamily="34" charset="-120"/>
              </a:rPr>
              <a:t>≈ 11 s</a:t>
            </a:r>
            <a:endParaRPr lang="en-US" sz="4000" dirty="0"/>
          </a:p>
        </p:txBody>
      </p:sp>
      <p:sp>
        <p:nvSpPr>
          <p:cNvPr id="11" name="text-779"/>
          <p:cNvSpPr txBox="1"/>
          <p:nvPr/>
        </p:nvSpPr>
        <p:spPr>
          <a:xfrm>
            <a:off x="3630168" y="2514600"/>
            <a:ext cx="2350008" cy="777240"/>
          </a:xfrm>
          <a:prstGeom prst="rect">
            <a:avLst/>
          </a:prstGeom>
          <a:noFill/>
          <a:ln/>
        </p:spPr>
        <p:txBody>
          <a:bodyPr wrap="square" lIns="0" tIns="0" rIns="0" bIns="0" rtlCol="0" anchor="t"/>
          <a:lstStyle/>
          <a:p>
            <a:pPr indent="0" marL="0">
              <a:buNone/>
            </a:pPr>
            <a:r>
              <a:rPr lang="en-US" sz="1300" dirty="0">
                <a:solidFill>
                  <a:schemeClr val="tx1"/>
                </a:solidFill>
              </a:rPr>
              <a:t>cross-sector answer with live</a:t>
            </a:r>
            <a:endParaRPr lang="en-US" sz="1300" dirty="0"/>
          </a:p>
          <a:p>
            <a:pPr indent="0" marL="0">
              <a:buNone/>
            </a:pPr>
            <a:r>
              <a:rPr lang="en-US" sz="1300" dirty="0">
                <a:solidFill>
                  <a:schemeClr val="tx1"/>
                </a:solidFill>
              </a:rPr>
              <a:t>official data and no LLM key</a:t>
            </a:r>
            <a:endParaRPr lang="en-US" sz="1300" dirty="0"/>
          </a:p>
        </p:txBody>
      </p:sp>
      <p:sp>
        <p:nvSpPr>
          <p:cNvPr id="12" name="card-780"/>
          <p:cNvSpPr/>
          <p:nvPr/>
        </p:nvSpPr>
        <p:spPr>
          <a:xfrm>
            <a:off x="3630168" y="3337560"/>
            <a:ext cx="1221638" cy="256032"/>
          </a:xfrm>
          <a:prstGeom prst="roundRect">
            <a:avLst>
              <a:gd name="adj" fmla="val 50000"/>
            </a:avLst>
          </a:prstGeom>
          <a:solidFill>
            <a:schemeClr val="bg1"/>
          </a:solidFill>
          <a:ln/>
        </p:spPr>
      </p:sp>
      <p:sp>
        <p:nvSpPr>
          <p:cNvPr id="13" name="text-781"/>
          <p:cNvSpPr txBox="1"/>
          <p:nvPr/>
        </p:nvSpPr>
        <p:spPr>
          <a:xfrm>
            <a:off x="3630168" y="3337560"/>
            <a:ext cx="1221638" cy="256032"/>
          </a:xfrm>
          <a:prstGeom prst="rect">
            <a:avLst/>
          </a:prstGeom>
          <a:noFill/>
          <a:ln/>
        </p:spPr>
        <p:txBody>
          <a:bodyPr wrap="square" lIns="0" tIns="0" rIns="0" bIns="0" rtlCol="0" anchor="ctr"/>
          <a:lstStyle/>
          <a:p>
            <a:pPr algn="ctr" indent="0" marL="0">
              <a:buNone/>
            </a:pPr>
            <a:r>
              <a:rPr lang="en-US" sz="950" b="1" spc="50" kern="0" dirty="0">
                <a:solidFill>
                  <a:schemeClr val="accent1"/>
                </a:solidFill>
              </a:rPr>
              <a:t>END-TO-END RUN</a:t>
            </a:r>
            <a:endParaRPr lang="en-US" sz="950" dirty="0"/>
          </a:p>
        </p:txBody>
      </p:sp>
      <p:sp>
        <p:nvSpPr>
          <p:cNvPr id="14" name="card-782"/>
          <p:cNvSpPr/>
          <p:nvPr/>
        </p:nvSpPr>
        <p:spPr>
          <a:xfrm>
            <a:off x="548640" y="3886200"/>
            <a:ext cx="2715768" cy="2148840"/>
          </a:xfrm>
          <a:prstGeom prst="roundRect">
            <a:avLst>
              <a:gd name="adj" fmla="val 5106"/>
            </a:avLst>
          </a:prstGeom>
          <a:solidFill>
            <a:schemeClr val="bg2"/>
          </a:solidFill>
          <a:ln/>
        </p:spPr>
      </p:sp>
      <p:sp>
        <p:nvSpPr>
          <p:cNvPr id="15" name="text-783"/>
          <p:cNvSpPr txBox="1"/>
          <p:nvPr/>
        </p:nvSpPr>
        <p:spPr>
          <a:xfrm>
            <a:off x="777240" y="4069080"/>
            <a:ext cx="2350008" cy="685800"/>
          </a:xfrm>
          <a:prstGeom prst="rect">
            <a:avLst/>
          </a:prstGeom>
          <a:noFill/>
          <a:ln/>
        </p:spPr>
        <p:txBody>
          <a:bodyPr wrap="square" lIns="0" tIns="0" rIns="0" bIns="0" rtlCol="0" anchor="ctr"/>
          <a:lstStyle/>
          <a:p>
            <a:pPr indent="0" marL="0">
              <a:buNone/>
            </a:pPr>
            <a:r>
              <a:rPr lang="en-US" sz="4000" b="1" dirty="0">
                <a:solidFill>
                  <a:schemeClr val="tx1"/>
                </a:solidFill>
                <a:latin typeface="+mj-lt" pitchFamily="34" charset="0"/>
                <a:ea typeface="+mj-lt" pitchFamily="34" charset="-122"/>
                <a:cs typeface="+mj-lt" pitchFamily="34" charset="-120"/>
              </a:rPr>
              <a:t>48.9k</a:t>
            </a:r>
            <a:endParaRPr lang="en-US" sz="4000" dirty="0"/>
          </a:p>
        </p:txBody>
      </p:sp>
      <p:sp>
        <p:nvSpPr>
          <p:cNvPr id="16" name="text-784"/>
          <p:cNvSpPr txBox="1"/>
          <p:nvPr/>
        </p:nvSpPr>
        <p:spPr>
          <a:xfrm>
            <a:off x="777240" y="4800600"/>
            <a:ext cx="2350008" cy="777240"/>
          </a:xfrm>
          <a:prstGeom prst="rect">
            <a:avLst/>
          </a:prstGeom>
          <a:noFill/>
          <a:ln/>
        </p:spPr>
        <p:txBody>
          <a:bodyPr wrap="square" lIns="0" tIns="0" rIns="0" bIns="0" rtlCol="0" anchor="t"/>
          <a:lstStyle/>
          <a:p>
            <a:pPr indent="0" marL="0">
              <a:buNone/>
            </a:pPr>
            <a:r>
              <a:rPr lang="en-US" sz="1300" dirty="0">
                <a:solidFill>
                  <a:schemeClr val="tx1"/>
                </a:solidFill>
              </a:rPr>
              <a:t>lines of code, excluding tests:</a:t>
            </a:r>
            <a:endParaRPr lang="en-US" sz="1300" dirty="0"/>
          </a:p>
          <a:p>
            <a:pPr indent="0" marL="0">
              <a:buNone/>
            </a:pPr>
            <a:r>
              <a:rPr lang="en-US" sz="1300" dirty="0">
                <a:solidFill>
                  <a:schemeClr val="tx1"/>
                </a:solidFill>
              </a:rPr>
              <a:t>37.6k Python and</a:t>
            </a:r>
            <a:endParaRPr lang="en-US" sz="1300" dirty="0"/>
          </a:p>
          <a:p>
            <a:pPr indent="0" marL="0">
              <a:buNone/>
            </a:pPr>
            <a:r>
              <a:rPr lang="en-US" sz="1300" dirty="0">
                <a:solidFill>
                  <a:schemeClr val="tx1"/>
                </a:solidFill>
              </a:rPr>
              <a:t>11.3k TypeScript</a:t>
            </a:r>
            <a:endParaRPr lang="en-US" sz="1300" dirty="0"/>
          </a:p>
        </p:txBody>
      </p:sp>
      <p:sp>
        <p:nvSpPr>
          <p:cNvPr id="17" name="card-785"/>
          <p:cNvSpPr/>
          <p:nvPr/>
        </p:nvSpPr>
        <p:spPr>
          <a:xfrm>
            <a:off x="777240" y="5623560"/>
            <a:ext cx="1356970" cy="256032"/>
          </a:xfrm>
          <a:prstGeom prst="roundRect">
            <a:avLst>
              <a:gd name="adj" fmla="val 50000"/>
            </a:avLst>
          </a:prstGeom>
          <a:solidFill>
            <a:schemeClr val="bg1"/>
          </a:solidFill>
          <a:ln/>
        </p:spPr>
      </p:sp>
      <p:sp>
        <p:nvSpPr>
          <p:cNvPr id="18" name="text-786"/>
          <p:cNvSpPr txBox="1"/>
          <p:nvPr/>
        </p:nvSpPr>
        <p:spPr>
          <a:xfrm>
            <a:off x="777240" y="5623560"/>
            <a:ext cx="1356970" cy="256032"/>
          </a:xfrm>
          <a:prstGeom prst="rect">
            <a:avLst/>
          </a:prstGeom>
          <a:noFill/>
          <a:ln/>
        </p:spPr>
        <p:txBody>
          <a:bodyPr wrap="square" lIns="0" tIns="0" rIns="0" bIns="0" rtlCol="0" anchor="ctr"/>
          <a:lstStyle/>
          <a:p>
            <a:pPr algn="ctr" indent="0" marL="0">
              <a:buNone/>
            </a:pPr>
            <a:r>
              <a:rPr lang="en-US" sz="950" b="1" spc="50" kern="0" dirty="0">
                <a:solidFill>
                  <a:schemeClr val="accent1"/>
                </a:solidFill>
              </a:rPr>
              <a:t>REPOSITORY COUNT</a:t>
            </a:r>
            <a:endParaRPr lang="en-US" sz="950" dirty="0"/>
          </a:p>
        </p:txBody>
      </p:sp>
      <p:sp>
        <p:nvSpPr>
          <p:cNvPr id="19" name="card-787"/>
          <p:cNvSpPr/>
          <p:nvPr/>
        </p:nvSpPr>
        <p:spPr>
          <a:xfrm>
            <a:off x="3401568" y="3886200"/>
            <a:ext cx="2715768" cy="2148840"/>
          </a:xfrm>
          <a:prstGeom prst="roundRect">
            <a:avLst>
              <a:gd name="adj" fmla="val 5106"/>
            </a:avLst>
          </a:prstGeom>
          <a:solidFill>
            <a:schemeClr val="bg2"/>
          </a:solidFill>
          <a:ln/>
        </p:spPr>
      </p:sp>
      <p:sp>
        <p:nvSpPr>
          <p:cNvPr id="20" name="text-788"/>
          <p:cNvSpPr txBox="1"/>
          <p:nvPr/>
        </p:nvSpPr>
        <p:spPr>
          <a:xfrm>
            <a:off x="3630168" y="4069080"/>
            <a:ext cx="2350008" cy="685800"/>
          </a:xfrm>
          <a:prstGeom prst="rect">
            <a:avLst/>
          </a:prstGeom>
          <a:noFill/>
          <a:ln/>
        </p:spPr>
        <p:txBody>
          <a:bodyPr wrap="square" lIns="0" tIns="0" rIns="0" bIns="0" rtlCol="0" anchor="ctr"/>
          <a:lstStyle/>
          <a:p>
            <a:pPr indent="0" marL="0">
              <a:buNone/>
            </a:pPr>
            <a:r>
              <a:rPr lang="en-US" sz="4000" b="1" dirty="0">
                <a:solidFill>
                  <a:schemeClr val="accent1"/>
                </a:solidFill>
                <a:latin typeface="+mj-lt" pitchFamily="34" charset="0"/>
                <a:ea typeface="+mj-lt" pitchFamily="34" charset="-122"/>
                <a:cs typeface="+mj-lt" pitchFamily="34" charset="-120"/>
              </a:rPr>
              <a:t>10 / 10</a:t>
            </a:r>
            <a:endParaRPr lang="en-US" sz="4000" dirty="0"/>
          </a:p>
        </p:txBody>
      </p:sp>
      <p:sp>
        <p:nvSpPr>
          <p:cNvPr id="21" name="text-789"/>
          <p:cNvSpPr txBox="1"/>
          <p:nvPr/>
        </p:nvSpPr>
        <p:spPr>
          <a:xfrm>
            <a:off x="3630168" y="4800600"/>
            <a:ext cx="2350008" cy="777240"/>
          </a:xfrm>
          <a:prstGeom prst="rect">
            <a:avLst/>
          </a:prstGeom>
          <a:noFill/>
          <a:ln/>
        </p:spPr>
        <p:txBody>
          <a:bodyPr wrap="square" lIns="0" tIns="0" rIns="0" bIns="0" rtlCol="0" anchor="t"/>
          <a:lstStyle/>
          <a:p>
            <a:pPr indent="0" marL="0">
              <a:buNone/>
            </a:pPr>
            <a:r>
              <a:rPr lang="en-US" sz="1300" dirty="0">
                <a:solidFill>
                  <a:schemeClr val="tx1"/>
                </a:solidFill>
              </a:rPr>
              <a:t>sector agents registered and</a:t>
            </a:r>
            <a:endParaRPr lang="en-US" sz="1300" dirty="0"/>
          </a:p>
          <a:p>
            <a:pPr indent="0" marL="0">
              <a:buNone/>
            </a:pPr>
            <a:r>
              <a:rPr lang="en-US" sz="1300" dirty="0">
                <a:solidFill>
                  <a:schemeClr val="tx1"/>
                </a:solidFill>
              </a:rPr>
              <a:t>routable through their</a:t>
            </a:r>
            <a:endParaRPr lang="en-US" sz="1300" dirty="0"/>
          </a:p>
          <a:p>
            <a:pPr indent="0" marL="0">
              <a:buNone/>
            </a:pPr>
            <a:r>
              <a:rPr lang="en-US" sz="1300" dirty="0">
                <a:solidFill>
                  <a:schemeClr val="tx1"/>
                </a:solidFill>
              </a:rPr>
              <a:t>A2A Agent Cards</a:t>
            </a:r>
            <a:endParaRPr lang="en-US" sz="1300" dirty="0"/>
          </a:p>
        </p:txBody>
      </p:sp>
      <p:sp>
        <p:nvSpPr>
          <p:cNvPr id="22" name="card-790"/>
          <p:cNvSpPr/>
          <p:nvPr/>
        </p:nvSpPr>
        <p:spPr>
          <a:xfrm>
            <a:off x="3630168" y="5623560"/>
            <a:ext cx="1086307" cy="256032"/>
          </a:xfrm>
          <a:prstGeom prst="roundRect">
            <a:avLst>
              <a:gd name="adj" fmla="val 50000"/>
            </a:avLst>
          </a:prstGeom>
          <a:solidFill>
            <a:schemeClr val="bg1"/>
          </a:solidFill>
          <a:ln/>
        </p:spPr>
      </p:sp>
      <p:sp>
        <p:nvSpPr>
          <p:cNvPr id="23" name="text-791"/>
          <p:cNvSpPr txBox="1"/>
          <p:nvPr/>
        </p:nvSpPr>
        <p:spPr>
          <a:xfrm>
            <a:off x="3630168" y="5623560"/>
            <a:ext cx="1086307" cy="256032"/>
          </a:xfrm>
          <a:prstGeom prst="rect">
            <a:avLst/>
          </a:prstGeom>
          <a:noFill/>
          <a:ln/>
        </p:spPr>
        <p:txBody>
          <a:bodyPr wrap="square" lIns="0" tIns="0" rIns="0" bIns="0" rtlCol="0" anchor="ctr"/>
          <a:lstStyle/>
          <a:p>
            <a:pPr algn="ctr" indent="0" marL="0">
              <a:buNone/>
            </a:pPr>
            <a:r>
              <a:rPr lang="en-US" sz="950" b="1" spc="50" kern="0" dirty="0">
                <a:solidFill>
                  <a:schemeClr val="accent1"/>
                </a:solidFill>
              </a:rPr>
              <a:t>A2A REGISTRY</a:t>
            </a:r>
            <a:endParaRPr lang="en-US" sz="950" dirty="0"/>
          </a:p>
        </p:txBody>
      </p:sp>
      <p:graphicFrame>
        <p:nvGraphicFramePr>
          <p:cNvPr id="24" name="tests-chart" descr=""/>
          <p:cNvGraphicFramePr/>
          <p:nvPr/>
        </p:nvGraphicFramePr>
        <p:xfrm>
          <a:off x="6355080" y="1554480"/>
          <a:ext cx="5287975" cy="3200400"/>
        </p:xfrm>
        <a:graphic xmlns:a="http://schemas.openxmlformats.org/drawingml/2006/main">
          <a:graphicData uri="http://schemas.openxmlformats.org/drawingml/2006/chart">
            <c:chart xmlns:c="http://schemas.openxmlformats.org/drawingml/2006/chart" r:id="rId1"/>
          </a:graphicData>
        </a:graphic>
      </p:graphicFrame>
      <p:sp>
        <p:nvSpPr>
          <p:cNvPr id="25" name="card-792"/>
          <p:cNvSpPr/>
          <p:nvPr/>
        </p:nvSpPr>
        <p:spPr>
          <a:xfrm>
            <a:off x="6355080" y="4873752"/>
            <a:ext cx="2575408" cy="1252728"/>
          </a:xfrm>
          <a:prstGeom prst="roundRect">
            <a:avLst>
              <a:gd name="adj" fmla="val 8759"/>
            </a:avLst>
          </a:prstGeom>
          <a:solidFill>
            <a:schemeClr val="bg2"/>
          </a:solidFill>
          <a:ln/>
        </p:spPr>
      </p:sp>
      <p:sp>
        <p:nvSpPr>
          <p:cNvPr id="26" name="card-793"/>
          <p:cNvSpPr/>
          <p:nvPr/>
        </p:nvSpPr>
        <p:spPr>
          <a:xfrm>
            <a:off x="6519672" y="5038344"/>
            <a:ext cx="365760" cy="365760"/>
          </a:xfrm>
          <a:prstGeom prst="roundRect">
            <a:avLst>
              <a:gd name="adj" fmla="val 22000"/>
            </a:avLst>
          </a:prstGeom>
          <a:solidFill>
            <a:schemeClr val="accent1"/>
          </a:solidFill>
          <a:ln/>
        </p:spPr>
      </p:sp>
      <p:pic>
        <p:nvPicPr>
          <p:cNvPr id="27" name="icon-794" descr="Radar icon">    </p:cNvPr>
          <p:cNvPicPr>
            <a:picLocks noChangeAspect="1"/>
          </p:cNvPicPr>
          <p:nvPr/>
        </p:nvPicPr>
        <p:blipFill>
          <a:blip r:embed="rId2"/>
          <a:stretch>
            <a:fillRect/>
          </a:stretch>
        </p:blipFill>
        <p:spPr>
          <a:xfrm>
            <a:off x="6600139" y="5118811"/>
            <a:ext cx="204826" cy="204826"/>
          </a:xfrm>
          <a:prstGeom prst="rect">
            <a:avLst/>
          </a:prstGeom>
        </p:spPr>
      </p:pic>
      <p:sp>
        <p:nvSpPr>
          <p:cNvPr id="28" name="text-795"/>
          <p:cNvSpPr txBox="1"/>
          <p:nvPr/>
        </p:nvSpPr>
        <p:spPr>
          <a:xfrm>
            <a:off x="6976872" y="5038344"/>
            <a:ext cx="1843888" cy="365760"/>
          </a:xfrm>
          <a:prstGeom prst="rect">
            <a:avLst/>
          </a:prstGeom>
          <a:noFill/>
          <a:ln/>
        </p:spPr>
        <p:txBody>
          <a:bodyPr wrap="square" lIns="0" tIns="0" rIns="0" bIns="0" rtlCol="0" anchor="ctr"/>
          <a:lstStyle/>
          <a:p>
            <a:pPr indent="0" marL="0">
              <a:buNone/>
            </a:pPr>
            <a:r>
              <a:rPr lang="en-US" sz="1350" b="1" dirty="0">
                <a:solidFill>
                  <a:schemeClr val="tx1"/>
                </a:solidFill>
              </a:rPr>
              <a:t>Anomaly radar</a:t>
            </a:r>
            <a:endParaRPr lang="en-US" sz="1350" dirty="0"/>
          </a:p>
        </p:txBody>
      </p:sp>
      <p:sp>
        <p:nvSpPr>
          <p:cNvPr id="29" name="text-796"/>
          <p:cNvSpPr txBox="1"/>
          <p:nvPr/>
        </p:nvSpPr>
        <p:spPr>
          <a:xfrm>
            <a:off x="6519672" y="5495544"/>
            <a:ext cx="2301088" cy="566928"/>
          </a:xfrm>
          <a:prstGeom prst="rect">
            <a:avLst/>
          </a:prstGeom>
          <a:noFill/>
          <a:ln/>
        </p:spPr>
        <p:txBody>
          <a:bodyPr wrap="square" lIns="0" tIns="0" rIns="0" bIns="0" rtlCol="0" anchor="t"/>
          <a:lstStyle/>
          <a:p>
            <a:pPr indent="0" marL="0">
              <a:buNone/>
            </a:pPr>
            <a:r>
              <a:rPr lang="en-US" sz="1150" dirty="0">
                <a:solidFill>
                  <a:schemeClr val="tx2"/>
                </a:solidFill>
              </a:rPr>
              <a:t>18 series scanned, 8 long enough</a:t>
            </a:r>
            <a:endParaRPr lang="en-US" sz="1150" dirty="0"/>
          </a:p>
          <a:p>
            <a:pPr indent="0" marL="0">
              <a:buNone/>
            </a:pPr>
            <a:r>
              <a:rPr lang="en-US" sz="1150" dirty="0">
                <a:solidFill>
                  <a:schemeClr val="tx2"/>
                </a:solidFill>
              </a:rPr>
              <a:t>Trade balance, Aug 2024: z = −2.65</a:t>
            </a:r>
            <a:endParaRPr lang="en-US" sz="1150" dirty="0"/>
          </a:p>
          <a:p>
            <a:pPr indent="0" marL="0">
              <a:buNone/>
            </a:pPr>
            <a:r>
              <a:rPr lang="en-US" sz="1150" dirty="0">
                <a:solidFill>
                  <a:schemeClr val="tx2"/>
                </a:solidFill>
              </a:rPr>
              <a:t>classified as isolated</a:t>
            </a:r>
            <a:endParaRPr lang="en-US" sz="1150" dirty="0"/>
          </a:p>
        </p:txBody>
      </p:sp>
      <p:sp>
        <p:nvSpPr>
          <p:cNvPr id="30" name="card-797"/>
          <p:cNvSpPr/>
          <p:nvPr/>
        </p:nvSpPr>
        <p:spPr>
          <a:xfrm>
            <a:off x="9067648" y="4873752"/>
            <a:ext cx="2575408" cy="1252728"/>
          </a:xfrm>
          <a:prstGeom prst="roundRect">
            <a:avLst>
              <a:gd name="adj" fmla="val 8759"/>
            </a:avLst>
          </a:prstGeom>
          <a:solidFill>
            <a:schemeClr val="bg2"/>
          </a:solidFill>
          <a:ln/>
        </p:spPr>
      </p:sp>
      <p:sp>
        <p:nvSpPr>
          <p:cNvPr id="31" name="card-798"/>
          <p:cNvSpPr/>
          <p:nvPr/>
        </p:nvSpPr>
        <p:spPr>
          <a:xfrm>
            <a:off x="9232240" y="5038344"/>
            <a:ext cx="365760" cy="365760"/>
          </a:xfrm>
          <a:prstGeom prst="roundRect">
            <a:avLst>
              <a:gd name="adj" fmla="val 22000"/>
            </a:avLst>
          </a:prstGeom>
          <a:solidFill>
            <a:schemeClr val="accent1"/>
          </a:solidFill>
          <a:ln/>
        </p:spPr>
      </p:sp>
      <p:pic>
        <p:nvPicPr>
          <p:cNvPr id="32" name="icon-799" descr="Vote icon">    </p:cNvPr>
          <p:cNvPicPr>
            <a:picLocks noChangeAspect="1"/>
          </p:cNvPicPr>
          <p:nvPr/>
        </p:nvPicPr>
        <p:blipFill>
          <a:blip r:embed="rId3"/>
          <a:stretch>
            <a:fillRect/>
          </a:stretch>
        </p:blipFill>
        <p:spPr>
          <a:xfrm>
            <a:off x="9312707" y="5118811"/>
            <a:ext cx="204826" cy="204826"/>
          </a:xfrm>
          <a:prstGeom prst="rect">
            <a:avLst/>
          </a:prstGeom>
        </p:spPr>
      </p:pic>
      <p:sp>
        <p:nvSpPr>
          <p:cNvPr id="33" name="text-800"/>
          <p:cNvSpPr txBox="1"/>
          <p:nvPr/>
        </p:nvSpPr>
        <p:spPr>
          <a:xfrm>
            <a:off x="9689440" y="5038344"/>
            <a:ext cx="1843888" cy="365760"/>
          </a:xfrm>
          <a:prstGeom prst="rect">
            <a:avLst/>
          </a:prstGeom>
          <a:noFill/>
          <a:ln/>
        </p:spPr>
        <p:txBody>
          <a:bodyPr wrap="square" lIns="0" tIns="0" rIns="0" bIns="0" rtlCol="0" anchor="ctr"/>
          <a:lstStyle/>
          <a:p>
            <a:pPr indent="0" marL="0">
              <a:buNone/>
            </a:pPr>
            <a:r>
              <a:rPr lang="en-US" sz="1350" b="1" dirty="0">
                <a:solidFill>
                  <a:schemeClr val="tx1"/>
                </a:solidFill>
              </a:rPr>
              <a:t>Simulated MPC</a:t>
            </a:r>
            <a:endParaRPr lang="en-US" sz="1350" dirty="0"/>
          </a:p>
        </p:txBody>
      </p:sp>
      <p:sp>
        <p:nvSpPr>
          <p:cNvPr id="34" name="text-801"/>
          <p:cNvSpPr txBox="1"/>
          <p:nvPr/>
        </p:nvSpPr>
        <p:spPr>
          <a:xfrm>
            <a:off x="9232240" y="5495544"/>
            <a:ext cx="2301088" cy="566928"/>
          </a:xfrm>
          <a:prstGeom prst="rect">
            <a:avLst/>
          </a:prstGeom>
          <a:noFill/>
          <a:ln/>
        </p:spPr>
        <p:txBody>
          <a:bodyPr wrap="square" lIns="0" tIns="0" rIns="0" bIns="0" rtlCol="0" anchor="t"/>
          <a:lstStyle/>
          <a:p>
            <a:pPr indent="0" marL="0">
              <a:buNone/>
            </a:pPr>
            <a:r>
              <a:rPr lang="en-US" sz="1150" dirty="0">
                <a:solidFill>
                  <a:schemeClr val="tx2"/>
                </a:solidFill>
              </a:rPr>
              <a:t>HOLD by 4 to 2, dissent 0.33</a:t>
            </a:r>
            <a:endParaRPr lang="en-US" sz="1150" dirty="0"/>
          </a:p>
          <a:p>
            <a:pPr indent="0" marL="0">
              <a:buNone/>
            </a:pPr>
            <a:r>
              <a:rPr lang="en-US" sz="1150" dirty="0">
                <a:solidFill>
                  <a:schemeClr val="tx2"/>
                </a:solidFill>
              </a:rPr>
              <a:t>matches the rule-only baseline</a:t>
            </a:r>
            <a:endParaRPr lang="en-US" sz="1150" dirty="0"/>
          </a:p>
        </p:txBody>
      </p:sp>
      <p:sp>
        <p:nvSpPr>
          <p:cNvPr id="25" name="Slide Number Placeholder 0"/>
          <p:cNvSpPr>
            <a:spLocks noGrp="1"/>
          </p:cNvSpPr>
          <p:nvPr>
            <p:ph type="sldNum" sz="quarter" idx="4294967295"/>
          </p:nvPr>
        </p:nvSpPr>
        <p:spPr>
          <a:xfrm>
            <a:off x="11091672" y="6446520"/>
            <a:ext cx="548640" cy="22860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51607A"/>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ctr"/>
          <a:lstStyle/>
          <a:p>
            <a:pPr indent="0" marL="0">
              <a:buNone/>
            </a:pPr>
            <a:r>
              <a:rPr lang="en-US" sz="1200" b="1" spc="200" kern="0" dirty="0">
                <a:solidFill>
                  <a:schemeClr val="accent1"/>
                </a:solidFill>
              </a:rPr>
              <a:t>KEY CONTRIBUTIONS</a:t>
            </a:r>
            <a:endParaRPr lang="en-US" sz="1200" dirty="0"/>
          </a:p>
        </p:txBody>
      </p:sp>
      <p:sp>
        <p:nvSpPr>
          <p:cNvPr id="3" name="Text 0"/>
          <p:cNvSpPr/>
          <p:nvPr>
            <p:ph idx="101" type="title" hasCustomPrompt="1"/>
          </p:nvPr>
        </p:nvSpPr>
        <p:spPr>
          <a:xfrm>
            <a:off x="548640" y="676656"/>
            <a:ext cx="11094415" cy="713232"/>
          </a:xfrm>
          <a:prstGeom prst="rect">
            <a:avLst/>
          </a:prstGeom>
          <a:noFill/>
          <a:ln/>
        </p:spPr>
        <p:txBody>
          <a:bodyPr wrap="square" lIns="0" tIns="0" rIns="0" bIns="0" rtlCol="0" anchor="t"/>
          <a:lstStyle/>
          <a:p>
            <a:pPr algn="l" indent="0" marL="0">
              <a:buNone/>
            </a:pPr>
            <a:r>
              <a:rPr lang="en-US" sz="3600" b="1" dirty="0">
                <a:solidFill>
                  <a:schemeClr val="tx1"/>
                </a:solidFill>
              </a:rPr>
              <a:t>What Macrograph AI contributes</a:t>
            </a:r>
            <a:endParaRPr lang="en-US" sz="3600" dirty="0"/>
          </a:p>
        </p:txBody>
      </p:sp>
      <p:sp>
        <p:nvSpPr>
          <p:cNvPr id="4" name="card-802"/>
          <p:cNvSpPr/>
          <p:nvPr/>
        </p:nvSpPr>
        <p:spPr>
          <a:xfrm>
            <a:off x="548640" y="1600200"/>
            <a:ext cx="7086600" cy="786384"/>
          </a:xfrm>
          <a:prstGeom prst="roundRect">
            <a:avLst>
              <a:gd name="adj" fmla="val 13953"/>
            </a:avLst>
          </a:prstGeom>
          <a:solidFill>
            <a:schemeClr val="bg2"/>
          </a:solidFill>
          <a:ln/>
        </p:spPr>
      </p:sp>
      <p:sp>
        <p:nvSpPr>
          <p:cNvPr id="5" name="dot-803"/>
          <p:cNvSpPr/>
          <p:nvPr/>
        </p:nvSpPr>
        <p:spPr>
          <a:xfrm>
            <a:off x="731520" y="1783080"/>
            <a:ext cx="420624" cy="420624"/>
          </a:xfrm>
          <a:prstGeom prst="ellipse">
            <a:avLst/>
          </a:prstGeom>
          <a:solidFill>
            <a:schemeClr val="accent2"/>
          </a:solidFill>
          <a:ln/>
        </p:spPr>
      </p:sp>
      <p:sp>
        <p:nvSpPr>
          <p:cNvPr id="6" name="text-804"/>
          <p:cNvSpPr txBox="1"/>
          <p:nvPr/>
        </p:nvSpPr>
        <p:spPr>
          <a:xfrm>
            <a:off x="731520" y="1783080"/>
            <a:ext cx="420624" cy="420624"/>
          </a:xfrm>
          <a:prstGeom prst="rect">
            <a:avLst/>
          </a:prstGeom>
          <a:noFill/>
          <a:ln/>
        </p:spPr>
        <p:txBody>
          <a:bodyPr wrap="square" lIns="0" tIns="0" rIns="0" bIns="0" rtlCol="0" anchor="ctr"/>
          <a:lstStyle/>
          <a:p>
            <a:pPr algn="ctr" indent="0" marL="0">
              <a:buNone/>
            </a:pPr>
            <a:r>
              <a:rPr lang="en-US" sz="1500" b="1" dirty="0">
                <a:solidFill>
                  <a:schemeClr val="tx1"/>
                </a:solidFill>
              </a:rPr>
              <a:t>1</a:t>
            </a:r>
            <a:endParaRPr lang="en-US" sz="1500" dirty="0"/>
          </a:p>
        </p:txBody>
      </p:sp>
      <p:sp>
        <p:nvSpPr>
          <p:cNvPr id="7" name="text-805"/>
          <p:cNvSpPr txBox="1"/>
          <p:nvPr/>
        </p:nvSpPr>
        <p:spPr>
          <a:xfrm>
            <a:off x="1325880" y="1682496"/>
            <a:ext cx="4480560" cy="274320"/>
          </a:xfrm>
          <a:prstGeom prst="rect">
            <a:avLst/>
          </a:prstGeom>
          <a:noFill/>
          <a:ln/>
        </p:spPr>
        <p:txBody>
          <a:bodyPr wrap="square" lIns="0" tIns="0" rIns="0" bIns="0" rtlCol="0" anchor="t"/>
          <a:lstStyle/>
          <a:p>
            <a:pPr indent="0" marL="0">
              <a:buNone/>
            </a:pPr>
            <a:r>
              <a:rPr lang="en-US" sz="1500" b="1" dirty="0">
                <a:solidFill>
                  <a:schemeClr val="tx1"/>
                </a:solidFill>
              </a:rPr>
              <a:t>Ownership-enforced agents</a:t>
            </a:r>
            <a:endParaRPr lang="en-US" sz="1500" dirty="0"/>
          </a:p>
        </p:txBody>
      </p:sp>
      <p:sp>
        <p:nvSpPr>
          <p:cNvPr id="8" name="text-806"/>
          <p:cNvSpPr txBox="1"/>
          <p:nvPr/>
        </p:nvSpPr>
        <p:spPr>
          <a:xfrm>
            <a:off x="1325880" y="1965960"/>
            <a:ext cx="4709160" cy="384048"/>
          </a:xfrm>
          <a:prstGeom prst="rect">
            <a:avLst/>
          </a:prstGeom>
          <a:noFill/>
          <a:ln/>
        </p:spPr>
        <p:txBody>
          <a:bodyPr wrap="square" lIns="0" tIns="0" rIns="0" bIns="0" rtlCol="0" anchor="t"/>
          <a:lstStyle/>
          <a:p>
            <a:pPr indent="0" marL="0">
              <a:buNone/>
            </a:pPr>
            <a:r>
              <a:rPr lang="en-US" sz="1200" dirty="0">
                <a:solidFill>
                  <a:schemeClr val="tx2"/>
                </a:solidFill>
              </a:rPr>
              <a:t>Each indicator has exactly one owner agent; peers obtain it only over the seven declared A2A edges</a:t>
            </a:r>
            <a:endParaRPr lang="en-US" sz="1200" dirty="0"/>
          </a:p>
        </p:txBody>
      </p:sp>
      <p:sp>
        <p:nvSpPr>
          <p:cNvPr id="9" name="card-807"/>
          <p:cNvSpPr/>
          <p:nvPr/>
        </p:nvSpPr>
        <p:spPr>
          <a:xfrm>
            <a:off x="6149340" y="1709928"/>
            <a:ext cx="1303020" cy="256032"/>
          </a:xfrm>
          <a:prstGeom prst="roundRect">
            <a:avLst>
              <a:gd name="adj" fmla="val 50000"/>
            </a:avLst>
          </a:prstGeom>
          <a:solidFill>
            <a:schemeClr val="bg1"/>
          </a:solidFill>
          <a:ln/>
        </p:spPr>
      </p:sp>
      <p:sp>
        <p:nvSpPr>
          <p:cNvPr id="10" name="text-808"/>
          <p:cNvSpPr txBox="1"/>
          <p:nvPr/>
        </p:nvSpPr>
        <p:spPr>
          <a:xfrm>
            <a:off x="6149340" y="1709928"/>
            <a:ext cx="1303020" cy="256032"/>
          </a:xfrm>
          <a:prstGeom prst="rect">
            <a:avLst/>
          </a:prstGeom>
          <a:noFill/>
          <a:ln/>
        </p:spPr>
        <p:txBody>
          <a:bodyPr wrap="square" lIns="0" tIns="0" rIns="0" bIns="0" rtlCol="0" anchor="ctr"/>
          <a:lstStyle/>
          <a:p>
            <a:pPr algn="ctr" indent="0" marL="0">
              <a:buNone/>
            </a:pPr>
            <a:r>
              <a:rPr lang="en-US" sz="950" b="1" spc="50" kern="0" dirty="0">
                <a:solidFill>
                  <a:schemeClr val="accent1"/>
                </a:solidFill>
                <a:latin typeface="Consolas" pitchFamily="34" charset="0"/>
                <a:ea typeface="Consolas" pitchFamily="34" charset="-122"/>
                <a:cs typeface="Consolas" pitchFamily="34" charset="-120"/>
              </a:rPr>
              <a:t>dependencies.py</a:t>
            </a:r>
            <a:endParaRPr lang="en-US" sz="950" dirty="0"/>
          </a:p>
        </p:txBody>
      </p:sp>
      <p:sp>
        <p:nvSpPr>
          <p:cNvPr id="11" name="card-809"/>
          <p:cNvSpPr/>
          <p:nvPr/>
        </p:nvSpPr>
        <p:spPr>
          <a:xfrm>
            <a:off x="548640" y="2496312"/>
            <a:ext cx="7086600" cy="786384"/>
          </a:xfrm>
          <a:prstGeom prst="roundRect">
            <a:avLst>
              <a:gd name="adj" fmla="val 13953"/>
            </a:avLst>
          </a:prstGeom>
          <a:solidFill>
            <a:schemeClr val="bg2"/>
          </a:solidFill>
          <a:ln/>
        </p:spPr>
      </p:sp>
      <p:sp>
        <p:nvSpPr>
          <p:cNvPr id="12" name="dot-810"/>
          <p:cNvSpPr/>
          <p:nvPr/>
        </p:nvSpPr>
        <p:spPr>
          <a:xfrm>
            <a:off x="731520" y="2679192"/>
            <a:ext cx="420624" cy="420624"/>
          </a:xfrm>
          <a:prstGeom prst="ellipse">
            <a:avLst/>
          </a:prstGeom>
          <a:solidFill>
            <a:schemeClr val="accent2"/>
          </a:solidFill>
          <a:ln/>
        </p:spPr>
      </p:sp>
      <p:sp>
        <p:nvSpPr>
          <p:cNvPr id="13" name="text-811"/>
          <p:cNvSpPr txBox="1"/>
          <p:nvPr/>
        </p:nvSpPr>
        <p:spPr>
          <a:xfrm>
            <a:off x="731520" y="2679192"/>
            <a:ext cx="420624" cy="420624"/>
          </a:xfrm>
          <a:prstGeom prst="rect">
            <a:avLst/>
          </a:prstGeom>
          <a:noFill/>
          <a:ln/>
        </p:spPr>
        <p:txBody>
          <a:bodyPr wrap="square" lIns="0" tIns="0" rIns="0" bIns="0" rtlCol="0" anchor="ctr"/>
          <a:lstStyle/>
          <a:p>
            <a:pPr algn="ctr" indent="0" marL="0">
              <a:buNone/>
            </a:pPr>
            <a:r>
              <a:rPr lang="en-US" sz="1500" b="1" dirty="0">
                <a:solidFill>
                  <a:schemeClr val="tx1"/>
                </a:solidFill>
              </a:rPr>
              <a:t>2</a:t>
            </a:r>
            <a:endParaRPr lang="en-US" sz="1500" dirty="0"/>
          </a:p>
        </p:txBody>
      </p:sp>
      <p:sp>
        <p:nvSpPr>
          <p:cNvPr id="14" name="text-812"/>
          <p:cNvSpPr txBox="1"/>
          <p:nvPr/>
        </p:nvSpPr>
        <p:spPr>
          <a:xfrm>
            <a:off x="1325880" y="2578608"/>
            <a:ext cx="4480560" cy="274320"/>
          </a:xfrm>
          <a:prstGeom prst="rect">
            <a:avLst/>
          </a:prstGeom>
          <a:noFill/>
          <a:ln/>
        </p:spPr>
        <p:txBody>
          <a:bodyPr wrap="square" lIns="0" tIns="0" rIns="0" bIns="0" rtlCol="0" anchor="t"/>
          <a:lstStyle/>
          <a:p>
            <a:pPr indent="0" marL="0">
              <a:buNone/>
            </a:pPr>
            <a:r>
              <a:rPr lang="en-US" sz="1500" b="1" dirty="0">
                <a:solidFill>
                  <a:schemeClr val="tx1"/>
                </a:solidFill>
              </a:rPr>
              <a:t>Protocol-level provenance</a:t>
            </a:r>
            <a:endParaRPr lang="en-US" sz="1500" dirty="0"/>
          </a:p>
        </p:txBody>
      </p:sp>
      <p:sp>
        <p:nvSpPr>
          <p:cNvPr id="15" name="text-813"/>
          <p:cNvSpPr txBox="1"/>
          <p:nvPr/>
        </p:nvSpPr>
        <p:spPr>
          <a:xfrm>
            <a:off x="1325880" y="2862072"/>
            <a:ext cx="4709160" cy="384048"/>
          </a:xfrm>
          <a:prstGeom prst="rect">
            <a:avLst/>
          </a:prstGeom>
          <a:noFill/>
          <a:ln/>
        </p:spPr>
        <p:txBody>
          <a:bodyPr wrap="square" lIns="0" tIns="0" rIns="0" bIns="0" rtlCol="0" anchor="t"/>
          <a:lstStyle/>
          <a:p>
            <a:pPr indent="0" marL="0">
              <a:buNone/>
            </a:pPr>
            <a:r>
              <a:rPr lang="en-US" sz="1200" dirty="0">
                <a:solidFill>
                  <a:schemeClr val="tx2"/>
                </a:solidFill>
              </a:rPr>
              <a:t>The A2A server rejects any successful reply that carries no source provenance record</a:t>
            </a:r>
            <a:endParaRPr lang="en-US" sz="1200" dirty="0"/>
          </a:p>
        </p:txBody>
      </p:sp>
      <p:sp>
        <p:nvSpPr>
          <p:cNvPr id="16" name="card-814"/>
          <p:cNvSpPr/>
          <p:nvPr/>
        </p:nvSpPr>
        <p:spPr>
          <a:xfrm>
            <a:off x="6560820" y="2606040"/>
            <a:ext cx="891540" cy="256032"/>
          </a:xfrm>
          <a:prstGeom prst="roundRect">
            <a:avLst>
              <a:gd name="adj" fmla="val 50000"/>
            </a:avLst>
          </a:prstGeom>
          <a:solidFill>
            <a:schemeClr val="bg1"/>
          </a:solidFill>
          <a:ln/>
        </p:spPr>
      </p:sp>
      <p:sp>
        <p:nvSpPr>
          <p:cNvPr id="17" name="text-815"/>
          <p:cNvSpPr txBox="1"/>
          <p:nvPr/>
        </p:nvSpPr>
        <p:spPr>
          <a:xfrm>
            <a:off x="6560820" y="2606040"/>
            <a:ext cx="891540" cy="256032"/>
          </a:xfrm>
          <a:prstGeom prst="rect">
            <a:avLst/>
          </a:prstGeom>
          <a:noFill/>
          <a:ln/>
        </p:spPr>
        <p:txBody>
          <a:bodyPr wrap="square" lIns="0" tIns="0" rIns="0" bIns="0" rtlCol="0" anchor="ctr"/>
          <a:lstStyle/>
          <a:p>
            <a:pPr algn="ctr" indent="0" marL="0">
              <a:buNone/>
            </a:pPr>
            <a:r>
              <a:rPr lang="en-US" sz="950" b="1" spc="50" kern="0" dirty="0">
                <a:solidFill>
                  <a:schemeClr val="accent1"/>
                </a:solidFill>
                <a:latin typeface="Consolas" pitchFamily="34" charset="0"/>
                <a:ea typeface="Consolas" pitchFamily="34" charset="-122"/>
                <a:cs typeface="Consolas" pitchFamily="34" charset="-120"/>
              </a:rPr>
              <a:t>A2AServer</a:t>
            </a:r>
            <a:endParaRPr lang="en-US" sz="950" dirty="0"/>
          </a:p>
        </p:txBody>
      </p:sp>
      <p:sp>
        <p:nvSpPr>
          <p:cNvPr id="18" name="card-816"/>
          <p:cNvSpPr/>
          <p:nvPr/>
        </p:nvSpPr>
        <p:spPr>
          <a:xfrm>
            <a:off x="548640" y="3392424"/>
            <a:ext cx="7086600" cy="786384"/>
          </a:xfrm>
          <a:prstGeom prst="roundRect">
            <a:avLst>
              <a:gd name="adj" fmla="val 13953"/>
            </a:avLst>
          </a:prstGeom>
          <a:solidFill>
            <a:schemeClr val="bg2"/>
          </a:solidFill>
          <a:ln/>
        </p:spPr>
      </p:sp>
      <p:sp>
        <p:nvSpPr>
          <p:cNvPr id="19" name="dot-817"/>
          <p:cNvSpPr/>
          <p:nvPr/>
        </p:nvSpPr>
        <p:spPr>
          <a:xfrm>
            <a:off x="731520" y="3575304"/>
            <a:ext cx="420624" cy="420624"/>
          </a:xfrm>
          <a:prstGeom prst="ellipse">
            <a:avLst/>
          </a:prstGeom>
          <a:solidFill>
            <a:schemeClr val="accent2"/>
          </a:solidFill>
          <a:ln/>
        </p:spPr>
      </p:sp>
      <p:sp>
        <p:nvSpPr>
          <p:cNvPr id="20" name="text-818"/>
          <p:cNvSpPr txBox="1"/>
          <p:nvPr/>
        </p:nvSpPr>
        <p:spPr>
          <a:xfrm>
            <a:off x="731520" y="3575304"/>
            <a:ext cx="420624" cy="420624"/>
          </a:xfrm>
          <a:prstGeom prst="rect">
            <a:avLst/>
          </a:prstGeom>
          <a:noFill/>
          <a:ln/>
        </p:spPr>
        <p:txBody>
          <a:bodyPr wrap="square" lIns="0" tIns="0" rIns="0" bIns="0" rtlCol="0" anchor="ctr"/>
          <a:lstStyle/>
          <a:p>
            <a:pPr algn="ctr" indent="0" marL="0">
              <a:buNone/>
            </a:pPr>
            <a:r>
              <a:rPr lang="en-US" sz="1500" b="1" dirty="0">
                <a:solidFill>
                  <a:schemeClr val="tx1"/>
                </a:solidFill>
              </a:rPr>
              <a:t>3</a:t>
            </a:r>
            <a:endParaRPr lang="en-US" sz="1500" dirty="0"/>
          </a:p>
        </p:txBody>
      </p:sp>
      <p:sp>
        <p:nvSpPr>
          <p:cNvPr id="21" name="text-819"/>
          <p:cNvSpPr txBox="1"/>
          <p:nvPr/>
        </p:nvSpPr>
        <p:spPr>
          <a:xfrm>
            <a:off x="1325880" y="3474720"/>
            <a:ext cx="4480560" cy="274320"/>
          </a:xfrm>
          <a:prstGeom prst="rect">
            <a:avLst/>
          </a:prstGeom>
          <a:noFill/>
          <a:ln/>
        </p:spPr>
        <p:txBody>
          <a:bodyPr wrap="square" lIns="0" tIns="0" rIns="0" bIns="0" rtlCol="0" anchor="t"/>
          <a:lstStyle/>
          <a:p>
            <a:pPr indent="0" marL="0">
              <a:buNone/>
            </a:pPr>
            <a:r>
              <a:rPr lang="en-US" sz="1500" b="1" dirty="0">
                <a:solidFill>
                  <a:schemeClr val="tx1"/>
                </a:solidFill>
              </a:rPr>
              <a:t>Evidence-typed causal graph</a:t>
            </a:r>
            <a:endParaRPr lang="en-US" sz="1500" dirty="0"/>
          </a:p>
        </p:txBody>
      </p:sp>
      <p:sp>
        <p:nvSpPr>
          <p:cNvPr id="22" name="text-820"/>
          <p:cNvSpPr txBox="1"/>
          <p:nvPr/>
        </p:nvSpPr>
        <p:spPr>
          <a:xfrm>
            <a:off x="1325880" y="3758184"/>
            <a:ext cx="4709160" cy="384048"/>
          </a:xfrm>
          <a:prstGeom prst="rect">
            <a:avLst/>
          </a:prstGeom>
          <a:noFill/>
          <a:ln/>
        </p:spPr>
        <p:txBody>
          <a:bodyPr wrap="square" lIns="0" tIns="0" rIns="0" bIns="0" rtlCol="0" anchor="t"/>
          <a:lstStyle/>
          <a:p>
            <a:pPr indent="0" marL="0">
              <a:buNone/>
            </a:pPr>
            <a:r>
              <a:rPr lang="en-US" sz="1200" dirty="0">
                <a:solidFill>
                  <a:schemeClr val="tx2"/>
                </a:solidFill>
              </a:rPr>
              <a:t>Twelve edges on a five-tier evidence taxonomy with stable IDs, lags, signs and an automated audit</a:t>
            </a:r>
            <a:endParaRPr lang="en-US" sz="1200" dirty="0"/>
          </a:p>
        </p:txBody>
      </p:sp>
      <p:sp>
        <p:nvSpPr>
          <p:cNvPr id="23" name="card-821"/>
          <p:cNvSpPr/>
          <p:nvPr/>
        </p:nvSpPr>
        <p:spPr>
          <a:xfrm>
            <a:off x="6149340" y="3502152"/>
            <a:ext cx="1303020" cy="256032"/>
          </a:xfrm>
          <a:prstGeom prst="roundRect">
            <a:avLst>
              <a:gd name="adj" fmla="val 50000"/>
            </a:avLst>
          </a:prstGeom>
          <a:solidFill>
            <a:schemeClr val="bg1"/>
          </a:solidFill>
          <a:ln/>
        </p:spPr>
      </p:sp>
      <p:sp>
        <p:nvSpPr>
          <p:cNvPr id="24" name="text-822"/>
          <p:cNvSpPr txBox="1"/>
          <p:nvPr/>
        </p:nvSpPr>
        <p:spPr>
          <a:xfrm>
            <a:off x="6149340" y="3502152"/>
            <a:ext cx="1303020" cy="256032"/>
          </a:xfrm>
          <a:prstGeom prst="rect">
            <a:avLst/>
          </a:prstGeom>
          <a:noFill/>
          <a:ln/>
        </p:spPr>
        <p:txBody>
          <a:bodyPr wrap="square" lIns="0" tIns="0" rIns="0" bIns="0" rtlCol="0" anchor="ctr"/>
          <a:lstStyle/>
          <a:p>
            <a:pPr algn="ctr" indent="0" marL="0">
              <a:buNone/>
            </a:pPr>
            <a:r>
              <a:rPr lang="en-US" sz="950" b="1" spc="50" kern="0" dirty="0">
                <a:solidFill>
                  <a:schemeClr val="accent1"/>
                </a:solidFill>
                <a:latin typeface="Consolas" pitchFamily="34" charset="0"/>
                <a:ea typeface="Consolas" pitchFamily="34" charset="-122"/>
                <a:cs typeface="Consolas" pitchFamily="34" charset="-120"/>
              </a:rPr>
              <a:t>knowledge_graph</a:t>
            </a:r>
            <a:endParaRPr lang="en-US" sz="950" dirty="0"/>
          </a:p>
        </p:txBody>
      </p:sp>
      <p:sp>
        <p:nvSpPr>
          <p:cNvPr id="25" name="card-823"/>
          <p:cNvSpPr/>
          <p:nvPr/>
        </p:nvSpPr>
        <p:spPr>
          <a:xfrm>
            <a:off x="548640" y="4288536"/>
            <a:ext cx="7086600" cy="786384"/>
          </a:xfrm>
          <a:prstGeom prst="roundRect">
            <a:avLst>
              <a:gd name="adj" fmla="val 13953"/>
            </a:avLst>
          </a:prstGeom>
          <a:solidFill>
            <a:schemeClr val="bg2"/>
          </a:solidFill>
          <a:ln/>
        </p:spPr>
      </p:sp>
      <p:sp>
        <p:nvSpPr>
          <p:cNvPr id="26" name="dot-824"/>
          <p:cNvSpPr/>
          <p:nvPr/>
        </p:nvSpPr>
        <p:spPr>
          <a:xfrm>
            <a:off x="731520" y="4471416"/>
            <a:ext cx="420624" cy="420624"/>
          </a:xfrm>
          <a:prstGeom prst="ellipse">
            <a:avLst/>
          </a:prstGeom>
          <a:solidFill>
            <a:schemeClr val="accent2"/>
          </a:solidFill>
          <a:ln/>
        </p:spPr>
      </p:sp>
      <p:sp>
        <p:nvSpPr>
          <p:cNvPr id="27" name="text-825"/>
          <p:cNvSpPr txBox="1"/>
          <p:nvPr/>
        </p:nvSpPr>
        <p:spPr>
          <a:xfrm>
            <a:off x="731520" y="4471416"/>
            <a:ext cx="420624" cy="420624"/>
          </a:xfrm>
          <a:prstGeom prst="rect">
            <a:avLst/>
          </a:prstGeom>
          <a:noFill/>
          <a:ln/>
        </p:spPr>
        <p:txBody>
          <a:bodyPr wrap="square" lIns="0" tIns="0" rIns="0" bIns="0" rtlCol="0" anchor="ctr"/>
          <a:lstStyle/>
          <a:p>
            <a:pPr algn="ctr" indent="0" marL="0">
              <a:buNone/>
            </a:pPr>
            <a:r>
              <a:rPr lang="en-US" sz="1500" b="1" dirty="0">
                <a:solidFill>
                  <a:schemeClr val="tx1"/>
                </a:solidFill>
              </a:rPr>
              <a:t>4</a:t>
            </a:r>
            <a:endParaRPr lang="en-US" sz="1500" dirty="0"/>
          </a:p>
        </p:txBody>
      </p:sp>
      <p:sp>
        <p:nvSpPr>
          <p:cNvPr id="28" name="text-826"/>
          <p:cNvSpPr txBox="1"/>
          <p:nvPr/>
        </p:nvSpPr>
        <p:spPr>
          <a:xfrm>
            <a:off x="1325880" y="4370832"/>
            <a:ext cx="4480560" cy="274320"/>
          </a:xfrm>
          <a:prstGeom prst="rect">
            <a:avLst/>
          </a:prstGeom>
          <a:noFill/>
          <a:ln/>
        </p:spPr>
        <p:txBody>
          <a:bodyPr wrap="square" lIns="0" tIns="0" rIns="0" bIns="0" rtlCol="0" anchor="t"/>
          <a:lstStyle/>
          <a:p>
            <a:pPr indent="0" marL="0">
              <a:buNone/>
            </a:pPr>
            <a:r>
              <a:rPr lang="en-US" sz="1500" b="1" dirty="0">
                <a:solidFill>
                  <a:schemeClr val="tx1"/>
                </a:solidFill>
              </a:rPr>
              <a:t>Deterministic claim verification</a:t>
            </a:r>
            <a:endParaRPr lang="en-US" sz="1500" dirty="0"/>
          </a:p>
        </p:txBody>
      </p:sp>
      <p:sp>
        <p:nvSpPr>
          <p:cNvPr id="29" name="text-827"/>
          <p:cNvSpPr txBox="1"/>
          <p:nvPr/>
        </p:nvSpPr>
        <p:spPr>
          <a:xfrm>
            <a:off x="1325880" y="4654296"/>
            <a:ext cx="4709160" cy="384048"/>
          </a:xfrm>
          <a:prstGeom prst="rect">
            <a:avLst/>
          </a:prstGeom>
          <a:noFill/>
          <a:ln/>
        </p:spPr>
        <p:txBody>
          <a:bodyPr wrap="square" lIns="0" tIns="0" rIns="0" bIns="0" rtlCol="0" anchor="t"/>
          <a:lstStyle/>
          <a:p>
            <a:pPr indent="0" marL="0">
              <a:buNone/>
            </a:pPr>
            <a:r>
              <a:rPr lang="en-US" sz="1200" dirty="0">
                <a:solidFill>
                  <a:schemeClr val="tx2"/>
                </a:solidFill>
              </a:rPr>
              <a:t>Typed claims recomputed in Decimal arithmetic against content-addressed evidence</a:t>
            </a:r>
            <a:endParaRPr lang="en-US" sz="1200" dirty="0"/>
          </a:p>
        </p:txBody>
      </p:sp>
      <p:sp>
        <p:nvSpPr>
          <p:cNvPr id="30" name="card-828"/>
          <p:cNvSpPr/>
          <p:nvPr/>
        </p:nvSpPr>
        <p:spPr>
          <a:xfrm>
            <a:off x="6012180" y="4398264"/>
            <a:ext cx="1440180" cy="256032"/>
          </a:xfrm>
          <a:prstGeom prst="roundRect">
            <a:avLst>
              <a:gd name="adj" fmla="val 50000"/>
            </a:avLst>
          </a:prstGeom>
          <a:solidFill>
            <a:schemeClr val="bg1"/>
          </a:solidFill>
          <a:ln/>
        </p:spPr>
      </p:sp>
      <p:sp>
        <p:nvSpPr>
          <p:cNvPr id="31" name="text-829"/>
          <p:cNvSpPr txBox="1"/>
          <p:nvPr/>
        </p:nvSpPr>
        <p:spPr>
          <a:xfrm>
            <a:off x="6012180" y="4398264"/>
            <a:ext cx="1440180" cy="256032"/>
          </a:xfrm>
          <a:prstGeom prst="rect">
            <a:avLst/>
          </a:prstGeom>
          <a:noFill/>
          <a:ln/>
        </p:spPr>
        <p:txBody>
          <a:bodyPr wrap="square" lIns="0" tIns="0" rIns="0" bIns="0" rtlCol="0" anchor="ctr"/>
          <a:lstStyle/>
          <a:p>
            <a:pPr algn="ctr" indent="0" marL="0">
              <a:buNone/>
            </a:pPr>
            <a:r>
              <a:rPr lang="en-US" sz="950" b="1" spc="50" kern="0" dirty="0">
                <a:solidFill>
                  <a:schemeClr val="accent1"/>
                </a:solidFill>
                <a:latin typeface="Consolas" pitchFamily="34" charset="0"/>
                <a:ea typeface="Consolas" pitchFamily="34" charset="-122"/>
                <a:cs typeface="Consolas" pitchFamily="34" charset="-120"/>
              </a:rPr>
              <a:t>core/verification</a:t>
            </a:r>
            <a:endParaRPr lang="en-US" sz="950" dirty="0"/>
          </a:p>
        </p:txBody>
      </p:sp>
      <p:sp>
        <p:nvSpPr>
          <p:cNvPr id="32" name="card-830"/>
          <p:cNvSpPr/>
          <p:nvPr/>
        </p:nvSpPr>
        <p:spPr>
          <a:xfrm>
            <a:off x="548640" y="5184648"/>
            <a:ext cx="7086600" cy="786384"/>
          </a:xfrm>
          <a:prstGeom prst="roundRect">
            <a:avLst>
              <a:gd name="adj" fmla="val 13953"/>
            </a:avLst>
          </a:prstGeom>
          <a:solidFill>
            <a:schemeClr val="bg2"/>
          </a:solidFill>
          <a:ln/>
        </p:spPr>
      </p:sp>
      <p:sp>
        <p:nvSpPr>
          <p:cNvPr id="33" name="dot-831"/>
          <p:cNvSpPr/>
          <p:nvPr/>
        </p:nvSpPr>
        <p:spPr>
          <a:xfrm>
            <a:off x="731520" y="5367528"/>
            <a:ext cx="420624" cy="420624"/>
          </a:xfrm>
          <a:prstGeom prst="ellipse">
            <a:avLst/>
          </a:prstGeom>
          <a:solidFill>
            <a:schemeClr val="accent2"/>
          </a:solidFill>
          <a:ln/>
        </p:spPr>
      </p:sp>
      <p:sp>
        <p:nvSpPr>
          <p:cNvPr id="34" name="text-832"/>
          <p:cNvSpPr txBox="1"/>
          <p:nvPr/>
        </p:nvSpPr>
        <p:spPr>
          <a:xfrm>
            <a:off x="731520" y="5367528"/>
            <a:ext cx="420624" cy="420624"/>
          </a:xfrm>
          <a:prstGeom prst="rect">
            <a:avLst/>
          </a:prstGeom>
          <a:noFill/>
          <a:ln/>
        </p:spPr>
        <p:txBody>
          <a:bodyPr wrap="square" lIns="0" tIns="0" rIns="0" bIns="0" rtlCol="0" anchor="ctr"/>
          <a:lstStyle/>
          <a:p>
            <a:pPr algn="ctr" indent="0" marL="0">
              <a:buNone/>
            </a:pPr>
            <a:r>
              <a:rPr lang="en-US" sz="1500" b="1" dirty="0">
                <a:solidFill>
                  <a:schemeClr val="tx1"/>
                </a:solidFill>
              </a:rPr>
              <a:t>5</a:t>
            </a:r>
            <a:endParaRPr lang="en-US" sz="1500" dirty="0"/>
          </a:p>
        </p:txBody>
      </p:sp>
      <p:sp>
        <p:nvSpPr>
          <p:cNvPr id="35" name="text-833"/>
          <p:cNvSpPr txBox="1"/>
          <p:nvPr/>
        </p:nvSpPr>
        <p:spPr>
          <a:xfrm>
            <a:off x="1325880" y="5266944"/>
            <a:ext cx="4480560" cy="274320"/>
          </a:xfrm>
          <a:prstGeom prst="rect">
            <a:avLst/>
          </a:prstGeom>
          <a:noFill/>
          <a:ln/>
        </p:spPr>
        <p:txBody>
          <a:bodyPr wrap="square" lIns="0" tIns="0" rIns="0" bIns="0" rtlCol="0" anchor="t"/>
          <a:lstStyle/>
          <a:p>
            <a:pPr indent="0" marL="0">
              <a:buNone/>
            </a:pPr>
            <a:r>
              <a:rPr lang="en-US" sz="1500" b="1" dirty="0">
                <a:solidFill>
                  <a:schemeClr val="tx1"/>
                </a:solidFill>
              </a:rPr>
              <a:t>Official Indian data, end to end</a:t>
            </a:r>
            <a:endParaRPr lang="en-US" sz="1500" dirty="0"/>
          </a:p>
        </p:txBody>
      </p:sp>
      <p:sp>
        <p:nvSpPr>
          <p:cNvPr id="36" name="text-834"/>
          <p:cNvSpPr txBox="1"/>
          <p:nvPr/>
        </p:nvSpPr>
        <p:spPr>
          <a:xfrm>
            <a:off x="1325880" y="5550408"/>
            <a:ext cx="4709160" cy="384048"/>
          </a:xfrm>
          <a:prstGeom prst="rect">
            <a:avLst/>
          </a:prstGeom>
          <a:noFill/>
          <a:ln/>
        </p:spPr>
        <p:txBody>
          <a:bodyPr wrap="square" lIns="0" tIns="0" rIns="0" bIns="0" rtlCol="0" anchor="t"/>
          <a:lstStyle/>
          <a:p>
            <a:pPr indent="0" marL="0">
              <a:buNone/>
            </a:pPr>
            <a:r>
              <a:rPr lang="en-US" sz="1200" dirty="0">
                <a:solidFill>
                  <a:schemeClr val="tx2"/>
                </a:solidFill>
              </a:rPr>
              <a:t>MoSPI, RBI DBIE, CGA and DGCI&amp;S behind ten FastMCP servers, cited down to the table</a:t>
            </a:r>
            <a:endParaRPr lang="en-US" sz="1200" dirty="0"/>
          </a:p>
        </p:txBody>
      </p:sp>
      <p:sp>
        <p:nvSpPr>
          <p:cNvPr id="37" name="card-835"/>
          <p:cNvSpPr/>
          <p:nvPr/>
        </p:nvSpPr>
        <p:spPr>
          <a:xfrm>
            <a:off x="5943600" y="5294376"/>
            <a:ext cx="1508760" cy="256032"/>
          </a:xfrm>
          <a:prstGeom prst="roundRect">
            <a:avLst>
              <a:gd name="adj" fmla="val 50000"/>
            </a:avLst>
          </a:prstGeom>
          <a:solidFill>
            <a:schemeClr val="bg1"/>
          </a:solidFill>
          <a:ln/>
        </p:spPr>
      </p:sp>
      <p:sp>
        <p:nvSpPr>
          <p:cNvPr id="38" name="text-836"/>
          <p:cNvSpPr txBox="1"/>
          <p:nvPr/>
        </p:nvSpPr>
        <p:spPr>
          <a:xfrm>
            <a:off x="5943600" y="5294376"/>
            <a:ext cx="1508760" cy="256032"/>
          </a:xfrm>
          <a:prstGeom prst="rect">
            <a:avLst/>
          </a:prstGeom>
          <a:noFill/>
          <a:ln/>
        </p:spPr>
        <p:txBody>
          <a:bodyPr wrap="square" lIns="0" tIns="0" rIns="0" bIns="0" rtlCol="0" anchor="ctr"/>
          <a:lstStyle/>
          <a:p>
            <a:pPr algn="ctr" indent="0" marL="0">
              <a:buNone/>
            </a:pPr>
            <a:r>
              <a:rPr lang="en-US" sz="950" b="1" spc="50" kern="0" dirty="0">
                <a:solidFill>
                  <a:schemeClr val="accent1"/>
                </a:solidFill>
                <a:latin typeface="Consolas" pitchFamily="34" charset="0"/>
                <a:ea typeface="Consolas" pitchFamily="34" charset="-122"/>
                <a:cs typeface="Consolas" pitchFamily="34" charset="-120"/>
              </a:rPr>
              <a:t>10 FastMCP servers</a:t>
            </a:r>
            <a:endParaRPr lang="en-US" sz="950" dirty="0"/>
          </a:p>
        </p:txBody>
      </p:sp>
      <p:sp>
        <p:nvSpPr>
          <p:cNvPr id="39" name="card-837"/>
          <p:cNvSpPr/>
          <p:nvPr/>
        </p:nvSpPr>
        <p:spPr>
          <a:xfrm>
            <a:off x="7863840" y="1600200"/>
            <a:ext cx="3779215" cy="4370832"/>
          </a:xfrm>
          <a:prstGeom prst="roundRect">
            <a:avLst>
              <a:gd name="adj" fmla="val 3387"/>
            </a:avLst>
          </a:prstGeom>
          <a:solidFill>
            <a:schemeClr val="tx1"/>
          </a:solidFill>
          <a:ln/>
        </p:spPr>
      </p:sp>
      <p:sp>
        <p:nvSpPr>
          <p:cNvPr id="40" name="text-838"/>
          <p:cNvSpPr txBox="1"/>
          <p:nvPr/>
        </p:nvSpPr>
        <p:spPr>
          <a:xfrm>
            <a:off x="8138160" y="1801368"/>
            <a:ext cx="3291840" cy="219456"/>
          </a:xfrm>
          <a:prstGeom prst="rect">
            <a:avLst/>
          </a:prstGeom>
          <a:noFill/>
          <a:ln/>
        </p:spPr>
        <p:txBody>
          <a:bodyPr wrap="square" lIns="0" tIns="0" rIns="0" bIns="0" rtlCol="0" anchor="t"/>
          <a:lstStyle/>
          <a:p>
            <a:pPr indent="0" marL="0">
              <a:buNone/>
            </a:pPr>
            <a:r>
              <a:rPr lang="en-US" sz="1100" b="1" spc="200" kern="0" dirty="0">
                <a:solidFill>
                  <a:schemeClr val="accent6"/>
                </a:solidFill>
              </a:rPr>
              <a:t>BUILT TO STAY RELIABLE</a:t>
            </a:r>
            <a:endParaRPr lang="en-US" sz="1100" dirty="0"/>
          </a:p>
        </p:txBody>
      </p:sp>
      <p:sp>
        <p:nvSpPr>
          <p:cNvPr id="41" name="card-839"/>
          <p:cNvSpPr/>
          <p:nvPr/>
        </p:nvSpPr>
        <p:spPr>
          <a:xfrm>
            <a:off x="8138160" y="2194560"/>
            <a:ext cx="420624" cy="420624"/>
          </a:xfrm>
          <a:prstGeom prst="roundRect">
            <a:avLst>
              <a:gd name="adj" fmla="val 22000"/>
            </a:avLst>
          </a:prstGeom>
          <a:solidFill>
            <a:schemeClr val="accent1"/>
          </a:solidFill>
          <a:ln/>
        </p:spPr>
      </p:sp>
      <p:pic>
        <p:nvPicPr>
          <p:cNvPr id="42" name="icon-840" descr="Signal icon">    </p:cNvPr>
          <p:cNvPicPr>
            <a:picLocks noChangeAspect="1"/>
          </p:cNvPicPr>
          <p:nvPr/>
        </p:nvPicPr>
        <p:blipFill>
          <a:blip r:embed="rId1"/>
          <a:stretch>
            <a:fillRect/>
          </a:stretch>
        </p:blipFill>
        <p:spPr>
          <a:xfrm>
            <a:off x="8230697" y="2287097"/>
            <a:ext cx="235549" cy="235549"/>
          </a:xfrm>
          <a:prstGeom prst="rect">
            <a:avLst/>
          </a:prstGeom>
        </p:spPr>
      </p:pic>
      <p:sp>
        <p:nvSpPr>
          <p:cNvPr id="43" name="text-841"/>
          <p:cNvSpPr txBox="1"/>
          <p:nvPr/>
        </p:nvSpPr>
        <p:spPr>
          <a:xfrm>
            <a:off x="8732520" y="2176272"/>
            <a:ext cx="2727655" cy="274320"/>
          </a:xfrm>
          <a:prstGeom prst="rect">
            <a:avLst/>
          </a:prstGeom>
          <a:noFill/>
          <a:ln/>
        </p:spPr>
        <p:txBody>
          <a:bodyPr wrap="square" lIns="0" tIns="0" rIns="0" bIns="0" rtlCol="0" anchor="t"/>
          <a:lstStyle/>
          <a:p>
            <a:pPr indent="0" marL="0">
              <a:buNone/>
            </a:pPr>
            <a:r>
              <a:rPr lang="en-US" sz="1450" b="1" dirty="0">
                <a:solidFill>
                  <a:schemeClr val="bg1"/>
                </a:solidFill>
              </a:rPr>
              <a:t>Live, cached, unavailable</a:t>
            </a:r>
            <a:endParaRPr lang="en-US" sz="1450" dirty="0"/>
          </a:p>
        </p:txBody>
      </p:sp>
      <p:sp>
        <p:nvSpPr>
          <p:cNvPr id="44" name="text-842"/>
          <p:cNvSpPr txBox="1"/>
          <p:nvPr/>
        </p:nvSpPr>
        <p:spPr>
          <a:xfrm>
            <a:off x="8732520" y="2468880"/>
            <a:ext cx="2727655" cy="566928"/>
          </a:xfrm>
          <a:prstGeom prst="rect">
            <a:avLst/>
          </a:prstGeom>
          <a:noFill/>
          <a:ln/>
        </p:spPr>
        <p:txBody>
          <a:bodyPr wrap="square" lIns="0" tIns="0" rIns="0" bIns="0" rtlCol="0" anchor="t"/>
          <a:lstStyle/>
          <a:p>
            <a:pPr indent="0" marL="0">
              <a:buNone/>
            </a:pPr>
            <a:r>
              <a:rPr lang="en-US" sz="1150" dirty="0">
                <a:solidFill>
                  <a:schemeClr val="bg1">
                    <a:alpha val="78000"/>
                  </a:schemeClr>
                </a:solidFill>
              </a:rPr>
              <a:t>Every value comes from its source, a tagged snapshot or a clear unavailable status</a:t>
            </a:r>
            <a:endParaRPr lang="en-US" sz="1150" dirty="0"/>
          </a:p>
        </p:txBody>
      </p:sp>
      <p:sp>
        <p:nvSpPr>
          <p:cNvPr id="45" name="card-843"/>
          <p:cNvSpPr/>
          <p:nvPr/>
        </p:nvSpPr>
        <p:spPr>
          <a:xfrm>
            <a:off x="8138160" y="3182112"/>
            <a:ext cx="420624" cy="420624"/>
          </a:xfrm>
          <a:prstGeom prst="roundRect">
            <a:avLst>
              <a:gd name="adj" fmla="val 22000"/>
            </a:avLst>
          </a:prstGeom>
          <a:solidFill>
            <a:schemeClr val="accent1"/>
          </a:solidFill>
          <a:ln/>
        </p:spPr>
      </p:sp>
      <p:pic>
        <p:nvPicPr>
          <p:cNvPr id="46" name="icon-844" descr="Cpu icon">    </p:cNvPr>
          <p:cNvPicPr>
            <a:picLocks noChangeAspect="1"/>
          </p:cNvPicPr>
          <p:nvPr/>
        </p:nvPicPr>
        <p:blipFill>
          <a:blip r:embed="rId2"/>
          <a:stretch>
            <a:fillRect/>
          </a:stretch>
        </p:blipFill>
        <p:spPr>
          <a:xfrm>
            <a:off x="8230697" y="3274649"/>
            <a:ext cx="235549" cy="235549"/>
          </a:xfrm>
          <a:prstGeom prst="rect">
            <a:avLst/>
          </a:prstGeom>
        </p:spPr>
      </p:pic>
      <p:sp>
        <p:nvSpPr>
          <p:cNvPr id="47" name="text-845"/>
          <p:cNvSpPr txBox="1"/>
          <p:nvPr/>
        </p:nvSpPr>
        <p:spPr>
          <a:xfrm>
            <a:off x="8732520" y="3163824"/>
            <a:ext cx="2727655" cy="274320"/>
          </a:xfrm>
          <a:prstGeom prst="rect">
            <a:avLst/>
          </a:prstGeom>
          <a:noFill/>
          <a:ln/>
        </p:spPr>
        <p:txBody>
          <a:bodyPr wrap="square" lIns="0" tIns="0" rIns="0" bIns="0" rtlCol="0" anchor="t"/>
          <a:lstStyle/>
          <a:p>
            <a:pPr indent="0" marL="0">
              <a:buNone/>
            </a:pPr>
            <a:r>
              <a:rPr lang="en-US" sz="1450" b="1" dirty="0">
                <a:solidFill>
                  <a:schemeClr val="bg1"/>
                </a:solidFill>
              </a:rPr>
              <a:t>Works offline</a:t>
            </a:r>
            <a:endParaRPr lang="en-US" sz="1450" dirty="0"/>
          </a:p>
        </p:txBody>
      </p:sp>
      <p:sp>
        <p:nvSpPr>
          <p:cNvPr id="48" name="text-846"/>
          <p:cNvSpPr txBox="1"/>
          <p:nvPr/>
        </p:nvSpPr>
        <p:spPr>
          <a:xfrm>
            <a:off x="8732520" y="3456432"/>
            <a:ext cx="2727655" cy="566928"/>
          </a:xfrm>
          <a:prstGeom prst="rect">
            <a:avLst/>
          </a:prstGeom>
          <a:noFill/>
          <a:ln/>
        </p:spPr>
        <p:txBody>
          <a:bodyPr wrap="square" lIns="0" tIns="0" rIns="0" bIns="0" rtlCol="0" anchor="t"/>
          <a:lstStyle/>
          <a:p>
            <a:pPr indent="0" marL="0">
              <a:buNone/>
            </a:pPr>
            <a:r>
              <a:rPr lang="en-US" sz="1150" dirty="0">
                <a:solidFill>
                  <a:schemeClr val="bg1">
                    <a:alpha val="78000"/>
                  </a:schemeClr>
                </a:solidFill>
              </a:rPr>
              <a:t>Each stage has a deterministic fallback, so answers arrive even without an LLM key</a:t>
            </a:r>
            <a:endParaRPr lang="en-US" sz="1150" dirty="0"/>
          </a:p>
        </p:txBody>
      </p:sp>
      <p:sp>
        <p:nvSpPr>
          <p:cNvPr id="49" name="card-847"/>
          <p:cNvSpPr/>
          <p:nvPr/>
        </p:nvSpPr>
        <p:spPr>
          <a:xfrm>
            <a:off x="8138160" y="4169664"/>
            <a:ext cx="420624" cy="420624"/>
          </a:xfrm>
          <a:prstGeom prst="roundRect">
            <a:avLst>
              <a:gd name="adj" fmla="val 22000"/>
            </a:avLst>
          </a:prstGeom>
          <a:solidFill>
            <a:schemeClr val="accent1"/>
          </a:solidFill>
          <a:ln/>
        </p:spPr>
      </p:sp>
      <p:pic>
        <p:nvPicPr>
          <p:cNvPr id="50" name="icon-848" descr="Fingerprint icon">    </p:cNvPr>
          <p:cNvPicPr>
            <a:picLocks noChangeAspect="1"/>
          </p:cNvPicPr>
          <p:nvPr/>
        </p:nvPicPr>
        <p:blipFill>
          <a:blip r:embed="rId3"/>
          <a:stretch>
            <a:fillRect/>
          </a:stretch>
        </p:blipFill>
        <p:spPr>
          <a:xfrm>
            <a:off x="8230697" y="4262201"/>
            <a:ext cx="235549" cy="235549"/>
          </a:xfrm>
          <a:prstGeom prst="rect">
            <a:avLst/>
          </a:prstGeom>
        </p:spPr>
      </p:pic>
      <p:sp>
        <p:nvSpPr>
          <p:cNvPr id="51" name="text-849"/>
          <p:cNvSpPr txBox="1"/>
          <p:nvPr/>
        </p:nvSpPr>
        <p:spPr>
          <a:xfrm>
            <a:off x="8732520" y="4151376"/>
            <a:ext cx="2727655" cy="274320"/>
          </a:xfrm>
          <a:prstGeom prst="rect">
            <a:avLst/>
          </a:prstGeom>
          <a:noFill/>
          <a:ln/>
        </p:spPr>
        <p:txBody>
          <a:bodyPr wrap="square" lIns="0" tIns="0" rIns="0" bIns="0" rtlCol="0" anchor="t"/>
          <a:lstStyle/>
          <a:p>
            <a:pPr indent="0" marL="0">
              <a:buNone/>
            </a:pPr>
            <a:r>
              <a:rPr lang="en-US" sz="1450" b="1" dirty="0">
                <a:solidFill>
                  <a:schemeClr val="bg1"/>
                </a:solidFill>
              </a:rPr>
              <a:t>Fully traceable</a:t>
            </a:r>
            <a:endParaRPr lang="en-US" sz="1450" dirty="0"/>
          </a:p>
        </p:txBody>
      </p:sp>
      <p:sp>
        <p:nvSpPr>
          <p:cNvPr id="52" name="text-850"/>
          <p:cNvSpPr txBox="1"/>
          <p:nvPr/>
        </p:nvSpPr>
        <p:spPr>
          <a:xfrm>
            <a:off x="8732520" y="4443984"/>
            <a:ext cx="2727655" cy="566928"/>
          </a:xfrm>
          <a:prstGeom prst="rect">
            <a:avLst/>
          </a:prstGeom>
          <a:noFill/>
          <a:ln/>
        </p:spPr>
        <p:txBody>
          <a:bodyPr wrap="square" lIns="0" tIns="0" rIns="0" bIns="0" rtlCol="0" anchor="t"/>
          <a:lstStyle/>
          <a:p>
            <a:pPr indent="0" marL="0">
              <a:buNone/>
            </a:pPr>
            <a:r>
              <a:rPr lang="en-US" sz="1150" dirty="0">
                <a:solidFill>
                  <a:schemeClr val="bg1">
                    <a:alpha val="78000"/>
                  </a:schemeClr>
                </a:solidFill>
              </a:rPr>
              <a:t>Every A2A call carries correlation IDs and joins a conversation trace tree</a:t>
            </a:r>
            <a:endParaRPr lang="en-US" sz="1150" dirty="0"/>
          </a:p>
        </p:txBody>
      </p:sp>
      <p:sp>
        <p:nvSpPr>
          <p:cNvPr id="53" name="card-851"/>
          <p:cNvSpPr/>
          <p:nvPr/>
        </p:nvSpPr>
        <p:spPr>
          <a:xfrm>
            <a:off x="8138160" y="5376672"/>
            <a:ext cx="2240280" cy="310896"/>
          </a:xfrm>
          <a:prstGeom prst="roundRect">
            <a:avLst>
              <a:gd name="adj" fmla="val 50000"/>
            </a:avLst>
          </a:prstGeom>
          <a:solidFill>
            <a:schemeClr val="accent2"/>
          </a:solidFill>
          <a:ln/>
        </p:spPr>
      </p:sp>
      <p:sp>
        <p:nvSpPr>
          <p:cNvPr id="54" name="text-852"/>
          <p:cNvSpPr txBox="1"/>
          <p:nvPr/>
        </p:nvSpPr>
        <p:spPr>
          <a:xfrm>
            <a:off x="8138160" y="5376672"/>
            <a:ext cx="2240280" cy="310896"/>
          </a:xfrm>
          <a:prstGeom prst="rect">
            <a:avLst/>
          </a:prstGeom>
          <a:noFill/>
          <a:ln/>
        </p:spPr>
        <p:txBody>
          <a:bodyPr wrap="square" lIns="0" tIns="0" rIns="0" bIns="0" rtlCol="0" anchor="ctr"/>
          <a:lstStyle/>
          <a:p>
            <a:pPr algn="ctr" indent="0" marL="0">
              <a:buNone/>
            </a:pPr>
            <a:r>
              <a:rPr lang="en-US" sz="1100" b="1" spc="50" kern="0" dirty="0">
                <a:solidFill>
                  <a:schemeClr val="tx1"/>
                </a:solidFill>
              </a:rPr>
              <a:t>550 / 551 TESTS PASSING</a:t>
            </a:r>
            <a:endParaRPr lang="en-US" sz="1100" dirty="0"/>
          </a:p>
        </p:txBody>
      </p:sp>
      <p:sp>
        <p:nvSpPr>
          <p:cNvPr id="25" name="Slide Number Placeholder 0"/>
          <p:cNvSpPr>
            <a:spLocks noGrp="1"/>
          </p:cNvSpPr>
          <p:nvPr>
            <p:ph type="sldNum" sz="quarter" idx="4294967295"/>
          </p:nvPr>
        </p:nvSpPr>
        <p:spPr>
          <a:xfrm>
            <a:off x="11091672" y="6446520"/>
            <a:ext cx="548640" cy="22860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51607A"/>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ctr"/>
          <a:lstStyle/>
          <a:p>
            <a:pPr indent="0" marL="0">
              <a:buNone/>
            </a:pPr>
            <a:r>
              <a:rPr lang="en-US" sz="1200" b="1" spc="200" kern="0" dirty="0">
                <a:solidFill>
                  <a:schemeClr val="accent1"/>
                </a:solidFill>
              </a:rPr>
              <a:t>SAMPLE OUTPUT</a:t>
            </a:r>
            <a:endParaRPr lang="en-US" sz="1200" dirty="0"/>
          </a:p>
        </p:txBody>
      </p:sp>
      <p:sp>
        <p:nvSpPr>
          <p:cNvPr id="3" name="Text 0"/>
          <p:cNvSpPr/>
          <p:nvPr>
            <p:ph idx="101" type="title" hasCustomPrompt="1"/>
          </p:nvPr>
        </p:nvSpPr>
        <p:spPr>
          <a:xfrm>
            <a:off x="548640" y="676656"/>
            <a:ext cx="11094415" cy="713232"/>
          </a:xfrm>
          <a:prstGeom prst="rect">
            <a:avLst/>
          </a:prstGeom>
          <a:noFill/>
          <a:ln/>
        </p:spPr>
        <p:txBody>
          <a:bodyPr wrap="square" lIns="0" tIns="0" rIns="0" bIns="0" rtlCol="0" anchor="t"/>
          <a:lstStyle/>
          <a:p>
            <a:pPr algn="l" indent="0" marL="0">
              <a:buNone/>
            </a:pPr>
            <a:r>
              <a:rPr lang="en-US" sz="3600" b="1" dirty="0">
                <a:solidFill>
                  <a:schemeClr val="tx1"/>
                </a:solidFill>
              </a:rPr>
              <a:t>What a cited answer looks like</a:t>
            </a:r>
            <a:endParaRPr lang="en-US" sz="3600" dirty="0"/>
          </a:p>
        </p:txBody>
      </p:sp>
      <p:sp>
        <p:nvSpPr>
          <p:cNvPr id="4" name="text-853"/>
          <p:cNvSpPr txBox="1"/>
          <p:nvPr/>
        </p:nvSpPr>
        <p:spPr>
          <a:xfrm>
            <a:off x="548640" y="1572768"/>
            <a:ext cx="3657600" cy="219456"/>
          </a:xfrm>
          <a:prstGeom prst="rect">
            <a:avLst/>
          </a:prstGeom>
          <a:noFill/>
          <a:ln/>
        </p:spPr>
        <p:txBody>
          <a:bodyPr wrap="square" lIns="0" tIns="0" rIns="0" bIns="0" rtlCol="0" anchor="t"/>
          <a:lstStyle/>
          <a:p>
            <a:pPr indent="0" marL="0">
              <a:buNone/>
            </a:pPr>
            <a:r>
              <a:rPr lang="en-US" sz="1100" b="1" spc="200" kern="0" dirty="0">
                <a:solidFill>
                  <a:schemeClr val="accent1"/>
                </a:solidFill>
              </a:rPr>
              <a:t>INDICATOR MATRIX</a:t>
            </a:r>
            <a:endParaRPr lang="en-US" sz="1100" dirty="0"/>
          </a:p>
        </p:txBody>
      </p:sp>
      <p:graphicFrame>
        <p:nvGraphicFramePr>
          <p:cNvPr id="19" name="sample-indicator-matrix"/>
          <p:cNvGraphicFramePr>
            <a:graphicFrameLocks noGrp="1"/>
          </p:cNvGraphicFramePr>
          <p:nvPr>
            <p:extLst>
              <p:ext uri="{D42A27DB-BD31-4B8C-83A1-F6EECF244321}">
                <p14:modId xmlns:p14="http://schemas.microsoft.com/office/powerpoint/2010/main" val="1579011935"/>
              </p:ext>
            </p:extLst>
          </p:nvPr>
        </p:nvGraphicFramePr>
        <p:xfrm>
          <a:off x="548640" y="1828800"/>
          <a:ext cx="7178040" cy="914400"/>
        </p:xfrm>
        <a:graphic>
          <a:graphicData uri="http://schemas.openxmlformats.org/drawingml/2006/table">
            <a:tbl>
              <a:tblPr/>
              <a:tblGrid>
                <a:gridCol w="2377440"/>
                <a:gridCol w="822960"/>
                <a:gridCol w="914400"/>
                <a:gridCol w="1234440"/>
                <a:gridCol w="1828800"/>
              </a:tblGrid>
              <a:tr h="329184">
                <a:tc>
                  <a:txBody>
                    <a:bodyPr/>
                    <a:lstStyle/>
                    <a:p>
                      <a:pPr indent="0" marL="0">
                        <a:buNone/>
                      </a:pPr>
                      <a:r>
                        <a:rPr lang="en-US" sz="1150" b="1" dirty="0">
                          <a:solidFill>
                            <a:schemeClr val="bg1"/>
                          </a:solidFill>
                        </a:rPr>
                        <a:t>Indicator</a:t>
                      </a:r>
                      <a:endParaRPr lang="en-US" sz="1150" dirty="0"/>
                    </a:p>
                  </a:txBody>
                  <a:tcPr marL="91440" marR="91440" marT="18288" marB="18288" anchor="ctr">
                    <a:lnL w="0" cap="flat" cmpd="sng" algn="ctr">
                      <a:noFill/>
                    </a:lnL>
                    <a:lnR w="0" cap="flat" cmpd="sng" algn="ctr">
                      <a:noFill/>
                    </a:lnR>
                    <a:lnT w="0" cap="flat" cmpd="sng" algn="ctr">
                      <a:noFill/>
                    </a:lnT>
                    <a:lnB w="0" cap="flat" cmpd="sng" algn="ctr">
                      <a:noFill/>
                    </a:lnB>
                    <a:solidFill>
                      <a:schemeClr val="tx1"/>
                    </a:solidFill>
                  </a:tcPr>
                </a:tc>
                <a:tc>
                  <a:txBody>
                    <a:bodyPr/>
                    <a:lstStyle/>
                    <a:p>
                      <a:pPr indent="0" marL="0">
                        <a:buNone/>
                      </a:pPr>
                      <a:r>
                        <a:rPr lang="en-US" sz="1150" b="1" dirty="0">
                          <a:solidFill>
                            <a:schemeClr val="bg1"/>
                          </a:solidFill>
                        </a:rPr>
                        <a:t>Value</a:t>
                      </a:r>
                      <a:endParaRPr lang="en-US" sz="1150" dirty="0"/>
                    </a:p>
                  </a:txBody>
                  <a:tcPr marL="91440" marR="91440" marT="18288" marB="18288" anchor="ctr">
                    <a:lnL w="0" cap="flat" cmpd="sng" algn="ctr">
                      <a:noFill/>
                    </a:lnL>
                    <a:lnR w="0" cap="flat" cmpd="sng" algn="ctr">
                      <a:noFill/>
                    </a:lnR>
                    <a:lnT w="0" cap="flat" cmpd="sng" algn="ctr">
                      <a:noFill/>
                    </a:lnT>
                    <a:lnB w="0" cap="flat" cmpd="sng" algn="ctr">
                      <a:noFill/>
                    </a:lnB>
                    <a:solidFill>
                      <a:schemeClr val="tx1"/>
                    </a:solidFill>
                  </a:tcPr>
                </a:tc>
                <a:tc>
                  <a:txBody>
                    <a:bodyPr/>
                    <a:lstStyle/>
                    <a:p>
                      <a:pPr indent="0" marL="0">
                        <a:buNone/>
                      </a:pPr>
                      <a:r>
                        <a:rPr lang="en-US" sz="1150" b="1" dirty="0">
                          <a:solidFill>
                            <a:schemeClr val="bg1"/>
                          </a:solidFill>
                        </a:rPr>
                        <a:t>Period</a:t>
                      </a:r>
                      <a:endParaRPr lang="en-US" sz="1150" dirty="0"/>
                    </a:p>
                  </a:txBody>
                  <a:tcPr marL="91440" marR="91440" marT="18288" marB="18288" anchor="ctr">
                    <a:lnL w="0" cap="flat" cmpd="sng" algn="ctr">
                      <a:noFill/>
                    </a:lnL>
                    <a:lnR w="0" cap="flat" cmpd="sng" algn="ctr">
                      <a:noFill/>
                    </a:lnR>
                    <a:lnT w="0" cap="flat" cmpd="sng" algn="ctr">
                      <a:noFill/>
                    </a:lnT>
                    <a:lnB w="0" cap="flat" cmpd="sng" algn="ctr">
                      <a:noFill/>
                    </a:lnB>
                    <a:solidFill>
                      <a:schemeClr val="tx1"/>
                    </a:solidFill>
                  </a:tcPr>
                </a:tc>
                <a:tc>
                  <a:txBody>
                    <a:bodyPr/>
                    <a:lstStyle/>
                    <a:p>
                      <a:pPr indent="0" marL="0">
                        <a:buNone/>
                      </a:pPr>
                      <a:r>
                        <a:rPr lang="en-US" sz="1150" b="1" dirty="0">
                          <a:solidFill>
                            <a:schemeClr val="bg1"/>
                          </a:solidFill>
                        </a:rPr>
                        <a:t>Source</a:t>
                      </a:r>
                      <a:endParaRPr lang="en-US" sz="1150" dirty="0"/>
                    </a:p>
                  </a:txBody>
                  <a:tcPr marL="91440" marR="91440" marT="18288" marB="18288" anchor="ctr">
                    <a:lnL w="0" cap="flat" cmpd="sng" algn="ctr">
                      <a:noFill/>
                    </a:lnL>
                    <a:lnR w="0" cap="flat" cmpd="sng" algn="ctr">
                      <a:noFill/>
                    </a:lnR>
                    <a:lnT w="0" cap="flat" cmpd="sng" algn="ctr">
                      <a:noFill/>
                    </a:lnT>
                    <a:lnB w="0" cap="flat" cmpd="sng" algn="ctr">
                      <a:noFill/>
                    </a:lnB>
                    <a:solidFill>
                      <a:schemeClr val="tx1"/>
                    </a:solidFill>
                  </a:tcPr>
                </a:tc>
                <a:tc>
                  <a:txBody>
                    <a:bodyPr/>
                    <a:lstStyle/>
                    <a:p>
                      <a:pPr indent="0" marL="0">
                        <a:buNone/>
                      </a:pPr>
                      <a:r>
                        <a:rPr lang="en-US" sz="1150" b="1" dirty="0">
                          <a:solidFill>
                            <a:schemeClr val="bg1"/>
                          </a:solidFill>
                        </a:rPr>
                        <a:t>Provenance hash</a:t>
                      </a:r>
                      <a:endParaRPr lang="en-US" sz="1150" dirty="0"/>
                    </a:p>
                  </a:txBody>
                  <a:tcPr marL="91440" marR="91440" marT="18288" marB="18288" anchor="ctr">
                    <a:lnL w="0" cap="flat" cmpd="sng" algn="ctr">
                      <a:noFill/>
                    </a:lnL>
                    <a:lnR w="0" cap="flat" cmpd="sng" algn="ctr">
                      <a:noFill/>
                    </a:lnR>
                    <a:lnT w="0" cap="flat" cmpd="sng" algn="ctr">
                      <a:noFill/>
                    </a:lnT>
                    <a:lnB w="0" cap="flat" cmpd="sng" algn="ctr">
                      <a:noFill/>
                    </a:lnB>
                    <a:solidFill>
                      <a:schemeClr val="tx1"/>
                    </a:solidFill>
                  </a:tcPr>
                </a:tc>
              </a:tr>
              <a:tr h="384048">
                <a:tc>
                  <a:txBody>
                    <a:bodyPr/>
                    <a:lstStyle/>
                    <a:p>
                      <a:pPr indent="0" marL="0">
                        <a:buNone/>
                      </a:pPr>
                      <a:r>
                        <a:rPr lang="en-US" sz="1050" dirty="0">
                          <a:solidFill>
                            <a:schemeClr val="accent1"/>
                          </a:solidFill>
                          <a:latin typeface="Consolas" pitchFamily="34" charset="0"/>
                          <a:ea typeface="Consolas" pitchFamily="34" charset="-122"/>
                          <a:cs typeface="Consolas" pitchFamily="34" charset="-120"/>
                        </a:rPr>
                        <a:t>in.macro.prices.cpi_headline</a:t>
                      </a:r>
                      <a:endParaRPr lang="en-US" sz="1050" dirty="0">
                        <a:latin typeface="Consolas" charset="0"/>
                        <a:ea typeface="Consolas" charset="0"/>
                        <a:cs typeface="Consolas" charset="0"/>
                      </a:endParaRPr>
                    </a:p>
                  </a:txBody>
                  <a:tcPr marL="91440" marR="91440" marT="18288" marB="18288"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200" b="1" dirty="0">
                          <a:solidFill>
                            <a:schemeClr val="tx1"/>
                          </a:solidFill>
                        </a:rPr>
                        <a:t>5.54 %</a:t>
                      </a:r>
                      <a:endParaRPr lang="en-US" sz="1200" dirty="0"/>
                    </a:p>
                  </a:txBody>
                  <a:tcPr marL="91440" marR="91440" marT="18288" marB="18288"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200" dirty="0">
                          <a:solidFill>
                            <a:schemeClr val="tx1"/>
                          </a:solidFill>
                        </a:rPr>
                        <a:t>Sep 2026</a:t>
                      </a:r>
                      <a:endParaRPr lang="en-US" sz="1200" dirty="0"/>
                    </a:p>
                  </a:txBody>
                  <a:tcPr marL="91440" marR="91440" marT="18288" marB="18288"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200" dirty="0">
                          <a:solidFill>
                            <a:schemeClr val="tx1"/>
                          </a:solidFill>
                        </a:rPr>
                        <a:t>MoSPI (NSO)</a:t>
                      </a:r>
                      <a:endParaRPr lang="en-US" sz="1200" dirty="0"/>
                    </a:p>
                  </a:txBody>
                  <a:tcPr marL="91440" marR="91440" marT="18288" marB="18288"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050" dirty="0">
                          <a:solidFill>
                            <a:schemeClr val="accent1"/>
                          </a:solidFill>
                          <a:latin typeface="Consolas" pitchFamily="34" charset="0"/>
                          <a:ea typeface="Consolas" pitchFamily="34" charset="-122"/>
                          <a:cs typeface="Consolas" pitchFamily="34" charset="-120"/>
                        </a:rPr>
                        <a:t>fed3aaaa910e5b26</a:t>
                      </a:r>
                      <a:endParaRPr lang="en-US" sz="1050" dirty="0">
                        <a:latin typeface="Consolas" charset="0"/>
                        <a:ea typeface="Consolas" charset="0"/>
                        <a:cs typeface="Consolas" charset="0"/>
                      </a:endParaRPr>
                    </a:p>
                  </a:txBody>
                  <a:tcPr marL="91440" marR="91440" marT="18288" marB="18288" anchor="ctr">
                    <a:lnL w="0" cap="flat" cmpd="sng" algn="ctr">
                      <a:noFill/>
                    </a:lnL>
                    <a:lnR w="0" cap="flat" cmpd="sng" algn="ctr">
                      <a:noFill/>
                    </a:lnR>
                    <a:lnT w="0" cap="flat" cmpd="sng" algn="ctr">
                      <a:noFill/>
                    </a:lnT>
                    <a:lnB w="0" cap="flat" cmpd="sng" algn="ctr">
                      <a:noFill/>
                    </a:lnB>
                    <a:solidFill>
                      <a:schemeClr val="bg1"/>
                    </a:solidFill>
                  </a:tcPr>
                </a:tc>
              </a:tr>
              <a:tr h="384048">
                <a:tc>
                  <a:txBody>
                    <a:bodyPr/>
                    <a:lstStyle/>
                    <a:p>
                      <a:pPr indent="0" marL="0">
                        <a:buNone/>
                      </a:pPr>
                      <a:r>
                        <a:rPr lang="en-US" sz="1050" dirty="0">
                          <a:solidFill>
                            <a:schemeClr val="accent1"/>
                          </a:solidFill>
                          <a:latin typeface="Consolas" pitchFamily="34" charset="0"/>
                          <a:ea typeface="Consolas" pitchFamily="34" charset="-122"/>
                          <a:cs typeface="Consolas" pitchFamily="34" charset="-120"/>
                        </a:rPr>
                        <a:t>in.macro.monetary.repo_rate</a:t>
                      </a:r>
                      <a:endParaRPr lang="en-US" sz="1050" dirty="0">
                        <a:latin typeface="Consolas" charset="0"/>
                        <a:ea typeface="Consolas" charset="0"/>
                        <a:cs typeface="Consolas" charset="0"/>
                      </a:endParaRPr>
                    </a:p>
                  </a:txBody>
                  <a:tcPr marL="91440" marR="91440" marT="18288" marB="18288"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200" b="1" dirty="0">
                          <a:solidFill>
                            <a:schemeClr val="tx1"/>
                          </a:solidFill>
                        </a:rPr>
                        <a:t>5.25 %</a:t>
                      </a:r>
                      <a:endParaRPr lang="en-US" sz="1200" dirty="0"/>
                    </a:p>
                  </a:txBody>
                  <a:tcPr marL="91440" marR="91440" marT="18288" marB="18288"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200" dirty="0">
                          <a:solidFill>
                            <a:schemeClr val="tx1"/>
                          </a:solidFill>
                        </a:rPr>
                        <a:t>Feb 2026</a:t>
                      </a:r>
                      <a:endParaRPr lang="en-US" sz="1200" dirty="0"/>
                    </a:p>
                  </a:txBody>
                  <a:tcPr marL="91440" marR="91440" marT="18288" marB="18288"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200" dirty="0">
                          <a:solidFill>
                            <a:schemeClr val="tx1"/>
                          </a:solidFill>
                        </a:rPr>
                        <a:t>RBI DBIE</a:t>
                      </a:r>
                      <a:endParaRPr lang="en-US" sz="1200" dirty="0"/>
                    </a:p>
                  </a:txBody>
                  <a:tcPr marL="91440" marR="91440" marT="18288" marB="18288"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050" dirty="0">
                          <a:solidFill>
                            <a:schemeClr val="accent1"/>
                          </a:solidFill>
                          <a:latin typeface="Consolas" pitchFamily="34" charset="0"/>
                          <a:ea typeface="Consolas" pitchFamily="34" charset="-122"/>
                          <a:cs typeface="Consolas" pitchFamily="34" charset="-120"/>
                        </a:rPr>
                        <a:t>37e0e36c25c48aea</a:t>
                      </a:r>
                      <a:endParaRPr lang="en-US" sz="1050" dirty="0">
                        <a:latin typeface="Consolas" charset="0"/>
                        <a:ea typeface="Consolas" charset="0"/>
                        <a:cs typeface="Consolas" charset="0"/>
                      </a:endParaRPr>
                    </a:p>
                  </a:txBody>
                  <a:tcPr marL="91440" marR="91440" marT="18288" marB="18288" anchor="ctr">
                    <a:lnL w="0" cap="flat" cmpd="sng" algn="ctr">
                      <a:noFill/>
                    </a:lnL>
                    <a:lnR w="0" cap="flat" cmpd="sng" algn="ctr">
                      <a:noFill/>
                    </a:lnR>
                    <a:lnT w="0" cap="flat" cmpd="sng" algn="ctr">
                      <a:noFill/>
                    </a:lnT>
                    <a:lnB w="0" cap="flat" cmpd="sng" algn="ctr">
                      <a:noFill/>
                    </a:lnB>
                    <a:solidFill>
                      <a:schemeClr val="bg2"/>
                    </a:solidFill>
                  </a:tcPr>
                </a:tc>
              </a:tr>
            </a:tbl>
          </a:graphicData>
        </a:graphic>
      </p:graphicFrame>
      <p:sp>
        <p:nvSpPr>
          <p:cNvPr id="6" name="text-854"/>
          <p:cNvSpPr txBox="1"/>
          <p:nvPr/>
        </p:nvSpPr>
        <p:spPr>
          <a:xfrm>
            <a:off x="548640" y="3154680"/>
            <a:ext cx="7178040" cy="219456"/>
          </a:xfrm>
          <a:prstGeom prst="rect">
            <a:avLst/>
          </a:prstGeom>
          <a:noFill/>
          <a:ln/>
        </p:spPr>
        <p:txBody>
          <a:bodyPr wrap="square" lIns="0" tIns="0" rIns="0" bIns="0" rtlCol="0" anchor="t"/>
          <a:lstStyle/>
          <a:p>
            <a:pPr indent="0" marL="0">
              <a:buNone/>
            </a:pPr>
            <a:r>
              <a:rPr lang="en-US" sz="1100" b="1" spc="200" kern="0" dirty="0">
                <a:solidFill>
                  <a:schemeClr val="accent1"/>
                </a:solidFill>
              </a:rPr>
              <a:t>SCENARIO TABLE  </a:t>
            </a:r>
            <a:pPr indent="0" marL="0">
              <a:buNone/>
            </a:pPr>
            <a:r>
              <a:rPr lang="en-US" sz="1100" i="1" dirty="0">
                <a:solidFill>
                  <a:schemeClr val="tx2"/>
                </a:solidFill>
              </a:rPr>
              <a:t>Brent +$20/bbl, live baselines, labelled simulated</a:t>
            </a:r>
            <a:endParaRPr lang="en-US" sz="1100" dirty="0"/>
          </a:p>
        </p:txBody>
      </p:sp>
      <p:graphicFrame>
        <p:nvGraphicFramePr>
          <p:cNvPr id="37" name="sample-scenario-table"/>
          <p:cNvGraphicFramePr>
            <a:graphicFrameLocks noGrp="1"/>
          </p:cNvGraphicFramePr>
          <p:nvPr>
            <p:extLst>
              <p:ext uri="{D42A27DB-BD31-4B8C-83A1-F6EECF244321}">
                <p14:modId xmlns:p14="http://schemas.microsoft.com/office/powerpoint/2010/main" val="1579011935"/>
              </p:ext>
            </p:extLst>
          </p:nvPr>
        </p:nvGraphicFramePr>
        <p:xfrm>
          <a:off x="548640" y="3410712"/>
          <a:ext cx="7178040" cy="914400"/>
        </p:xfrm>
        <a:graphic>
          <a:graphicData uri="http://schemas.openxmlformats.org/drawingml/2006/table">
            <a:tbl>
              <a:tblPr/>
              <a:tblGrid>
                <a:gridCol w="2148840"/>
                <a:gridCol w="960120"/>
                <a:gridCol w="960120"/>
                <a:gridCol w="914400"/>
                <a:gridCol w="731520"/>
                <a:gridCol w="1463040"/>
              </a:tblGrid>
              <a:tr h="329184">
                <a:tc>
                  <a:txBody>
                    <a:bodyPr/>
                    <a:lstStyle/>
                    <a:p>
                      <a:pPr indent="0" marL="0">
                        <a:buNone/>
                      </a:pPr>
                      <a:r>
                        <a:rPr lang="en-US" sz="1150" b="1" dirty="0">
                          <a:solidFill>
                            <a:schemeClr val="bg1"/>
                          </a:solidFill>
                        </a:rPr>
                        <a:t>Target</a:t>
                      </a:r>
                      <a:endParaRPr lang="en-US" sz="1150" dirty="0"/>
                    </a:p>
                  </a:txBody>
                  <a:tcPr marL="91440" marR="91440" marT="18288" marB="18288" anchor="ctr">
                    <a:lnL w="0" cap="flat" cmpd="sng" algn="ctr">
                      <a:noFill/>
                    </a:lnL>
                    <a:lnR w="0" cap="flat" cmpd="sng" algn="ctr">
                      <a:noFill/>
                    </a:lnR>
                    <a:lnT w="0" cap="flat" cmpd="sng" algn="ctr">
                      <a:noFill/>
                    </a:lnT>
                    <a:lnB w="0" cap="flat" cmpd="sng" algn="ctr">
                      <a:noFill/>
                    </a:lnB>
                    <a:solidFill>
                      <a:schemeClr val="tx1"/>
                    </a:solidFill>
                  </a:tcPr>
                </a:tc>
                <a:tc>
                  <a:txBody>
                    <a:bodyPr/>
                    <a:lstStyle/>
                    <a:p>
                      <a:pPr indent="0" marL="0">
                        <a:buNone/>
                      </a:pPr>
                      <a:r>
                        <a:rPr lang="en-US" sz="1150" b="1" dirty="0">
                          <a:solidFill>
                            <a:schemeClr val="bg1"/>
                          </a:solidFill>
                        </a:rPr>
                        <a:t>Baseline</a:t>
                      </a:r>
                      <a:endParaRPr lang="en-US" sz="1150" dirty="0"/>
                    </a:p>
                  </a:txBody>
                  <a:tcPr marL="91440" marR="91440" marT="18288" marB="18288" anchor="ctr">
                    <a:lnL w="0" cap="flat" cmpd="sng" algn="ctr">
                      <a:noFill/>
                    </a:lnL>
                    <a:lnR w="0" cap="flat" cmpd="sng" algn="ctr">
                      <a:noFill/>
                    </a:lnR>
                    <a:lnT w="0" cap="flat" cmpd="sng" algn="ctr">
                      <a:noFill/>
                    </a:lnT>
                    <a:lnB w="0" cap="flat" cmpd="sng" algn="ctr">
                      <a:noFill/>
                    </a:lnB>
                    <a:solidFill>
                      <a:schemeClr val="tx1"/>
                    </a:solidFill>
                  </a:tcPr>
                </a:tc>
                <a:tc>
                  <a:txBody>
                    <a:bodyPr/>
                    <a:lstStyle/>
                    <a:p>
                      <a:pPr indent="0" marL="0">
                        <a:buNone/>
                      </a:pPr>
                      <a:r>
                        <a:rPr lang="en-US" sz="1150" b="1" dirty="0">
                          <a:solidFill>
                            <a:schemeClr val="bg1"/>
                          </a:solidFill>
                        </a:rPr>
                        <a:t>Shocked</a:t>
                      </a:r>
                      <a:endParaRPr lang="en-US" sz="1150" dirty="0"/>
                    </a:p>
                  </a:txBody>
                  <a:tcPr marL="91440" marR="91440" marT="18288" marB="18288" anchor="ctr">
                    <a:lnL w="0" cap="flat" cmpd="sng" algn="ctr">
                      <a:noFill/>
                    </a:lnL>
                    <a:lnR w="0" cap="flat" cmpd="sng" algn="ctr">
                      <a:noFill/>
                    </a:lnR>
                    <a:lnT w="0" cap="flat" cmpd="sng" algn="ctr">
                      <a:noFill/>
                    </a:lnT>
                    <a:lnB w="0" cap="flat" cmpd="sng" algn="ctr">
                      <a:noFill/>
                    </a:lnB>
                    <a:solidFill>
                      <a:schemeClr val="tx1"/>
                    </a:solidFill>
                  </a:tcPr>
                </a:tc>
                <a:tc>
                  <a:txBody>
                    <a:bodyPr/>
                    <a:lstStyle/>
                    <a:p>
                      <a:pPr indent="0" marL="0">
                        <a:buNone/>
                      </a:pPr>
                      <a:r>
                        <a:rPr lang="en-US" sz="1150" b="1" dirty="0">
                          <a:solidFill>
                            <a:schemeClr val="bg1"/>
                          </a:solidFill>
                        </a:rPr>
                        <a:t>Impact</a:t>
                      </a:r>
                      <a:endParaRPr lang="en-US" sz="1150" dirty="0"/>
                    </a:p>
                  </a:txBody>
                  <a:tcPr marL="91440" marR="91440" marT="18288" marB="18288" anchor="ctr">
                    <a:lnL w="0" cap="flat" cmpd="sng" algn="ctr">
                      <a:noFill/>
                    </a:lnL>
                    <a:lnR w="0" cap="flat" cmpd="sng" algn="ctr">
                      <a:noFill/>
                    </a:lnR>
                    <a:lnT w="0" cap="flat" cmpd="sng" algn="ctr">
                      <a:noFill/>
                    </a:lnT>
                    <a:lnB w="0" cap="flat" cmpd="sng" algn="ctr">
                      <a:noFill/>
                    </a:lnB>
                    <a:solidFill>
                      <a:schemeClr val="tx1"/>
                    </a:solidFill>
                  </a:tcPr>
                </a:tc>
                <a:tc>
                  <a:txBody>
                    <a:bodyPr/>
                    <a:lstStyle/>
                    <a:p>
                      <a:pPr indent="0" marL="0">
                        <a:buNone/>
                      </a:pPr>
                      <a:r>
                        <a:rPr lang="en-US" sz="1150" b="1" dirty="0">
                          <a:solidFill>
                            <a:schemeClr val="bg1"/>
                          </a:solidFill>
                        </a:rPr>
                        <a:t>Lag</a:t>
                      </a:r>
                      <a:endParaRPr lang="en-US" sz="1150" dirty="0"/>
                    </a:p>
                  </a:txBody>
                  <a:tcPr marL="91440" marR="91440" marT="18288" marB="18288" anchor="ctr">
                    <a:lnL w="0" cap="flat" cmpd="sng" algn="ctr">
                      <a:noFill/>
                    </a:lnL>
                    <a:lnR w="0" cap="flat" cmpd="sng" algn="ctr">
                      <a:noFill/>
                    </a:lnR>
                    <a:lnT w="0" cap="flat" cmpd="sng" algn="ctr">
                      <a:noFill/>
                    </a:lnT>
                    <a:lnB w="0" cap="flat" cmpd="sng" algn="ctr">
                      <a:noFill/>
                    </a:lnB>
                    <a:solidFill>
                      <a:schemeClr val="tx1"/>
                    </a:solidFill>
                  </a:tcPr>
                </a:tc>
                <a:tc>
                  <a:txBody>
                    <a:bodyPr/>
                    <a:lstStyle/>
                    <a:p>
                      <a:pPr indent="0" marL="0">
                        <a:buNone/>
                      </a:pPr>
                      <a:r>
                        <a:rPr lang="en-US" sz="1150" b="1" dirty="0">
                          <a:solidFill>
                            <a:schemeClr val="bg1"/>
                          </a:solidFill>
                        </a:rPr>
                        <a:t>Band</a:t>
                      </a:r>
                      <a:endParaRPr lang="en-US" sz="1150" dirty="0"/>
                    </a:p>
                  </a:txBody>
                  <a:tcPr marL="91440" marR="91440" marT="18288" marB="18288" anchor="ctr">
                    <a:lnL w="0" cap="flat" cmpd="sng" algn="ctr">
                      <a:noFill/>
                    </a:lnL>
                    <a:lnR w="0" cap="flat" cmpd="sng" algn="ctr">
                      <a:noFill/>
                    </a:lnR>
                    <a:lnT w="0" cap="flat" cmpd="sng" algn="ctr">
                      <a:noFill/>
                    </a:lnT>
                    <a:lnB w="0" cap="flat" cmpd="sng" algn="ctr">
                      <a:noFill/>
                    </a:lnB>
                    <a:solidFill>
                      <a:schemeClr val="tx1"/>
                    </a:solidFill>
                  </a:tcPr>
                </a:tc>
              </a:tr>
              <a:tr h="365760">
                <a:tc>
                  <a:txBody>
                    <a:bodyPr/>
                    <a:lstStyle/>
                    <a:p>
                      <a:pPr indent="0" marL="0">
                        <a:buNone/>
                      </a:pPr>
                      <a:r>
                        <a:rPr lang="en-US" sz="1200" dirty="0">
                          <a:solidFill>
                            <a:schemeClr val="tx1"/>
                          </a:solidFill>
                        </a:rPr>
                        <a:t>WPI all commodities</a:t>
                      </a:r>
                      <a:endParaRPr lang="en-US" sz="1200" dirty="0"/>
                    </a:p>
                  </a:txBody>
                  <a:tcPr marL="91440" marR="91440" marT="18288" marB="18288"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200" dirty="0">
                          <a:solidFill>
                            <a:schemeClr val="tx1"/>
                          </a:solidFill>
                        </a:rPr>
                        <a:t>2.45</a:t>
                      </a:r>
                      <a:endParaRPr lang="en-US" sz="1200" dirty="0"/>
                    </a:p>
                  </a:txBody>
                  <a:tcPr marL="91440" marR="91440" marT="18288" marB="18288"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200" b="1" dirty="0">
                          <a:solidFill>
                            <a:schemeClr val="tx1"/>
                          </a:solidFill>
                        </a:rPr>
                        <a:t>4.02</a:t>
                      </a:r>
                      <a:endParaRPr lang="en-US" sz="1200" dirty="0"/>
                    </a:p>
                  </a:txBody>
                  <a:tcPr marL="91440" marR="91440" marT="18288" marB="18288"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200" b="1" dirty="0">
                          <a:solidFill>
                            <a:schemeClr val="tx1"/>
                          </a:solidFill>
                        </a:rPr>
                        <a:t>+1.57</a:t>
                      </a:r>
                      <a:endParaRPr lang="en-US" sz="1200" dirty="0"/>
                    </a:p>
                  </a:txBody>
                  <a:tcPr marL="91440" marR="91440" marT="18288" marB="18288"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200" dirty="0">
                          <a:solidFill>
                            <a:schemeClr val="tx1"/>
                          </a:solidFill>
                        </a:rPr>
                        <a:t>1 m</a:t>
                      </a:r>
                      <a:endParaRPr lang="en-US" sz="1200" dirty="0"/>
                    </a:p>
                  </a:txBody>
                  <a:tcPr marL="91440" marR="91440" marT="18288" marB="18288"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200" dirty="0">
                          <a:solidFill>
                            <a:schemeClr val="tx1"/>
                          </a:solidFill>
                        </a:rPr>
                        <a:t>[3.63, 4.41]</a:t>
                      </a:r>
                      <a:endParaRPr lang="en-US" sz="1200" dirty="0"/>
                    </a:p>
                  </a:txBody>
                  <a:tcPr marL="91440" marR="91440" marT="18288" marB="18288" anchor="ctr">
                    <a:lnL w="0" cap="flat" cmpd="sng" algn="ctr">
                      <a:noFill/>
                    </a:lnL>
                    <a:lnR w="0" cap="flat" cmpd="sng" algn="ctr">
                      <a:noFill/>
                    </a:lnR>
                    <a:lnT w="0" cap="flat" cmpd="sng" algn="ctr">
                      <a:noFill/>
                    </a:lnT>
                    <a:lnB w="0" cap="flat" cmpd="sng" algn="ctr">
                      <a:noFill/>
                    </a:lnB>
                    <a:solidFill>
                      <a:schemeClr val="bg1"/>
                    </a:solidFill>
                  </a:tcPr>
                </a:tc>
              </a:tr>
              <a:tr h="365760">
                <a:tc>
                  <a:txBody>
                    <a:bodyPr/>
                    <a:lstStyle/>
                    <a:p>
                      <a:pPr indent="0" marL="0">
                        <a:buNone/>
                      </a:pPr>
                      <a:r>
                        <a:rPr lang="en-US" sz="1200" dirty="0">
                          <a:solidFill>
                            <a:schemeClr val="tx1"/>
                          </a:solidFill>
                        </a:rPr>
                        <a:t>CPI headline (live)</a:t>
                      </a:r>
                      <a:endParaRPr lang="en-US" sz="1200" dirty="0"/>
                    </a:p>
                  </a:txBody>
                  <a:tcPr marL="91440" marR="91440" marT="18288" marB="18288"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200" dirty="0">
                          <a:solidFill>
                            <a:schemeClr val="tx1"/>
                          </a:solidFill>
                        </a:rPr>
                        <a:t>5.54</a:t>
                      </a:r>
                      <a:endParaRPr lang="en-US" sz="1200" dirty="0"/>
                    </a:p>
                  </a:txBody>
                  <a:tcPr marL="91440" marR="91440" marT="18288" marB="18288"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200" b="1" dirty="0">
                          <a:solidFill>
                            <a:schemeClr val="tx1"/>
                          </a:solidFill>
                        </a:rPr>
                        <a:t>6.32</a:t>
                      </a:r>
                      <a:endParaRPr lang="en-US" sz="1200" dirty="0"/>
                    </a:p>
                  </a:txBody>
                  <a:tcPr marL="91440" marR="91440" marT="18288" marB="18288"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200" b="1" dirty="0">
                          <a:solidFill>
                            <a:schemeClr val="tx1"/>
                          </a:solidFill>
                        </a:rPr>
                        <a:t>+0.78</a:t>
                      </a:r>
                      <a:endParaRPr lang="en-US" sz="1200" dirty="0"/>
                    </a:p>
                  </a:txBody>
                  <a:tcPr marL="91440" marR="91440" marT="18288" marB="18288"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200" dirty="0">
                          <a:solidFill>
                            <a:schemeClr val="tx1"/>
                          </a:solidFill>
                        </a:rPr>
                        <a:t>3 m</a:t>
                      </a:r>
                      <a:endParaRPr lang="en-US" sz="1200" dirty="0"/>
                    </a:p>
                  </a:txBody>
                  <a:tcPr marL="91440" marR="91440" marT="18288" marB="18288"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200" dirty="0">
                          <a:solidFill>
                            <a:schemeClr val="tx1"/>
                          </a:solidFill>
                        </a:rPr>
                        <a:t>[6.12, 6.52]</a:t>
                      </a:r>
                      <a:endParaRPr lang="en-US" sz="1200" dirty="0"/>
                    </a:p>
                  </a:txBody>
                  <a:tcPr marL="91440" marR="91440" marT="18288" marB="18288" anchor="ctr">
                    <a:lnL w="0" cap="flat" cmpd="sng" algn="ctr">
                      <a:noFill/>
                    </a:lnL>
                    <a:lnR w="0" cap="flat" cmpd="sng" algn="ctr">
                      <a:noFill/>
                    </a:lnR>
                    <a:lnT w="0" cap="flat" cmpd="sng" algn="ctr">
                      <a:noFill/>
                    </a:lnT>
                    <a:lnB w="0" cap="flat" cmpd="sng" algn="ctr">
                      <a:noFill/>
                    </a:lnB>
                    <a:solidFill>
                      <a:schemeClr val="bg2"/>
                    </a:solidFill>
                  </a:tcPr>
                </a:tc>
              </a:tr>
              <a:tr h="365760">
                <a:tc>
                  <a:txBody>
                    <a:bodyPr/>
                    <a:lstStyle/>
                    <a:p>
                      <a:pPr indent="0" marL="0">
                        <a:buNone/>
                      </a:pPr>
                      <a:r>
                        <a:rPr lang="en-US" sz="1200" dirty="0">
                          <a:solidFill>
                            <a:schemeClr val="tx1"/>
                          </a:solidFill>
                        </a:rPr>
                        <a:t>Repo rate (live)</a:t>
                      </a:r>
                      <a:endParaRPr lang="en-US" sz="1200" dirty="0"/>
                    </a:p>
                  </a:txBody>
                  <a:tcPr marL="91440" marR="91440" marT="18288" marB="18288"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200" dirty="0">
                          <a:solidFill>
                            <a:schemeClr val="tx1"/>
                          </a:solidFill>
                        </a:rPr>
                        <a:t>5.25</a:t>
                      </a:r>
                      <a:endParaRPr lang="en-US" sz="1200" dirty="0"/>
                    </a:p>
                  </a:txBody>
                  <a:tcPr marL="91440" marR="91440" marT="18288" marB="18288"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200" b="1" dirty="0">
                          <a:solidFill>
                            <a:schemeClr val="tx1"/>
                          </a:solidFill>
                        </a:rPr>
                        <a:t>5.66</a:t>
                      </a:r>
                      <a:endParaRPr lang="en-US" sz="1200" dirty="0"/>
                    </a:p>
                  </a:txBody>
                  <a:tcPr marL="91440" marR="91440" marT="18288" marB="18288"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200" b="1" dirty="0">
                          <a:solidFill>
                            <a:schemeClr val="tx1"/>
                          </a:solidFill>
                        </a:rPr>
                        <a:t>+0.41</a:t>
                      </a:r>
                      <a:endParaRPr lang="en-US" sz="1200" dirty="0"/>
                    </a:p>
                  </a:txBody>
                  <a:tcPr marL="91440" marR="91440" marT="18288" marB="18288"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200" dirty="0">
                          <a:solidFill>
                            <a:schemeClr val="tx1"/>
                          </a:solidFill>
                        </a:rPr>
                        <a:t>4 m</a:t>
                      </a:r>
                      <a:endParaRPr lang="en-US" sz="1200" dirty="0"/>
                    </a:p>
                  </a:txBody>
                  <a:tcPr marL="91440" marR="91440" marT="18288" marB="18288"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200" dirty="0">
                          <a:solidFill>
                            <a:schemeClr val="tx1"/>
                          </a:solidFill>
                        </a:rPr>
                        <a:t>[5.56, 5.76]</a:t>
                      </a:r>
                      <a:endParaRPr lang="en-US" sz="1200" dirty="0"/>
                    </a:p>
                  </a:txBody>
                  <a:tcPr marL="91440" marR="91440" marT="18288" marB="18288" anchor="ctr">
                    <a:lnL w="0" cap="flat" cmpd="sng" algn="ctr">
                      <a:noFill/>
                    </a:lnL>
                    <a:lnR w="0" cap="flat" cmpd="sng" algn="ctr">
                      <a:noFill/>
                    </a:lnR>
                    <a:lnT w="0" cap="flat" cmpd="sng" algn="ctr">
                      <a:noFill/>
                    </a:lnT>
                    <a:lnB w="0" cap="flat" cmpd="sng" algn="ctr">
                      <a:noFill/>
                    </a:lnB>
                    <a:solidFill>
                      <a:schemeClr val="bg1"/>
                    </a:solidFill>
                  </a:tcPr>
                </a:tc>
              </a:tr>
              <a:tr h="365760">
                <a:tc>
                  <a:txBody>
                    <a:bodyPr/>
                    <a:lstStyle/>
                    <a:p>
                      <a:pPr indent="0" marL="0">
                        <a:buNone/>
                      </a:pPr>
                      <a:r>
                        <a:rPr lang="en-US" sz="1200" dirty="0">
                          <a:solidFill>
                            <a:schemeClr val="tx1"/>
                          </a:solidFill>
                        </a:rPr>
                        <a:t>GDP growth</a:t>
                      </a:r>
                      <a:endParaRPr lang="en-US" sz="1200" dirty="0"/>
                    </a:p>
                  </a:txBody>
                  <a:tcPr marL="91440" marR="91440" marT="18288" marB="18288"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200" dirty="0">
                          <a:solidFill>
                            <a:schemeClr val="tx1"/>
                          </a:solidFill>
                        </a:rPr>
                        <a:t>5.40</a:t>
                      </a:r>
                      <a:endParaRPr lang="en-US" sz="1200" dirty="0"/>
                    </a:p>
                  </a:txBody>
                  <a:tcPr marL="91440" marR="91440" marT="18288" marB="18288"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200" b="1" dirty="0">
                          <a:solidFill>
                            <a:schemeClr val="tx1"/>
                          </a:solidFill>
                        </a:rPr>
                        <a:t>5.35</a:t>
                      </a:r>
                      <a:endParaRPr lang="en-US" sz="1200" dirty="0"/>
                    </a:p>
                  </a:txBody>
                  <a:tcPr marL="91440" marR="91440" marT="18288" marB="18288"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200" b="1" dirty="0">
                          <a:solidFill>
                            <a:schemeClr val="accent1"/>
                          </a:solidFill>
                        </a:rPr>
                        <a:t>−0.05</a:t>
                      </a:r>
                      <a:endParaRPr lang="en-US" sz="1200" dirty="0"/>
                    </a:p>
                  </a:txBody>
                  <a:tcPr marL="91440" marR="91440" marT="18288" marB="18288"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200" dirty="0">
                          <a:solidFill>
                            <a:schemeClr val="tx1"/>
                          </a:solidFill>
                        </a:rPr>
                        <a:t>10 m</a:t>
                      </a:r>
                      <a:endParaRPr lang="en-US" sz="1200" dirty="0"/>
                    </a:p>
                  </a:txBody>
                  <a:tcPr marL="91440" marR="91440" marT="18288" marB="18288"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200" dirty="0">
                          <a:solidFill>
                            <a:schemeClr val="tx1"/>
                          </a:solidFill>
                        </a:rPr>
                        <a:t>[5.34, 5.36]</a:t>
                      </a:r>
                      <a:endParaRPr lang="en-US" sz="1200" dirty="0"/>
                    </a:p>
                  </a:txBody>
                  <a:tcPr marL="91440" marR="91440" marT="18288" marB="18288" anchor="ctr">
                    <a:lnL w="0" cap="flat" cmpd="sng" algn="ctr">
                      <a:noFill/>
                    </a:lnL>
                    <a:lnR w="0" cap="flat" cmpd="sng" algn="ctr">
                      <a:noFill/>
                    </a:lnR>
                    <a:lnT w="0" cap="flat" cmpd="sng" algn="ctr">
                      <a:noFill/>
                    </a:lnT>
                    <a:lnB w="0" cap="flat" cmpd="sng" algn="ctr">
                      <a:noFill/>
                    </a:lnB>
                    <a:solidFill>
                      <a:schemeClr val="bg2"/>
                    </a:solidFill>
                  </a:tcPr>
                </a:tc>
              </a:tr>
            </a:tbl>
          </a:graphicData>
        </a:graphic>
      </p:graphicFrame>
      <p:sp>
        <p:nvSpPr>
          <p:cNvPr id="8" name="card-855"/>
          <p:cNvSpPr/>
          <p:nvPr/>
        </p:nvSpPr>
        <p:spPr>
          <a:xfrm>
            <a:off x="548640" y="5394960"/>
            <a:ext cx="7178040" cy="731520"/>
          </a:xfrm>
          <a:prstGeom prst="roundRect">
            <a:avLst>
              <a:gd name="adj" fmla="val 12500"/>
            </a:avLst>
          </a:prstGeom>
          <a:solidFill>
            <a:schemeClr val="bg2"/>
          </a:solidFill>
          <a:ln/>
        </p:spPr>
      </p:sp>
      <p:sp>
        <p:nvSpPr>
          <p:cNvPr id="9" name="text-856"/>
          <p:cNvSpPr txBox="1"/>
          <p:nvPr/>
        </p:nvSpPr>
        <p:spPr>
          <a:xfrm>
            <a:off x="731520" y="5468112"/>
            <a:ext cx="2743200" cy="201168"/>
          </a:xfrm>
          <a:prstGeom prst="rect">
            <a:avLst/>
          </a:prstGeom>
          <a:noFill/>
          <a:ln/>
        </p:spPr>
        <p:txBody>
          <a:bodyPr wrap="square" lIns="0" tIns="0" rIns="0" bIns="0" rtlCol="0" anchor="t"/>
          <a:lstStyle/>
          <a:p>
            <a:pPr indent="0" marL="0">
              <a:buNone/>
            </a:pPr>
            <a:r>
              <a:rPr lang="en-US" sz="1000" b="1" spc="100" kern="0" dirty="0">
                <a:solidFill>
                  <a:schemeClr val="accent1"/>
                </a:solidFill>
              </a:rPr>
              <a:t>SOURCE PROVENANCE</a:t>
            </a:r>
            <a:endParaRPr lang="en-US" sz="1000" dirty="0"/>
          </a:p>
        </p:txBody>
      </p:sp>
      <p:sp>
        <p:nvSpPr>
          <p:cNvPr id="10" name="text-857"/>
          <p:cNvSpPr txBox="1"/>
          <p:nvPr/>
        </p:nvSpPr>
        <p:spPr>
          <a:xfrm>
            <a:off x="731520" y="5742432"/>
            <a:ext cx="6858000" cy="365760"/>
          </a:xfrm>
          <a:prstGeom prst="rect">
            <a:avLst/>
          </a:prstGeom>
          <a:noFill/>
          <a:ln/>
        </p:spPr>
        <p:txBody>
          <a:bodyPr wrap="square" lIns="0" tIns="0" rIns="0" bIns="0" rtlCol="0" anchor="t"/>
          <a:lstStyle/>
          <a:p>
            <a:pPr indent="0" marL="0">
              <a:buNone/>
            </a:pPr>
            <a:r>
              <a:rPr lang="en-US" sz="1050" dirty="0">
                <a:solidFill>
                  <a:schemeClr val="accent1"/>
                </a:solidFill>
                <a:latin typeface="Consolas" pitchFamily="34" charset="0"/>
                <a:ea typeface="Consolas" pitchFamily="34" charset="-122"/>
                <a:cs typeface="Consolas" pitchFamily="34" charset="-120"/>
              </a:rPr>
              <a:t>prices_sector</a:t>
            </a:r>
            <a:pPr indent="0" marL="0">
              <a:buNone/>
            </a:pPr>
            <a:r>
              <a:rPr lang="en-US" sz="1050" dirty="0">
                <a:solidFill>
                  <a:schemeClr val="tx1"/>
                </a:solidFill>
              </a:rPr>
              <a:t>  NSO, MoSPI · CPI 2026-09 · retrieved 12 Oct 2026, 18:48:49</a:t>
            </a:r>
            <a:endParaRPr lang="en-US" sz="1050" dirty="0"/>
          </a:p>
          <a:p>
            <a:pPr indent="0" marL="0">
              <a:buNone/>
            </a:pPr>
            <a:r>
              <a:rPr lang="en-US" sz="1050" dirty="0">
                <a:solidFill>
                  <a:schemeClr val="accent1"/>
                </a:solidFill>
                <a:latin typeface="Consolas" pitchFamily="34" charset="0"/>
                <a:ea typeface="Consolas" pitchFamily="34" charset="-122"/>
                <a:cs typeface="Consolas" pitchFamily="34" charset="-120"/>
              </a:rPr>
              <a:t>monetary_sector</a:t>
            </a:r>
            <a:pPr indent="0" marL="0">
              <a:buNone/>
            </a:pPr>
            <a:r>
              <a:rPr lang="en-US" sz="1050" dirty="0">
                <a:solidFill>
                  <a:schemeClr val="tx1"/>
                </a:solidFill>
              </a:rPr>
              <a:t>  RBI DBIE · repo rate · retrieved 12 Oct 2026, 18:48:45</a:t>
            </a:r>
            <a:endParaRPr lang="en-US" sz="1050" dirty="0"/>
          </a:p>
        </p:txBody>
      </p:sp>
      <p:sp>
        <p:nvSpPr>
          <p:cNvPr id="11" name="card-858"/>
          <p:cNvSpPr/>
          <p:nvPr/>
        </p:nvSpPr>
        <p:spPr>
          <a:xfrm>
            <a:off x="8001000" y="1572768"/>
            <a:ext cx="3642055" cy="4553712"/>
          </a:xfrm>
          <a:prstGeom prst="roundRect">
            <a:avLst>
              <a:gd name="adj" fmla="val 3515"/>
            </a:avLst>
          </a:prstGeom>
          <a:solidFill>
            <a:schemeClr val="tx1"/>
          </a:solidFill>
          <a:ln/>
        </p:spPr>
      </p:sp>
      <p:sp>
        <p:nvSpPr>
          <p:cNvPr id="12" name="text-859"/>
          <p:cNvSpPr txBox="1"/>
          <p:nvPr/>
        </p:nvSpPr>
        <p:spPr>
          <a:xfrm>
            <a:off x="8275320" y="1783080"/>
            <a:ext cx="3108960" cy="219456"/>
          </a:xfrm>
          <a:prstGeom prst="rect">
            <a:avLst/>
          </a:prstGeom>
          <a:noFill/>
          <a:ln/>
        </p:spPr>
        <p:txBody>
          <a:bodyPr wrap="square" lIns="0" tIns="0" rIns="0" bIns="0" rtlCol="0" anchor="t"/>
          <a:lstStyle/>
          <a:p>
            <a:pPr indent="0" marL="0">
              <a:buNone/>
            </a:pPr>
            <a:r>
              <a:rPr lang="en-US" sz="1100" b="1" spc="200" kern="0" dirty="0">
                <a:solidFill>
                  <a:schemeClr val="accent6"/>
                </a:solidFill>
              </a:rPr>
              <a:t>EVERY REPORT CONTAINS</a:t>
            </a:r>
            <a:endParaRPr lang="en-US" sz="1100" dirty="0"/>
          </a:p>
        </p:txBody>
      </p:sp>
      <p:sp>
        <p:nvSpPr>
          <p:cNvPr id="13" name="dot-860"/>
          <p:cNvSpPr/>
          <p:nvPr/>
        </p:nvSpPr>
        <p:spPr>
          <a:xfrm>
            <a:off x="8275320" y="2185416"/>
            <a:ext cx="310896" cy="310896"/>
          </a:xfrm>
          <a:prstGeom prst="ellipse">
            <a:avLst/>
          </a:prstGeom>
          <a:solidFill>
            <a:schemeClr val="accent6"/>
          </a:solidFill>
          <a:ln/>
        </p:spPr>
      </p:sp>
      <p:sp>
        <p:nvSpPr>
          <p:cNvPr id="14" name="text-861"/>
          <p:cNvSpPr txBox="1"/>
          <p:nvPr/>
        </p:nvSpPr>
        <p:spPr>
          <a:xfrm>
            <a:off x="8275320" y="2185416"/>
            <a:ext cx="310896" cy="310896"/>
          </a:xfrm>
          <a:prstGeom prst="rect">
            <a:avLst/>
          </a:prstGeom>
          <a:noFill/>
          <a:ln/>
        </p:spPr>
        <p:txBody>
          <a:bodyPr wrap="square" lIns="0" tIns="0" rIns="0" bIns="0" rtlCol="0" anchor="ctr"/>
          <a:lstStyle/>
          <a:p>
            <a:pPr algn="ctr" indent="0" marL="0">
              <a:buNone/>
            </a:pPr>
            <a:r>
              <a:rPr lang="en-US" sz="1150" b="1" dirty="0">
                <a:solidFill>
                  <a:schemeClr val="tx1"/>
                </a:solidFill>
              </a:rPr>
              <a:t>1</a:t>
            </a:r>
            <a:endParaRPr lang="en-US" sz="1150" dirty="0"/>
          </a:p>
        </p:txBody>
      </p:sp>
      <p:sp>
        <p:nvSpPr>
          <p:cNvPr id="15" name="text-862"/>
          <p:cNvSpPr txBox="1"/>
          <p:nvPr/>
        </p:nvSpPr>
        <p:spPr>
          <a:xfrm>
            <a:off x="8732520" y="2130552"/>
            <a:ext cx="2727655" cy="237744"/>
          </a:xfrm>
          <a:prstGeom prst="rect">
            <a:avLst/>
          </a:prstGeom>
          <a:noFill/>
          <a:ln/>
        </p:spPr>
        <p:txBody>
          <a:bodyPr wrap="square" lIns="0" tIns="0" rIns="0" bIns="0" rtlCol="0" anchor="t"/>
          <a:lstStyle/>
          <a:p>
            <a:pPr indent="0" marL="0">
              <a:buNone/>
            </a:pPr>
            <a:r>
              <a:rPr lang="en-US" sz="1350" b="1" dirty="0">
                <a:solidFill>
                  <a:schemeClr val="bg1"/>
                </a:solidFill>
              </a:rPr>
              <a:t>Executive synthesis</a:t>
            </a:r>
            <a:endParaRPr lang="en-US" sz="1350" dirty="0"/>
          </a:p>
        </p:txBody>
      </p:sp>
      <p:sp>
        <p:nvSpPr>
          <p:cNvPr id="16" name="text-863"/>
          <p:cNvSpPr txBox="1"/>
          <p:nvPr/>
        </p:nvSpPr>
        <p:spPr>
          <a:xfrm>
            <a:off x="8732520" y="2368296"/>
            <a:ext cx="2727655" cy="219456"/>
          </a:xfrm>
          <a:prstGeom prst="rect">
            <a:avLst/>
          </a:prstGeom>
          <a:noFill/>
          <a:ln/>
        </p:spPr>
        <p:txBody>
          <a:bodyPr wrap="square" lIns="0" tIns="0" rIns="0" bIns="0" rtlCol="0" anchor="t"/>
          <a:lstStyle/>
          <a:p>
            <a:pPr indent="0" marL="0">
              <a:buNone/>
            </a:pPr>
            <a:r>
              <a:rPr lang="en-US" sz="1100" dirty="0">
                <a:solidFill>
                  <a:schemeClr val="bg1">
                    <a:alpha val="75000"/>
                  </a:schemeClr>
                </a:solidFill>
              </a:rPr>
              <a:t>LLM prose or a deterministic summary</a:t>
            </a:r>
            <a:endParaRPr lang="en-US" sz="1100" dirty="0"/>
          </a:p>
        </p:txBody>
      </p:sp>
      <p:sp>
        <p:nvSpPr>
          <p:cNvPr id="17" name="dot-864"/>
          <p:cNvSpPr/>
          <p:nvPr/>
        </p:nvSpPr>
        <p:spPr>
          <a:xfrm>
            <a:off x="8275320" y="2734056"/>
            <a:ext cx="310896" cy="310896"/>
          </a:xfrm>
          <a:prstGeom prst="ellipse">
            <a:avLst/>
          </a:prstGeom>
          <a:solidFill>
            <a:schemeClr val="accent2"/>
          </a:solidFill>
          <a:ln/>
        </p:spPr>
      </p:sp>
      <p:sp>
        <p:nvSpPr>
          <p:cNvPr id="18" name="text-865"/>
          <p:cNvSpPr txBox="1"/>
          <p:nvPr/>
        </p:nvSpPr>
        <p:spPr>
          <a:xfrm>
            <a:off x="8275320" y="2734056"/>
            <a:ext cx="310896" cy="310896"/>
          </a:xfrm>
          <a:prstGeom prst="rect">
            <a:avLst/>
          </a:prstGeom>
          <a:noFill/>
          <a:ln/>
        </p:spPr>
        <p:txBody>
          <a:bodyPr wrap="square" lIns="0" tIns="0" rIns="0" bIns="0" rtlCol="0" anchor="ctr"/>
          <a:lstStyle/>
          <a:p>
            <a:pPr algn="ctr" indent="0" marL="0">
              <a:buNone/>
            </a:pPr>
            <a:r>
              <a:rPr lang="en-US" sz="1150" b="1" dirty="0">
                <a:solidFill>
                  <a:schemeClr val="tx1"/>
                </a:solidFill>
              </a:rPr>
              <a:t>2</a:t>
            </a:r>
            <a:endParaRPr lang="en-US" sz="1150" dirty="0"/>
          </a:p>
        </p:txBody>
      </p:sp>
      <p:sp>
        <p:nvSpPr>
          <p:cNvPr id="19" name="text-866"/>
          <p:cNvSpPr txBox="1"/>
          <p:nvPr/>
        </p:nvSpPr>
        <p:spPr>
          <a:xfrm>
            <a:off x="8732520" y="2679192"/>
            <a:ext cx="2727655" cy="237744"/>
          </a:xfrm>
          <a:prstGeom prst="rect">
            <a:avLst/>
          </a:prstGeom>
          <a:noFill/>
          <a:ln/>
        </p:spPr>
        <p:txBody>
          <a:bodyPr wrap="square" lIns="0" tIns="0" rIns="0" bIns="0" rtlCol="0" anchor="t"/>
          <a:lstStyle/>
          <a:p>
            <a:pPr indent="0" marL="0">
              <a:buNone/>
            </a:pPr>
            <a:r>
              <a:rPr lang="en-US" sz="1350" b="1" dirty="0">
                <a:solidFill>
                  <a:schemeClr val="bg1"/>
                </a:solidFill>
              </a:rPr>
              <a:t>Indicator matrix</a:t>
            </a:r>
            <a:endParaRPr lang="en-US" sz="1350" dirty="0"/>
          </a:p>
        </p:txBody>
      </p:sp>
      <p:sp>
        <p:nvSpPr>
          <p:cNvPr id="20" name="text-867"/>
          <p:cNvSpPr txBox="1"/>
          <p:nvPr/>
        </p:nvSpPr>
        <p:spPr>
          <a:xfrm>
            <a:off x="8732520" y="2916936"/>
            <a:ext cx="2727655" cy="219456"/>
          </a:xfrm>
          <a:prstGeom prst="rect">
            <a:avLst/>
          </a:prstGeom>
          <a:noFill/>
          <a:ln/>
        </p:spPr>
        <p:txBody>
          <a:bodyPr wrap="square" lIns="0" tIns="0" rIns="0" bIns="0" rtlCol="0" anchor="t"/>
          <a:lstStyle/>
          <a:p>
            <a:pPr indent="0" marL="0">
              <a:buNone/>
            </a:pPr>
            <a:r>
              <a:rPr lang="en-US" sz="1100" dirty="0">
                <a:solidFill>
                  <a:schemeClr val="bg1">
                    <a:alpha val="75000"/>
                  </a:schemeClr>
                </a:solidFill>
              </a:rPr>
              <a:t>value, period, status, provenance hash</a:t>
            </a:r>
            <a:endParaRPr lang="en-US" sz="1100" dirty="0"/>
          </a:p>
        </p:txBody>
      </p:sp>
      <p:sp>
        <p:nvSpPr>
          <p:cNvPr id="21" name="dot-868"/>
          <p:cNvSpPr/>
          <p:nvPr/>
        </p:nvSpPr>
        <p:spPr>
          <a:xfrm>
            <a:off x="8275320" y="3282696"/>
            <a:ext cx="310896" cy="310896"/>
          </a:xfrm>
          <a:prstGeom prst="ellipse">
            <a:avLst/>
          </a:prstGeom>
          <a:solidFill>
            <a:schemeClr val="accent6"/>
          </a:solidFill>
          <a:ln/>
        </p:spPr>
      </p:sp>
      <p:sp>
        <p:nvSpPr>
          <p:cNvPr id="22" name="text-869"/>
          <p:cNvSpPr txBox="1"/>
          <p:nvPr/>
        </p:nvSpPr>
        <p:spPr>
          <a:xfrm>
            <a:off x="8275320" y="3282696"/>
            <a:ext cx="310896" cy="310896"/>
          </a:xfrm>
          <a:prstGeom prst="rect">
            <a:avLst/>
          </a:prstGeom>
          <a:noFill/>
          <a:ln/>
        </p:spPr>
        <p:txBody>
          <a:bodyPr wrap="square" lIns="0" tIns="0" rIns="0" bIns="0" rtlCol="0" anchor="ctr"/>
          <a:lstStyle/>
          <a:p>
            <a:pPr algn="ctr" indent="0" marL="0">
              <a:buNone/>
            </a:pPr>
            <a:r>
              <a:rPr lang="en-US" sz="1150" b="1" dirty="0">
                <a:solidFill>
                  <a:schemeClr val="tx1"/>
                </a:solidFill>
              </a:rPr>
              <a:t>3</a:t>
            </a:r>
            <a:endParaRPr lang="en-US" sz="1150" dirty="0"/>
          </a:p>
        </p:txBody>
      </p:sp>
      <p:sp>
        <p:nvSpPr>
          <p:cNvPr id="23" name="text-870"/>
          <p:cNvSpPr txBox="1"/>
          <p:nvPr/>
        </p:nvSpPr>
        <p:spPr>
          <a:xfrm>
            <a:off x="8732520" y="3227832"/>
            <a:ext cx="2727655" cy="237744"/>
          </a:xfrm>
          <a:prstGeom prst="rect">
            <a:avLst/>
          </a:prstGeom>
          <a:noFill/>
          <a:ln/>
        </p:spPr>
        <p:txBody>
          <a:bodyPr wrap="square" lIns="0" tIns="0" rIns="0" bIns="0" rtlCol="0" anchor="t"/>
          <a:lstStyle/>
          <a:p>
            <a:pPr indent="0" marL="0">
              <a:buNone/>
            </a:pPr>
            <a:r>
              <a:rPr lang="en-US" sz="1350" b="1" dirty="0">
                <a:solidFill>
                  <a:schemeClr val="bg1"/>
                </a:solidFill>
              </a:rPr>
              <a:t>Causal diagram</a:t>
            </a:r>
            <a:endParaRPr lang="en-US" sz="1350" dirty="0"/>
          </a:p>
        </p:txBody>
      </p:sp>
      <p:sp>
        <p:nvSpPr>
          <p:cNvPr id="24" name="text-871"/>
          <p:cNvSpPr txBox="1"/>
          <p:nvPr/>
        </p:nvSpPr>
        <p:spPr>
          <a:xfrm>
            <a:off x="8732520" y="3465576"/>
            <a:ext cx="2727655" cy="219456"/>
          </a:xfrm>
          <a:prstGeom prst="rect">
            <a:avLst/>
          </a:prstGeom>
          <a:noFill/>
          <a:ln/>
        </p:spPr>
        <p:txBody>
          <a:bodyPr wrap="square" lIns="0" tIns="0" rIns="0" bIns="0" rtlCol="0" anchor="t"/>
          <a:lstStyle/>
          <a:p>
            <a:pPr indent="0" marL="0">
              <a:buNone/>
            </a:pPr>
            <a:r>
              <a:rPr lang="en-US" sz="1100" dirty="0">
                <a:solidFill>
                  <a:schemeClr val="bg1">
                    <a:alpha val="75000"/>
                  </a:schemeClr>
                </a:solidFill>
              </a:rPr>
              <a:t>Mermaid graph of the paths found</a:t>
            </a:r>
            <a:endParaRPr lang="en-US" sz="1100" dirty="0"/>
          </a:p>
        </p:txBody>
      </p:sp>
      <p:sp>
        <p:nvSpPr>
          <p:cNvPr id="25" name="dot-872"/>
          <p:cNvSpPr/>
          <p:nvPr/>
        </p:nvSpPr>
        <p:spPr>
          <a:xfrm>
            <a:off x="8275320" y="3831336"/>
            <a:ext cx="310896" cy="310896"/>
          </a:xfrm>
          <a:prstGeom prst="ellipse">
            <a:avLst/>
          </a:prstGeom>
          <a:solidFill>
            <a:schemeClr val="accent2"/>
          </a:solidFill>
          <a:ln/>
        </p:spPr>
      </p:sp>
      <p:sp>
        <p:nvSpPr>
          <p:cNvPr id="26" name="text-873"/>
          <p:cNvSpPr txBox="1"/>
          <p:nvPr/>
        </p:nvSpPr>
        <p:spPr>
          <a:xfrm>
            <a:off x="8275320" y="3831336"/>
            <a:ext cx="310896" cy="310896"/>
          </a:xfrm>
          <a:prstGeom prst="rect">
            <a:avLst/>
          </a:prstGeom>
          <a:noFill/>
          <a:ln/>
        </p:spPr>
        <p:txBody>
          <a:bodyPr wrap="square" lIns="0" tIns="0" rIns="0" bIns="0" rtlCol="0" anchor="ctr"/>
          <a:lstStyle/>
          <a:p>
            <a:pPr algn="ctr" indent="0" marL="0">
              <a:buNone/>
            </a:pPr>
            <a:r>
              <a:rPr lang="en-US" sz="1150" b="1" dirty="0">
                <a:solidFill>
                  <a:schemeClr val="tx1"/>
                </a:solidFill>
              </a:rPr>
              <a:t>4</a:t>
            </a:r>
            <a:endParaRPr lang="en-US" sz="1150" dirty="0"/>
          </a:p>
        </p:txBody>
      </p:sp>
      <p:sp>
        <p:nvSpPr>
          <p:cNvPr id="27" name="text-874"/>
          <p:cNvSpPr txBox="1"/>
          <p:nvPr/>
        </p:nvSpPr>
        <p:spPr>
          <a:xfrm>
            <a:off x="8732520" y="3776472"/>
            <a:ext cx="2727655" cy="237744"/>
          </a:xfrm>
          <a:prstGeom prst="rect">
            <a:avLst/>
          </a:prstGeom>
          <a:noFill/>
          <a:ln/>
        </p:spPr>
        <p:txBody>
          <a:bodyPr wrap="square" lIns="0" tIns="0" rIns="0" bIns="0" rtlCol="0" anchor="t"/>
          <a:lstStyle/>
          <a:p>
            <a:pPr indent="0" marL="0">
              <a:buNone/>
            </a:pPr>
            <a:r>
              <a:rPr lang="en-US" sz="1350" b="1" dirty="0">
                <a:solidFill>
                  <a:schemeClr val="bg1"/>
                </a:solidFill>
              </a:rPr>
              <a:t>Transmission paths</a:t>
            </a:r>
            <a:endParaRPr lang="en-US" sz="1350" dirty="0"/>
          </a:p>
        </p:txBody>
      </p:sp>
      <p:sp>
        <p:nvSpPr>
          <p:cNvPr id="28" name="text-875"/>
          <p:cNvSpPr txBox="1"/>
          <p:nvPr/>
        </p:nvSpPr>
        <p:spPr>
          <a:xfrm>
            <a:off x="8732520" y="4014216"/>
            <a:ext cx="2727655" cy="219456"/>
          </a:xfrm>
          <a:prstGeom prst="rect">
            <a:avLst/>
          </a:prstGeom>
          <a:noFill/>
          <a:ln/>
        </p:spPr>
        <p:txBody>
          <a:bodyPr wrap="square" lIns="0" tIns="0" rIns="0" bIns="0" rtlCol="0" anchor="t"/>
          <a:lstStyle/>
          <a:p>
            <a:pPr indent="0" marL="0">
              <a:buNone/>
            </a:pPr>
            <a:r>
              <a:rPr lang="en-US" sz="1100" dirty="0">
                <a:solidFill>
                  <a:schemeClr val="bg1">
                    <a:alpha val="75000"/>
                  </a:schemeClr>
                </a:solidFill>
              </a:rPr>
              <a:t>hops, lags and mechanisms</a:t>
            </a:r>
            <a:endParaRPr lang="en-US" sz="1100" dirty="0"/>
          </a:p>
        </p:txBody>
      </p:sp>
      <p:sp>
        <p:nvSpPr>
          <p:cNvPr id="29" name="dot-876"/>
          <p:cNvSpPr/>
          <p:nvPr/>
        </p:nvSpPr>
        <p:spPr>
          <a:xfrm>
            <a:off x="8275320" y="4379976"/>
            <a:ext cx="310896" cy="310896"/>
          </a:xfrm>
          <a:prstGeom prst="ellipse">
            <a:avLst/>
          </a:prstGeom>
          <a:solidFill>
            <a:schemeClr val="accent6"/>
          </a:solidFill>
          <a:ln/>
        </p:spPr>
      </p:sp>
      <p:sp>
        <p:nvSpPr>
          <p:cNvPr id="30" name="text-877"/>
          <p:cNvSpPr txBox="1"/>
          <p:nvPr/>
        </p:nvSpPr>
        <p:spPr>
          <a:xfrm>
            <a:off x="8275320" y="4379976"/>
            <a:ext cx="310896" cy="310896"/>
          </a:xfrm>
          <a:prstGeom prst="rect">
            <a:avLst/>
          </a:prstGeom>
          <a:noFill/>
          <a:ln/>
        </p:spPr>
        <p:txBody>
          <a:bodyPr wrap="square" lIns="0" tIns="0" rIns="0" bIns="0" rtlCol="0" anchor="ctr"/>
          <a:lstStyle/>
          <a:p>
            <a:pPr algn="ctr" indent="0" marL="0">
              <a:buNone/>
            </a:pPr>
            <a:r>
              <a:rPr lang="en-US" sz="1150" b="1" dirty="0">
                <a:solidFill>
                  <a:schemeClr val="tx1"/>
                </a:solidFill>
              </a:rPr>
              <a:t>5</a:t>
            </a:r>
            <a:endParaRPr lang="en-US" sz="1150" dirty="0"/>
          </a:p>
        </p:txBody>
      </p:sp>
      <p:sp>
        <p:nvSpPr>
          <p:cNvPr id="31" name="text-878"/>
          <p:cNvSpPr txBox="1"/>
          <p:nvPr/>
        </p:nvSpPr>
        <p:spPr>
          <a:xfrm>
            <a:off x="8732520" y="4325112"/>
            <a:ext cx="2727655" cy="237744"/>
          </a:xfrm>
          <a:prstGeom prst="rect">
            <a:avLst/>
          </a:prstGeom>
          <a:noFill/>
          <a:ln/>
        </p:spPr>
        <p:txBody>
          <a:bodyPr wrap="square" lIns="0" tIns="0" rIns="0" bIns="0" rtlCol="0" anchor="t"/>
          <a:lstStyle/>
          <a:p>
            <a:pPr indent="0" marL="0">
              <a:buNone/>
            </a:pPr>
            <a:r>
              <a:rPr lang="en-US" sz="1350" b="1" dirty="0">
                <a:solidFill>
                  <a:schemeClr val="bg1"/>
                </a:solidFill>
              </a:rPr>
              <a:t>Scenario table</a:t>
            </a:r>
            <a:endParaRPr lang="en-US" sz="1350" dirty="0"/>
          </a:p>
        </p:txBody>
      </p:sp>
      <p:sp>
        <p:nvSpPr>
          <p:cNvPr id="32" name="text-879"/>
          <p:cNvSpPr txBox="1"/>
          <p:nvPr/>
        </p:nvSpPr>
        <p:spPr>
          <a:xfrm>
            <a:off x="8732520" y="4562856"/>
            <a:ext cx="2727655" cy="219456"/>
          </a:xfrm>
          <a:prstGeom prst="rect">
            <a:avLst/>
          </a:prstGeom>
          <a:noFill/>
          <a:ln/>
        </p:spPr>
        <p:txBody>
          <a:bodyPr wrap="square" lIns="0" tIns="0" rIns="0" bIns="0" rtlCol="0" anchor="t"/>
          <a:lstStyle/>
          <a:p>
            <a:pPr indent="0" marL="0">
              <a:buNone/>
            </a:pPr>
            <a:r>
              <a:rPr lang="en-US" sz="1100" dirty="0">
                <a:solidFill>
                  <a:schemeClr val="bg1">
                    <a:alpha val="75000"/>
                  </a:schemeClr>
                </a:solidFill>
              </a:rPr>
              <a:t>live baselines, impact, lag, band</a:t>
            </a:r>
            <a:endParaRPr lang="en-US" sz="1100" dirty="0"/>
          </a:p>
        </p:txBody>
      </p:sp>
      <p:sp>
        <p:nvSpPr>
          <p:cNvPr id="33" name="dot-880"/>
          <p:cNvSpPr/>
          <p:nvPr/>
        </p:nvSpPr>
        <p:spPr>
          <a:xfrm>
            <a:off x="8275320" y="4928616"/>
            <a:ext cx="310896" cy="310896"/>
          </a:xfrm>
          <a:prstGeom prst="ellipse">
            <a:avLst/>
          </a:prstGeom>
          <a:solidFill>
            <a:schemeClr val="accent2"/>
          </a:solidFill>
          <a:ln/>
        </p:spPr>
      </p:sp>
      <p:sp>
        <p:nvSpPr>
          <p:cNvPr id="34" name="text-881"/>
          <p:cNvSpPr txBox="1"/>
          <p:nvPr/>
        </p:nvSpPr>
        <p:spPr>
          <a:xfrm>
            <a:off x="8275320" y="4928616"/>
            <a:ext cx="310896" cy="310896"/>
          </a:xfrm>
          <a:prstGeom prst="rect">
            <a:avLst/>
          </a:prstGeom>
          <a:noFill/>
          <a:ln/>
        </p:spPr>
        <p:txBody>
          <a:bodyPr wrap="square" lIns="0" tIns="0" rIns="0" bIns="0" rtlCol="0" anchor="ctr"/>
          <a:lstStyle/>
          <a:p>
            <a:pPr algn="ctr" indent="0" marL="0">
              <a:buNone/>
            </a:pPr>
            <a:r>
              <a:rPr lang="en-US" sz="1150" b="1" dirty="0">
                <a:solidFill>
                  <a:schemeClr val="tx1"/>
                </a:solidFill>
              </a:rPr>
              <a:t>6</a:t>
            </a:r>
            <a:endParaRPr lang="en-US" sz="1150" dirty="0"/>
          </a:p>
        </p:txBody>
      </p:sp>
      <p:sp>
        <p:nvSpPr>
          <p:cNvPr id="35" name="text-882"/>
          <p:cNvSpPr txBox="1"/>
          <p:nvPr/>
        </p:nvSpPr>
        <p:spPr>
          <a:xfrm>
            <a:off x="8732520" y="4873752"/>
            <a:ext cx="2727655" cy="237744"/>
          </a:xfrm>
          <a:prstGeom prst="rect">
            <a:avLst/>
          </a:prstGeom>
          <a:noFill/>
          <a:ln/>
        </p:spPr>
        <p:txBody>
          <a:bodyPr wrap="square" lIns="0" tIns="0" rIns="0" bIns="0" rtlCol="0" anchor="t"/>
          <a:lstStyle/>
          <a:p>
            <a:pPr indent="0" marL="0">
              <a:buNone/>
            </a:pPr>
            <a:r>
              <a:rPr lang="en-US" sz="1350" b="1" dirty="0">
                <a:solidFill>
                  <a:schemeClr val="bg1"/>
                </a:solidFill>
              </a:rPr>
              <a:t>Source provenance</a:t>
            </a:r>
            <a:endParaRPr lang="en-US" sz="1350" dirty="0"/>
          </a:p>
        </p:txBody>
      </p:sp>
      <p:sp>
        <p:nvSpPr>
          <p:cNvPr id="36" name="text-883"/>
          <p:cNvSpPr txBox="1"/>
          <p:nvPr/>
        </p:nvSpPr>
        <p:spPr>
          <a:xfrm>
            <a:off x="8732520" y="5111496"/>
            <a:ext cx="2727655" cy="219456"/>
          </a:xfrm>
          <a:prstGeom prst="rect">
            <a:avLst/>
          </a:prstGeom>
          <a:noFill/>
          <a:ln/>
        </p:spPr>
        <p:txBody>
          <a:bodyPr wrap="square" lIns="0" tIns="0" rIns="0" bIns="0" rtlCol="0" anchor="t"/>
          <a:lstStyle/>
          <a:p>
            <a:pPr indent="0" marL="0">
              <a:buNone/>
            </a:pPr>
            <a:r>
              <a:rPr lang="en-US" sz="1100" dirty="0">
                <a:solidFill>
                  <a:schemeClr val="bg1">
                    <a:alpha val="75000"/>
                  </a:schemeClr>
                </a:solidFill>
              </a:rPr>
              <a:t>agent, dataset, table, retrieval time</a:t>
            </a:r>
            <a:endParaRPr lang="en-US" sz="1100" dirty="0"/>
          </a:p>
        </p:txBody>
      </p:sp>
      <p:sp>
        <p:nvSpPr>
          <p:cNvPr id="37" name="card-884"/>
          <p:cNvSpPr/>
          <p:nvPr/>
        </p:nvSpPr>
        <p:spPr>
          <a:xfrm>
            <a:off x="8275320" y="5559552"/>
            <a:ext cx="1828800" cy="310896"/>
          </a:xfrm>
          <a:prstGeom prst="roundRect">
            <a:avLst>
              <a:gd name="adj" fmla="val 50000"/>
            </a:avLst>
          </a:prstGeom>
          <a:solidFill>
            <a:schemeClr val="accent2"/>
          </a:solidFill>
          <a:ln/>
        </p:spPr>
      </p:sp>
      <p:sp>
        <p:nvSpPr>
          <p:cNvPr id="38" name="text-885"/>
          <p:cNvSpPr txBox="1"/>
          <p:nvPr/>
        </p:nvSpPr>
        <p:spPr>
          <a:xfrm>
            <a:off x="8275320" y="5559552"/>
            <a:ext cx="1828800" cy="310896"/>
          </a:xfrm>
          <a:prstGeom prst="rect">
            <a:avLst/>
          </a:prstGeom>
          <a:noFill/>
          <a:ln/>
        </p:spPr>
        <p:txBody>
          <a:bodyPr wrap="square" lIns="0" tIns="0" rIns="0" bIns="0" rtlCol="0" anchor="ctr"/>
          <a:lstStyle/>
          <a:p>
            <a:pPr algn="ctr" indent="0" marL="0">
              <a:buNone/>
            </a:pPr>
            <a:r>
              <a:rPr lang="en-US" sz="1100" b="1" spc="50" kern="0" dirty="0">
                <a:solidFill>
                  <a:schemeClr val="tx1"/>
                </a:solidFill>
              </a:rPr>
              <a:t>≈ 11 s END TO END</a:t>
            </a:r>
            <a:endParaRPr lang="en-US" sz="1100" dirty="0"/>
          </a:p>
        </p:txBody>
      </p:sp>
      <p:sp>
        <p:nvSpPr>
          <p:cNvPr id="25" name="Slide Number Placeholder 0"/>
          <p:cNvSpPr>
            <a:spLocks noGrp="1"/>
          </p:cNvSpPr>
          <p:nvPr>
            <p:ph type="sldNum" sz="quarter" idx="4294967295"/>
          </p:nvPr>
        </p:nvSpPr>
        <p:spPr>
          <a:xfrm>
            <a:off x="11091672" y="6446520"/>
            <a:ext cx="548640" cy="22860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51607A"/>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ctr"/>
          <a:lstStyle/>
          <a:p>
            <a:pPr indent="0" marL="0">
              <a:buNone/>
            </a:pPr>
            <a:r>
              <a:rPr lang="en-US" sz="1200" b="1" spc="200" kern="0" dirty="0">
                <a:solidFill>
                  <a:schemeClr val="accent6"/>
                </a:solidFill>
              </a:rPr>
              <a:t>CONCLUSION</a:t>
            </a:r>
            <a:endParaRPr lang="en-US" sz="1200" dirty="0"/>
          </a:p>
        </p:txBody>
      </p:sp>
      <p:sp>
        <p:nvSpPr>
          <p:cNvPr id="3" name="Text 0"/>
          <p:cNvSpPr/>
          <p:nvPr>
            <p:ph idx="101" type="title" hasCustomPrompt="1"/>
          </p:nvPr>
        </p:nvSpPr>
        <p:spPr>
          <a:xfrm>
            <a:off x="548640" y="676656"/>
            <a:ext cx="11094415" cy="713232"/>
          </a:xfrm>
          <a:prstGeom prst="rect">
            <a:avLst/>
          </a:prstGeom>
          <a:noFill/>
          <a:ln/>
        </p:spPr>
        <p:txBody>
          <a:bodyPr wrap="square" lIns="0" tIns="0" rIns="0" bIns="0" rtlCol="0" anchor="t"/>
          <a:lstStyle/>
          <a:p>
            <a:pPr algn="l" indent="0" marL="0">
              <a:buNone/>
            </a:pPr>
            <a:r>
              <a:rPr lang="en-US" sz="3600" b="1" dirty="0">
                <a:solidFill>
                  <a:schemeClr val="bg1"/>
                </a:solidFill>
              </a:rPr>
              <a:t>Every number has an owner and a source</a:t>
            </a:r>
            <a:endParaRPr lang="en-US" sz="3600" dirty="0"/>
          </a:p>
        </p:txBody>
      </p:sp>
      <p:sp>
        <p:nvSpPr>
          <p:cNvPr id="4" name="card-886"/>
          <p:cNvSpPr/>
          <p:nvPr/>
        </p:nvSpPr>
        <p:spPr>
          <a:xfrm>
            <a:off x="548640" y="1645920"/>
            <a:ext cx="1490472" cy="987552"/>
          </a:xfrm>
          <a:prstGeom prst="roundRect">
            <a:avLst>
              <a:gd name="adj" fmla="val 9259"/>
            </a:avLst>
          </a:prstGeom>
          <a:solidFill>
            <a:schemeClr val="accent5"/>
          </a:solidFill>
          <a:ln/>
        </p:spPr>
      </p:sp>
      <p:sp>
        <p:nvSpPr>
          <p:cNvPr id="5" name="text-887"/>
          <p:cNvSpPr txBox="1"/>
          <p:nvPr/>
        </p:nvSpPr>
        <p:spPr>
          <a:xfrm>
            <a:off x="685800" y="1755648"/>
            <a:ext cx="548640" cy="219456"/>
          </a:xfrm>
          <a:prstGeom prst="rect">
            <a:avLst/>
          </a:prstGeom>
          <a:noFill/>
          <a:ln/>
        </p:spPr>
        <p:txBody>
          <a:bodyPr wrap="square" lIns="0" tIns="0" rIns="0" bIns="0" rtlCol="0" anchor="t"/>
          <a:lstStyle/>
          <a:p>
            <a:pPr indent="0" marL="0">
              <a:buNone/>
            </a:pPr>
            <a:r>
              <a:rPr lang="en-US" sz="1200" b="1" dirty="0">
                <a:solidFill>
                  <a:schemeClr val="accent6"/>
                </a:solidFill>
              </a:rPr>
              <a:t>O1</a:t>
            </a:r>
            <a:endParaRPr lang="en-US" sz="1200" dirty="0"/>
          </a:p>
        </p:txBody>
      </p:sp>
      <p:sp>
        <p:nvSpPr>
          <p:cNvPr id="6" name="text-888"/>
          <p:cNvSpPr txBox="1"/>
          <p:nvPr/>
        </p:nvSpPr>
        <p:spPr>
          <a:xfrm>
            <a:off x="685800" y="1993392"/>
            <a:ext cx="1261872" cy="237744"/>
          </a:xfrm>
          <a:prstGeom prst="rect">
            <a:avLst/>
          </a:prstGeom>
          <a:noFill/>
          <a:ln/>
        </p:spPr>
        <p:txBody>
          <a:bodyPr wrap="square" lIns="0" tIns="0" rIns="0" bIns="0" rtlCol="0" anchor="t"/>
          <a:lstStyle/>
          <a:p>
            <a:pPr indent="0" marL="0">
              <a:buNone/>
            </a:pPr>
            <a:r>
              <a:rPr lang="en-US" sz="1150" dirty="0">
                <a:solidFill>
                  <a:schemeClr val="bg1"/>
                </a:solidFill>
              </a:rPr>
              <a:t>Data access</a:t>
            </a:r>
            <a:endParaRPr lang="en-US" sz="1150" dirty="0"/>
          </a:p>
        </p:txBody>
      </p:sp>
      <p:sp>
        <p:nvSpPr>
          <p:cNvPr id="7" name="card-889"/>
          <p:cNvSpPr/>
          <p:nvPr/>
        </p:nvSpPr>
        <p:spPr>
          <a:xfrm>
            <a:off x="685800" y="2286000"/>
            <a:ext cx="830275" cy="228600"/>
          </a:xfrm>
          <a:prstGeom prst="roundRect">
            <a:avLst>
              <a:gd name="adj" fmla="val 50000"/>
            </a:avLst>
          </a:prstGeom>
          <a:solidFill>
            <a:schemeClr val="accent3"/>
          </a:solidFill>
          <a:ln/>
        </p:spPr>
      </p:sp>
      <p:sp>
        <p:nvSpPr>
          <p:cNvPr id="8" name="text-890"/>
          <p:cNvSpPr txBox="1"/>
          <p:nvPr/>
        </p:nvSpPr>
        <p:spPr>
          <a:xfrm>
            <a:off x="685800" y="2286000"/>
            <a:ext cx="830275" cy="228600"/>
          </a:xfrm>
          <a:prstGeom prst="rect">
            <a:avLst/>
          </a:prstGeom>
          <a:noFill/>
          <a:ln/>
        </p:spPr>
        <p:txBody>
          <a:bodyPr wrap="square" lIns="0" tIns="0" rIns="0" bIns="0" rtlCol="0" anchor="ctr"/>
          <a:lstStyle/>
          <a:p>
            <a:pPr algn="ctr" indent="0" marL="0">
              <a:buNone/>
            </a:pPr>
            <a:r>
              <a:rPr lang="en-US" sz="900" b="1" spc="50" kern="0" dirty="0">
                <a:solidFill>
                  <a:schemeClr val="bg1"/>
                </a:solidFill>
              </a:rPr>
              <a:t>DELIVERED</a:t>
            </a:r>
            <a:endParaRPr lang="en-US" sz="900" dirty="0"/>
          </a:p>
        </p:txBody>
      </p:sp>
      <p:sp>
        <p:nvSpPr>
          <p:cNvPr id="9" name="card-891"/>
          <p:cNvSpPr/>
          <p:nvPr/>
        </p:nvSpPr>
        <p:spPr>
          <a:xfrm>
            <a:off x="2149297" y="1645920"/>
            <a:ext cx="1490472" cy="987552"/>
          </a:xfrm>
          <a:prstGeom prst="roundRect">
            <a:avLst>
              <a:gd name="adj" fmla="val 9259"/>
            </a:avLst>
          </a:prstGeom>
          <a:solidFill>
            <a:schemeClr val="accent5"/>
          </a:solidFill>
          <a:ln/>
        </p:spPr>
      </p:sp>
      <p:sp>
        <p:nvSpPr>
          <p:cNvPr id="10" name="text-892"/>
          <p:cNvSpPr txBox="1"/>
          <p:nvPr/>
        </p:nvSpPr>
        <p:spPr>
          <a:xfrm>
            <a:off x="2286457" y="1755648"/>
            <a:ext cx="548640" cy="219456"/>
          </a:xfrm>
          <a:prstGeom prst="rect">
            <a:avLst/>
          </a:prstGeom>
          <a:noFill/>
          <a:ln/>
        </p:spPr>
        <p:txBody>
          <a:bodyPr wrap="square" lIns="0" tIns="0" rIns="0" bIns="0" rtlCol="0" anchor="t"/>
          <a:lstStyle/>
          <a:p>
            <a:pPr indent="0" marL="0">
              <a:buNone/>
            </a:pPr>
            <a:r>
              <a:rPr lang="en-US" sz="1200" b="1" dirty="0">
                <a:solidFill>
                  <a:schemeClr val="accent6"/>
                </a:solidFill>
              </a:rPr>
              <a:t>O2</a:t>
            </a:r>
            <a:endParaRPr lang="en-US" sz="1200" dirty="0"/>
          </a:p>
        </p:txBody>
      </p:sp>
      <p:sp>
        <p:nvSpPr>
          <p:cNvPr id="11" name="text-893"/>
          <p:cNvSpPr txBox="1"/>
          <p:nvPr/>
        </p:nvSpPr>
        <p:spPr>
          <a:xfrm>
            <a:off x="2286457" y="1993392"/>
            <a:ext cx="1261872" cy="237744"/>
          </a:xfrm>
          <a:prstGeom prst="rect">
            <a:avLst/>
          </a:prstGeom>
          <a:noFill/>
          <a:ln/>
        </p:spPr>
        <p:txBody>
          <a:bodyPr wrap="square" lIns="0" tIns="0" rIns="0" bIns="0" rtlCol="0" anchor="t"/>
          <a:lstStyle/>
          <a:p>
            <a:pPr indent="0" marL="0">
              <a:buNone/>
            </a:pPr>
            <a:r>
              <a:rPr lang="en-US" sz="1150" dirty="0">
                <a:solidFill>
                  <a:schemeClr val="bg1"/>
                </a:solidFill>
              </a:rPr>
              <a:t>Coordination</a:t>
            </a:r>
            <a:endParaRPr lang="en-US" sz="1150" dirty="0"/>
          </a:p>
        </p:txBody>
      </p:sp>
      <p:sp>
        <p:nvSpPr>
          <p:cNvPr id="12" name="card-894"/>
          <p:cNvSpPr/>
          <p:nvPr/>
        </p:nvSpPr>
        <p:spPr>
          <a:xfrm>
            <a:off x="2286457" y="2286000"/>
            <a:ext cx="830275" cy="228600"/>
          </a:xfrm>
          <a:prstGeom prst="roundRect">
            <a:avLst>
              <a:gd name="adj" fmla="val 50000"/>
            </a:avLst>
          </a:prstGeom>
          <a:solidFill>
            <a:schemeClr val="accent3"/>
          </a:solidFill>
          <a:ln/>
        </p:spPr>
      </p:sp>
      <p:sp>
        <p:nvSpPr>
          <p:cNvPr id="13" name="text-895"/>
          <p:cNvSpPr txBox="1"/>
          <p:nvPr/>
        </p:nvSpPr>
        <p:spPr>
          <a:xfrm>
            <a:off x="2286457" y="2286000"/>
            <a:ext cx="830275" cy="228600"/>
          </a:xfrm>
          <a:prstGeom prst="rect">
            <a:avLst/>
          </a:prstGeom>
          <a:noFill/>
          <a:ln/>
        </p:spPr>
        <p:txBody>
          <a:bodyPr wrap="square" lIns="0" tIns="0" rIns="0" bIns="0" rtlCol="0" anchor="ctr"/>
          <a:lstStyle/>
          <a:p>
            <a:pPr algn="ctr" indent="0" marL="0">
              <a:buNone/>
            </a:pPr>
            <a:r>
              <a:rPr lang="en-US" sz="900" b="1" spc="50" kern="0" dirty="0">
                <a:solidFill>
                  <a:schemeClr val="bg1"/>
                </a:solidFill>
              </a:rPr>
              <a:t>DELIVERED</a:t>
            </a:r>
            <a:endParaRPr lang="en-US" sz="900" dirty="0"/>
          </a:p>
        </p:txBody>
      </p:sp>
      <p:sp>
        <p:nvSpPr>
          <p:cNvPr id="14" name="card-896"/>
          <p:cNvSpPr/>
          <p:nvPr/>
        </p:nvSpPr>
        <p:spPr>
          <a:xfrm>
            <a:off x="3749954" y="1645920"/>
            <a:ext cx="1490472" cy="987552"/>
          </a:xfrm>
          <a:prstGeom prst="roundRect">
            <a:avLst>
              <a:gd name="adj" fmla="val 9259"/>
            </a:avLst>
          </a:prstGeom>
          <a:solidFill>
            <a:schemeClr val="accent5"/>
          </a:solidFill>
          <a:ln/>
        </p:spPr>
      </p:sp>
      <p:sp>
        <p:nvSpPr>
          <p:cNvPr id="15" name="text-897"/>
          <p:cNvSpPr txBox="1"/>
          <p:nvPr/>
        </p:nvSpPr>
        <p:spPr>
          <a:xfrm>
            <a:off x="3887114" y="1755648"/>
            <a:ext cx="548640" cy="219456"/>
          </a:xfrm>
          <a:prstGeom prst="rect">
            <a:avLst/>
          </a:prstGeom>
          <a:noFill/>
          <a:ln/>
        </p:spPr>
        <p:txBody>
          <a:bodyPr wrap="square" lIns="0" tIns="0" rIns="0" bIns="0" rtlCol="0" anchor="t"/>
          <a:lstStyle/>
          <a:p>
            <a:pPr indent="0" marL="0">
              <a:buNone/>
            </a:pPr>
            <a:r>
              <a:rPr lang="en-US" sz="1200" b="1" dirty="0">
                <a:solidFill>
                  <a:schemeClr val="accent6"/>
                </a:solidFill>
              </a:rPr>
              <a:t>O3</a:t>
            </a:r>
            <a:endParaRPr lang="en-US" sz="1200" dirty="0"/>
          </a:p>
        </p:txBody>
      </p:sp>
      <p:sp>
        <p:nvSpPr>
          <p:cNvPr id="16" name="text-898"/>
          <p:cNvSpPr txBox="1"/>
          <p:nvPr/>
        </p:nvSpPr>
        <p:spPr>
          <a:xfrm>
            <a:off x="3887114" y="1993392"/>
            <a:ext cx="1261872" cy="237744"/>
          </a:xfrm>
          <a:prstGeom prst="rect">
            <a:avLst/>
          </a:prstGeom>
          <a:noFill/>
          <a:ln/>
        </p:spPr>
        <p:txBody>
          <a:bodyPr wrap="square" lIns="0" tIns="0" rIns="0" bIns="0" rtlCol="0" anchor="t"/>
          <a:lstStyle/>
          <a:p>
            <a:pPr indent="0" marL="0">
              <a:buNone/>
            </a:pPr>
            <a:r>
              <a:rPr lang="en-US" sz="1150" dirty="0">
                <a:solidFill>
                  <a:schemeClr val="bg1"/>
                </a:solidFill>
              </a:rPr>
              <a:t>Grounded answers</a:t>
            </a:r>
            <a:endParaRPr lang="en-US" sz="1150" dirty="0"/>
          </a:p>
        </p:txBody>
      </p:sp>
      <p:sp>
        <p:nvSpPr>
          <p:cNvPr id="17" name="card-899"/>
          <p:cNvSpPr/>
          <p:nvPr/>
        </p:nvSpPr>
        <p:spPr>
          <a:xfrm>
            <a:off x="3887114" y="2286000"/>
            <a:ext cx="830275" cy="228600"/>
          </a:xfrm>
          <a:prstGeom prst="roundRect">
            <a:avLst>
              <a:gd name="adj" fmla="val 50000"/>
            </a:avLst>
          </a:prstGeom>
          <a:solidFill>
            <a:schemeClr val="accent3"/>
          </a:solidFill>
          <a:ln/>
        </p:spPr>
      </p:sp>
      <p:sp>
        <p:nvSpPr>
          <p:cNvPr id="18" name="text-900"/>
          <p:cNvSpPr txBox="1"/>
          <p:nvPr/>
        </p:nvSpPr>
        <p:spPr>
          <a:xfrm>
            <a:off x="3887114" y="2286000"/>
            <a:ext cx="830275" cy="228600"/>
          </a:xfrm>
          <a:prstGeom prst="rect">
            <a:avLst/>
          </a:prstGeom>
          <a:noFill/>
          <a:ln/>
        </p:spPr>
        <p:txBody>
          <a:bodyPr wrap="square" lIns="0" tIns="0" rIns="0" bIns="0" rtlCol="0" anchor="ctr"/>
          <a:lstStyle/>
          <a:p>
            <a:pPr algn="ctr" indent="0" marL="0">
              <a:buNone/>
            </a:pPr>
            <a:r>
              <a:rPr lang="en-US" sz="900" b="1" spc="50" kern="0" dirty="0">
                <a:solidFill>
                  <a:schemeClr val="bg1"/>
                </a:solidFill>
              </a:rPr>
              <a:t>DELIVERED</a:t>
            </a:r>
            <a:endParaRPr lang="en-US" sz="900" dirty="0"/>
          </a:p>
        </p:txBody>
      </p:sp>
      <p:sp>
        <p:nvSpPr>
          <p:cNvPr id="19" name="card-901"/>
          <p:cNvSpPr/>
          <p:nvPr/>
        </p:nvSpPr>
        <p:spPr>
          <a:xfrm>
            <a:off x="5350612" y="1645920"/>
            <a:ext cx="1490472" cy="987552"/>
          </a:xfrm>
          <a:prstGeom prst="roundRect">
            <a:avLst>
              <a:gd name="adj" fmla="val 9259"/>
            </a:avLst>
          </a:prstGeom>
          <a:solidFill>
            <a:schemeClr val="accent5"/>
          </a:solidFill>
          <a:ln/>
        </p:spPr>
      </p:sp>
      <p:sp>
        <p:nvSpPr>
          <p:cNvPr id="20" name="text-902"/>
          <p:cNvSpPr txBox="1"/>
          <p:nvPr/>
        </p:nvSpPr>
        <p:spPr>
          <a:xfrm>
            <a:off x="5487772" y="1755648"/>
            <a:ext cx="548640" cy="219456"/>
          </a:xfrm>
          <a:prstGeom prst="rect">
            <a:avLst/>
          </a:prstGeom>
          <a:noFill/>
          <a:ln/>
        </p:spPr>
        <p:txBody>
          <a:bodyPr wrap="square" lIns="0" tIns="0" rIns="0" bIns="0" rtlCol="0" anchor="t"/>
          <a:lstStyle/>
          <a:p>
            <a:pPr indent="0" marL="0">
              <a:buNone/>
            </a:pPr>
            <a:r>
              <a:rPr lang="en-US" sz="1200" b="1" dirty="0">
                <a:solidFill>
                  <a:schemeClr val="accent6"/>
                </a:solidFill>
              </a:rPr>
              <a:t>O4</a:t>
            </a:r>
            <a:endParaRPr lang="en-US" sz="1200" dirty="0"/>
          </a:p>
        </p:txBody>
      </p:sp>
      <p:sp>
        <p:nvSpPr>
          <p:cNvPr id="21" name="text-903"/>
          <p:cNvSpPr txBox="1"/>
          <p:nvPr/>
        </p:nvSpPr>
        <p:spPr>
          <a:xfrm>
            <a:off x="5487772" y="1993392"/>
            <a:ext cx="1261872" cy="237744"/>
          </a:xfrm>
          <a:prstGeom prst="rect">
            <a:avLst/>
          </a:prstGeom>
          <a:noFill/>
          <a:ln/>
        </p:spPr>
        <p:txBody>
          <a:bodyPr wrap="square" lIns="0" tIns="0" rIns="0" bIns="0" rtlCol="0" anchor="t"/>
          <a:lstStyle/>
          <a:p>
            <a:pPr indent="0" marL="0">
              <a:buNone/>
            </a:pPr>
            <a:r>
              <a:rPr lang="en-US" sz="1150" dirty="0">
                <a:solidFill>
                  <a:schemeClr val="bg1"/>
                </a:solidFill>
              </a:rPr>
              <a:t>Causal model</a:t>
            </a:r>
            <a:endParaRPr lang="en-US" sz="1150" dirty="0"/>
          </a:p>
        </p:txBody>
      </p:sp>
      <p:sp>
        <p:nvSpPr>
          <p:cNvPr id="22" name="card-904"/>
          <p:cNvSpPr/>
          <p:nvPr/>
        </p:nvSpPr>
        <p:spPr>
          <a:xfrm>
            <a:off x="5487772" y="2286000"/>
            <a:ext cx="830275" cy="228600"/>
          </a:xfrm>
          <a:prstGeom prst="roundRect">
            <a:avLst>
              <a:gd name="adj" fmla="val 50000"/>
            </a:avLst>
          </a:prstGeom>
          <a:solidFill>
            <a:schemeClr val="accent3"/>
          </a:solidFill>
          <a:ln/>
        </p:spPr>
      </p:sp>
      <p:sp>
        <p:nvSpPr>
          <p:cNvPr id="23" name="text-905"/>
          <p:cNvSpPr txBox="1"/>
          <p:nvPr/>
        </p:nvSpPr>
        <p:spPr>
          <a:xfrm>
            <a:off x="5487772" y="2286000"/>
            <a:ext cx="830275" cy="228600"/>
          </a:xfrm>
          <a:prstGeom prst="rect">
            <a:avLst/>
          </a:prstGeom>
          <a:noFill/>
          <a:ln/>
        </p:spPr>
        <p:txBody>
          <a:bodyPr wrap="square" lIns="0" tIns="0" rIns="0" bIns="0" rtlCol="0" anchor="ctr"/>
          <a:lstStyle/>
          <a:p>
            <a:pPr algn="ctr" indent="0" marL="0">
              <a:buNone/>
            </a:pPr>
            <a:r>
              <a:rPr lang="en-US" sz="900" b="1" spc="50" kern="0" dirty="0">
                <a:solidFill>
                  <a:schemeClr val="bg1"/>
                </a:solidFill>
              </a:rPr>
              <a:t>DELIVERED</a:t>
            </a:r>
            <a:endParaRPr lang="en-US" sz="900" dirty="0"/>
          </a:p>
        </p:txBody>
      </p:sp>
      <p:sp>
        <p:nvSpPr>
          <p:cNvPr id="24" name="card-906"/>
          <p:cNvSpPr/>
          <p:nvPr/>
        </p:nvSpPr>
        <p:spPr>
          <a:xfrm>
            <a:off x="6951269" y="1645920"/>
            <a:ext cx="1490472" cy="987552"/>
          </a:xfrm>
          <a:prstGeom prst="roundRect">
            <a:avLst>
              <a:gd name="adj" fmla="val 9259"/>
            </a:avLst>
          </a:prstGeom>
          <a:solidFill>
            <a:schemeClr val="accent5"/>
          </a:solidFill>
          <a:ln/>
        </p:spPr>
      </p:sp>
      <p:sp>
        <p:nvSpPr>
          <p:cNvPr id="25" name="text-907"/>
          <p:cNvSpPr txBox="1"/>
          <p:nvPr/>
        </p:nvSpPr>
        <p:spPr>
          <a:xfrm>
            <a:off x="7088429" y="1755648"/>
            <a:ext cx="548640" cy="219456"/>
          </a:xfrm>
          <a:prstGeom prst="rect">
            <a:avLst/>
          </a:prstGeom>
          <a:noFill/>
          <a:ln/>
        </p:spPr>
        <p:txBody>
          <a:bodyPr wrap="square" lIns="0" tIns="0" rIns="0" bIns="0" rtlCol="0" anchor="t"/>
          <a:lstStyle/>
          <a:p>
            <a:pPr indent="0" marL="0">
              <a:buNone/>
            </a:pPr>
            <a:r>
              <a:rPr lang="en-US" sz="1200" b="1" dirty="0">
                <a:solidFill>
                  <a:schemeClr val="accent6"/>
                </a:solidFill>
              </a:rPr>
              <a:t>O5</a:t>
            </a:r>
            <a:endParaRPr lang="en-US" sz="1200" dirty="0"/>
          </a:p>
        </p:txBody>
      </p:sp>
      <p:sp>
        <p:nvSpPr>
          <p:cNvPr id="26" name="text-908"/>
          <p:cNvSpPr txBox="1"/>
          <p:nvPr/>
        </p:nvSpPr>
        <p:spPr>
          <a:xfrm>
            <a:off x="7088429" y="1993392"/>
            <a:ext cx="1261872" cy="237744"/>
          </a:xfrm>
          <a:prstGeom prst="rect">
            <a:avLst/>
          </a:prstGeom>
          <a:noFill/>
          <a:ln/>
        </p:spPr>
        <p:txBody>
          <a:bodyPr wrap="square" lIns="0" tIns="0" rIns="0" bIns="0" rtlCol="0" anchor="t"/>
          <a:lstStyle/>
          <a:p>
            <a:pPr indent="0" marL="0">
              <a:buNone/>
            </a:pPr>
            <a:r>
              <a:rPr lang="en-US" sz="1150" dirty="0">
                <a:solidFill>
                  <a:schemeClr val="bg1"/>
                </a:solidFill>
              </a:rPr>
              <a:t>Provenance</a:t>
            </a:r>
            <a:endParaRPr lang="en-US" sz="1150" dirty="0"/>
          </a:p>
        </p:txBody>
      </p:sp>
      <p:sp>
        <p:nvSpPr>
          <p:cNvPr id="27" name="card-909"/>
          <p:cNvSpPr/>
          <p:nvPr/>
        </p:nvSpPr>
        <p:spPr>
          <a:xfrm>
            <a:off x="7088429" y="2286000"/>
            <a:ext cx="830275" cy="228600"/>
          </a:xfrm>
          <a:prstGeom prst="roundRect">
            <a:avLst>
              <a:gd name="adj" fmla="val 50000"/>
            </a:avLst>
          </a:prstGeom>
          <a:solidFill>
            <a:schemeClr val="accent3"/>
          </a:solidFill>
          <a:ln/>
        </p:spPr>
      </p:sp>
      <p:sp>
        <p:nvSpPr>
          <p:cNvPr id="28" name="text-910"/>
          <p:cNvSpPr txBox="1"/>
          <p:nvPr/>
        </p:nvSpPr>
        <p:spPr>
          <a:xfrm>
            <a:off x="7088429" y="2286000"/>
            <a:ext cx="830275" cy="228600"/>
          </a:xfrm>
          <a:prstGeom prst="rect">
            <a:avLst/>
          </a:prstGeom>
          <a:noFill/>
          <a:ln/>
        </p:spPr>
        <p:txBody>
          <a:bodyPr wrap="square" lIns="0" tIns="0" rIns="0" bIns="0" rtlCol="0" anchor="ctr"/>
          <a:lstStyle/>
          <a:p>
            <a:pPr algn="ctr" indent="0" marL="0">
              <a:buNone/>
            </a:pPr>
            <a:r>
              <a:rPr lang="en-US" sz="900" b="1" spc="50" kern="0" dirty="0">
                <a:solidFill>
                  <a:schemeClr val="bg1"/>
                </a:solidFill>
              </a:rPr>
              <a:t>DELIVERED</a:t>
            </a:r>
            <a:endParaRPr lang="en-US" sz="900" dirty="0"/>
          </a:p>
        </p:txBody>
      </p:sp>
      <p:sp>
        <p:nvSpPr>
          <p:cNvPr id="29" name="card-911"/>
          <p:cNvSpPr/>
          <p:nvPr/>
        </p:nvSpPr>
        <p:spPr>
          <a:xfrm>
            <a:off x="8551926" y="1645920"/>
            <a:ext cx="1490472" cy="987552"/>
          </a:xfrm>
          <a:prstGeom prst="roundRect">
            <a:avLst>
              <a:gd name="adj" fmla="val 9259"/>
            </a:avLst>
          </a:prstGeom>
          <a:solidFill>
            <a:schemeClr val="accent5"/>
          </a:solidFill>
          <a:ln/>
        </p:spPr>
      </p:sp>
      <p:sp>
        <p:nvSpPr>
          <p:cNvPr id="30" name="text-912"/>
          <p:cNvSpPr txBox="1"/>
          <p:nvPr/>
        </p:nvSpPr>
        <p:spPr>
          <a:xfrm>
            <a:off x="8689086" y="1755648"/>
            <a:ext cx="548640" cy="219456"/>
          </a:xfrm>
          <a:prstGeom prst="rect">
            <a:avLst/>
          </a:prstGeom>
          <a:noFill/>
          <a:ln/>
        </p:spPr>
        <p:txBody>
          <a:bodyPr wrap="square" lIns="0" tIns="0" rIns="0" bIns="0" rtlCol="0" anchor="t"/>
          <a:lstStyle/>
          <a:p>
            <a:pPr indent="0" marL="0">
              <a:buNone/>
            </a:pPr>
            <a:r>
              <a:rPr lang="en-US" sz="1200" b="1" dirty="0">
                <a:solidFill>
                  <a:schemeClr val="accent6"/>
                </a:solidFill>
              </a:rPr>
              <a:t>O6</a:t>
            </a:r>
            <a:endParaRPr lang="en-US" sz="1200" dirty="0"/>
          </a:p>
        </p:txBody>
      </p:sp>
      <p:sp>
        <p:nvSpPr>
          <p:cNvPr id="31" name="text-913"/>
          <p:cNvSpPr txBox="1"/>
          <p:nvPr/>
        </p:nvSpPr>
        <p:spPr>
          <a:xfrm>
            <a:off x="8689086" y="1993392"/>
            <a:ext cx="1261872" cy="237744"/>
          </a:xfrm>
          <a:prstGeom prst="rect">
            <a:avLst/>
          </a:prstGeom>
          <a:noFill/>
          <a:ln/>
        </p:spPr>
        <p:txBody>
          <a:bodyPr wrap="square" lIns="0" tIns="0" rIns="0" bIns="0" rtlCol="0" anchor="t"/>
          <a:lstStyle/>
          <a:p>
            <a:pPr indent="0" marL="0">
              <a:buNone/>
            </a:pPr>
            <a:r>
              <a:rPr lang="en-US" sz="1150" dirty="0">
                <a:solidFill>
                  <a:schemeClr val="bg1"/>
                </a:solidFill>
              </a:rPr>
              <a:t>Research tools</a:t>
            </a:r>
            <a:endParaRPr lang="en-US" sz="1150" dirty="0"/>
          </a:p>
        </p:txBody>
      </p:sp>
      <p:sp>
        <p:nvSpPr>
          <p:cNvPr id="32" name="card-914"/>
          <p:cNvSpPr/>
          <p:nvPr/>
        </p:nvSpPr>
        <p:spPr>
          <a:xfrm>
            <a:off x="8689086" y="2286000"/>
            <a:ext cx="830275" cy="228600"/>
          </a:xfrm>
          <a:prstGeom prst="roundRect">
            <a:avLst>
              <a:gd name="adj" fmla="val 50000"/>
            </a:avLst>
          </a:prstGeom>
          <a:solidFill>
            <a:schemeClr val="accent3"/>
          </a:solidFill>
          <a:ln/>
        </p:spPr>
      </p:sp>
      <p:sp>
        <p:nvSpPr>
          <p:cNvPr id="33" name="text-915"/>
          <p:cNvSpPr txBox="1"/>
          <p:nvPr/>
        </p:nvSpPr>
        <p:spPr>
          <a:xfrm>
            <a:off x="8689086" y="2286000"/>
            <a:ext cx="830275" cy="228600"/>
          </a:xfrm>
          <a:prstGeom prst="rect">
            <a:avLst/>
          </a:prstGeom>
          <a:noFill/>
          <a:ln/>
        </p:spPr>
        <p:txBody>
          <a:bodyPr wrap="square" lIns="0" tIns="0" rIns="0" bIns="0" rtlCol="0" anchor="ctr"/>
          <a:lstStyle/>
          <a:p>
            <a:pPr algn="ctr" indent="0" marL="0">
              <a:buNone/>
            </a:pPr>
            <a:r>
              <a:rPr lang="en-US" sz="900" b="1" spc="50" kern="0" dirty="0">
                <a:solidFill>
                  <a:schemeClr val="bg1"/>
                </a:solidFill>
              </a:rPr>
              <a:t>DELIVERED</a:t>
            </a:r>
            <a:endParaRPr lang="en-US" sz="900" dirty="0"/>
          </a:p>
        </p:txBody>
      </p:sp>
      <p:sp>
        <p:nvSpPr>
          <p:cNvPr id="34" name="card-916"/>
          <p:cNvSpPr/>
          <p:nvPr/>
        </p:nvSpPr>
        <p:spPr>
          <a:xfrm>
            <a:off x="10152583" y="1645920"/>
            <a:ext cx="1490472" cy="987552"/>
          </a:xfrm>
          <a:prstGeom prst="roundRect">
            <a:avLst>
              <a:gd name="adj" fmla="val 9259"/>
            </a:avLst>
          </a:prstGeom>
          <a:solidFill>
            <a:schemeClr val="accent5"/>
          </a:solidFill>
          <a:ln/>
        </p:spPr>
      </p:sp>
      <p:sp>
        <p:nvSpPr>
          <p:cNvPr id="35" name="text-917"/>
          <p:cNvSpPr txBox="1"/>
          <p:nvPr/>
        </p:nvSpPr>
        <p:spPr>
          <a:xfrm>
            <a:off x="10289743" y="1755648"/>
            <a:ext cx="548640" cy="219456"/>
          </a:xfrm>
          <a:prstGeom prst="rect">
            <a:avLst/>
          </a:prstGeom>
          <a:noFill/>
          <a:ln/>
        </p:spPr>
        <p:txBody>
          <a:bodyPr wrap="square" lIns="0" tIns="0" rIns="0" bIns="0" rtlCol="0" anchor="t"/>
          <a:lstStyle/>
          <a:p>
            <a:pPr indent="0" marL="0">
              <a:buNone/>
            </a:pPr>
            <a:r>
              <a:rPr lang="en-US" sz="1200" b="1" dirty="0">
                <a:solidFill>
                  <a:schemeClr val="accent6"/>
                </a:solidFill>
              </a:rPr>
              <a:t>O7</a:t>
            </a:r>
            <a:endParaRPr lang="en-US" sz="1200" dirty="0"/>
          </a:p>
        </p:txBody>
      </p:sp>
      <p:sp>
        <p:nvSpPr>
          <p:cNvPr id="36" name="text-918"/>
          <p:cNvSpPr txBox="1"/>
          <p:nvPr/>
        </p:nvSpPr>
        <p:spPr>
          <a:xfrm>
            <a:off x="10289743" y="1993392"/>
            <a:ext cx="1261872" cy="237744"/>
          </a:xfrm>
          <a:prstGeom prst="rect">
            <a:avLst/>
          </a:prstGeom>
          <a:noFill/>
          <a:ln/>
        </p:spPr>
        <p:txBody>
          <a:bodyPr wrap="square" lIns="0" tIns="0" rIns="0" bIns="0" rtlCol="0" anchor="t"/>
          <a:lstStyle/>
          <a:p>
            <a:pPr indent="0" marL="0">
              <a:buNone/>
            </a:pPr>
            <a:r>
              <a:rPr lang="en-US" sz="1150" dirty="0">
                <a:solidFill>
                  <a:schemeClr val="bg1"/>
                </a:solidFill>
              </a:rPr>
              <a:t>Interface</a:t>
            </a:r>
            <a:endParaRPr lang="en-US" sz="1150" dirty="0"/>
          </a:p>
        </p:txBody>
      </p:sp>
      <p:sp>
        <p:nvSpPr>
          <p:cNvPr id="37" name="card-919"/>
          <p:cNvSpPr/>
          <p:nvPr/>
        </p:nvSpPr>
        <p:spPr>
          <a:xfrm>
            <a:off x="10289743" y="2286000"/>
            <a:ext cx="830275" cy="228600"/>
          </a:xfrm>
          <a:prstGeom prst="roundRect">
            <a:avLst>
              <a:gd name="adj" fmla="val 50000"/>
            </a:avLst>
          </a:prstGeom>
          <a:solidFill>
            <a:schemeClr val="accent3"/>
          </a:solidFill>
          <a:ln/>
        </p:spPr>
      </p:sp>
      <p:sp>
        <p:nvSpPr>
          <p:cNvPr id="38" name="text-920"/>
          <p:cNvSpPr txBox="1"/>
          <p:nvPr/>
        </p:nvSpPr>
        <p:spPr>
          <a:xfrm>
            <a:off x="10289743" y="2286000"/>
            <a:ext cx="830275" cy="228600"/>
          </a:xfrm>
          <a:prstGeom prst="rect">
            <a:avLst/>
          </a:prstGeom>
          <a:noFill/>
          <a:ln/>
        </p:spPr>
        <p:txBody>
          <a:bodyPr wrap="square" lIns="0" tIns="0" rIns="0" bIns="0" rtlCol="0" anchor="ctr"/>
          <a:lstStyle/>
          <a:p>
            <a:pPr algn="ctr" indent="0" marL="0">
              <a:buNone/>
            </a:pPr>
            <a:r>
              <a:rPr lang="en-US" sz="900" b="1" spc="50" kern="0" dirty="0">
                <a:solidFill>
                  <a:schemeClr val="bg1"/>
                </a:solidFill>
              </a:rPr>
              <a:t>DELIVERED</a:t>
            </a:r>
            <a:endParaRPr lang="en-US" sz="900" dirty="0"/>
          </a:p>
        </p:txBody>
      </p:sp>
      <p:sp>
        <p:nvSpPr>
          <p:cNvPr id="39" name="text-921"/>
          <p:cNvSpPr txBox="1"/>
          <p:nvPr/>
        </p:nvSpPr>
        <p:spPr>
          <a:xfrm>
            <a:off x="548640" y="2926080"/>
            <a:ext cx="7178040" cy="1691640"/>
          </a:xfrm>
          <a:prstGeom prst="rect">
            <a:avLst/>
          </a:prstGeom>
          <a:noFill/>
          <a:ln/>
        </p:spPr>
        <p:txBody>
          <a:bodyPr wrap="square" lIns="0" tIns="0" rIns="0" bIns="0" rtlCol="0" anchor="t"/>
          <a:lstStyle/>
          <a:p>
            <a:pPr indent="0" marL="0">
              <a:buNone/>
            </a:pPr>
            <a:r>
              <a:rPr lang="en-US" sz="2100" i="1" dirty="0">
                <a:solidFill>
                  <a:schemeClr val="bg1"/>
                </a:solidFill>
                <a:latin typeface="+mj-lt" pitchFamily="34" charset="0"/>
                <a:ea typeface="+mj-lt" pitchFamily="34" charset="-122"/>
                <a:cs typeface="+mj-lt" pitchFamily="34" charset="-120"/>
              </a:rPr>
              <a:t>Macrograph AI makes one agent responsible for every number, carries each number with its official source, and explains how a shock travels across the Indian economy, from crude oil to GDP.</a:t>
            </a:r>
            <a:endParaRPr lang="en-US" sz="2100" dirty="0"/>
          </a:p>
        </p:txBody>
      </p:sp>
      <p:sp>
        <p:nvSpPr>
          <p:cNvPr id="40" name="card-922"/>
          <p:cNvSpPr/>
          <p:nvPr/>
        </p:nvSpPr>
        <p:spPr>
          <a:xfrm>
            <a:off x="8183880" y="2926080"/>
            <a:ext cx="3459175" cy="1463040"/>
          </a:xfrm>
          <a:prstGeom prst="roundRect">
            <a:avLst>
              <a:gd name="adj" fmla="val 7500"/>
            </a:avLst>
          </a:prstGeom>
          <a:solidFill>
            <a:schemeClr val="accent5"/>
          </a:solidFill>
          <a:ln/>
        </p:spPr>
      </p:sp>
      <p:sp>
        <p:nvSpPr>
          <p:cNvPr id="41" name="text-923"/>
          <p:cNvSpPr txBox="1"/>
          <p:nvPr/>
        </p:nvSpPr>
        <p:spPr>
          <a:xfrm>
            <a:off x="8412480" y="3072384"/>
            <a:ext cx="2743200" cy="219456"/>
          </a:xfrm>
          <a:prstGeom prst="rect">
            <a:avLst/>
          </a:prstGeom>
          <a:noFill/>
          <a:ln/>
        </p:spPr>
        <p:txBody>
          <a:bodyPr wrap="square" lIns="0" tIns="0" rIns="0" bIns="0" rtlCol="0" anchor="t"/>
          <a:lstStyle/>
          <a:p>
            <a:pPr indent="0" marL="0">
              <a:buNone/>
            </a:pPr>
            <a:r>
              <a:rPr lang="en-US" sz="1100" b="1" spc="200" kern="0" dirty="0">
                <a:solidFill>
                  <a:schemeClr val="accent6"/>
                </a:solidFill>
              </a:rPr>
              <a:t>NEXT</a:t>
            </a:r>
            <a:endParaRPr lang="en-US" sz="1100" dirty="0"/>
          </a:p>
        </p:txBody>
      </p:sp>
      <p:sp>
        <p:nvSpPr>
          <p:cNvPr id="42" name="text-924"/>
          <p:cNvSpPr txBox="1"/>
          <p:nvPr/>
        </p:nvSpPr>
        <p:spPr>
          <a:xfrm>
            <a:off x="8412480" y="3383280"/>
            <a:ext cx="3108960" cy="1097280"/>
          </a:xfrm>
          <a:prstGeom prst="rect">
            <a:avLst/>
          </a:prstGeom>
          <a:noFill/>
          <a:ln/>
        </p:spPr>
        <p:txBody>
          <a:bodyPr wrap="square" lIns="0" tIns="0" rIns="0" bIns="0" rtlCol="0" anchor="t"/>
          <a:lstStyle/>
          <a:p>
            <a:pPr indent="0" marL="0">
              <a:spcAft>
                <a:spcPts val="600"/>
              </a:spcAft>
              <a:buNone/>
            </a:pPr>
            <a:r>
              <a:rPr lang="en-US" sz="1300" dirty="0">
                <a:solidFill>
                  <a:schemeClr val="bg1"/>
                </a:solidFill>
              </a:rPr>
              <a:t>1   Verify every claim before it is shown</a:t>
            </a:r>
            <a:endParaRPr lang="en-US" sz="1300" dirty="0"/>
          </a:p>
          <a:p>
            <a:pPr indent="0" marL="0">
              <a:spcAft>
                <a:spcPts val="600"/>
              </a:spcAft>
              <a:buNone/>
            </a:pPr>
            <a:r>
              <a:rPr lang="en-US" sz="1300" dirty="0">
                <a:solidFill>
                  <a:schemeClr val="bg1"/>
                </a:solidFill>
              </a:rPr>
              <a:t>2   Estimate edges from long series</a:t>
            </a:r>
            <a:endParaRPr lang="en-US" sz="1300" dirty="0"/>
          </a:p>
          <a:p>
            <a:pPr indent="0" marL="0">
              <a:spcAft>
                <a:spcPts val="600"/>
              </a:spcAft>
              <a:buNone/>
            </a:pPr>
            <a:r>
              <a:rPr lang="en-US" sz="1300" dirty="0">
                <a:solidFill>
                  <a:schemeClr val="bg1"/>
                </a:solidFill>
              </a:rPr>
              <a:t>3   Benchmark against five baselines</a:t>
            </a:r>
            <a:endParaRPr lang="en-US" sz="1300" dirty="0"/>
          </a:p>
        </p:txBody>
      </p:sp>
      <p:sp>
        <p:nvSpPr>
          <p:cNvPr id="43" name="text-925"/>
          <p:cNvSpPr txBox="1"/>
          <p:nvPr/>
        </p:nvSpPr>
        <p:spPr>
          <a:xfrm>
            <a:off x="548640" y="4892040"/>
            <a:ext cx="5029200" cy="731520"/>
          </a:xfrm>
          <a:prstGeom prst="rect">
            <a:avLst/>
          </a:prstGeom>
          <a:noFill/>
          <a:ln/>
        </p:spPr>
        <p:txBody>
          <a:bodyPr wrap="square" lIns="0" tIns="0" rIns="0" bIns="0" rtlCol="0" anchor="t"/>
          <a:lstStyle/>
          <a:p>
            <a:pPr indent="0" marL="0">
              <a:buNone/>
            </a:pPr>
            <a:r>
              <a:rPr lang="en-US" sz="4400" b="1" dirty="0">
                <a:solidFill>
                  <a:schemeClr val="bg1"/>
                </a:solidFill>
                <a:latin typeface="+mj-lt" pitchFamily="34" charset="0"/>
                <a:ea typeface="+mj-lt" pitchFamily="34" charset="-122"/>
                <a:cs typeface="+mj-lt" pitchFamily="34" charset="-120"/>
              </a:rPr>
              <a:t>Thank you</a:t>
            </a:r>
            <a:endParaRPr lang="en-US" sz="4400" dirty="0"/>
          </a:p>
        </p:txBody>
      </p:sp>
      <p:sp>
        <p:nvSpPr>
          <p:cNvPr id="44" name="text-926"/>
          <p:cNvSpPr txBox="1"/>
          <p:nvPr/>
        </p:nvSpPr>
        <p:spPr>
          <a:xfrm>
            <a:off x="548640" y="5650992"/>
            <a:ext cx="5029200" cy="292608"/>
          </a:xfrm>
          <a:prstGeom prst="rect">
            <a:avLst/>
          </a:prstGeom>
          <a:noFill/>
          <a:ln/>
        </p:spPr>
        <p:txBody>
          <a:bodyPr wrap="square" lIns="0" tIns="0" rIns="0" bIns="0" rtlCol="0" anchor="t"/>
          <a:lstStyle/>
          <a:p>
            <a:pPr indent="0" marL="0">
              <a:buNone/>
            </a:pPr>
            <a:r>
              <a:rPr lang="en-US" sz="1500" dirty="0">
                <a:solidFill>
                  <a:schemeClr val="accent6"/>
                </a:solidFill>
              </a:rPr>
              <a:t>Questions and discussion welcome</a:t>
            </a:r>
            <a:endParaRPr lang="en-US" sz="1500" dirty="0"/>
          </a:p>
        </p:txBody>
      </p:sp>
      <p:pic>
        <p:nvPicPr>
          <p:cNvPr id="45" name="icon-927" descr="GitHub">    </p:cNvPr>
          <p:cNvPicPr>
            <a:picLocks noChangeAspect="1"/>
          </p:cNvPicPr>
          <p:nvPr/>
        </p:nvPicPr>
        <p:blipFill>
          <a:blip r:embed="rId1"/>
          <a:stretch>
            <a:fillRect/>
          </a:stretch>
        </p:blipFill>
        <p:spPr>
          <a:xfrm>
            <a:off x="7498080" y="5138928"/>
            <a:ext cx="292608" cy="292608"/>
          </a:xfrm>
          <a:prstGeom prst="rect">
            <a:avLst/>
          </a:prstGeom>
        </p:spPr>
      </p:pic>
      <p:sp>
        <p:nvSpPr>
          <p:cNvPr id="46" name="text-928"/>
          <p:cNvSpPr txBox="1"/>
          <p:nvPr/>
        </p:nvSpPr>
        <p:spPr>
          <a:xfrm>
            <a:off x="7882128" y="5102352"/>
            <a:ext cx="3749040" cy="365760"/>
          </a:xfrm>
          <a:prstGeom prst="rect">
            <a:avLst/>
          </a:prstGeom>
          <a:noFill/>
          <a:ln/>
        </p:spPr>
        <p:txBody>
          <a:bodyPr wrap="square" lIns="0" tIns="0" rIns="0" bIns="0" rtlCol="0" anchor="ctr"/>
          <a:lstStyle/>
          <a:p>
            <a:pPr indent="0" marL="0">
              <a:buNone/>
            </a:pPr>
            <a:r>
              <a:rPr lang="en-US" sz="1400" dirty="0">
                <a:solidFill>
                  <a:schemeClr val="bg1"/>
                </a:solidFill>
              </a:rPr>
              <a:t>github.com/Hariprasaadh/macrograph-ai</a:t>
            </a:r>
            <a:endParaRPr lang="en-US" sz="1400" dirty="0"/>
          </a:p>
        </p:txBody>
      </p:sp>
      <p:sp>
        <p:nvSpPr>
          <p:cNvPr id="47" name="text-929"/>
          <p:cNvSpPr txBox="1"/>
          <p:nvPr/>
        </p:nvSpPr>
        <p:spPr>
          <a:xfrm>
            <a:off x="7882128" y="5486400"/>
            <a:ext cx="3749040" cy="292608"/>
          </a:xfrm>
          <a:prstGeom prst="rect">
            <a:avLst/>
          </a:prstGeom>
          <a:noFill/>
          <a:ln/>
        </p:spPr>
        <p:txBody>
          <a:bodyPr wrap="square" lIns="0" tIns="0" rIns="0" bIns="0" rtlCol="0" anchor="ctr"/>
          <a:lstStyle/>
          <a:p>
            <a:pPr indent="0" marL="0">
              <a:buNone/>
            </a:pPr>
            <a:r>
              <a:rPr lang="en-US" sz="1250" dirty="0">
                <a:solidFill>
                  <a:schemeClr val="bg1">
                    <a:alpha val="70000"/>
                  </a:schemeClr>
                </a:solidFill>
              </a:rPr>
              <a:t>Hariprasaadh K  ·  SJ Arulprasaad  ·  Nithish Kumar CS</a:t>
            </a:r>
            <a:endParaRPr lang="en-US" sz="1250" dirty="0"/>
          </a:p>
        </p:txBody>
      </p:sp>
      <p:sp>
        <p:nvSpPr>
          <p:cNvPr id="25" name="Slide Number Placeholder 0"/>
          <p:cNvSpPr>
            <a:spLocks noGrp="1"/>
          </p:cNvSpPr>
          <p:nvPr>
            <p:ph type="sldNum" sz="quarter" idx="4294967295"/>
          </p:nvPr>
        </p:nvSpPr>
        <p:spPr>
          <a:xfrm>
            <a:off x="11091672" y="6446520"/>
            <a:ext cx="548640" cy="22860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FFFFFF"/>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ctr"/>
          <a:lstStyle/>
          <a:p>
            <a:pPr indent="0" marL="0">
              <a:buNone/>
            </a:pPr>
            <a:r>
              <a:rPr lang="en-US" sz="1200" b="1" spc="200" kern="0" dirty="0">
                <a:solidFill>
                  <a:schemeClr val="accent1"/>
                </a:solidFill>
              </a:rPr>
              <a:t>BIBLIOGRAPHY</a:t>
            </a:r>
            <a:endParaRPr lang="en-US" sz="1200" dirty="0"/>
          </a:p>
        </p:txBody>
      </p:sp>
      <p:sp>
        <p:nvSpPr>
          <p:cNvPr id="3" name="Text 0"/>
          <p:cNvSpPr/>
          <p:nvPr>
            <p:ph idx="101" type="title" hasCustomPrompt="1"/>
          </p:nvPr>
        </p:nvSpPr>
        <p:spPr>
          <a:xfrm>
            <a:off x="548640" y="676656"/>
            <a:ext cx="11094415" cy="713232"/>
          </a:xfrm>
          <a:prstGeom prst="rect">
            <a:avLst/>
          </a:prstGeom>
          <a:noFill/>
          <a:ln/>
        </p:spPr>
        <p:txBody>
          <a:bodyPr wrap="square" lIns="0" tIns="0" rIns="0" bIns="0" rtlCol="0" anchor="t"/>
          <a:lstStyle/>
          <a:p>
            <a:pPr algn="l" indent="0" marL="0">
              <a:buNone/>
            </a:pPr>
            <a:r>
              <a:rPr lang="en-US" sz="3600" b="1" dirty="0">
                <a:solidFill>
                  <a:schemeClr val="tx1"/>
                </a:solidFill>
              </a:rPr>
              <a:t>References</a:t>
            </a:r>
            <a:endParaRPr lang="en-US" sz="3600" dirty="0"/>
          </a:p>
        </p:txBody>
      </p:sp>
      <p:sp>
        <p:nvSpPr>
          <p:cNvPr id="4" name="text-930"/>
          <p:cNvSpPr txBox="1"/>
          <p:nvPr/>
        </p:nvSpPr>
        <p:spPr>
          <a:xfrm>
            <a:off x="548640" y="1572768"/>
            <a:ext cx="384048" cy="384048"/>
          </a:xfrm>
          <a:prstGeom prst="rect">
            <a:avLst/>
          </a:prstGeom>
          <a:noFill/>
          <a:ln/>
        </p:spPr>
        <p:txBody>
          <a:bodyPr wrap="square" lIns="0" tIns="0" rIns="0" bIns="0" rtlCol="0" anchor="t"/>
          <a:lstStyle/>
          <a:p>
            <a:pPr indent="0" marL="0">
              <a:buNone/>
            </a:pPr>
            <a:r>
              <a:rPr lang="en-US" sz="1050" b="1" dirty="0">
                <a:solidFill>
                  <a:schemeClr val="accent1"/>
                </a:solidFill>
              </a:rPr>
              <a:t>[1]</a:t>
            </a:r>
            <a:endParaRPr lang="en-US" sz="1050" dirty="0"/>
          </a:p>
        </p:txBody>
      </p:sp>
      <p:sp>
        <p:nvSpPr>
          <p:cNvPr id="5" name="text-931"/>
          <p:cNvSpPr txBox="1"/>
          <p:nvPr/>
        </p:nvSpPr>
        <p:spPr>
          <a:xfrm>
            <a:off x="960120" y="1572768"/>
            <a:ext cx="4983480" cy="402336"/>
          </a:xfrm>
          <a:prstGeom prst="rect">
            <a:avLst/>
          </a:prstGeom>
          <a:noFill/>
          <a:ln/>
        </p:spPr>
        <p:txBody>
          <a:bodyPr wrap="square" lIns="0" tIns="0" rIns="0" bIns="0" rtlCol="0" anchor="t"/>
          <a:lstStyle/>
          <a:p>
            <a:pPr indent="0" marL="0">
              <a:buNone/>
            </a:pPr>
            <a:r>
              <a:rPr lang="en-US" sz="1050" dirty="0">
                <a:solidFill>
                  <a:schemeClr val="tx1"/>
                </a:solidFill>
              </a:rPr>
              <a:t>Anthropic. (2024, November 25). Introducing the Model Context Protocol. Anthropic News.</a:t>
            </a:r>
            <a:endParaRPr lang="en-US" sz="1050" dirty="0"/>
          </a:p>
        </p:txBody>
      </p:sp>
      <p:sp>
        <p:nvSpPr>
          <p:cNvPr id="6" name="text-932"/>
          <p:cNvSpPr txBox="1"/>
          <p:nvPr/>
        </p:nvSpPr>
        <p:spPr>
          <a:xfrm>
            <a:off x="548640" y="2020824"/>
            <a:ext cx="384048" cy="384048"/>
          </a:xfrm>
          <a:prstGeom prst="rect">
            <a:avLst/>
          </a:prstGeom>
          <a:noFill/>
          <a:ln/>
        </p:spPr>
        <p:txBody>
          <a:bodyPr wrap="square" lIns="0" tIns="0" rIns="0" bIns="0" rtlCol="0" anchor="t"/>
          <a:lstStyle/>
          <a:p>
            <a:pPr indent="0" marL="0">
              <a:buNone/>
            </a:pPr>
            <a:r>
              <a:rPr lang="en-US" sz="1050" b="1" dirty="0">
                <a:solidFill>
                  <a:schemeClr val="accent1"/>
                </a:solidFill>
              </a:rPr>
              <a:t>[2]</a:t>
            </a:r>
            <a:endParaRPr lang="en-US" sz="1050" dirty="0"/>
          </a:p>
        </p:txBody>
      </p:sp>
      <p:sp>
        <p:nvSpPr>
          <p:cNvPr id="7" name="text-933"/>
          <p:cNvSpPr txBox="1"/>
          <p:nvPr/>
        </p:nvSpPr>
        <p:spPr>
          <a:xfrm>
            <a:off x="960120" y="2020824"/>
            <a:ext cx="4983480" cy="402336"/>
          </a:xfrm>
          <a:prstGeom prst="rect">
            <a:avLst/>
          </a:prstGeom>
          <a:noFill/>
          <a:ln/>
        </p:spPr>
        <p:txBody>
          <a:bodyPr wrap="square" lIns="0" tIns="0" rIns="0" bIns="0" rtlCol="0" anchor="t"/>
          <a:lstStyle/>
          <a:p>
            <a:pPr indent="0" marL="0">
              <a:buNone/>
            </a:pPr>
            <a:r>
              <a:rPr lang="en-US" sz="1050" dirty="0">
                <a:solidFill>
                  <a:schemeClr val="tx1"/>
                </a:solidFill>
              </a:rPr>
              <a:t>Benjamini, Y., &amp; Hochberg, Y. (1995). Controlling the false discovery rate. J. Royal Statistical Society B, 57(1), 289–300.</a:t>
            </a:r>
            <a:endParaRPr lang="en-US" sz="1050" dirty="0"/>
          </a:p>
        </p:txBody>
      </p:sp>
      <p:sp>
        <p:nvSpPr>
          <p:cNvPr id="8" name="text-934"/>
          <p:cNvSpPr txBox="1"/>
          <p:nvPr/>
        </p:nvSpPr>
        <p:spPr>
          <a:xfrm>
            <a:off x="548640" y="2468880"/>
            <a:ext cx="384048" cy="384048"/>
          </a:xfrm>
          <a:prstGeom prst="rect">
            <a:avLst/>
          </a:prstGeom>
          <a:noFill/>
          <a:ln/>
        </p:spPr>
        <p:txBody>
          <a:bodyPr wrap="square" lIns="0" tIns="0" rIns="0" bIns="0" rtlCol="0" anchor="t"/>
          <a:lstStyle/>
          <a:p>
            <a:pPr indent="0" marL="0">
              <a:buNone/>
            </a:pPr>
            <a:r>
              <a:rPr lang="en-US" sz="1050" b="1" dirty="0">
                <a:solidFill>
                  <a:schemeClr val="accent1"/>
                </a:solidFill>
              </a:rPr>
              <a:t>[3]</a:t>
            </a:r>
            <a:endParaRPr lang="en-US" sz="1050" dirty="0"/>
          </a:p>
        </p:txBody>
      </p:sp>
      <p:sp>
        <p:nvSpPr>
          <p:cNvPr id="9" name="text-935"/>
          <p:cNvSpPr txBox="1"/>
          <p:nvPr/>
        </p:nvSpPr>
        <p:spPr>
          <a:xfrm>
            <a:off x="960120" y="2468880"/>
            <a:ext cx="4983480" cy="402336"/>
          </a:xfrm>
          <a:prstGeom prst="rect">
            <a:avLst/>
          </a:prstGeom>
          <a:noFill/>
          <a:ln/>
        </p:spPr>
        <p:txBody>
          <a:bodyPr wrap="square" lIns="0" tIns="0" rIns="0" bIns="0" rtlCol="0" anchor="t"/>
          <a:lstStyle/>
          <a:p>
            <a:pPr indent="0" marL="0">
              <a:buNone/>
            </a:pPr>
            <a:r>
              <a:rPr lang="en-US" sz="1050" dirty="0">
                <a:solidFill>
                  <a:schemeClr val="tx1"/>
                </a:solidFill>
              </a:rPr>
              <a:t>Dadopoulos, M., et al. (2025). Metadata-driven retrieval-augmented generation for financial question answering. arXiv:2510.24402.</a:t>
            </a:r>
            <a:endParaRPr lang="en-US" sz="1050" dirty="0"/>
          </a:p>
        </p:txBody>
      </p:sp>
      <p:sp>
        <p:nvSpPr>
          <p:cNvPr id="10" name="text-936"/>
          <p:cNvSpPr txBox="1"/>
          <p:nvPr/>
        </p:nvSpPr>
        <p:spPr>
          <a:xfrm>
            <a:off x="548640" y="2916936"/>
            <a:ext cx="384048" cy="384048"/>
          </a:xfrm>
          <a:prstGeom prst="rect">
            <a:avLst/>
          </a:prstGeom>
          <a:noFill/>
          <a:ln/>
        </p:spPr>
        <p:txBody>
          <a:bodyPr wrap="square" lIns="0" tIns="0" rIns="0" bIns="0" rtlCol="0" anchor="t"/>
          <a:lstStyle/>
          <a:p>
            <a:pPr indent="0" marL="0">
              <a:buNone/>
            </a:pPr>
            <a:r>
              <a:rPr lang="en-US" sz="1050" b="1" dirty="0">
                <a:solidFill>
                  <a:schemeClr val="accent1"/>
                </a:solidFill>
              </a:rPr>
              <a:t>[4]</a:t>
            </a:r>
            <a:endParaRPr lang="en-US" sz="1050" dirty="0"/>
          </a:p>
        </p:txBody>
      </p:sp>
      <p:sp>
        <p:nvSpPr>
          <p:cNvPr id="11" name="text-937"/>
          <p:cNvSpPr txBox="1"/>
          <p:nvPr/>
        </p:nvSpPr>
        <p:spPr>
          <a:xfrm>
            <a:off x="960120" y="2916936"/>
            <a:ext cx="4983480" cy="402336"/>
          </a:xfrm>
          <a:prstGeom prst="rect">
            <a:avLst/>
          </a:prstGeom>
          <a:noFill/>
          <a:ln/>
        </p:spPr>
        <p:txBody>
          <a:bodyPr wrap="square" lIns="0" tIns="0" rIns="0" bIns="0" rtlCol="0" anchor="t"/>
          <a:lstStyle/>
          <a:p>
            <a:pPr indent="0" marL="0">
              <a:buNone/>
            </a:pPr>
            <a:r>
              <a:rPr lang="en-US" sz="1050" dirty="0">
                <a:solidFill>
                  <a:schemeClr val="tx1"/>
                </a:solidFill>
              </a:rPr>
              <a:t>Google. (2025). Announcing the Agent2Agent Protocol (A2A). Google Developers Blog.</a:t>
            </a:r>
            <a:endParaRPr lang="en-US" sz="1050" dirty="0"/>
          </a:p>
        </p:txBody>
      </p:sp>
      <p:sp>
        <p:nvSpPr>
          <p:cNvPr id="12" name="text-938"/>
          <p:cNvSpPr txBox="1"/>
          <p:nvPr/>
        </p:nvSpPr>
        <p:spPr>
          <a:xfrm>
            <a:off x="548640" y="3364992"/>
            <a:ext cx="384048" cy="384048"/>
          </a:xfrm>
          <a:prstGeom prst="rect">
            <a:avLst/>
          </a:prstGeom>
          <a:noFill/>
          <a:ln/>
        </p:spPr>
        <p:txBody>
          <a:bodyPr wrap="square" lIns="0" tIns="0" rIns="0" bIns="0" rtlCol="0" anchor="t"/>
          <a:lstStyle/>
          <a:p>
            <a:pPr indent="0" marL="0">
              <a:buNone/>
            </a:pPr>
            <a:r>
              <a:rPr lang="en-US" sz="1050" b="1" dirty="0">
                <a:solidFill>
                  <a:schemeClr val="accent1"/>
                </a:solidFill>
              </a:rPr>
              <a:t>[5]</a:t>
            </a:r>
            <a:endParaRPr lang="en-US" sz="1050" dirty="0"/>
          </a:p>
        </p:txBody>
      </p:sp>
      <p:sp>
        <p:nvSpPr>
          <p:cNvPr id="13" name="text-939"/>
          <p:cNvSpPr txBox="1"/>
          <p:nvPr/>
        </p:nvSpPr>
        <p:spPr>
          <a:xfrm>
            <a:off x="960120" y="3364992"/>
            <a:ext cx="4983480" cy="402336"/>
          </a:xfrm>
          <a:prstGeom prst="rect">
            <a:avLst/>
          </a:prstGeom>
          <a:noFill/>
          <a:ln/>
        </p:spPr>
        <p:txBody>
          <a:bodyPr wrap="square" lIns="0" tIns="0" rIns="0" bIns="0" rtlCol="0" anchor="t"/>
          <a:lstStyle/>
          <a:p>
            <a:pPr indent="0" marL="0">
              <a:buNone/>
            </a:pPr>
            <a:r>
              <a:rPr lang="en-US" sz="1050" dirty="0">
                <a:solidFill>
                  <a:schemeClr val="tx1"/>
                </a:solidFill>
              </a:rPr>
              <a:t>Granger, C. W. J. (1969). Investigating causal relations by econometric models and cross-spectral methods. Econometrica, 37(3), 424–438.</a:t>
            </a:r>
            <a:endParaRPr lang="en-US" sz="1050" dirty="0"/>
          </a:p>
        </p:txBody>
      </p:sp>
      <p:sp>
        <p:nvSpPr>
          <p:cNvPr id="14" name="text-940"/>
          <p:cNvSpPr txBox="1"/>
          <p:nvPr/>
        </p:nvSpPr>
        <p:spPr>
          <a:xfrm>
            <a:off x="548640" y="3813048"/>
            <a:ext cx="384048" cy="384048"/>
          </a:xfrm>
          <a:prstGeom prst="rect">
            <a:avLst/>
          </a:prstGeom>
          <a:noFill/>
          <a:ln/>
        </p:spPr>
        <p:txBody>
          <a:bodyPr wrap="square" lIns="0" tIns="0" rIns="0" bIns="0" rtlCol="0" anchor="t"/>
          <a:lstStyle/>
          <a:p>
            <a:pPr indent="0" marL="0">
              <a:buNone/>
            </a:pPr>
            <a:r>
              <a:rPr lang="en-US" sz="1050" b="1" dirty="0">
                <a:solidFill>
                  <a:schemeClr val="accent1"/>
                </a:solidFill>
              </a:rPr>
              <a:t>[6]</a:t>
            </a:r>
            <a:endParaRPr lang="en-US" sz="1050" dirty="0"/>
          </a:p>
        </p:txBody>
      </p:sp>
      <p:sp>
        <p:nvSpPr>
          <p:cNvPr id="15" name="text-941"/>
          <p:cNvSpPr txBox="1"/>
          <p:nvPr/>
        </p:nvSpPr>
        <p:spPr>
          <a:xfrm>
            <a:off x="960120" y="3813048"/>
            <a:ext cx="4983480" cy="402336"/>
          </a:xfrm>
          <a:prstGeom prst="rect">
            <a:avLst/>
          </a:prstGeom>
          <a:noFill/>
          <a:ln/>
        </p:spPr>
        <p:txBody>
          <a:bodyPr wrap="square" lIns="0" tIns="0" rIns="0" bIns="0" rtlCol="0" anchor="t"/>
          <a:lstStyle/>
          <a:p>
            <a:pPr indent="0" marL="0">
              <a:buNone/>
            </a:pPr>
            <a:r>
              <a:rPr lang="en-US" sz="1050" dirty="0">
                <a:solidFill>
                  <a:schemeClr val="tx1"/>
                </a:solidFill>
              </a:rPr>
              <a:t>Hao, Y., &amp; Xie, D. (2025). A multi-LLM-agent-based framework for economic and public policy analysis. arXiv:2502.16879.</a:t>
            </a:r>
            <a:endParaRPr lang="en-US" sz="1050" dirty="0"/>
          </a:p>
        </p:txBody>
      </p:sp>
      <p:sp>
        <p:nvSpPr>
          <p:cNvPr id="16" name="text-942"/>
          <p:cNvSpPr txBox="1"/>
          <p:nvPr/>
        </p:nvSpPr>
        <p:spPr>
          <a:xfrm>
            <a:off x="548640" y="4261104"/>
            <a:ext cx="384048" cy="384048"/>
          </a:xfrm>
          <a:prstGeom prst="rect">
            <a:avLst/>
          </a:prstGeom>
          <a:noFill/>
          <a:ln/>
        </p:spPr>
        <p:txBody>
          <a:bodyPr wrap="square" lIns="0" tIns="0" rIns="0" bIns="0" rtlCol="0" anchor="t"/>
          <a:lstStyle/>
          <a:p>
            <a:pPr indent="0" marL="0">
              <a:buNone/>
            </a:pPr>
            <a:r>
              <a:rPr lang="en-US" sz="1050" b="1" dirty="0">
                <a:solidFill>
                  <a:schemeClr val="accent1"/>
                </a:solidFill>
              </a:rPr>
              <a:t>[7]</a:t>
            </a:r>
            <a:endParaRPr lang="en-US" sz="1050" dirty="0"/>
          </a:p>
        </p:txBody>
      </p:sp>
      <p:sp>
        <p:nvSpPr>
          <p:cNvPr id="17" name="text-943"/>
          <p:cNvSpPr txBox="1"/>
          <p:nvPr/>
        </p:nvSpPr>
        <p:spPr>
          <a:xfrm>
            <a:off x="960120" y="4261104"/>
            <a:ext cx="4983480" cy="402336"/>
          </a:xfrm>
          <a:prstGeom prst="rect">
            <a:avLst/>
          </a:prstGeom>
          <a:noFill/>
          <a:ln/>
        </p:spPr>
        <p:txBody>
          <a:bodyPr wrap="square" lIns="0" tIns="0" rIns="0" bIns="0" rtlCol="0" anchor="t"/>
          <a:lstStyle/>
          <a:p>
            <a:pPr indent="0" marL="0">
              <a:buNone/>
            </a:pPr>
            <a:r>
              <a:rPr lang="en-US" sz="1050" dirty="0">
                <a:solidFill>
                  <a:schemeClr val="tx1"/>
                </a:solidFill>
              </a:rPr>
              <a:t>Ji, Z., et al. (2023). Survey of hallucination in natural language generation. ACM Computing Surveys, 55(12), 248.</a:t>
            </a:r>
            <a:endParaRPr lang="en-US" sz="1050" dirty="0"/>
          </a:p>
        </p:txBody>
      </p:sp>
      <p:sp>
        <p:nvSpPr>
          <p:cNvPr id="18" name="text-944"/>
          <p:cNvSpPr txBox="1"/>
          <p:nvPr/>
        </p:nvSpPr>
        <p:spPr>
          <a:xfrm>
            <a:off x="548640" y="4709160"/>
            <a:ext cx="384048" cy="384048"/>
          </a:xfrm>
          <a:prstGeom prst="rect">
            <a:avLst/>
          </a:prstGeom>
          <a:noFill/>
          <a:ln/>
        </p:spPr>
        <p:txBody>
          <a:bodyPr wrap="square" lIns="0" tIns="0" rIns="0" bIns="0" rtlCol="0" anchor="t"/>
          <a:lstStyle/>
          <a:p>
            <a:pPr indent="0" marL="0">
              <a:buNone/>
            </a:pPr>
            <a:r>
              <a:rPr lang="en-US" sz="1050" b="1" dirty="0">
                <a:solidFill>
                  <a:schemeClr val="accent1"/>
                </a:solidFill>
              </a:rPr>
              <a:t>[8]</a:t>
            </a:r>
            <a:endParaRPr lang="en-US" sz="1050" dirty="0"/>
          </a:p>
        </p:txBody>
      </p:sp>
      <p:sp>
        <p:nvSpPr>
          <p:cNvPr id="19" name="text-945"/>
          <p:cNvSpPr txBox="1"/>
          <p:nvPr/>
        </p:nvSpPr>
        <p:spPr>
          <a:xfrm>
            <a:off x="960120" y="4709160"/>
            <a:ext cx="4983480" cy="402336"/>
          </a:xfrm>
          <a:prstGeom prst="rect">
            <a:avLst/>
          </a:prstGeom>
          <a:noFill/>
          <a:ln/>
        </p:spPr>
        <p:txBody>
          <a:bodyPr wrap="square" lIns="0" tIns="0" rIns="0" bIns="0" rtlCol="0" anchor="t"/>
          <a:lstStyle/>
          <a:p>
            <a:pPr indent="0" marL="0">
              <a:buNone/>
            </a:pPr>
            <a:r>
              <a:rPr lang="en-US" sz="1050" dirty="0">
                <a:solidFill>
                  <a:schemeClr val="tx1"/>
                </a:solidFill>
              </a:rPr>
              <a:t>Jordà, Ò. (2005). Estimation and inference of impulse responses by local projections. American Economic Review, 95(1), 161–182.</a:t>
            </a:r>
            <a:endParaRPr lang="en-US" sz="1050" dirty="0"/>
          </a:p>
        </p:txBody>
      </p:sp>
      <p:sp>
        <p:nvSpPr>
          <p:cNvPr id="20" name="text-946"/>
          <p:cNvSpPr txBox="1"/>
          <p:nvPr/>
        </p:nvSpPr>
        <p:spPr>
          <a:xfrm>
            <a:off x="548640" y="5157216"/>
            <a:ext cx="384048" cy="384048"/>
          </a:xfrm>
          <a:prstGeom prst="rect">
            <a:avLst/>
          </a:prstGeom>
          <a:noFill/>
          <a:ln/>
        </p:spPr>
        <p:txBody>
          <a:bodyPr wrap="square" lIns="0" tIns="0" rIns="0" bIns="0" rtlCol="0" anchor="t"/>
          <a:lstStyle/>
          <a:p>
            <a:pPr indent="0" marL="0">
              <a:buNone/>
            </a:pPr>
            <a:r>
              <a:rPr lang="en-US" sz="1050" b="1" dirty="0">
                <a:solidFill>
                  <a:schemeClr val="accent1"/>
                </a:solidFill>
              </a:rPr>
              <a:t>[9]</a:t>
            </a:r>
            <a:endParaRPr lang="en-US" sz="1050" dirty="0"/>
          </a:p>
        </p:txBody>
      </p:sp>
      <p:sp>
        <p:nvSpPr>
          <p:cNvPr id="21" name="text-947"/>
          <p:cNvSpPr txBox="1"/>
          <p:nvPr/>
        </p:nvSpPr>
        <p:spPr>
          <a:xfrm>
            <a:off x="960120" y="5157216"/>
            <a:ext cx="4983480" cy="402336"/>
          </a:xfrm>
          <a:prstGeom prst="rect">
            <a:avLst/>
          </a:prstGeom>
          <a:noFill/>
          <a:ln/>
        </p:spPr>
        <p:txBody>
          <a:bodyPr wrap="square" lIns="0" tIns="0" rIns="0" bIns="0" rtlCol="0" anchor="t"/>
          <a:lstStyle/>
          <a:p>
            <a:pPr indent="0" marL="0">
              <a:buNone/>
            </a:pPr>
            <a:r>
              <a:rPr lang="en-US" sz="1050" dirty="0">
                <a:solidFill>
                  <a:schemeClr val="tx1"/>
                </a:solidFill>
              </a:rPr>
              <a:t>Kato, M. (2026). AI economist agent: Model-grounded economic analysis with RAG, knowledge graphs and LLMs. arXiv:2606.20041.</a:t>
            </a:r>
            <a:endParaRPr lang="en-US" sz="1050" dirty="0"/>
          </a:p>
        </p:txBody>
      </p:sp>
      <p:sp>
        <p:nvSpPr>
          <p:cNvPr id="22" name="text-948"/>
          <p:cNvSpPr txBox="1"/>
          <p:nvPr/>
        </p:nvSpPr>
        <p:spPr>
          <a:xfrm>
            <a:off x="548640" y="5605272"/>
            <a:ext cx="384048" cy="384048"/>
          </a:xfrm>
          <a:prstGeom prst="rect">
            <a:avLst/>
          </a:prstGeom>
          <a:noFill/>
          <a:ln/>
        </p:spPr>
        <p:txBody>
          <a:bodyPr wrap="square" lIns="0" tIns="0" rIns="0" bIns="0" rtlCol="0" anchor="t"/>
          <a:lstStyle/>
          <a:p>
            <a:pPr indent="0" marL="0">
              <a:buNone/>
            </a:pPr>
            <a:r>
              <a:rPr lang="en-US" sz="1050" b="1" dirty="0">
                <a:solidFill>
                  <a:schemeClr val="accent1"/>
                </a:solidFill>
              </a:rPr>
              <a:t>[10]</a:t>
            </a:r>
            <a:endParaRPr lang="en-US" sz="1050" dirty="0"/>
          </a:p>
        </p:txBody>
      </p:sp>
      <p:sp>
        <p:nvSpPr>
          <p:cNvPr id="23" name="text-949"/>
          <p:cNvSpPr txBox="1"/>
          <p:nvPr/>
        </p:nvSpPr>
        <p:spPr>
          <a:xfrm>
            <a:off x="960120" y="5605272"/>
            <a:ext cx="4983480" cy="402336"/>
          </a:xfrm>
          <a:prstGeom prst="rect">
            <a:avLst/>
          </a:prstGeom>
          <a:noFill/>
          <a:ln/>
        </p:spPr>
        <p:txBody>
          <a:bodyPr wrap="square" lIns="0" tIns="0" rIns="0" bIns="0" rtlCol="0" anchor="t"/>
          <a:lstStyle/>
          <a:p>
            <a:pPr indent="0" marL="0">
              <a:buNone/>
            </a:pPr>
            <a:r>
              <a:rPr lang="en-US" sz="1050" dirty="0">
                <a:solidFill>
                  <a:schemeClr val="tx1"/>
                </a:solidFill>
              </a:rPr>
              <a:t>LangChain. (n.d.). LangGraph documentation. langchain-ai.github.io/langgraph</a:t>
            </a:r>
            <a:endParaRPr lang="en-US" sz="1050" dirty="0"/>
          </a:p>
        </p:txBody>
      </p:sp>
      <p:sp>
        <p:nvSpPr>
          <p:cNvPr id="24" name="text-950"/>
          <p:cNvSpPr txBox="1"/>
          <p:nvPr/>
        </p:nvSpPr>
        <p:spPr>
          <a:xfrm>
            <a:off x="6248095" y="1572768"/>
            <a:ext cx="384048" cy="384048"/>
          </a:xfrm>
          <a:prstGeom prst="rect">
            <a:avLst/>
          </a:prstGeom>
          <a:noFill/>
          <a:ln/>
        </p:spPr>
        <p:txBody>
          <a:bodyPr wrap="square" lIns="0" tIns="0" rIns="0" bIns="0" rtlCol="0" anchor="t"/>
          <a:lstStyle/>
          <a:p>
            <a:pPr indent="0" marL="0">
              <a:buNone/>
            </a:pPr>
            <a:r>
              <a:rPr lang="en-US" sz="1050" b="1" dirty="0">
                <a:solidFill>
                  <a:schemeClr val="accent1"/>
                </a:solidFill>
              </a:rPr>
              <a:t>[11]</a:t>
            </a:r>
            <a:endParaRPr lang="en-US" sz="1050" dirty="0"/>
          </a:p>
        </p:txBody>
      </p:sp>
      <p:sp>
        <p:nvSpPr>
          <p:cNvPr id="25" name="text-951"/>
          <p:cNvSpPr txBox="1"/>
          <p:nvPr/>
        </p:nvSpPr>
        <p:spPr>
          <a:xfrm>
            <a:off x="6659575" y="1572768"/>
            <a:ext cx="4983480" cy="402336"/>
          </a:xfrm>
          <a:prstGeom prst="rect">
            <a:avLst/>
          </a:prstGeom>
          <a:noFill/>
          <a:ln/>
        </p:spPr>
        <p:txBody>
          <a:bodyPr wrap="square" lIns="0" tIns="0" rIns="0" bIns="0" rtlCol="0" anchor="t"/>
          <a:lstStyle/>
          <a:p>
            <a:pPr indent="0" marL="0">
              <a:buNone/>
            </a:pPr>
            <a:r>
              <a:rPr lang="en-US" sz="1050" dirty="0">
                <a:solidFill>
                  <a:schemeClr val="tx1"/>
                </a:solidFill>
              </a:rPr>
              <a:t>Lewis, P., et al. (2020). Retrieval-augmented generation for knowledge-intensive NLP tasks. NeurIPS, 33, 9459–9474.</a:t>
            </a:r>
            <a:endParaRPr lang="en-US" sz="1050" dirty="0"/>
          </a:p>
        </p:txBody>
      </p:sp>
      <p:sp>
        <p:nvSpPr>
          <p:cNvPr id="26" name="text-952"/>
          <p:cNvSpPr txBox="1"/>
          <p:nvPr/>
        </p:nvSpPr>
        <p:spPr>
          <a:xfrm>
            <a:off x="6248095" y="2020824"/>
            <a:ext cx="384048" cy="384048"/>
          </a:xfrm>
          <a:prstGeom prst="rect">
            <a:avLst/>
          </a:prstGeom>
          <a:noFill/>
          <a:ln/>
        </p:spPr>
        <p:txBody>
          <a:bodyPr wrap="square" lIns="0" tIns="0" rIns="0" bIns="0" rtlCol="0" anchor="t"/>
          <a:lstStyle/>
          <a:p>
            <a:pPr indent="0" marL="0">
              <a:buNone/>
            </a:pPr>
            <a:r>
              <a:rPr lang="en-US" sz="1050" b="1" dirty="0">
                <a:solidFill>
                  <a:schemeClr val="accent1"/>
                </a:solidFill>
              </a:rPr>
              <a:t>[12]</a:t>
            </a:r>
            <a:endParaRPr lang="en-US" sz="1050" dirty="0"/>
          </a:p>
        </p:txBody>
      </p:sp>
      <p:sp>
        <p:nvSpPr>
          <p:cNvPr id="27" name="text-953"/>
          <p:cNvSpPr txBox="1"/>
          <p:nvPr/>
        </p:nvSpPr>
        <p:spPr>
          <a:xfrm>
            <a:off x="6659575" y="2020824"/>
            <a:ext cx="4983480" cy="402336"/>
          </a:xfrm>
          <a:prstGeom prst="rect">
            <a:avLst/>
          </a:prstGeom>
          <a:noFill/>
          <a:ln/>
        </p:spPr>
        <p:txBody>
          <a:bodyPr wrap="square" lIns="0" tIns="0" rIns="0" bIns="0" rtlCol="0" anchor="t"/>
          <a:lstStyle/>
          <a:p>
            <a:pPr indent="0" marL="0">
              <a:buNone/>
            </a:pPr>
            <a:r>
              <a:rPr lang="en-US" sz="1050" dirty="0">
                <a:solidFill>
                  <a:schemeClr val="tx1"/>
                </a:solidFill>
              </a:rPr>
              <a:t>Lin, J., Sun, L., &amp; Yan, Y. (2026). Simulating macroeconomic expectations in survey experiments with LLM-based economic agents. arXiv:2505.17648.</a:t>
            </a:r>
            <a:endParaRPr lang="en-US" sz="1050" dirty="0"/>
          </a:p>
        </p:txBody>
      </p:sp>
      <p:sp>
        <p:nvSpPr>
          <p:cNvPr id="28" name="text-954"/>
          <p:cNvSpPr txBox="1"/>
          <p:nvPr/>
        </p:nvSpPr>
        <p:spPr>
          <a:xfrm>
            <a:off x="6248095" y="2468880"/>
            <a:ext cx="384048" cy="384048"/>
          </a:xfrm>
          <a:prstGeom prst="rect">
            <a:avLst/>
          </a:prstGeom>
          <a:noFill/>
          <a:ln/>
        </p:spPr>
        <p:txBody>
          <a:bodyPr wrap="square" lIns="0" tIns="0" rIns="0" bIns="0" rtlCol="0" anchor="t"/>
          <a:lstStyle/>
          <a:p>
            <a:pPr indent="0" marL="0">
              <a:buNone/>
            </a:pPr>
            <a:r>
              <a:rPr lang="en-US" sz="1050" b="1" dirty="0">
                <a:solidFill>
                  <a:schemeClr val="accent1"/>
                </a:solidFill>
              </a:rPr>
              <a:t>[13]</a:t>
            </a:r>
            <a:endParaRPr lang="en-US" sz="1050" dirty="0"/>
          </a:p>
        </p:txBody>
      </p:sp>
      <p:sp>
        <p:nvSpPr>
          <p:cNvPr id="29" name="text-955"/>
          <p:cNvSpPr txBox="1"/>
          <p:nvPr/>
        </p:nvSpPr>
        <p:spPr>
          <a:xfrm>
            <a:off x="6659575" y="2468880"/>
            <a:ext cx="4983480" cy="402336"/>
          </a:xfrm>
          <a:prstGeom prst="rect">
            <a:avLst/>
          </a:prstGeom>
          <a:noFill/>
          <a:ln/>
        </p:spPr>
        <p:txBody>
          <a:bodyPr wrap="square" lIns="0" tIns="0" rIns="0" bIns="0" rtlCol="0" anchor="t"/>
          <a:lstStyle/>
          <a:p>
            <a:pPr indent="0" marL="0">
              <a:buNone/>
            </a:pPr>
            <a:r>
              <a:rPr lang="en-US" sz="1050" dirty="0">
                <a:solidFill>
                  <a:schemeClr val="tx1"/>
                </a:solidFill>
              </a:rPr>
              <a:t>Lowin, J. (n.d.). FastMCP [Computer software]. github.com/jlowin/fastmcp</a:t>
            </a:r>
            <a:endParaRPr lang="en-US" sz="1050" dirty="0"/>
          </a:p>
        </p:txBody>
      </p:sp>
      <p:sp>
        <p:nvSpPr>
          <p:cNvPr id="30" name="text-956"/>
          <p:cNvSpPr txBox="1"/>
          <p:nvPr/>
        </p:nvSpPr>
        <p:spPr>
          <a:xfrm>
            <a:off x="6248095" y="2916936"/>
            <a:ext cx="384048" cy="384048"/>
          </a:xfrm>
          <a:prstGeom prst="rect">
            <a:avLst/>
          </a:prstGeom>
          <a:noFill/>
          <a:ln/>
        </p:spPr>
        <p:txBody>
          <a:bodyPr wrap="square" lIns="0" tIns="0" rIns="0" bIns="0" rtlCol="0" anchor="t"/>
          <a:lstStyle/>
          <a:p>
            <a:pPr indent="0" marL="0">
              <a:buNone/>
            </a:pPr>
            <a:r>
              <a:rPr lang="en-US" sz="1050" b="1" dirty="0">
                <a:solidFill>
                  <a:schemeClr val="accent1"/>
                </a:solidFill>
              </a:rPr>
              <a:t>[14]</a:t>
            </a:r>
            <a:endParaRPr lang="en-US" sz="1050" dirty="0"/>
          </a:p>
        </p:txBody>
      </p:sp>
      <p:sp>
        <p:nvSpPr>
          <p:cNvPr id="31" name="text-957"/>
          <p:cNvSpPr txBox="1"/>
          <p:nvPr/>
        </p:nvSpPr>
        <p:spPr>
          <a:xfrm>
            <a:off x="6659575" y="2916936"/>
            <a:ext cx="4983480" cy="402336"/>
          </a:xfrm>
          <a:prstGeom prst="rect">
            <a:avLst/>
          </a:prstGeom>
          <a:noFill/>
          <a:ln/>
        </p:spPr>
        <p:txBody>
          <a:bodyPr wrap="square" lIns="0" tIns="0" rIns="0" bIns="0" rtlCol="0" anchor="t"/>
          <a:lstStyle/>
          <a:p>
            <a:pPr indent="0" marL="0">
              <a:buNone/>
            </a:pPr>
            <a:r>
              <a:rPr lang="en-US" sz="1050" dirty="0">
                <a:solidFill>
                  <a:schemeClr val="tx1"/>
                </a:solidFill>
              </a:rPr>
              <a:t>Ministry of Statistics and Programme Implementation. (n.d.). e-Sankhyiki MCP data services. mcp.mospi.gov.in</a:t>
            </a:r>
            <a:endParaRPr lang="en-US" sz="1050" dirty="0"/>
          </a:p>
        </p:txBody>
      </p:sp>
      <p:sp>
        <p:nvSpPr>
          <p:cNvPr id="32" name="text-958"/>
          <p:cNvSpPr txBox="1"/>
          <p:nvPr/>
        </p:nvSpPr>
        <p:spPr>
          <a:xfrm>
            <a:off x="6248095" y="3364992"/>
            <a:ext cx="384048" cy="384048"/>
          </a:xfrm>
          <a:prstGeom prst="rect">
            <a:avLst/>
          </a:prstGeom>
          <a:noFill/>
          <a:ln/>
        </p:spPr>
        <p:txBody>
          <a:bodyPr wrap="square" lIns="0" tIns="0" rIns="0" bIns="0" rtlCol="0" anchor="t"/>
          <a:lstStyle/>
          <a:p>
            <a:pPr indent="0" marL="0">
              <a:buNone/>
            </a:pPr>
            <a:r>
              <a:rPr lang="en-US" sz="1050" b="1" dirty="0">
                <a:solidFill>
                  <a:schemeClr val="accent1"/>
                </a:solidFill>
              </a:rPr>
              <a:t>[15]</a:t>
            </a:r>
            <a:endParaRPr lang="en-US" sz="1050" dirty="0"/>
          </a:p>
        </p:txBody>
      </p:sp>
      <p:sp>
        <p:nvSpPr>
          <p:cNvPr id="33" name="text-959"/>
          <p:cNvSpPr txBox="1"/>
          <p:nvPr/>
        </p:nvSpPr>
        <p:spPr>
          <a:xfrm>
            <a:off x="6659575" y="3364992"/>
            <a:ext cx="4983480" cy="402336"/>
          </a:xfrm>
          <a:prstGeom prst="rect">
            <a:avLst/>
          </a:prstGeom>
          <a:noFill/>
          <a:ln/>
        </p:spPr>
        <p:txBody>
          <a:bodyPr wrap="square" lIns="0" tIns="0" rIns="0" bIns="0" rtlCol="0" anchor="t"/>
          <a:lstStyle/>
          <a:p>
            <a:pPr indent="0" marL="0">
              <a:buNone/>
            </a:pPr>
            <a:r>
              <a:rPr lang="en-US" sz="1050" dirty="0">
                <a:solidFill>
                  <a:schemeClr val="tx1"/>
                </a:solidFill>
              </a:rPr>
              <a:t>Park, J. S., et al. (2023). Generative agents: Interactive simulacra of human behavior. ACM UIST 2023.</a:t>
            </a:r>
            <a:endParaRPr lang="en-US" sz="1050" dirty="0"/>
          </a:p>
        </p:txBody>
      </p:sp>
      <p:sp>
        <p:nvSpPr>
          <p:cNvPr id="34" name="text-960"/>
          <p:cNvSpPr txBox="1"/>
          <p:nvPr/>
        </p:nvSpPr>
        <p:spPr>
          <a:xfrm>
            <a:off x="6248095" y="3813048"/>
            <a:ext cx="384048" cy="384048"/>
          </a:xfrm>
          <a:prstGeom prst="rect">
            <a:avLst/>
          </a:prstGeom>
          <a:noFill/>
          <a:ln/>
        </p:spPr>
        <p:txBody>
          <a:bodyPr wrap="square" lIns="0" tIns="0" rIns="0" bIns="0" rtlCol="0" anchor="t"/>
          <a:lstStyle/>
          <a:p>
            <a:pPr indent="0" marL="0">
              <a:buNone/>
            </a:pPr>
            <a:r>
              <a:rPr lang="en-US" sz="1050" b="1" dirty="0">
                <a:solidFill>
                  <a:schemeClr val="accent1"/>
                </a:solidFill>
              </a:rPr>
              <a:t>[16]</a:t>
            </a:r>
            <a:endParaRPr lang="en-US" sz="1050" dirty="0"/>
          </a:p>
        </p:txBody>
      </p:sp>
      <p:sp>
        <p:nvSpPr>
          <p:cNvPr id="35" name="text-961"/>
          <p:cNvSpPr txBox="1"/>
          <p:nvPr/>
        </p:nvSpPr>
        <p:spPr>
          <a:xfrm>
            <a:off x="6659575" y="3813048"/>
            <a:ext cx="4983480" cy="402336"/>
          </a:xfrm>
          <a:prstGeom prst="rect">
            <a:avLst/>
          </a:prstGeom>
          <a:noFill/>
          <a:ln/>
        </p:spPr>
        <p:txBody>
          <a:bodyPr wrap="square" lIns="0" tIns="0" rIns="0" bIns="0" rtlCol="0" anchor="t"/>
          <a:lstStyle/>
          <a:p>
            <a:pPr indent="0" marL="0">
              <a:buNone/>
            </a:pPr>
            <a:r>
              <a:rPr lang="en-US" sz="1050" dirty="0">
                <a:solidFill>
                  <a:schemeClr val="tx1"/>
                </a:solidFill>
              </a:rPr>
              <a:t>Reserve Bank of India. (n.d.). Database on Indian Economy (DBIE). data.rbi.org.in</a:t>
            </a:r>
            <a:endParaRPr lang="en-US" sz="1050" dirty="0"/>
          </a:p>
        </p:txBody>
      </p:sp>
      <p:sp>
        <p:nvSpPr>
          <p:cNvPr id="36" name="text-962"/>
          <p:cNvSpPr txBox="1"/>
          <p:nvPr/>
        </p:nvSpPr>
        <p:spPr>
          <a:xfrm>
            <a:off x="6248095" y="4261104"/>
            <a:ext cx="384048" cy="384048"/>
          </a:xfrm>
          <a:prstGeom prst="rect">
            <a:avLst/>
          </a:prstGeom>
          <a:noFill/>
          <a:ln/>
        </p:spPr>
        <p:txBody>
          <a:bodyPr wrap="square" lIns="0" tIns="0" rIns="0" bIns="0" rtlCol="0" anchor="t"/>
          <a:lstStyle/>
          <a:p>
            <a:pPr indent="0" marL="0">
              <a:buNone/>
            </a:pPr>
            <a:r>
              <a:rPr lang="en-US" sz="1050" b="1" dirty="0">
                <a:solidFill>
                  <a:schemeClr val="accent1"/>
                </a:solidFill>
              </a:rPr>
              <a:t>[17]</a:t>
            </a:r>
            <a:endParaRPr lang="en-US" sz="1050" dirty="0"/>
          </a:p>
        </p:txBody>
      </p:sp>
      <p:sp>
        <p:nvSpPr>
          <p:cNvPr id="37" name="text-963"/>
          <p:cNvSpPr txBox="1"/>
          <p:nvPr/>
        </p:nvSpPr>
        <p:spPr>
          <a:xfrm>
            <a:off x="6659575" y="4261104"/>
            <a:ext cx="4983480" cy="402336"/>
          </a:xfrm>
          <a:prstGeom prst="rect">
            <a:avLst/>
          </a:prstGeom>
          <a:noFill/>
          <a:ln/>
        </p:spPr>
        <p:txBody>
          <a:bodyPr wrap="square" lIns="0" tIns="0" rIns="0" bIns="0" rtlCol="0" anchor="t"/>
          <a:lstStyle/>
          <a:p>
            <a:pPr indent="0" marL="0">
              <a:buNone/>
            </a:pPr>
            <a:r>
              <a:rPr lang="en-US" sz="1050" dirty="0">
                <a:solidFill>
                  <a:schemeClr val="tx1"/>
                </a:solidFill>
              </a:rPr>
              <a:t>Xiao, Y., Sun, E., Luo, D., &amp; Wang, W. (2025). TradingAgents: Multi-agents LLM financial trading framework. arXiv:2412.20138.</a:t>
            </a:r>
            <a:endParaRPr lang="en-US" sz="1050" dirty="0"/>
          </a:p>
        </p:txBody>
      </p:sp>
      <p:sp>
        <p:nvSpPr>
          <p:cNvPr id="38" name="text-964"/>
          <p:cNvSpPr txBox="1"/>
          <p:nvPr/>
        </p:nvSpPr>
        <p:spPr>
          <a:xfrm>
            <a:off x="6248095" y="4709160"/>
            <a:ext cx="384048" cy="384048"/>
          </a:xfrm>
          <a:prstGeom prst="rect">
            <a:avLst/>
          </a:prstGeom>
          <a:noFill/>
          <a:ln/>
        </p:spPr>
        <p:txBody>
          <a:bodyPr wrap="square" lIns="0" tIns="0" rIns="0" bIns="0" rtlCol="0" anchor="t"/>
          <a:lstStyle/>
          <a:p>
            <a:pPr indent="0" marL="0">
              <a:buNone/>
            </a:pPr>
            <a:r>
              <a:rPr lang="en-US" sz="1050" b="1" dirty="0">
                <a:solidFill>
                  <a:schemeClr val="accent1"/>
                </a:solidFill>
              </a:rPr>
              <a:t>[18]</a:t>
            </a:r>
            <a:endParaRPr lang="en-US" sz="1050" dirty="0"/>
          </a:p>
        </p:txBody>
      </p:sp>
      <p:sp>
        <p:nvSpPr>
          <p:cNvPr id="39" name="text-965"/>
          <p:cNvSpPr txBox="1"/>
          <p:nvPr/>
        </p:nvSpPr>
        <p:spPr>
          <a:xfrm>
            <a:off x="6659575" y="4709160"/>
            <a:ext cx="4983480" cy="402336"/>
          </a:xfrm>
          <a:prstGeom prst="rect">
            <a:avLst/>
          </a:prstGeom>
          <a:noFill/>
          <a:ln/>
        </p:spPr>
        <p:txBody>
          <a:bodyPr wrap="square" lIns="0" tIns="0" rIns="0" bIns="0" rtlCol="0" anchor="t"/>
          <a:lstStyle/>
          <a:p>
            <a:pPr indent="0" marL="0">
              <a:buNone/>
            </a:pPr>
            <a:r>
              <a:rPr lang="en-US" sz="1050" dirty="0">
                <a:solidFill>
                  <a:schemeClr val="tx1"/>
                </a:solidFill>
              </a:rPr>
              <a:t>Yang, Y., Pang, Y., Huang, G., &amp; E, W. (2020). The knowledge graph for macroeconomic analysis with alternative big data. SSRN 3707964.</a:t>
            </a:r>
            <a:endParaRPr lang="en-US" sz="1050" dirty="0"/>
          </a:p>
        </p:txBody>
      </p:sp>
      <p:sp>
        <p:nvSpPr>
          <p:cNvPr id="40" name="text-966"/>
          <p:cNvSpPr txBox="1"/>
          <p:nvPr/>
        </p:nvSpPr>
        <p:spPr>
          <a:xfrm>
            <a:off x="6248095" y="5157216"/>
            <a:ext cx="384048" cy="384048"/>
          </a:xfrm>
          <a:prstGeom prst="rect">
            <a:avLst/>
          </a:prstGeom>
          <a:noFill/>
          <a:ln/>
        </p:spPr>
        <p:txBody>
          <a:bodyPr wrap="square" lIns="0" tIns="0" rIns="0" bIns="0" rtlCol="0" anchor="t"/>
          <a:lstStyle/>
          <a:p>
            <a:pPr indent="0" marL="0">
              <a:buNone/>
            </a:pPr>
            <a:r>
              <a:rPr lang="en-US" sz="1050" b="1" dirty="0">
                <a:solidFill>
                  <a:schemeClr val="accent1"/>
                </a:solidFill>
              </a:rPr>
              <a:t>[19]</a:t>
            </a:r>
            <a:endParaRPr lang="en-US" sz="1050" dirty="0"/>
          </a:p>
        </p:txBody>
      </p:sp>
      <p:sp>
        <p:nvSpPr>
          <p:cNvPr id="41" name="text-967"/>
          <p:cNvSpPr txBox="1"/>
          <p:nvPr/>
        </p:nvSpPr>
        <p:spPr>
          <a:xfrm>
            <a:off x="6659575" y="5157216"/>
            <a:ext cx="4983480" cy="402336"/>
          </a:xfrm>
          <a:prstGeom prst="rect">
            <a:avLst/>
          </a:prstGeom>
          <a:noFill/>
          <a:ln/>
        </p:spPr>
        <p:txBody>
          <a:bodyPr wrap="square" lIns="0" tIns="0" rIns="0" bIns="0" rtlCol="0" anchor="t"/>
          <a:lstStyle/>
          <a:p>
            <a:pPr indent="0" marL="0">
              <a:buNone/>
            </a:pPr>
            <a:r>
              <a:rPr lang="en-US" sz="1050" dirty="0">
                <a:solidFill>
                  <a:schemeClr val="tx1"/>
                </a:solidFill>
              </a:rPr>
              <a:t>Yao, S., et al. (2023). ReAct: Synergizing reasoning and acting in language models. ICLR 2023.</a:t>
            </a:r>
            <a:endParaRPr lang="en-US" sz="1050" dirty="0"/>
          </a:p>
        </p:txBody>
      </p:sp>
      <p:sp>
        <p:nvSpPr>
          <p:cNvPr id="42" name="text-968"/>
          <p:cNvSpPr txBox="1"/>
          <p:nvPr/>
        </p:nvSpPr>
        <p:spPr>
          <a:xfrm>
            <a:off x="6248095" y="5605272"/>
            <a:ext cx="384048" cy="384048"/>
          </a:xfrm>
          <a:prstGeom prst="rect">
            <a:avLst/>
          </a:prstGeom>
          <a:noFill/>
          <a:ln/>
        </p:spPr>
        <p:txBody>
          <a:bodyPr wrap="square" lIns="0" tIns="0" rIns="0" bIns="0" rtlCol="0" anchor="t"/>
          <a:lstStyle/>
          <a:p>
            <a:pPr indent="0" marL="0">
              <a:buNone/>
            </a:pPr>
            <a:r>
              <a:rPr lang="en-US" sz="1050" b="1" dirty="0">
                <a:solidFill>
                  <a:schemeClr val="accent1"/>
                </a:solidFill>
              </a:rPr>
              <a:t>[20]</a:t>
            </a:r>
            <a:endParaRPr lang="en-US" sz="1050" dirty="0"/>
          </a:p>
        </p:txBody>
      </p:sp>
      <p:sp>
        <p:nvSpPr>
          <p:cNvPr id="43" name="text-969"/>
          <p:cNvSpPr txBox="1"/>
          <p:nvPr/>
        </p:nvSpPr>
        <p:spPr>
          <a:xfrm>
            <a:off x="6659575" y="5605272"/>
            <a:ext cx="4983480" cy="402336"/>
          </a:xfrm>
          <a:prstGeom prst="rect">
            <a:avLst/>
          </a:prstGeom>
          <a:noFill/>
          <a:ln/>
        </p:spPr>
        <p:txBody>
          <a:bodyPr wrap="square" lIns="0" tIns="0" rIns="0" bIns="0" rtlCol="0" anchor="t"/>
          <a:lstStyle/>
          <a:p>
            <a:pPr indent="0" marL="0">
              <a:buNone/>
            </a:pPr>
            <a:r>
              <a:rPr lang="en-US" sz="1050" dirty="0">
                <a:solidFill>
                  <a:schemeClr val="tx1"/>
                </a:solidFill>
              </a:rPr>
              <a:t>Zhu, X., Xie, Y., Liu, Y., Li, Y., &amp; Hu, W. (2025). Knowledge graph-guided retrieval augmented generation. arXiv:2502.06864.</a:t>
            </a:r>
            <a:endParaRPr lang="en-US" sz="1050" dirty="0"/>
          </a:p>
        </p:txBody>
      </p:sp>
      <p:sp>
        <p:nvSpPr>
          <p:cNvPr id="44" name="text-970"/>
          <p:cNvSpPr txBox="1"/>
          <p:nvPr/>
        </p:nvSpPr>
        <p:spPr>
          <a:xfrm>
            <a:off x="548640" y="6089904"/>
            <a:ext cx="7315200" cy="219456"/>
          </a:xfrm>
          <a:prstGeom prst="rect">
            <a:avLst/>
          </a:prstGeom>
          <a:noFill/>
          <a:ln/>
        </p:spPr>
        <p:txBody>
          <a:bodyPr wrap="square" lIns="0" tIns="0" rIns="0" bIns="0" rtlCol="0" anchor="t"/>
          <a:lstStyle/>
          <a:p>
            <a:pPr indent="0" marL="0">
              <a:buNone/>
            </a:pPr>
            <a:r>
              <a:rPr lang="en-US" sz="1050" i="1" dirty="0">
                <a:solidFill>
                  <a:schemeClr val="tx2"/>
                </a:solidFill>
              </a:rPr>
              <a:t>References follow APA style; the full list of 31 sources is in the project report.</a:t>
            </a:r>
            <a:endParaRPr lang="en-US" sz="1050" dirty="0"/>
          </a:p>
        </p:txBody>
      </p:sp>
      <p:sp>
        <p:nvSpPr>
          <p:cNvPr id="25" name="Slide Number Placeholder 0"/>
          <p:cNvSpPr>
            <a:spLocks noGrp="1"/>
          </p:cNvSpPr>
          <p:nvPr>
            <p:ph type="sldNum" sz="quarter" idx="4294967295"/>
          </p:nvPr>
        </p:nvSpPr>
        <p:spPr>
          <a:xfrm>
            <a:off x="11091672" y="6446520"/>
            <a:ext cx="548640" cy="22860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51607A"/>
                </a:solidFill>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Macrograph">
  <a:themeElements>
    <a:clrScheme name="Macrograph">
      <a:dk1>
        <a:srgbClr val="0B1630"/>
      </a:dk1>
      <a:lt1>
        <a:srgbClr val="FFFFFF"/>
      </a:lt1>
      <a:dk2>
        <a:srgbClr val="51607A"/>
      </a:dk2>
      <a:lt2>
        <a:srgbClr val="EFF3F8"/>
      </a:lt2>
      <a:accent1>
        <a:srgbClr val="0F766E"/>
      </a:accent1>
      <a:accent2>
        <a:srgbClr val="F59E0B"/>
      </a:accent2>
      <a:accent3>
        <a:srgbClr val="15803D"/>
      </a:accent3>
      <a:accent4>
        <a:srgbClr val="DC2626"/>
      </a:accent4>
      <a:accent5>
        <a:srgbClr val="172A4E"/>
      </a:accent5>
      <a:accent6>
        <a:srgbClr val="5EEAD4"/>
      </a:accent6>
      <a:hlink>
        <a:srgbClr val="0F766E"/>
      </a:hlink>
      <a:folHlink>
        <a:srgbClr val="51607A"/>
      </a:folHlink>
    </a:clrScheme>
    <a:fontScheme name="Macrograph">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VIT Chennai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Macrograph AI</dc:title>
  <dc:subject>BCSE497J Project 1 presentation</dc:subject>
  <dc:creator>Hariprasaadh K, SJ Arulprasaad, Nithish Kumar CS</dc:creator>
  <cp:lastModifiedBy>Hariprasaadh K, SJ Arulprasaad, Nithish Kumar CS</cp:lastModifiedBy>
  <cp:revision>1</cp:revision>
  <dcterms:created xsi:type="dcterms:W3CDTF">2026-10-18T08:34:48Z</dcterms:created>
  <dcterms:modified xsi:type="dcterms:W3CDTF">2026-10-18T08:34:48Z</dcterms:modified>
</cp:coreProperties>
</file>