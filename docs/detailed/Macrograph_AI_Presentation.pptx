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e82ec95-92b2-e79a-1951-a872ba914aca}">
          <p14:sldIdLst>
            <p14:sldId id="256"/>
            <p14:sldId id="257"/>
            <p14:sldId id="258"/>
            <p14:sldId id="259"/>
          </p14:sldIdLst>
        </p14:section>
        <p14:section name="System design" id="{9e7e27b5-f9b4-1846-7b92-3c4f5a5551eb}">
          <p14:sldIdLst>
            <p14:sldId id="260"/>
            <p14:sldId id="261"/>
            <p14:sldId id="262"/>
            <p14:sldId id="263"/>
          </p14:sldIdLst>
        </p14:section>
        <p14:section name="Causal intelligence" id="{b5d46345-c838-65b0-6235-8254235a2d74}">
          <p14:sldIdLst>
            <p14:sldId id="264"/>
            <p14:sldId id="265"/>
            <p14:sldId id="266"/>
          </p14:sldIdLst>
        </p14:section>
        <p14:section name="Product and results" id="{de9f1494-aefe-b28e-3d8b-ed40f3cbed7a}">
          <p14:sldIdLst>
            <p14:sldId id="267"/>
            <p14:sldId id="268"/>
          </p14:sldIdLst>
        </p14:section>
        <p14:section name="Outlook" id="{7d7f313b-9a4a-184e-2f69-c89d398e3c0e}">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chemeClr val="tx1"/>
                </a:solidFill>
                <a:latin typeface="+mn-lt"/>
              </a:defRPr>
            </a:pPr>
            <a:r>
              <a:rPr sz="1300" b="0" i="0" u="none" strike="noStrike">
                <a:solidFill>
                  <a:schemeClr val="tx1"/>
                </a:solidFill>
                <a:latin typeface="+mn-lt"/>
              </a:rPr>
              <a:t>Simulated change along the main chain, percentage points (Brent +$20/bbl)</a:t>
            </a:r>
          </a:p>
        </c:rich>
      </c:tx>
      <c:layout/>
      <c:overlay val="0"/>
    </c:title>
    <c:autoTitleDeleted val="0"/>
    <c:plotArea>
      <c:layout/>
      <c:barChart>
        <c:barDir val="col"/>
        <c:grouping val="clustered"/>
        <c:varyColors val="0"/>
        <c:ser>
          <c:idx val="0"/>
          <c:order val="0"/>
          <c:tx>
            <c:strRef>
              <c:f>Sheet1!$B$1</c:f>
              <c:strCache>
                <c:ptCount val="1"/>
                <c:pt idx="0">
                  <c:v>Simulated change (percentage points)</c:v>
                </c:pt>
              </c:strCache>
            </c:strRef>
          </c:tx>
          <c:spPr>
            <a:solidFill>
              <a:srgbClr val="F59E0B"/>
            </a:solidFill>
            <a:effectLst/>
          </c:spPr>
          <c:invertIfNegative val="0"/>
          <c:dLbls>
            <c:numFmt formatCode="+0.00;-0.00" sourceLinked="0"/>
            <c:txPr>
              <a:bodyPr/>
              <a:lstStyle/>
              <a:p>
                <a:pPr>
                  <a:defRPr b="1" i="0" strike="noStrike" sz="12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F59E0B"/>
              </a:solidFill>
              <a:effectLst/>
            </c:spPr>
          </c:dPt>
          <c:dPt>
            <c:idx val="1"/>
            <c:invertIfNegative val="0"/>
            <c:bubble3D val="0"/>
            <c:spPr>
              <a:solidFill>
                <a:srgbClr val="F59E0B"/>
              </a:solidFill>
              <a:effectLst/>
            </c:spPr>
          </c:dPt>
          <c:dPt>
            <c:idx val="2"/>
            <c:invertIfNegative val="0"/>
            <c:bubble3D val="0"/>
            <c:spPr>
              <a:solidFill>
                <a:srgbClr val="F59E0B"/>
              </a:solidFill>
              <a:effectLst/>
            </c:spPr>
          </c:dPt>
          <c:dPt>
            <c:idx val="3"/>
            <c:invertIfNegative val="0"/>
            <c:bubble3D val="0"/>
            <c:spPr>
              <a:solidFill>
                <a:srgbClr val="0F766E"/>
              </a:solidFill>
              <a:effectLst/>
            </c:spPr>
          </c:dPt>
          <c:dPt>
            <c:idx val="4"/>
            <c:invertIfNegative val="0"/>
            <c:bubble3D val="0"/>
            <c:spPr>
              <a:solidFill>
                <a:srgbClr val="0F766E"/>
              </a:solidFill>
              <a:effectLst/>
            </c:spPr>
          </c:dPt>
          <c:dPt>
            <c:idx val="5"/>
            <c:invertIfNegative val="0"/>
            <c:bubble3D val="0"/>
            <c:spPr>
              <a:solidFill>
                <a:srgbClr val="0F766E"/>
              </a:solidFill>
              <a:effectLst/>
            </c:spPr>
          </c:dPt>
          <c:cat>
            <c:multiLvlStrRef>
              <c:f>Sheet1!$A$2:$A$7</c:f>
              <c:multiLvlStrCache>
                <c:ptCount val="6"/>
                <c:lvl>
                  <c:pt idx="0">
                    <c:v>WPI · 1m</c:v>
                  </c:pt>
                  <c:pt idx="1">
                    <c:v>CPI · 3m</c:v>
                  </c:pt>
                  <c:pt idx="2">
                    <c:v>Repo · 4m</c:v>
                  </c:pt>
                  <c:pt idx="3">
                    <c:v>Credit · 7m</c:v>
                  </c:pt>
                  <c:pt idx="4">
                    <c:v>IIP · 9m</c:v>
                  </c:pt>
                  <c:pt idx="5">
                    <c:v>GDP · 10m</c:v>
                  </c:pt>
                </c:lvl>
              </c:multiLvlStrCache>
            </c:multiLvlStrRef>
          </c:cat>
          <c:val>
            <c:numRef>
              <c:f>Sheet1!$B$2:$B$7</c:f>
              <c:numCache>
                <c:formatCode>General</c:formatCode>
                <c:ptCount val="6"/>
                <c:pt idx="0">
                  <c:v>1.57</c:v>
                </c:pt>
                <c:pt idx="1">
                  <c:v>0.78</c:v>
                </c:pt>
                <c:pt idx="2">
                  <c:v>0.41</c:v>
                </c:pt>
                <c:pt idx="3">
                  <c:v>-0.2</c:v>
                </c:pt>
                <c:pt idx="4">
                  <c:v>-0.09</c:v>
                </c:pt>
                <c:pt idx="5">
                  <c:v>-0.05</c:v>
                </c:pt>
              </c:numCache>
            </c:numRef>
          </c:val>
        </c:ser>
        <c:dLbls>
          <c:numFmt formatCode="+0.00;-0.00" sourceLinked="0"/>
          <c:txPr>
            <a:bodyPr/>
            <a:lstStyle/>
            <a:p>
              <a:pPr>
                <a:defRPr b="1" i="0" strike="noStrike" sz="1200" u="none">
                  <a:solidFill>
                    <a:schemeClr val="tx1"/>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51607A"/>
            </a:solid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catAx>
      <c:valAx>
        <c:axId val="2094734552"/>
        <c:scaling>
          <c:orientation val="minMax"/>
          <c:max val="1.9"/>
          <c:min val="-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chemeClr val="tx1"/>
                </a:solidFill>
                <a:latin typeface="+mn-lt"/>
              </a:defRPr>
            </a:pPr>
            <a:r>
              <a:rPr sz="1300" b="0" i="0" u="none" strike="noStrike">
                <a:solidFill>
                  <a:schemeClr val="tx1"/>
                </a:solidFill>
                <a:latin typeface="+mn-lt"/>
              </a:rPr>
              <a:t>Test functions by area (455 in total)</a:t>
            </a:r>
          </a:p>
        </c:rich>
      </c:tx>
      <c:layout/>
      <c:overlay val="0"/>
    </c:title>
    <c:autoTitleDeleted val="0"/>
    <c:plotArea>
      <c:layout/>
      <c:barChart>
        <c:barDir val="bar"/>
        <c:grouping val="clustered"/>
        <c:varyColors val="0"/>
        <c:ser>
          <c:idx val="0"/>
          <c:order val="0"/>
          <c:tx>
            <c:strRef>
              <c:f>Sheet1!$B$1</c:f>
              <c:strCache>
                <c:ptCount val="1"/>
                <c:pt idx="0">
                  <c:v>Test functions</c:v>
                </c:pt>
              </c:strCache>
            </c:strRef>
          </c:tx>
          <c:spPr>
            <a:solidFill>
              <a:srgbClr val="0F766E"/>
            </a:solidFill>
            <a:effectLst/>
          </c:spPr>
          <c:invertIfNegative val="0"/>
          <c:dLbls>
            <c:numFmt formatCode="#,##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cat>
            <c:multiLvlStrRef>
              <c:f>Sheet1!$A$2:$A$11</c:f>
              <c:multiLvlStrCache>
                <c:ptCount val="10"/>
                <c:lvl>
                  <c:pt idx="0">
                    <c:v>Core and cross-cutting</c:v>
                  </c:pt>
                  <c:pt idx="1">
                    <c:v>Agriculture</c:v>
                  </c:pt>
                  <c:pt idx="2">
                    <c:v>External</c:v>
                  </c:pt>
                  <c:pt idx="3">
                    <c:v>Monetary</c:v>
                  </c:pt>
                  <c:pt idx="4">
                    <c:v>Services</c:v>
                  </c:pt>
                  <c:pt idx="5">
                    <c:v>Finance</c:v>
                  </c:pt>
                  <c:pt idx="6">
                    <c:v>Capital markets</c:v>
                  </c:pt>
                  <c:pt idx="7">
                    <c:v>Fiscal</c:v>
                  </c:pt>
                  <c:pt idx="8">
                    <c:v>Labour</c:v>
                  </c:pt>
                  <c:pt idx="9">
                    <c:v>Real</c:v>
                  </c:pt>
                </c:lvl>
              </c:multiLvlStrCache>
            </c:multiLvlStrRef>
          </c:cat>
          <c:val>
            <c:numRef>
              <c:f>Sheet1!$B$2:$B$11</c:f>
              <c:numCache>
                <c:formatCode>General</c:formatCode>
                <c:ptCount val="10"/>
                <c:pt idx="0">
                  <c:v>198</c:v>
                </c:pt>
                <c:pt idx="1">
                  <c:v>48</c:v>
                </c:pt>
                <c:pt idx="2">
                  <c:v>45</c:v>
                </c:pt>
                <c:pt idx="3">
                  <c:v>43</c:v>
                </c:pt>
                <c:pt idx="4">
                  <c:v>33</c:v>
                </c:pt>
                <c:pt idx="5">
                  <c:v>32</c:v>
                </c:pt>
                <c:pt idx="6">
                  <c:v>27</c:v>
                </c:pt>
                <c:pt idx="7">
                  <c:v>15</c:v>
                </c:pt>
                <c:pt idx="8">
                  <c:v>7</c:v>
                </c:pt>
                <c:pt idx="9">
                  <c:v>7</c:v>
                </c:pt>
              </c:numCache>
            </c:numRef>
          </c:val>
        </c:ser>
        <c:dLbls>
          <c:numFmt formatCode="#,##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chemeClr val="tx2"/>
                </a:solidFill>
                <a:latin typeface="+mn-lt"/>
              </a:defRPr>
            </a:pPr>
            <a:endParaRPr lang="en-US"/>
          </a:p>
        </c:txPr>
        <c:crossAx val="2094734552"/>
        <c:crosses val="autoZero"/>
        <c:auto val="1"/>
        <c:lblAlgn val="ctr"/>
        <c:noMultiLvlLbl val="1"/>
      </c:catAx>
      <c:valAx>
        <c:axId val="2094734552"/>
        <c:scaling>
          <c:orientation val="minMax"/>
          <c:max val="23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Hariprasaadh K, and my project is Macrograph AI: a multi-agent platform that answers questions about the Indian economy under one rule, no source, no answer. The graphic on the right is the real topology of the system: a LangGraph orchestrator that delegates to ten sector agents, and, in gold, the seven agent-to-agent peer edges that the protocol allows between sectors. Everything else is refused. In the next fifteen minutes I will cover the problem, the design, the causal model, the product, what we measured, and what is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one realistic question: how will a twenty-dollar rise in Brent crude travel through Indian inflation, interest rates and growth? To answer it, an analyst reads MoSPI for CPI and GDP, RBI DBIE for the repo rate and credit, CGA for fiscal data, DGCI&amp;S for trade, the exchanges for markets, and IMD and Agmarknet for the monsoon and food prices. Each publishes differently. Language models make this look easy, but they can produce a CPI number that exists in no release. If several agents fetch the same indicator independently they can disagree inside one answer. And the real question is about transmission across sectors, which no single series explains.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reference papers fall into two groups. LLM agents for economics and finance: Hao and Xie simulate heterogeneous households with several language models, Lin and colleagues simulate survey respondents, and TradingAgents models a trading firm with specialised roles. Knowledge graphs and retrieval: Yang and colleagues build a macro graph from literature, KG2RAG expands retrieval with a graph, the metadata RAG paper works on filings, and Kato's AI Economist grounds narratives in model runs, the closest work to ours, but for the U.S. Four gaps remain for our setting: nobody assigns an owner to each indicator, graph edges are not graded by evidence, numbers are not machine-checked, and Indian official sources are not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gaps became seven objectives. O1, one data server and store per sector backed by official sources. O2, a typed agent-to-agent protocol with discovery, routing, loop protection and tracing. O3, answers grounded in sources, enforced by the protocol itself. O4, an explicit causal model of how shocks move between indicators. O5, full provenance on every observation. O6, research instruments that let us test the model against data. O7, an interface people can actually use. One rule governs all of them: no source, no answer. If a value cannot be retrieved, the system says it is unavailable instead of estimating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decomposes the economy into ten sector agents. Each one owns its indicators: Prices owns CPI and WPI, Monetary owns the repo rate and M3, Finance owns bank credit and NPAs, Real owns GDP and IIP, and so on. Ownership means no other agent recomputes that number; if Fiscal needs CPI it must ask Prices. Each agent reads its own sources through its own FastMCP server: MoSPI's e-Sankhyiki server, RBI DBIE tables, CGA, DGCI&amp;S, yfinance and others. Three rules keep this clean: agents talk to each other only over A2A, data arrives only through MCP, and sector packages never import one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layered architecture, top to bottom. The React web app talks to a FastAPI gateway that streams chat over server-sent events. A LangGraph orchestrator with four nodes decomposes the question, delegates, enriches with the causal graph and synthesises. Beside it sits the causal intelligence layer: the knowledge graph, the scenario engine, the research lab, the daily brief and the claim verification library. The two teal bands are the key design decision. The A2A layer carries only reasoning between agents; the data layer carries only data, through one FastMCP server per sector backed by DuckDB stores. An agent never fetches another agent's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orchestrator is a four-node LangGraph state graph. Decompose scores every Agent Card against the question; a language model is consulted only if no card matches, and its choice is intersected with registered agents. Delegate sends one sector_analysis request per agent concurrently, with at most one bounded follow-up round. Enrich finds shortest transmission paths between the observed indicators and can run a shock. Synthesise writes the report: an indicator matrix with provenance hashes, a causal diagram, path and scenario tables and a source table. In the worked run, a crude-oil question returned live CPI of 5.54 percent from MoSPI and a repo rate of 5.25 percent, reported M3 as unavailable instead of guessing, found three graph paths, and finished in about eleven seconds without an LLM key. Single-sector questions skip all of this and go straight to the owning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is enforced in code, not left to prompts. Every A2A request passes six checks in the server: loop guards limit depth to five and a conversation to twenty-five requests and reject cycles and duplicates; sector-to-sector calls are allowed only along seven declared edges, shown on the right; the task must appear in the receiver's Agent Card; envelopes are strict Pydantic models; requests time out; and, most importantly, a successful reply that carries no sources is rejected as an invalid response. That is No Source, No Answer at protocol level. Below the A2A layer, every value comes through MCP: live from the official source, else a cached snapshot tagged as cached, else a structured unavailable status, never an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causal layer is a knowledge graph of twenty canonical indicators and twelve directed edges. The main chain reads left to right: Brent crude to wholesale prices, to CPI, to the repo rate, to bank credit, to industrial production and GDP, with branches to the trade balance, the rupee and Bank NIFTY, and separate chains for the monsoon and for public capex. Each edge carries a stable id, a lag in months, a sign, a confidence, a mechanism and its assumptions, and is typed on a five-tier scale from theory to a structural causal model. These types and confidences are priors typed into the ontology, not measurements; the next slides show how we test them. The red edge has a sign we already know is doubtful. Five indicators have no edges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Scenarios propagate along the graph. For each hop the signal is multiplied by the edge sign, a per-hop attenuation of 0.55 and the edge confidence; a global scale of 0.15 converts it to a change. For the first hop, twenty dollars times 0.55 times 0.95 times 0.15 gives plus 1.57 on WPI. The chart shows the main chain: WPI rises 1.57 points after one month, CPI 0.78 after three, the repo rate 0.41 after four, and then credit, IIP and GDP turn slightly negative, and confidence falls from 0.95 to 0.57 over six hops. I want to be clear that this is a transparent heuristic, labelled simulated, not a VAR. And the run itself exposed a problem: the rupee appreciates after an oil shock, because the trade balance to USD/INR edge has the wrong sign. That fix is first on our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Causal Lab is where the platform inspects its own model, and every number in it is labelled simulated, cached or seeded. Path finds the shortest transmission route between any two indicators. Shockwave, on the left, animates a shock month by month; here it is Brent crude plus twenty. Twin compares the base and shocked worlds and attributes the attenuation to each hop. On the right, the MPC tab simulates a six-seat monetary policy committee with a deterministic rule baseline and optional LLM personas; in this run it voted four to two to hold, matching the rule. Radar flags unusual readings and asks whether connected indicators moved too. Edge audit re-tests every edge with Granger causality on live series and labels it seeded or empirical.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not a mock-up; these are screenshots of the running application. The dashboard combines a live ticker, an early-warning brief and sector tabs, and every KPI states the table and period it came from. The finance tab reads RBI DBIE tables directly: non-food credit, gross NPAs, capital adequacy and provision coverage. The A2A registry lists each agent's card with its skills, the tasks it answers and the peer edges it may use. The app also has a streaming chat that shows the live A2A call tree for each answer, an evidence drawer, a knowledge-graph explorer, Google sign-in and a command palette.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measured. The full run of all ten sector test suites passed 550 of 551 cases from 455 test functions; the one failure is a monetary-sector test that drifted from the code's source precedence, and it is logged. A cross-sector question returned a cited report with live official data in about eleven seconds, in deterministic mode with no LLM key. The code base is about 49 thousand lines. And one result is uncomfortable but important: the edge evidence audit could test none of the twelve causal edges, because the series currently available overlap for at most two months against the ten required. So the graph is a documented set of assumptions, and we report it that way. The radar scanned 18 series and found one isolated anomaly; the simulated committee held by four to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explicit about the limits. The edge statistics are priors, and none can be tested yet. The scenario engine is a heuristic with fixed constants. The claim verification library is implemented and tested but not yet connected to the answers. Many series are too short for the radar and the audit. Policy documents are not indexed, and the cost-bearing endpoints need authentication. The live run also exposed three small defects, which are logged. The roadmap addresses these in order: first credibility, wiring verification into synthesis and fixing the sign; then estimating the edges properly from long series and replacing the heuristic with local projections or a BVAR; then a real evaluation against five baselines with about 250 questions; and finally consolidation into a workshop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five of the seven objectives are delivered, and two, grounded answers and the causal model, are partly delivered, for the reasons I have shown. The contribution is a complete, tested platform in which each number has one owner and travels with its source, and missing evidence is reported rather than invented. Its most useful result is an honest one: its own audit shows how much of the causal reasoning still rests on assumptions. The next steps are to verify every claim before it is shown, estimate the edges from long series, and benchmark the system against baselines. Thank you; I am happy to take questions, and I can show the live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G_TITL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143000" y="1591056"/>
            <a:ext cx="5303520" cy="365760"/>
          </a:xfrm>
          <a:prstGeom prst="rect">
            <a:avLst/>
          </a:prstGeom>
          <a:noFill/>
          <a:ln/>
        </p:spPr>
        <p:txBody>
          <a:bodyPr wrap="square" rtlCol="0"/>
          <a:lstStyle>
            <a:lvl1pPr indent="0" marL="0">
              <a:buNone/>
              <a:defRPr lang="en-US" sz="1200" b="1"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640080" y="2084832"/>
            <a:ext cx="5852160" cy="100584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4" name="Text 0"/>
          <p:cNvSpPr/>
          <p:nvPr>
            <p:ph idx="102" type="body" hasCustomPrompt="1"/>
          </p:nvPr>
        </p:nvSpPr>
        <p:spPr>
          <a:xfrm>
            <a:off x="640080" y="3154680"/>
            <a:ext cx="5760720" cy="82296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G_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76656"/>
            <a:ext cx="11094415" cy="713232"/>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46520"/>
            <a:ext cx="6400800" cy="228600"/>
          </a:xfrm>
          <a:prstGeom prst="rect">
            <a:avLst/>
          </a:prstGeom>
          <a:noFill/>
          <a:ln/>
        </p:spPr>
        <p:txBody>
          <a:bodyPr wrap="square" lIns="0" tIns="0" rIns="0" bIns="0" rtlCol="0" anchor="t"/>
          <a:lstStyle/>
          <a:p>
            <a:pPr indent="0" marL="0">
              <a:buNone/>
            </a:pPr>
            <a:r>
              <a:rPr lang="en-US" sz="1000" dirty="0">
                <a:solidFill>
                  <a:schemeClr val="tx2"/>
                </a:solidFill>
              </a:rPr>
              <a:t>Macrograph AI  ·  Hariprasaadh K (23BAI1061)  ·  VIT Chennai</a:t>
            </a:r>
            <a:endParaRPr lang="en-US" sz="1000" dirty="0"/>
          </a:p>
        </p:txBody>
      </p:sp>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1607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G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200" b="1"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676656"/>
            <a:ext cx="11094415" cy="713232"/>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nvSpPr>
        <p:spPr>
          <a:xfrm>
            <a:off x="548640" y="6446520"/>
            <a:ext cx="6400800" cy="228600"/>
          </a:xfrm>
          <a:prstGeom prst="rect">
            <a:avLst/>
          </a:prstGeom>
          <a:noFill/>
          <a:ln/>
        </p:spPr>
        <p:txBody>
          <a:bodyPr wrap="square" lIns="0" tIns="0" rIns="0" bIns="0" rtlCol="0" anchor="t"/>
          <a:lstStyle/>
          <a:p>
            <a:pPr indent="0" marL="0">
              <a:buNone/>
            </a:pPr>
            <a:r>
              <a:rPr lang="en-US" sz="1000" dirty="0">
                <a:solidFill>
                  <a:schemeClr val="bg1">
                    <a:alpha val="55000"/>
                  </a:schemeClr>
                </a:solidFill>
              </a:rPr>
              <a:t>Macrograph AI  ·  Hariprasaadh K (23BAI1061)  ·  VIT Chennai</a:t>
            </a:r>
            <a:endParaRPr lang="en-US" sz="1000" dirty="0"/>
          </a:p>
        </p:txBody>
      </p:sp>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FFFFFF"/>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160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2.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slideLayout" Target="../slideLayouts/slideLayout3.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3.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ard-1"/>
          <p:cNvSpPr/>
          <p:nvPr/>
        </p:nvSpPr>
        <p:spPr>
          <a:xfrm>
            <a:off x="640080" y="502920"/>
            <a:ext cx="2011680" cy="713232"/>
          </a:xfrm>
          <a:prstGeom prst="roundRect">
            <a:avLst>
              <a:gd name="adj" fmla="val 10256"/>
            </a:avLst>
          </a:prstGeom>
          <a:solidFill>
            <a:schemeClr val="bg1"/>
          </a:solidFill>
          <a:ln/>
        </p:spPr>
      </p:sp>
      <p:pic>
        <p:nvPicPr>
          <p:cNvPr id="3" name="vit-logo" descr="Vellore Institute of Technology, Chennai">    </p:cNvPr>
          <p:cNvPicPr>
            <a:picLocks noChangeAspect="1"/>
          </p:cNvPicPr>
          <p:nvPr/>
        </p:nvPicPr>
        <p:blipFill>
          <a:blip r:embed="rId1"/>
          <a:stretch>
            <a:fillRect/>
          </a:stretch>
        </p:blipFill>
        <p:spPr>
          <a:xfrm>
            <a:off x="749808" y="561442"/>
            <a:ext cx="1792224" cy="597103"/>
          </a:xfrm>
          <a:prstGeom prst="rect">
            <a:avLst/>
          </a:prstGeom>
        </p:spPr>
      </p:pic>
      <p:pic>
        <p:nvPicPr>
          <p:cNvPr id="4" name="logo-mark" descr="Macrograph AI logo mark">    </p:cNvPr>
          <p:cNvPicPr>
            <a:picLocks noChangeAspect="1"/>
          </p:cNvPicPr>
          <p:nvPr/>
        </p:nvPicPr>
        <p:blipFill>
          <a:blip r:embed="rId2"/>
          <a:stretch>
            <a:fillRect/>
          </a:stretch>
        </p:blipFill>
        <p:spPr>
          <a:xfrm>
            <a:off x="640080" y="1581912"/>
            <a:ext cx="384048" cy="384048"/>
          </a:xfrm>
          <a:prstGeom prst="rect">
            <a:avLst/>
          </a:prstGeom>
        </p:spPr>
      </p:pic>
      <p:sp>
        <p:nvSpPr>
          <p:cNvPr id="5" name="Text 0"/>
          <p:cNvSpPr/>
          <p:nvPr>
            <p:ph idx="100" type="body" hasCustomPrompt="1"/>
          </p:nvPr>
        </p:nvSpPr>
        <p:spPr>
          <a:xfrm>
            <a:off x="1143000" y="1591056"/>
            <a:ext cx="5303520" cy="365760"/>
          </a:xfrm>
          <a:prstGeom prst="rect">
            <a:avLst/>
          </a:prstGeom>
          <a:noFill/>
          <a:ln/>
        </p:spPr>
        <p:txBody>
          <a:bodyPr wrap="square" lIns="0" tIns="0" rIns="0" bIns="0" rtlCol="0" anchor="ctr"/>
          <a:lstStyle/>
          <a:p>
            <a:pPr indent="0" marL="0">
              <a:buNone/>
            </a:pPr>
            <a:r>
              <a:rPr lang="en-US" sz="1200" b="1" spc="200" kern="0" dirty="0">
                <a:solidFill>
                  <a:schemeClr val="accent6"/>
                </a:solidFill>
              </a:rPr>
              <a:t>B.TECH CSE (AI &amp; ML)  ·  FINAL YEAR PROJECT</a:t>
            </a:r>
            <a:endParaRPr lang="en-US" sz="1200" dirty="0"/>
          </a:p>
        </p:txBody>
      </p:sp>
      <p:sp>
        <p:nvSpPr>
          <p:cNvPr id="6" name="Text 0"/>
          <p:cNvSpPr/>
          <p:nvPr>
            <p:ph idx="101" type="title" hasCustomPrompt="1"/>
          </p:nvPr>
        </p:nvSpPr>
        <p:spPr>
          <a:xfrm>
            <a:off x="640080" y="2084832"/>
            <a:ext cx="5852160" cy="1005840"/>
          </a:xfrm>
          <a:prstGeom prst="rect">
            <a:avLst/>
          </a:prstGeom>
          <a:noFill/>
          <a:ln/>
        </p:spPr>
        <p:txBody>
          <a:bodyPr wrap="square" lIns="0" tIns="0" rIns="0" bIns="0" rtlCol="0" anchor="t"/>
          <a:lstStyle/>
          <a:p>
            <a:pPr algn="l" indent="0" marL="0">
              <a:buNone/>
            </a:pPr>
            <a:r>
              <a:rPr lang="en-US" sz="6000" b="1" dirty="0">
                <a:solidFill>
                  <a:schemeClr val="bg1"/>
                </a:solidFill>
              </a:rPr>
              <a:t>Macrograph AI</a:t>
            </a:r>
            <a:endParaRPr lang="en-US" sz="6000" dirty="0"/>
          </a:p>
        </p:txBody>
      </p:sp>
      <p:sp>
        <p:nvSpPr>
          <p:cNvPr id="7" name="Text 0"/>
          <p:cNvSpPr/>
          <p:nvPr>
            <p:ph idx="102" type="body" hasCustomPrompt="1"/>
          </p:nvPr>
        </p:nvSpPr>
        <p:spPr>
          <a:xfrm>
            <a:off x="640080" y="3154680"/>
            <a:ext cx="5760720" cy="822960"/>
          </a:xfrm>
          <a:prstGeom prst="rect">
            <a:avLst/>
          </a:prstGeom>
          <a:noFill/>
          <a:ln/>
        </p:spPr>
        <p:txBody>
          <a:bodyPr wrap="square" lIns="0" tIns="0" rIns="0" bIns="0" rtlCol="0" anchor="t"/>
          <a:lstStyle/>
          <a:p>
            <a:pPr indent="0" marL="0">
              <a:buNone/>
            </a:pPr>
            <a:r>
              <a:rPr lang="en-US" sz="1800" dirty="0">
                <a:solidFill>
                  <a:schemeClr val="bg1">
                    <a:alpha val="88000"/>
                  </a:schemeClr>
                </a:solidFill>
              </a:rPr>
              <a:t>Multi-agent intelligence for the Indian economy, where every number traces back to an official source</a:t>
            </a:r>
            <a:endParaRPr lang="en-US" sz="1800" dirty="0"/>
          </a:p>
        </p:txBody>
      </p:sp>
      <p:sp>
        <p:nvSpPr>
          <p:cNvPr id="8" name="card-2"/>
          <p:cNvSpPr/>
          <p:nvPr/>
        </p:nvSpPr>
        <p:spPr>
          <a:xfrm>
            <a:off x="640080" y="4160520"/>
            <a:ext cx="1572768" cy="329184"/>
          </a:xfrm>
          <a:prstGeom prst="roundRect">
            <a:avLst>
              <a:gd name="adj" fmla="val 50000"/>
            </a:avLst>
          </a:prstGeom>
          <a:solidFill>
            <a:schemeClr val="accent5"/>
          </a:solidFill>
          <a:ln/>
        </p:spPr>
      </p:sp>
      <p:sp>
        <p:nvSpPr>
          <p:cNvPr id="9" name="text-3"/>
          <p:cNvSpPr txBox="1"/>
          <p:nvPr/>
        </p:nvSpPr>
        <p:spPr>
          <a:xfrm>
            <a:off x="640080" y="4160520"/>
            <a:ext cx="1572768" cy="329184"/>
          </a:xfrm>
          <a:prstGeom prst="rect">
            <a:avLst/>
          </a:prstGeom>
          <a:noFill/>
          <a:ln/>
        </p:spPr>
        <p:txBody>
          <a:bodyPr wrap="square" lIns="0" tIns="0" rIns="0" bIns="0" rtlCol="0" anchor="ctr"/>
          <a:lstStyle/>
          <a:p>
            <a:pPr algn="ctr" indent="0" marL="0">
              <a:buNone/>
            </a:pPr>
            <a:r>
              <a:rPr lang="en-US" sz="1150" b="1" spc="50" kern="0" dirty="0">
                <a:solidFill>
                  <a:schemeClr val="accent6"/>
                </a:solidFill>
              </a:rPr>
              <a:t>10 sector agents</a:t>
            </a:r>
            <a:endParaRPr lang="en-US" sz="1150" dirty="0"/>
          </a:p>
        </p:txBody>
      </p:sp>
      <p:sp>
        <p:nvSpPr>
          <p:cNvPr id="10" name="card-4"/>
          <p:cNvSpPr/>
          <p:nvPr/>
        </p:nvSpPr>
        <p:spPr>
          <a:xfrm>
            <a:off x="2322576" y="4160520"/>
            <a:ext cx="1339596" cy="329184"/>
          </a:xfrm>
          <a:prstGeom prst="roundRect">
            <a:avLst>
              <a:gd name="adj" fmla="val 50000"/>
            </a:avLst>
          </a:prstGeom>
          <a:solidFill>
            <a:schemeClr val="accent5"/>
          </a:solidFill>
          <a:ln/>
        </p:spPr>
      </p:sp>
      <p:sp>
        <p:nvSpPr>
          <p:cNvPr id="11" name="text-5"/>
          <p:cNvSpPr txBox="1"/>
          <p:nvPr/>
        </p:nvSpPr>
        <p:spPr>
          <a:xfrm>
            <a:off x="2322576" y="4160520"/>
            <a:ext cx="1339596" cy="329184"/>
          </a:xfrm>
          <a:prstGeom prst="rect">
            <a:avLst/>
          </a:prstGeom>
          <a:noFill/>
          <a:ln/>
        </p:spPr>
        <p:txBody>
          <a:bodyPr wrap="square" lIns="0" tIns="0" rIns="0" bIns="0" rtlCol="0" anchor="ctr"/>
          <a:lstStyle/>
          <a:p>
            <a:pPr algn="ctr" indent="0" marL="0">
              <a:buNone/>
            </a:pPr>
            <a:r>
              <a:rPr lang="en-US" sz="1150" b="1" spc="50" kern="0" dirty="0">
                <a:solidFill>
                  <a:schemeClr val="accent6"/>
                </a:solidFill>
              </a:rPr>
              <a:t>A2A + FastMCP</a:t>
            </a:r>
            <a:endParaRPr lang="en-US" sz="1150" dirty="0"/>
          </a:p>
        </p:txBody>
      </p:sp>
      <p:sp>
        <p:nvSpPr>
          <p:cNvPr id="12" name="card-6"/>
          <p:cNvSpPr/>
          <p:nvPr/>
        </p:nvSpPr>
        <p:spPr>
          <a:xfrm>
            <a:off x="3771900" y="4160520"/>
            <a:ext cx="2039112" cy="329184"/>
          </a:xfrm>
          <a:prstGeom prst="roundRect">
            <a:avLst>
              <a:gd name="adj" fmla="val 50000"/>
            </a:avLst>
          </a:prstGeom>
          <a:solidFill>
            <a:schemeClr val="accent5"/>
          </a:solidFill>
          <a:ln/>
        </p:spPr>
      </p:sp>
      <p:sp>
        <p:nvSpPr>
          <p:cNvPr id="13" name="text-7"/>
          <p:cNvSpPr txBox="1"/>
          <p:nvPr/>
        </p:nvSpPr>
        <p:spPr>
          <a:xfrm>
            <a:off x="3771900" y="4160520"/>
            <a:ext cx="2039112" cy="329184"/>
          </a:xfrm>
          <a:prstGeom prst="rect">
            <a:avLst/>
          </a:prstGeom>
          <a:noFill/>
          <a:ln/>
        </p:spPr>
        <p:txBody>
          <a:bodyPr wrap="square" lIns="0" tIns="0" rIns="0" bIns="0" rtlCol="0" anchor="ctr"/>
          <a:lstStyle/>
          <a:p>
            <a:pPr algn="ctr" indent="0" marL="0">
              <a:buNone/>
            </a:pPr>
            <a:r>
              <a:rPr lang="en-US" sz="1150" b="1" spc="50" kern="0" dirty="0">
                <a:solidFill>
                  <a:schemeClr val="accent6"/>
                </a:solidFill>
              </a:rPr>
              <a:t>Causal knowledge graph</a:t>
            </a:r>
            <a:endParaRPr lang="en-US" sz="1150" dirty="0"/>
          </a:p>
        </p:txBody>
      </p:sp>
      <p:sp>
        <p:nvSpPr>
          <p:cNvPr id="14" name="text-8"/>
          <p:cNvSpPr txBox="1"/>
          <p:nvPr/>
        </p:nvSpPr>
        <p:spPr>
          <a:xfrm>
            <a:off x="640080" y="4846320"/>
            <a:ext cx="5486400" cy="365760"/>
          </a:xfrm>
          <a:prstGeom prst="rect">
            <a:avLst/>
          </a:prstGeom>
          <a:noFill/>
          <a:ln/>
        </p:spPr>
        <p:txBody>
          <a:bodyPr wrap="square" lIns="0" tIns="0" rIns="0" bIns="0" rtlCol="0" anchor="t"/>
          <a:lstStyle/>
          <a:p>
            <a:pPr indent="0" marL="0">
              <a:buNone/>
            </a:pPr>
            <a:r>
              <a:rPr lang="en-US" sz="2000" b="1" dirty="0">
                <a:solidFill>
                  <a:schemeClr val="bg1"/>
                </a:solidFill>
              </a:rPr>
              <a:t>Hariprasaadh K</a:t>
            </a:r>
            <a:endParaRPr lang="en-US" sz="2000" dirty="0"/>
          </a:p>
        </p:txBody>
      </p:sp>
      <p:sp>
        <p:nvSpPr>
          <p:cNvPr id="15" name="text-9"/>
          <p:cNvSpPr txBox="1"/>
          <p:nvPr/>
        </p:nvSpPr>
        <p:spPr>
          <a:xfrm>
            <a:off x="640080" y="5248656"/>
            <a:ext cx="5852160" cy="822960"/>
          </a:xfrm>
          <a:prstGeom prst="rect">
            <a:avLst/>
          </a:prstGeom>
          <a:noFill/>
          <a:ln/>
        </p:spPr>
        <p:txBody>
          <a:bodyPr wrap="square" lIns="0" tIns="0" rIns="0" bIns="0" rtlCol="0" anchor="t"/>
          <a:lstStyle/>
          <a:p>
            <a:pPr indent="0" marL="0">
              <a:spcAft>
                <a:spcPts val="300"/>
              </a:spcAft>
              <a:buNone/>
            </a:pPr>
            <a:r>
              <a:rPr lang="en-US" sz="1300" dirty="0">
                <a:solidFill>
                  <a:schemeClr val="bg1">
                    <a:alpha val="78000"/>
                  </a:schemeClr>
                </a:solidFill>
              </a:rPr>
              <a:t>Reg. No. 23BAI1061  ·  B.Tech CSE (AI &amp; ML)</a:t>
            </a:r>
            <a:endParaRPr lang="en-US" sz="1300" dirty="0"/>
          </a:p>
          <a:p>
            <a:pPr indent="0" marL="0">
              <a:spcAft>
                <a:spcPts val="300"/>
              </a:spcAft>
              <a:buNone/>
            </a:pPr>
            <a:r>
              <a:rPr lang="en-US" sz="1300" dirty="0">
                <a:solidFill>
                  <a:schemeClr val="bg1">
                    <a:alpha val="78000"/>
                  </a:schemeClr>
                </a:solidFill>
              </a:rPr>
              <a:t>Guide: [Guide name], [Designation]</a:t>
            </a:r>
            <a:endParaRPr lang="en-US" sz="1300" dirty="0"/>
          </a:p>
          <a:p>
            <a:pPr indent="0" marL="0">
              <a:spcAft>
                <a:spcPts val="300"/>
              </a:spcAft>
              <a:buNone/>
            </a:pPr>
            <a:r>
              <a:rPr lang="en-US" sz="1300" dirty="0">
                <a:solidFill>
                  <a:schemeClr val="bg1">
                    <a:alpha val="78000"/>
                  </a:schemeClr>
                </a:solidFill>
              </a:rPr>
              <a:t>School of Computer Science and Engineering, VIT Chennai  ·  November 2026</a:t>
            </a:r>
            <a:endParaRPr lang="en-US" sz="1300" dirty="0"/>
          </a:p>
        </p:txBody>
      </p:sp>
      <p:pic>
        <p:nvPicPr>
          <p:cNvPr id="16" name="mesh-glow" descr="preencoded.png">    </p:cNvPr>
          <p:cNvPicPr>
            <a:picLocks noChangeAspect="1"/>
          </p:cNvPicPr>
          <p:nvPr/>
        </p:nvPicPr>
        <p:blipFill>
          <a:blip r:embed="rId3"/>
          <a:stretch>
            <a:fillRect/>
          </a:stretch>
        </p:blipFill>
        <p:spPr>
          <a:xfrm>
            <a:off x="6446520" y="1051560"/>
            <a:ext cx="4937760" cy="4937760"/>
          </a:xfrm>
          <a:prstGeom prst="rect">
            <a:avLst/>
          </a:prstGeom>
        </p:spPr>
      </p:pic>
      <p:sp>
        <p:nvSpPr>
          <p:cNvPr id="17" name="mesh-orbit"/>
          <p:cNvSpPr/>
          <p:nvPr/>
        </p:nvSpPr>
        <p:spPr>
          <a:xfrm>
            <a:off x="7132320" y="1737360"/>
            <a:ext cx="3566160" cy="3566160"/>
          </a:xfrm>
          <a:prstGeom prst="ellipse">
            <a:avLst/>
          </a:prstGeom>
          <a:noFill/>
          <a:ln w="9525">
            <a:solidFill>
              <a:schemeClr val="accent6">
                <a:alpha val="28000"/>
              </a:schemeClr>
            </a:solidFill>
            <a:prstDash val="solid"/>
          </a:ln>
        </p:spPr>
      </p:sp>
      <p:sp>
        <p:nvSpPr>
          <p:cNvPr id="18" name="link-10"/>
          <p:cNvSpPr/>
          <p:nvPr/>
        </p:nvSpPr>
        <p:spPr>
          <a:xfrm flipV="1">
            <a:off x="8915400" y="1737360"/>
            <a:ext cx="0" cy="1783080"/>
          </a:xfrm>
          <a:prstGeom prst="line">
            <a:avLst/>
          </a:prstGeom>
          <a:noFill/>
          <a:ln w="12700">
            <a:solidFill>
              <a:schemeClr val="accent6">
                <a:alpha val="38000"/>
              </a:schemeClr>
            </a:solidFill>
            <a:prstDash val="solid"/>
          </a:ln>
        </p:spPr>
      </p:sp>
      <p:sp>
        <p:nvSpPr>
          <p:cNvPr id="19" name="link-11"/>
          <p:cNvSpPr/>
          <p:nvPr/>
        </p:nvSpPr>
        <p:spPr>
          <a:xfrm flipV="1">
            <a:off x="8915400" y="2077898"/>
            <a:ext cx="1048068" cy="1442542"/>
          </a:xfrm>
          <a:prstGeom prst="line">
            <a:avLst/>
          </a:prstGeom>
          <a:noFill/>
          <a:ln w="12700">
            <a:solidFill>
              <a:schemeClr val="accent6">
                <a:alpha val="38000"/>
              </a:schemeClr>
            </a:solidFill>
            <a:prstDash val="solid"/>
          </a:ln>
        </p:spPr>
      </p:sp>
      <p:sp>
        <p:nvSpPr>
          <p:cNvPr id="20" name="link-12"/>
          <p:cNvSpPr/>
          <p:nvPr/>
        </p:nvSpPr>
        <p:spPr>
          <a:xfrm flipV="1">
            <a:off x="8915400" y="2969438"/>
            <a:ext cx="1695810" cy="551002"/>
          </a:xfrm>
          <a:prstGeom prst="line">
            <a:avLst/>
          </a:prstGeom>
          <a:noFill/>
          <a:ln w="12700">
            <a:solidFill>
              <a:schemeClr val="accent6">
                <a:alpha val="38000"/>
              </a:schemeClr>
            </a:solidFill>
            <a:prstDash val="solid"/>
          </a:ln>
        </p:spPr>
      </p:sp>
      <p:sp>
        <p:nvSpPr>
          <p:cNvPr id="21" name="link-13"/>
          <p:cNvSpPr/>
          <p:nvPr/>
        </p:nvSpPr>
        <p:spPr>
          <a:xfrm>
            <a:off x="8915400" y="3520440"/>
            <a:ext cx="1695810" cy="551002"/>
          </a:xfrm>
          <a:prstGeom prst="line">
            <a:avLst/>
          </a:prstGeom>
          <a:noFill/>
          <a:ln w="12700">
            <a:solidFill>
              <a:schemeClr val="accent6">
                <a:alpha val="38000"/>
              </a:schemeClr>
            </a:solidFill>
            <a:prstDash val="solid"/>
          </a:ln>
        </p:spPr>
      </p:sp>
      <p:sp>
        <p:nvSpPr>
          <p:cNvPr id="22" name="link-14"/>
          <p:cNvSpPr/>
          <p:nvPr/>
        </p:nvSpPr>
        <p:spPr>
          <a:xfrm>
            <a:off x="8915400" y="3520440"/>
            <a:ext cx="1048068" cy="1442542"/>
          </a:xfrm>
          <a:prstGeom prst="line">
            <a:avLst/>
          </a:prstGeom>
          <a:noFill/>
          <a:ln w="12700">
            <a:solidFill>
              <a:schemeClr val="accent6">
                <a:alpha val="38000"/>
              </a:schemeClr>
            </a:solidFill>
            <a:prstDash val="solid"/>
          </a:ln>
        </p:spPr>
      </p:sp>
      <p:sp>
        <p:nvSpPr>
          <p:cNvPr id="23" name="link-15"/>
          <p:cNvSpPr/>
          <p:nvPr/>
        </p:nvSpPr>
        <p:spPr>
          <a:xfrm>
            <a:off x="8915400" y="3520440"/>
            <a:ext cx="0" cy="1783080"/>
          </a:xfrm>
          <a:prstGeom prst="line">
            <a:avLst/>
          </a:prstGeom>
          <a:noFill/>
          <a:ln w="12700">
            <a:solidFill>
              <a:schemeClr val="accent6">
                <a:alpha val="38000"/>
              </a:schemeClr>
            </a:solidFill>
            <a:prstDash val="solid"/>
          </a:ln>
        </p:spPr>
      </p:sp>
      <p:sp>
        <p:nvSpPr>
          <p:cNvPr id="24" name="link-16"/>
          <p:cNvSpPr/>
          <p:nvPr/>
        </p:nvSpPr>
        <p:spPr>
          <a:xfrm flipH="1">
            <a:off x="7867332" y="3520440"/>
            <a:ext cx="1048068" cy="1442542"/>
          </a:xfrm>
          <a:prstGeom prst="line">
            <a:avLst/>
          </a:prstGeom>
          <a:noFill/>
          <a:ln w="12700">
            <a:solidFill>
              <a:schemeClr val="accent6">
                <a:alpha val="38000"/>
              </a:schemeClr>
            </a:solidFill>
            <a:prstDash val="solid"/>
          </a:ln>
        </p:spPr>
      </p:sp>
      <p:sp>
        <p:nvSpPr>
          <p:cNvPr id="25" name="link-17"/>
          <p:cNvSpPr/>
          <p:nvPr/>
        </p:nvSpPr>
        <p:spPr>
          <a:xfrm flipH="1">
            <a:off x="7219590" y="3520440"/>
            <a:ext cx="1695810" cy="551002"/>
          </a:xfrm>
          <a:prstGeom prst="line">
            <a:avLst/>
          </a:prstGeom>
          <a:noFill/>
          <a:ln w="12700">
            <a:solidFill>
              <a:schemeClr val="accent6">
                <a:alpha val="38000"/>
              </a:schemeClr>
            </a:solidFill>
            <a:prstDash val="solid"/>
          </a:ln>
        </p:spPr>
      </p:sp>
      <p:sp>
        <p:nvSpPr>
          <p:cNvPr id="26" name="link-18"/>
          <p:cNvSpPr/>
          <p:nvPr/>
        </p:nvSpPr>
        <p:spPr>
          <a:xfrm flipH="1" flipV="1">
            <a:off x="7219590" y="2969438"/>
            <a:ext cx="1695810" cy="551002"/>
          </a:xfrm>
          <a:prstGeom prst="line">
            <a:avLst/>
          </a:prstGeom>
          <a:noFill/>
          <a:ln w="12700">
            <a:solidFill>
              <a:schemeClr val="accent6">
                <a:alpha val="38000"/>
              </a:schemeClr>
            </a:solidFill>
            <a:prstDash val="solid"/>
          </a:ln>
        </p:spPr>
      </p:sp>
      <p:sp>
        <p:nvSpPr>
          <p:cNvPr id="27" name="link-19"/>
          <p:cNvSpPr/>
          <p:nvPr/>
        </p:nvSpPr>
        <p:spPr>
          <a:xfrm flipH="1" flipV="1">
            <a:off x="7867332" y="2077898"/>
            <a:ext cx="1048068" cy="1442542"/>
          </a:xfrm>
          <a:prstGeom prst="line">
            <a:avLst/>
          </a:prstGeom>
          <a:noFill/>
          <a:ln w="12700">
            <a:solidFill>
              <a:schemeClr val="accent6">
                <a:alpha val="38000"/>
              </a:schemeClr>
            </a:solidFill>
            <a:prstDash val="solid"/>
          </a:ln>
        </p:spPr>
      </p:sp>
      <p:sp>
        <p:nvSpPr>
          <p:cNvPr id="28" name="link-20"/>
          <p:cNvSpPr/>
          <p:nvPr/>
        </p:nvSpPr>
        <p:spPr>
          <a:xfrm flipH="1" flipV="1">
            <a:off x="9963468" y="2077898"/>
            <a:ext cx="647742" cy="891540"/>
          </a:xfrm>
          <a:prstGeom prst="line">
            <a:avLst/>
          </a:prstGeom>
          <a:noFill/>
          <a:ln w="22225">
            <a:solidFill>
              <a:schemeClr val="accent2"/>
            </a:solidFill>
            <a:prstDash val="solid"/>
          </a:ln>
        </p:spPr>
      </p:sp>
      <p:sp>
        <p:nvSpPr>
          <p:cNvPr id="29" name="link-21"/>
          <p:cNvSpPr/>
          <p:nvPr/>
        </p:nvSpPr>
        <p:spPr>
          <a:xfrm flipH="1" flipV="1">
            <a:off x="8915400" y="1737360"/>
            <a:ext cx="1695810" cy="1232078"/>
          </a:xfrm>
          <a:prstGeom prst="line">
            <a:avLst/>
          </a:prstGeom>
          <a:noFill/>
          <a:ln w="22225">
            <a:solidFill>
              <a:schemeClr val="accent2"/>
            </a:solidFill>
            <a:prstDash val="solid"/>
          </a:ln>
        </p:spPr>
      </p:sp>
      <p:sp>
        <p:nvSpPr>
          <p:cNvPr id="30" name="link-22"/>
          <p:cNvSpPr/>
          <p:nvPr/>
        </p:nvSpPr>
        <p:spPr>
          <a:xfrm flipH="1" flipV="1">
            <a:off x="9963468" y="2077898"/>
            <a:ext cx="647742" cy="1993544"/>
          </a:xfrm>
          <a:prstGeom prst="line">
            <a:avLst/>
          </a:prstGeom>
          <a:noFill/>
          <a:ln w="22225">
            <a:solidFill>
              <a:schemeClr val="accent2"/>
            </a:solidFill>
            <a:prstDash val="solid"/>
          </a:ln>
        </p:spPr>
      </p:sp>
      <p:sp>
        <p:nvSpPr>
          <p:cNvPr id="31" name="link-23"/>
          <p:cNvSpPr/>
          <p:nvPr/>
        </p:nvSpPr>
        <p:spPr>
          <a:xfrm flipH="1" flipV="1">
            <a:off x="8915400" y="1737360"/>
            <a:ext cx="1695810" cy="2334082"/>
          </a:xfrm>
          <a:prstGeom prst="line">
            <a:avLst/>
          </a:prstGeom>
          <a:noFill/>
          <a:ln w="22225">
            <a:solidFill>
              <a:schemeClr val="accent2"/>
            </a:solidFill>
            <a:prstDash val="solid"/>
          </a:ln>
        </p:spPr>
      </p:sp>
      <p:sp>
        <p:nvSpPr>
          <p:cNvPr id="32" name="link-24"/>
          <p:cNvSpPr/>
          <p:nvPr/>
        </p:nvSpPr>
        <p:spPr>
          <a:xfrm flipV="1">
            <a:off x="10611210" y="2969438"/>
            <a:ext cx="0" cy="1102004"/>
          </a:xfrm>
          <a:prstGeom prst="line">
            <a:avLst/>
          </a:prstGeom>
          <a:noFill/>
          <a:ln w="22225">
            <a:solidFill>
              <a:schemeClr val="accent2"/>
            </a:solidFill>
            <a:prstDash val="solid"/>
          </a:ln>
        </p:spPr>
      </p:sp>
      <p:sp>
        <p:nvSpPr>
          <p:cNvPr id="33" name="link-25"/>
          <p:cNvSpPr/>
          <p:nvPr/>
        </p:nvSpPr>
        <p:spPr>
          <a:xfrm flipV="1">
            <a:off x="9963468" y="2077898"/>
            <a:ext cx="0" cy="2885084"/>
          </a:xfrm>
          <a:prstGeom prst="line">
            <a:avLst/>
          </a:prstGeom>
          <a:noFill/>
          <a:ln w="22225">
            <a:solidFill>
              <a:schemeClr val="accent2"/>
            </a:solidFill>
            <a:prstDash val="solid"/>
          </a:ln>
        </p:spPr>
      </p:sp>
      <p:sp>
        <p:nvSpPr>
          <p:cNvPr id="34" name="link-26"/>
          <p:cNvSpPr/>
          <p:nvPr/>
        </p:nvSpPr>
        <p:spPr>
          <a:xfrm flipH="1" flipV="1">
            <a:off x="8915400" y="1737360"/>
            <a:ext cx="1048068" cy="3225622"/>
          </a:xfrm>
          <a:prstGeom prst="line">
            <a:avLst/>
          </a:prstGeom>
          <a:noFill/>
          <a:ln w="22225">
            <a:solidFill>
              <a:schemeClr val="accent2"/>
            </a:solidFill>
            <a:prstDash val="solid"/>
          </a:ln>
        </p:spPr>
      </p:sp>
      <p:sp>
        <p:nvSpPr>
          <p:cNvPr id="35" name="agent-Prices"/>
          <p:cNvSpPr/>
          <p:nvPr/>
        </p:nvSpPr>
        <p:spPr>
          <a:xfrm>
            <a:off x="8586216" y="1408176"/>
            <a:ext cx="658368" cy="658368"/>
          </a:xfrm>
          <a:prstGeom prst="ellipse">
            <a:avLst/>
          </a:prstGeom>
          <a:solidFill>
            <a:schemeClr val="accent5"/>
          </a:solidFill>
          <a:ln w="15875">
            <a:solidFill>
              <a:schemeClr val="accent6"/>
            </a:solidFill>
            <a:prstDash val="solid"/>
          </a:ln>
        </p:spPr>
      </p:sp>
      <p:pic>
        <p:nvPicPr>
          <p:cNvPr id="36" name="icon-27" descr="Prices sector agent">    </p:cNvPr>
          <p:cNvPicPr>
            <a:picLocks noChangeAspect="1"/>
          </p:cNvPicPr>
          <p:nvPr/>
        </p:nvPicPr>
        <p:blipFill>
          <a:blip r:embed="rId4"/>
          <a:stretch>
            <a:fillRect/>
          </a:stretch>
        </p:blipFill>
        <p:spPr>
          <a:xfrm>
            <a:off x="8750808" y="1572768"/>
            <a:ext cx="329184" cy="329184"/>
          </a:xfrm>
          <a:prstGeom prst="rect">
            <a:avLst/>
          </a:prstGeom>
        </p:spPr>
      </p:pic>
      <p:sp>
        <p:nvSpPr>
          <p:cNvPr id="37" name="text-28"/>
          <p:cNvSpPr txBox="1"/>
          <p:nvPr/>
        </p:nvSpPr>
        <p:spPr>
          <a:xfrm>
            <a:off x="8229600" y="1097280"/>
            <a:ext cx="1371600" cy="256032"/>
          </a:xfrm>
          <a:prstGeom prst="rect">
            <a:avLst/>
          </a:prstGeom>
          <a:noFill/>
          <a:ln/>
        </p:spPr>
        <p:txBody>
          <a:bodyPr wrap="square" lIns="0" tIns="0" rIns="0" bIns="0" rtlCol="0" anchor="ctr"/>
          <a:lstStyle/>
          <a:p>
            <a:pPr algn="ctr" indent="0" marL="0">
              <a:buNone/>
            </a:pPr>
            <a:r>
              <a:rPr lang="en-US" sz="1200" dirty="0">
                <a:solidFill>
                  <a:schemeClr val="bg1">
                    <a:alpha val="92000"/>
                  </a:schemeClr>
                </a:solidFill>
              </a:rPr>
              <a:t>Prices</a:t>
            </a:r>
            <a:endParaRPr lang="en-US" sz="1200" dirty="0"/>
          </a:p>
        </p:txBody>
      </p:sp>
      <p:sp>
        <p:nvSpPr>
          <p:cNvPr id="38" name="agent-Monetary"/>
          <p:cNvSpPr/>
          <p:nvPr/>
        </p:nvSpPr>
        <p:spPr>
          <a:xfrm>
            <a:off x="9634284" y="1748714"/>
            <a:ext cx="658368" cy="658368"/>
          </a:xfrm>
          <a:prstGeom prst="ellipse">
            <a:avLst/>
          </a:prstGeom>
          <a:solidFill>
            <a:schemeClr val="accent5"/>
          </a:solidFill>
          <a:ln w="15875">
            <a:solidFill>
              <a:schemeClr val="accent6"/>
            </a:solidFill>
            <a:prstDash val="solid"/>
          </a:ln>
        </p:spPr>
      </p:sp>
      <p:pic>
        <p:nvPicPr>
          <p:cNvPr id="39" name="icon-29" descr="Monetary sector agent">    </p:cNvPr>
          <p:cNvPicPr>
            <a:picLocks noChangeAspect="1"/>
          </p:cNvPicPr>
          <p:nvPr/>
        </p:nvPicPr>
        <p:blipFill>
          <a:blip r:embed="rId5"/>
          <a:stretch>
            <a:fillRect/>
          </a:stretch>
        </p:blipFill>
        <p:spPr>
          <a:xfrm>
            <a:off x="9798876" y="1913306"/>
            <a:ext cx="329184" cy="329184"/>
          </a:xfrm>
          <a:prstGeom prst="rect">
            <a:avLst/>
          </a:prstGeom>
        </p:spPr>
      </p:pic>
      <p:sp>
        <p:nvSpPr>
          <p:cNvPr id="40" name="text-30"/>
          <p:cNvSpPr txBox="1"/>
          <p:nvPr/>
        </p:nvSpPr>
        <p:spPr>
          <a:xfrm>
            <a:off x="10384092" y="1949882"/>
            <a:ext cx="753466" cy="256032"/>
          </a:xfrm>
          <a:prstGeom prst="rect">
            <a:avLst/>
          </a:prstGeom>
          <a:noFill/>
          <a:ln/>
        </p:spPr>
        <p:txBody>
          <a:bodyPr wrap="square" lIns="0" tIns="0" rIns="0" bIns="0" rtlCol="0" anchor="ctr"/>
          <a:lstStyle/>
          <a:p>
            <a:pPr algn="l" indent="0" marL="0">
              <a:buNone/>
            </a:pPr>
            <a:r>
              <a:rPr lang="en-US" sz="1200" dirty="0">
                <a:solidFill>
                  <a:schemeClr val="bg1">
                    <a:alpha val="92000"/>
                  </a:schemeClr>
                </a:solidFill>
              </a:rPr>
              <a:t>Monetary</a:t>
            </a:r>
            <a:endParaRPr lang="en-US" sz="1200" dirty="0"/>
          </a:p>
        </p:txBody>
      </p:sp>
      <p:sp>
        <p:nvSpPr>
          <p:cNvPr id="41" name="agent-Finance"/>
          <p:cNvSpPr/>
          <p:nvPr/>
        </p:nvSpPr>
        <p:spPr>
          <a:xfrm>
            <a:off x="10282026" y="2640254"/>
            <a:ext cx="658368" cy="658368"/>
          </a:xfrm>
          <a:prstGeom prst="ellipse">
            <a:avLst/>
          </a:prstGeom>
          <a:solidFill>
            <a:schemeClr val="accent5"/>
          </a:solidFill>
          <a:ln w="15875">
            <a:solidFill>
              <a:schemeClr val="accent6"/>
            </a:solidFill>
            <a:prstDash val="solid"/>
          </a:ln>
        </p:spPr>
      </p:sp>
      <p:pic>
        <p:nvPicPr>
          <p:cNvPr id="42" name="icon-31" descr="Finance sector agent">    </p:cNvPr>
          <p:cNvPicPr>
            <a:picLocks noChangeAspect="1"/>
          </p:cNvPicPr>
          <p:nvPr/>
        </p:nvPicPr>
        <p:blipFill>
          <a:blip r:embed="rId6"/>
          <a:stretch>
            <a:fillRect/>
          </a:stretch>
        </p:blipFill>
        <p:spPr>
          <a:xfrm>
            <a:off x="10446618" y="2804846"/>
            <a:ext cx="329184" cy="329184"/>
          </a:xfrm>
          <a:prstGeom prst="rect">
            <a:avLst/>
          </a:prstGeom>
        </p:spPr>
      </p:pic>
      <p:sp>
        <p:nvSpPr>
          <p:cNvPr id="43" name="text-32"/>
          <p:cNvSpPr txBox="1"/>
          <p:nvPr/>
        </p:nvSpPr>
        <p:spPr>
          <a:xfrm>
            <a:off x="11031834" y="2841422"/>
            <a:ext cx="672998" cy="256032"/>
          </a:xfrm>
          <a:prstGeom prst="rect">
            <a:avLst/>
          </a:prstGeom>
          <a:noFill/>
          <a:ln/>
        </p:spPr>
        <p:txBody>
          <a:bodyPr wrap="square" lIns="0" tIns="0" rIns="0" bIns="0" rtlCol="0" anchor="ctr"/>
          <a:lstStyle/>
          <a:p>
            <a:pPr algn="l" indent="0" marL="0">
              <a:buNone/>
            </a:pPr>
            <a:r>
              <a:rPr lang="en-US" sz="1200" dirty="0">
                <a:solidFill>
                  <a:schemeClr val="bg1">
                    <a:alpha val="92000"/>
                  </a:schemeClr>
                </a:solidFill>
              </a:rPr>
              <a:t>Finance</a:t>
            </a:r>
            <a:endParaRPr lang="en-US" sz="1200" dirty="0"/>
          </a:p>
        </p:txBody>
      </p:sp>
      <p:sp>
        <p:nvSpPr>
          <p:cNvPr id="44" name="agent-Fiscal"/>
          <p:cNvSpPr/>
          <p:nvPr/>
        </p:nvSpPr>
        <p:spPr>
          <a:xfrm>
            <a:off x="10282026" y="3742258"/>
            <a:ext cx="658368" cy="658368"/>
          </a:xfrm>
          <a:prstGeom prst="ellipse">
            <a:avLst/>
          </a:prstGeom>
          <a:solidFill>
            <a:schemeClr val="accent5"/>
          </a:solidFill>
          <a:ln w="15875">
            <a:solidFill>
              <a:schemeClr val="accent6"/>
            </a:solidFill>
            <a:prstDash val="solid"/>
          </a:ln>
        </p:spPr>
      </p:sp>
      <p:pic>
        <p:nvPicPr>
          <p:cNvPr id="45" name="icon-33" descr="Fiscal sector agent">    </p:cNvPr>
          <p:cNvPicPr>
            <a:picLocks noChangeAspect="1"/>
          </p:cNvPicPr>
          <p:nvPr/>
        </p:nvPicPr>
        <p:blipFill>
          <a:blip r:embed="rId7"/>
          <a:stretch>
            <a:fillRect/>
          </a:stretch>
        </p:blipFill>
        <p:spPr>
          <a:xfrm>
            <a:off x="10446618" y="3906850"/>
            <a:ext cx="329184" cy="329184"/>
          </a:xfrm>
          <a:prstGeom prst="rect">
            <a:avLst/>
          </a:prstGeom>
        </p:spPr>
      </p:pic>
      <p:sp>
        <p:nvSpPr>
          <p:cNvPr id="46" name="text-34"/>
          <p:cNvSpPr txBox="1"/>
          <p:nvPr/>
        </p:nvSpPr>
        <p:spPr>
          <a:xfrm>
            <a:off x="11031834" y="3943426"/>
            <a:ext cx="592531" cy="256032"/>
          </a:xfrm>
          <a:prstGeom prst="rect">
            <a:avLst/>
          </a:prstGeom>
          <a:noFill/>
          <a:ln/>
        </p:spPr>
        <p:txBody>
          <a:bodyPr wrap="square" lIns="0" tIns="0" rIns="0" bIns="0" rtlCol="0" anchor="ctr"/>
          <a:lstStyle/>
          <a:p>
            <a:pPr algn="l" indent="0" marL="0">
              <a:buNone/>
            </a:pPr>
            <a:r>
              <a:rPr lang="en-US" sz="1200" dirty="0">
                <a:solidFill>
                  <a:schemeClr val="bg1">
                    <a:alpha val="92000"/>
                  </a:schemeClr>
                </a:solidFill>
              </a:rPr>
              <a:t>Fiscal</a:t>
            </a:r>
            <a:endParaRPr lang="en-US" sz="1200" dirty="0"/>
          </a:p>
        </p:txBody>
      </p:sp>
      <p:sp>
        <p:nvSpPr>
          <p:cNvPr id="47" name="agent-External"/>
          <p:cNvSpPr/>
          <p:nvPr/>
        </p:nvSpPr>
        <p:spPr>
          <a:xfrm>
            <a:off x="9634284" y="4633798"/>
            <a:ext cx="658368" cy="658368"/>
          </a:xfrm>
          <a:prstGeom prst="ellipse">
            <a:avLst/>
          </a:prstGeom>
          <a:solidFill>
            <a:schemeClr val="accent5"/>
          </a:solidFill>
          <a:ln w="15875">
            <a:solidFill>
              <a:schemeClr val="accent6"/>
            </a:solidFill>
            <a:prstDash val="solid"/>
          </a:ln>
        </p:spPr>
      </p:sp>
      <p:pic>
        <p:nvPicPr>
          <p:cNvPr id="48" name="icon-35" descr="External sector agent">    </p:cNvPr>
          <p:cNvPicPr>
            <a:picLocks noChangeAspect="1"/>
          </p:cNvPicPr>
          <p:nvPr/>
        </p:nvPicPr>
        <p:blipFill>
          <a:blip r:embed="rId8"/>
          <a:stretch>
            <a:fillRect/>
          </a:stretch>
        </p:blipFill>
        <p:spPr>
          <a:xfrm>
            <a:off x="9798876" y="4798390"/>
            <a:ext cx="329184" cy="329184"/>
          </a:xfrm>
          <a:prstGeom prst="rect">
            <a:avLst/>
          </a:prstGeom>
        </p:spPr>
      </p:pic>
      <p:sp>
        <p:nvSpPr>
          <p:cNvPr id="49" name="text-36"/>
          <p:cNvSpPr txBox="1"/>
          <p:nvPr/>
        </p:nvSpPr>
        <p:spPr>
          <a:xfrm>
            <a:off x="10384092" y="4834966"/>
            <a:ext cx="753466" cy="256032"/>
          </a:xfrm>
          <a:prstGeom prst="rect">
            <a:avLst/>
          </a:prstGeom>
          <a:noFill/>
          <a:ln/>
        </p:spPr>
        <p:txBody>
          <a:bodyPr wrap="square" lIns="0" tIns="0" rIns="0" bIns="0" rtlCol="0" anchor="ctr"/>
          <a:lstStyle/>
          <a:p>
            <a:pPr algn="l" indent="0" marL="0">
              <a:buNone/>
            </a:pPr>
            <a:r>
              <a:rPr lang="en-US" sz="1200" dirty="0">
                <a:solidFill>
                  <a:schemeClr val="bg1">
                    <a:alpha val="92000"/>
                  </a:schemeClr>
                </a:solidFill>
              </a:rPr>
              <a:t>External</a:t>
            </a:r>
            <a:endParaRPr lang="en-US" sz="1200" dirty="0"/>
          </a:p>
        </p:txBody>
      </p:sp>
      <p:sp>
        <p:nvSpPr>
          <p:cNvPr id="50" name="agent-Capital Markets"/>
          <p:cNvSpPr/>
          <p:nvPr/>
        </p:nvSpPr>
        <p:spPr>
          <a:xfrm>
            <a:off x="8586216" y="4974336"/>
            <a:ext cx="658368" cy="658368"/>
          </a:xfrm>
          <a:prstGeom prst="ellipse">
            <a:avLst/>
          </a:prstGeom>
          <a:solidFill>
            <a:schemeClr val="accent5"/>
          </a:solidFill>
          <a:ln w="15875">
            <a:solidFill>
              <a:schemeClr val="accent6"/>
            </a:solidFill>
            <a:prstDash val="solid"/>
          </a:ln>
        </p:spPr>
      </p:sp>
      <p:pic>
        <p:nvPicPr>
          <p:cNvPr id="51" name="icon-37" descr="Capital Markets sector agent">    </p:cNvPr>
          <p:cNvPicPr>
            <a:picLocks noChangeAspect="1"/>
          </p:cNvPicPr>
          <p:nvPr/>
        </p:nvPicPr>
        <p:blipFill>
          <a:blip r:embed="rId9"/>
          <a:stretch>
            <a:fillRect/>
          </a:stretch>
        </p:blipFill>
        <p:spPr>
          <a:xfrm>
            <a:off x="8750808" y="5138928"/>
            <a:ext cx="329184" cy="329184"/>
          </a:xfrm>
          <a:prstGeom prst="rect">
            <a:avLst/>
          </a:prstGeom>
        </p:spPr>
      </p:pic>
      <p:sp>
        <p:nvSpPr>
          <p:cNvPr id="52" name="text-38"/>
          <p:cNvSpPr txBox="1"/>
          <p:nvPr/>
        </p:nvSpPr>
        <p:spPr>
          <a:xfrm>
            <a:off x="8229600" y="5687568"/>
            <a:ext cx="1371600" cy="256032"/>
          </a:xfrm>
          <a:prstGeom prst="rect">
            <a:avLst/>
          </a:prstGeom>
          <a:noFill/>
          <a:ln/>
        </p:spPr>
        <p:txBody>
          <a:bodyPr wrap="square" lIns="0" tIns="0" rIns="0" bIns="0" rtlCol="0" anchor="ctr"/>
          <a:lstStyle/>
          <a:p>
            <a:pPr algn="ctr" indent="0" marL="0">
              <a:buNone/>
            </a:pPr>
            <a:r>
              <a:rPr lang="en-US" sz="1200" dirty="0">
                <a:solidFill>
                  <a:schemeClr val="bg1">
                    <a:alpha val="92000"/>
                  </a:schemeClr>
                </a:solidFill>
              </a:rPr>
              <a:t>Capital Markets</a:t>
            </a:r>
            <a:endParaRPr lang="en-US" sz="1200" dirty="0"/>
          </a:p>
        </p:txBody>
      </p:sp>
      <p:sp>
        <p:nvSpPr>
          <p:cNvPr id="53" name="agent-Services"/>
          <p:cNvSpPr/>
          <p:nvPr/>
        </p:nvSpPr>
        <p:spPr>
          <a:xfrm>
            <a:off x="7538148" y="4633798"/>
            <a:ext cx="658368" cy="658368"/>
          </a:xfrm>
          <a:prstGeom prst="ellipse">
            <a:avLst/>
          </a:prstGeom>
          <a:solidFill>
            <a:schemeClr val="accent5"/>
          </a:solidFill>
          <a:ln w="15875">
            <a:solidFill>
              <a:schemeClr val="accent6"/>
            </a:solidFill>
            <a:prstDash val="solid"/>
          </a:ln>
        </p:spPr>
      </p:sp>
      <p:pic>
        <p:nvPicPr>
          <p:cNvPr id="54" name="icon-39" descr="Services sector agent">    </p:cNvPr>
          <p:cNvPicPr>
            <a:picLocks noChangeAspect="1"/>
          </p:cNvPicPr>
          <p:nvPr/>
        </p:nvPicPr>
        <p:blipFill>
          <a:blip r:embed="rId10"/>
          <a:stretch>
            <a:fillRect/>
          </a:stretch>
        </p:blipFill>
        <p:spPr>
          <a:xfrm>
            <a:off x="7702740" y="4798390"/>
            <a:ext cx="329184" cy="329184"/>
          </a:xfrm>
          <a:prstGeom prst="rect">
            <a:avLst/>
          </a:prstGeom>
        </p:spPr>
      </p:pic>
      <p:sp>
        <p:nvSpPr>
          <p:cNvPr id="55" name="text-40"/>
          <p:cNvSpPr txBox="1"/>
          <p:nvPr/>
        </p:nvSpPr>
        <p:spPr>
          <a:xfrm>
            <a:off x="6693242" y="4834966"/>
            <a:ext cx="753466" cy="256032"/>
          </a:xfrm>
          <a:prstGeom prst="rect">
            <a:avLst/>
          </a:prstGeom>
          <a:noFill/>
          <a:ln/>
        </p:spPr>
        <p:txBody>
          <a:bodyPr wrap="square" lIns="0" tIns="0" rIns="0" bIns="0" rtlCol="0" anchor="ctr"/>
          <a:lstStyle/>
          <a:p>
            <a:pPr algn="r" indent="0" marL="0">
              <a:buNone/>
            </a:pPr>
            <a:r>
              <a:rPr lang="en-US" sz="1200" dirty="0">
                <a:solidFill>
                  <a:schemeClr val="bg1">
                    <a:alpha val="92000"/>
                  </a:schemeClr>
                </a:solidFill>
              </a:rPr>
              <a:t>Services</a:t>
            </a:r>
            <a:endParaRPr lang="en-US" sz="1200" dirty="0"/>
          </a:p>
        </p:txBody>
      </p:sp>
      <p:sp>
        <p:nvSpPr>
          <p:cNvPr id="56" name="agent-Labour"/>
          <p:cNvSpPr/>
          <p:nvPr/>
        </p:nvSpPr>
        <p:spPr>
          <a:xfrm>
            <a:off x="6890406" y="3742258"/>
            <a:ext cx="658368" cy="658368"/>
          </a:xfrm>
          <a:prstGeom prst="ellipse">
            <a:avLst/>
          </a:prstGeom>
          <a:solidFill>
            <a:schemeClr val="accent5"/>
          </a:solidFill>
          <a:ln w="15875">
            <a:solidFill>
              <a:schemeClr val="accent6"/>
            </a:solidFill>
            <a:prstDash val="solid"/>
          </a:ln>
        </p:spPr>
      </p:sp>
      <p:pic>
        <p:nvPicPr>
          <p:cNvPr id="57" name="icon-41" descr="Labour sector agent">    </p:cNvPr>
          <p:cNvPicPr>
            <a:picLocks noChangeAspect="1"/>
          </p:cNvPicPr>
          <p:nvPr/>
        </p:nvPicPr>
        <p:blipFill>
          <a:blip r:embed="rId11"/>
          <a:stretch>
            <a:fillRect/>
          </a:stretch>
        </p:blipFill>
        <p:spPr>
          <a:xfrm>
            <a:off x="7054998" y="3906850"/>
            <a:ext cx="329184" cy="329184"/>
          </a:xfrm>
          <a:prstGeom prst="rect">
            <a:avLst/>
          </a:prstGeom>
        </p:spPr>
      </p:pic>
      <p:sp>
        <p:nvSpPr>
          <p:cNvPr id="58" name="text-42"/>
          <p:cNvSpPr txBox="1"/>
          <p:nvPr/>
        </p:nvSpPr>
        <p:spPr>
          <a:xfrm>
            <a:off x="6206435" y="3943426"/>
            <a:ext cx="592531" cy="256032"/>
          </a:xfrm>
          <a:prstGeom prst="rect">
            <a:avLst/>
          </a:prstGeom>
          <a:noFill/>
          <a:ln/>
        </p:spPr>
        <p:txBody>
          <a:bodyPr wrap="square" lIns="0" tIns="0" rIns="0" bIns="0" rtlCol="0" anchor="ctr"/>
          <a:lstStyle/>
          <a:p>
            <a:pPr algn="r" indent="0" marL="0">
              <a:buNone/>
            </a:pPr>
            <a:r>
              <a:rPr lang="en-US" sz="1200" dirty="0">
                <a:solidFill>
                  <a:schemeClr val="bg1">
                    <a:alpha val="92000"/>
                  </a:schemeClr>
                </a:solidFill>
              </a:rPr>
              <a:t>Labour</a:t>
            </a:r>
            <a:endParaRPr lang="en-US" sz="1200" dirty="0"/>
          </a:p>
        </p:txBody>
      </p:sp>
      <p:sp>
        <p:nvSpPr>
          <p:cNvPr id="59" name="agent-Real"/>
          <p:cNvSpPr/>
          <p:nvPr/>
        </p:nvSpPr>
        <p:spPr>
          <a:xfrm>
            <a:off x="6890406" y="2640254"/>
            <a:ext cx="658368" cy="658368"/>
          </a:xfrm>
          <a:prstGeom prst="ellipse">
            <a:avLst/>
          </a:prstGeom>
          <a:solidFill>
            <a:schemeClr val="accent5"/>
          </a:solidFill>
          <a:ln w="15875">
            <a:solidFill>
              <a:schemeClr val="accent6"/>
            </a:solidFill>
            <a:prstDash val="solid"/>
          </a:ln>
        </p:spPr>
      </p:sp>
      <p:pic>
        <p:nvPicPr>
          <p:cNvPr id="60" name="icon-43" descr="Real sector agent">    </p:cNvPr>
          <p:cNvPicPr>
            <a:picLocks noChangeAspect="1"/>
          </p:cNvPicPr>
          <p:nvPr/>
        </p:nvPicPr>
        <p:blipFill>
          <a:blip r:embed="rId12"/>
          <a:stretch>
            <a:fillRect/>
          </a:stretch>
        </p:blipFill>
        <p:spPr>
          <a:xfrm>
            <a:off x="7054998" y="2804846"/>
            <a:ext cx="329184" cy="329184"/>
          </a:xfrm>
          <a:prstGeom prst="rect">
            <a:avLst/>
          </a:prstGeom>
        </p:spPr>
      </p:pic>
      <p:sp>
        <p:nvSpPr>
          <p:cNvPr id="61" name="text-44"/>
          <p:cNvSpPr txBox="1"/>
          <p:nvPr/>
        </p:nvSpPr>
        <p:spPr>
          <a:xfrm>
            <a:off x="6367369" y="2841422"/>
            <a:ext cx="431597" cy="256032"/>
          </a:xfrm>
          <a:prstGeom prst="rect">
            <a:avLst/>
          </a:prstGeom>
          <a:noFill/>
          <a:ln/>
        </p:spPr>
        <p:txBody>
          <a:bodyPr wrap="square" lIns="0" tIns="0" rIns="0" bIns="0" rtlCol="0" anchor="ctr"/>
          <a:lstStyle/>
          <a:p>
            <a:pPr algn="r" indent="0" marL="0">
              <a:buNone/>
            </a:pPr>
            <a:r>
              <a:rPr lang="en-US" sz="1200" dirty="0">
                <a:solidFill>
                  <a:schemeClr val="bg1">
                    <a:alpha val="92000"/>
                  </a:schemeClr>
                </a:solidFill>
              </a:rPr>
              <a:t>Real</a:t>
            </a:r>
            <a:endParaRPr lang="en-US" sz="1200" dirty="0"/>
          </a:p>
        </p:txBody>
      </p:sp>
      <p:sp>
        <p:nvSpPr>
          <p:cNvPr id="62" name="agent-Agriculture"/>
          <p:cNvSpPr/>
          <p:nvPr/>
        </p:nvSpPr>
        <p:spPr>
          <a:xfrm>
            <a:off x="7538148" y="1748714"/>
            <a:ext cx="658368" cy="658368"/>
          </a:xfrm>
          <a:prstGeom prst="ellipse">
            <a:avLst/>
          </a:prstGeom>
          <a:solidFill>
            <a:schemeClr val="accent5"/>
          </a:solidFill>
          <a:ln w="15875">
            <a:solidFill>
              <a:schemeClr val="accent6"/>
            </a:solidFill>
            <a:prstDash val="solid"/>
          </a:ln>
        </p:spPr>
      </p:sp>
      <p:pic>
        <p:nvPicPr>
          <p:cNvPr id="63" name="icon-45" descr="Agriculture sector agent">    </p:cNvPr>
          <p:cNvPicPr>
            <a:picLocks noChangeAspect="1"/>
          </p:cNvPicPr>
          <p:nvPr/>
        </p:nvPicPr>
        <p:blipFill>
          <a:blip r:embed="rId13"/>
          <a:stretch>
            <a:fillRect/>
          </a:stretch>
        </p:blipFill>
        <p:spPr>
          <a:xfrm>
            <a:off x="7702740" y="1913306"/>
            <a:ext cx="329184" cy="329184"/>
          </a:xfrm>
          <a:prstGeom prst="rect">
            <a:avLst/>
          </a:prstGeom>
        </p:spPr>
      </p:pic>
      <p:sp>
        <p:nvSpPr>
          <p:cNvPr id="64" name="text-46"/>
          <p:cNvSpPr txBox="1"/>
          <p:nvPr/>
        </p:nvSpPr>
        <p:spPr>
          <a:xfrm>
            <a:off x="6451841" y="1949882"/>
            <a:ext cx="994867" cy="256032"/>
          </a:xfrm>
          <a:prstGeom prst="rect">
            <a:avLst/>
          </a:prstGeom>
          <a:noFill/>
          <a:ln/>
        </p:spPr>
        <p:txBody>
          <a:bodyPr wrap="square" lIns="0" tIns="0" rIns="0" bIns="0" rtlCol="0" anchor="ctr"/>
          <a:lstStyle/>
          <a:p>
            <a:pPr algn="r" indent="0" marL="0">
              <a:buNone/>
            </a:pPr>
            <a:r>
              <a:rPr lang="en-US" sz="1200" dirty="0">
                <a:solidFill>
                  <a:schemeClr val="bg1">
                    <a:alpha val="92000"/>
                  </a:schemeClr>
                </a:solidFill>
              </a:rPr>
              <a:t>Agriculture</a:t>
            </a:r>
            <a:endParaRPr lang="en-US" sz="1200" dirty="0"/>
          </a:p>
        </p:txBody>
      </p:sp>
      <p:sp>
        <p:nvSpPr>
          <p:cNvPr id="65" name="orchestrator-hub"/>
          <p:cNvSpPr/>
          <p:nvPr/>
        </p:nvSpPr>
        <p:spPr>
          <a:xfrm>
            <a:off x="8275320" y="2880360"/>
            <a:ext cx="1280160" cy="1280160"/>
          </a:xfrm>
          <a:prstGeom prst="ellipse">
            <a:avLst/>
          </a:prstGeom>
          <a:solidFill>
            <a:schemeClr val="accent6"/>
          </a:solidFill>
          <a:ln/>
        </p:spPr>
      </p:sp>
      <p:pic>
        <p:nvPicPr>
          <p:cNvPr id="66" name="icon-47" descr="Orchestrator">    </p:cNvPr>
          <p:cNvPicPr>
            <a:picLocks noChangeAspect="1"/>
          </p:cNvPicPr>
          <p:nvPr/>
        </p:nvPicPr>
        <p:blipFill>
          <a:blip r:embed="rId14"/>
          <a:stretch>
            <a:fillRect/>
          </a:stretch>
        </p:blipFill>
        <p:spPr>
          <a:xfrm>
            <a:off x="8723376" y="3090672"/>
            <a:ext cx="384048" cy="384048"/>
          </a:xfrm>
          <a:prstGeom prst="rect">
            <a:avLst/>
          </a:prstGeom>
        </p:spPr>
      </p:pic>
      <p:sp>
        <p:nvSpPr>
          <p:cNvPr id="67" name="text-48"/>
          <p:cNvSpPr txBox="1"/>
          <p:nvPr/>
        </p:nvSpPr>
        <p:spPr>
          <a:xfrm>
            <a:off x="8275320" y="3547872"/>
            <a:ext cx="1280160" cy="274320"/>
          </a:xfrm>
          <a:prstGeom prst="rect">
            <a:avLst/>
          </a:prstGeom>
          <a:noFill/>
          <a:ln/>
        </p:spPr>
        <p:txBody>
          <a:bodyPr wrap="square" lIns="0" tIns="0" rIns="0" bIns="0" rtlCol="0" anchor="ctr"/>
          <a:lstStyle/>
          <a:p>
            <a:pPr algn="ctr" indent="0" marL="0">
              <a:buNone/>
            </a:pPr>
            <a:r>
              <a:rPr lang="en-US" sz="1200" b="1" dirty="0">
                <a:solidFill>
                  <a:schemeClr val="tx1"/>
                </a:solidFill>
              </a:rPr>
              <a:t>Orchestrator</a:t>
            </a:r>
            <a:endParaRPr lang="en-US" sz="1200" dirty="0"/>
          </a:p>
        </p:txBody>
      </p:sp>
      <p:sp>
        <p:nvSpPr>
          <p:cNvPr id="68" name="link-49"/>
          <p:cNvSpPr/>
          <p:nvPr/>
        </p:nvSpPr>
        <p:spPr>
          <a:xfrm>
            <a:off x="7543800" y="6382512"/>
            <a:ext cx="365760" cy="0"/>
          </a:xfrm>
          <a:prstGeom prst="line">
            <a:avLst/>
          </a:prstGeom>
          <a:noFill/>
          <a:ln w="22225">
            <a:solidFill>
              <a:schemeClr val="accent2"/>
            </a:solidFill>
            <a:prstDash val="solid"/>
          </a:ln>
        </p:spPr>
      </p:sp>
      <p:sp>
        <p:nvSpPr>
          <p:cNvPr id="69" name="text-50"/>
          <p:cNvSpPr txBox="1"/>
          <p:nvPr/>
        </p:nvSpPr>
        <p:spPr>
          <a:xfrm>
            <a:off x="7982712" y="6272784"/>
            <a:ext cx="1737360" cy="228600"/>
          </a:xfrm>
          <a:prstGeom prst="rect">
            <a:avLst/>
          </a:prstGeom>
          <a:noFill/>
          <a:ln/>
        </p:spPr>
        <p:txBody>
          <a:bodyPr wrap="square" lIns="0" tIns="0" rIns="0" bIns="0" rtlCol="0" anchor="ctr"/>
          <a:lstStyle/>
          <a:p>
            <a:pPr indent="0" marL="0">
              <a:buNone/>
            </a:pPr>
            <a:r>
              <a:rPr lang="en-US" sz="1050" dirty="0">
                <a:solidFill>
                  <a:schemeClr val="bg1">
                    <a:alpha val="70000"/>
                  </a:schemeClr>
                </a:solidFill>
              </a:rPr>
              <a:t>declared A2A peer edge</a:t>
            </a:r>
            <a:endParaRPr lang="en-US" sz="1050" dirty="0"/>
          </a:p>
        </p:txBody>
      </p:sp>
      <p:sp>
        <p:nvSpPr>
          <p:cNvPr id="70" name="link-51"/>
          <p:cNvSpPr/>
          <p:nvPr/>
        </p:nvSpPr>
        <p:spPr>
          <a:xfrm>
            <a:off x="9784080" y="6382512"/>
            <a:ext cx="365760" cy="0"/>
          </a:xfrm>
          <a:prstGeom prst="line">
            <a:avLst/>
          </a:prstGeom>
          <a:noFill/>
          <a:ln w="12700">
            <a:solidFill>
              <a:schemeClr val="accent6">
                <a:alpha val="60000"/>
              </a:schemeClr>
            </a:solidFill>
            <a:prstDash val="solid"/>
          </a:ln>
        </p:spPr>
      </p:sp>
      <p:sp>
        <p:nvSpPr>
          <p:cNvPr id="71" name="text-52"/>
          <p:cNvSpPr txBox="1"/>
          <p:nvPr/>
        </p:nvSpPr>
        <p:spPr>
          <a:xfrm>
            <a:off x="10222992" y="6272784"/>
            <a:ext cx="1463040" cy="228600"/>
          </a:xfrm>
          <a:prstGeom prst="rect">
            <a:avLst/>
          </a:prstGeom>
          <a:noFill/>
          <a:ln/>
        </p:spPr>
        <p:txBody>
          <a:bodyPr wrap="square" lIns="0" tIns="0" rIns="0" bIns="0" rtlCol="0" anchor="ctr"/>
          <a:lstStyle/>
          <a:p>
            <a:pPr indent="0" marL="0">
              <a:buNone/>
            </a:pPr>
            <a:r>
              <a:rPr lang="en-US" sz="1050" dirty="0">
                <a:solidFill>
                  <a:schemeClr val="bg1">
                    <a:alpha val="70000"/>
                  </a:schemeClr>
                </a:solidFill>
              </a:rPr>
              <a:t>orchestrator delegation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THE PROBLEM</a:t>
            </a:r>
            <a:endParaRPr lang="en-US" sz="1200" dirty="0"/>
          </a:p>
        </p:txBody>
      </p:sp>
      <p:sp>
        <p:nvSpPr>
          <p:cNvPr id="3" name="Text 0"/>
          <p:cNvSpPr/>
          <p:nvPr>
            <p:ph idx="101" type="title" hasCustomPrompt="1"/>
          </p:nvPr>
        </p:nvSpPr>
        <p:spPr>
          <a:xfrm>
            <a:off x="548640" y="676656"/>
            <a:ext cx="11094415" cy="713232"/>
          </a:xfrm>
          <a:prstGeom prst="rect">
            <a:avLst/>
          </a:prstGeom>
          <a:noFill/>
          <a:ln/>
        </p:spPr>
        <p:txBody>
          <a:bodyPr wrap="square" lIns="0" tIns="0" rIns="0" bIns="0" rtlCol="0" anchor="t"/>
          <a:lstStyle/>
          <a:p>
            <a:pPr algn="l" indent="0" marL="0">
              <a:buNone/>
            </a:pPr>
            <a:r>
              <a:rPr lang="en-US" sz="3600" b="1" dirty="0">
                <a:solidFill>
                  <a:schemeClr val="tx1"/>
                </a:solidFill>
              </a:rPr>
              <a:t>Scattered sources, invented numbers</a:t>
            </a:r>
            <a:endParaRPr lang="en-US" sz="3600" dirty="0"/>
          </a:p>
        </p:txBody>
      </p:sp>
      <p:sp>
        <p:nvSpPr>
          <p:cNvPr id="4" name="card-53"/>
          <p:cNvSpPr/>
          <p:nvPr/>
        </p:nvSpPr>
        <p:spPr>
          <a:xfrm>
            <a:off x="548640" y="1600200"/>
            <a:ext cx="4709160" cy="4526280"/>
          </a:xfrm>
          <a:prstGeom prst="roundRect">
            <a:avLst>
              <a:gd name="adj" fmla="val 2828"/>
            </a:avLst>
          </a:prstGeom>
          <a:solidFill>
            <a:schemeClr val="tx1"/>
          </a:solidFill>
          <a:ln/>
        </p:spPr>
      </p:sp>
      <p:sp>
        <p:nvSpPr>
          <p:cNvPr id="5" name="text-54"/>
          <p:cNvSpPr txBox="1"/>
          <p:nvPr/>
        </p:nvSpPr>
        <p:spPr>
          <a:xfrm>
            <a:off x="868680" y="1847088"/>
            <a:ext cx="411480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A TYPICAL ANALYST QUESTION</a:t>
            </a:r>
            <a:endParaRPr lang="en-US" sz="1100" dirty="0"/>
          </a:p>
        </p:txBody>
      </p:sp>
      <p:sp>
        <p:nvSpPr>
          <p:cNvPr id="6" name="text-55"/>
          <p:cNvSpPr txBox="1"/>
          <p:nvPr/>
        </p:nvSpPr>
        <p:spPr>
          <a:xfrm>
            <a:off x="868680" y="2157984"/>
            <a:ext cx="4114800" cy="1417320"/>
          </a:xfrm>
          <a:prstGeom prst="rect">
            <a:avLst/>
          </a:prstGeom>
          <a:noFill/>
          <a:ln/>
        </p:spPr>
        <p:txBody>
          <a:bodyPr wrap="square" lIns="0" tIns="0" rIns="0" bIns="0" rtlCol="0" anchor="t"/>
          <a:lstStyle/>
          <a:p>
            <a:pPr indent="0" marL="0">
              <a:buNone/>
            </a:pPr>
            <a:r>
              <a:rPr lang="en-US" sz="2100" i="1" dirty="0">
                <a:solidFill>
                  <a:schemeClr val="bg1"/>
                </a:solidFill>
                <a:latin typeface="+mj-lt" pitchFamily="34" charset="0"/>
                <a:ea typeface="+mj-lt" pitchFamily="34" charset="-122"/>
                <a:cs typeface="+mj-lt" pitchFamily="34" charset="-120"/>
              </a:rPr>
              <a:t>“How will a $20 rise in Brent crude travel through India’s inflation, interest rates and growth?”</a:t>
            </a:r>
            <a:endParaRPr lang="en-US" sz="2100" dirty="0"/>
          </a:p>
        </p:txBody>
      </p:sp>
      <p:sp>
        <p:nvSpPr>
          <p:cNvPr id="7" name="text-56"/>
          <p:cNvSpPr txBox="1"/>
          <p:nvPr/>
        </p:nvSpPr>
        <p:spPr>
          <a:xfrm>
            <a:off x="868680" y="3730752"/>
            <a:ext cx="411480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THE ANSWER NEEDS DATA FROM</a:t>
            </a:r>
            <a:endParaRPr lang="en-US" sz="1100" dirty="0"/>
          </a:p>
        </p:txBody>
      </p:sp>
      <p:sp>
        <p:nvSpPr>
          <p:cNvPr id="8" name="card-57"/>
          <p:cNvSpPr/>
          <p:nvPr/>
        </p:nvSpPr>
        <p:spPr>
          <a:xfrm>
            <a:off x="868680" y="4050792"/>
            <a:ext cx="1965960" cy="347472"/>
          </a:xfrm>
          <a:prstGeom prst="roundRect">
            <a:avLst>
              <a:gd name="adj" fmla="val 21053"/>
            </a:avLst>
          </a:prstGeom>
          <a:solidFill>
            <a:schemeClr val="accent5"/>
          </a:solidFill>
          <a:ln/>
        </p:spPr>
      </p:sp>
      <p:sp>
        <p:nvSpPr>
          <p:cNvPr id="9" name="text-58"/>
          <p:cNvSpPr txBox="1"/>
          <p:nvPr/>
        </p:nvSpPr>
        <p:spPr>
          <a:xfrm>
            <a:off x="978408" y="4050792"/>
            <a:ext cx="1828800" cy="347472"/>
          </a:xfrm>
          <a:prstGeom prst="rect">
            <a:avLst/>
          </a:prstGeom>
          <a:noFill/>
          <a:ln/>
        </p:spPr>
        <p:txBody>
          <a:bodyPr wrap="square" lIns="0" tIns="0" rIns="0" bIns="0" rtlCol="0" anchor="ctr"/>
          <a:lstStyle/>
          <a:p>
            <a:pPr indent="0" marL="0">
              <a:buNone/>
            </a:pPr>
            <a:r>
              <a:rPr lang="en-US" sz="1150" b="1" dirty="0">
                <a:solidFill>
                  <a:schemeClr val="bg1"/>
                </a:solidFill>
              </a:rPr>
              <a:t>MoSPI  </a:t>
            </a:r>
            <a:pPr indent="0" marL="0">
              <a:buNone/>
            </a:pPr>
            <a:r>
              <a:rPr lang="en-US" sz="1150" dirty="0">
                <a:solidFill>
                  <a:schemeClr val="bg1">
                    <a:alpha val="70000"/>
                  </a:schemeClr>
                </a:solidFill>
              </a:rPr>
              <a:t>CPI, GDP, IIP</a:t>
            </a:r>
            <a:endParaRPr lang="en-US" sz="1150" dirty="0"/>
          </a:p>
        </p:txBody>
      </p:sp>
      <p:sp>
        <p:nvSpPr>
          <p:cNvPr id="10" name="card-59"/>
          <p:cNvSpPr/>
          <p:nvPr/>
        </p:nvSpPr>
        <p:spPr>
          <a:xfrm>
            <a:off x="2971800" y="4050792"/>
            <a:ext cx="1965960" cy="347472"/>
          </a:xfrm>
          <a:prstGeom prst="roundRect">
            <a:avLst>
              <a:gd name="adj" fmla="val 21053"/>
            </a:avLst>
          </a:prstGeom>
          <a:solidFill>
            <a:schemeClr val="accent5"/>
          </a:solidFill>
          <a:ln/>
        </p:spPr>
      </p:sp>
      <p:sp>
        <p:nvSpPr>
          <p:cNvPr id="11" name="text-60"/>
          <p:cNvSpPr txBox="1"/>
          <p:nvPr/>
        </p:nvSpPr>
        <p:spPr>
          <a:xfrm>
            <a:off x="3081528" y="4050792"/>
            <a:ext cx="1828800" cy="347472"/>
          </a:xfrm>
          <a:prstGeom prst="rect">
            <a:avLst/>
          </a:prstGeom>
          <a:noFill/>
          <a:ln/>
        </p:spPr>
        <p:txBody>
          <a:bodyPr wrap="square" lIns="0" tIns="0" rIns="0" bIns="0" rtlCol="0" anchor="ctr"/>
          <a:lstStyle/>
          <a:p>
            <a:pPr indent="0" marL="0">
              <a:buNone/>
            </a:pPr>
            <a:r>
              <a:rPr lang="en-US" sz="1150" b="1" dirty="0">
                <a:solidFill>
                  <a:schemeClr val="bg1"/>
                </a:solidFill>
              </a:rPr>
              <a:t>RBI DBIE  </a:t>
            </a:r>
            <a:pPr indent="0" marL="0">
              <a:buNone/>
            </a:pPr>
            <a:r>
              <a:rPr lang="en-US" sz="1150" dirty="0">
                <a:solidFill>
                  <a:schemeClr val="bg1">
                    <a:alpha val="70000"/>
                  </a:schemeClr>
                </a:solidFill>
              </a:rPr>
              <a:t>repo, credit</a:t>
            </a:r>
            <a:endParaRPr lang="en-US" sz="1150" dirty="0"/>
          </a:p>
        </p:txBody>
      </p:sp>
      <p:sp>
        <p:nvSpPr>
          <p:cNvPr id="12" name="card-61"/>
          <p:cNvSpPr/>
          <p:nvPr/>
        </p:nvSpPr>
        <p:spPr>
          <a:xfrm>
            <a:off x="868680" y="4480560"/>
            <a:ext cx="1965960" cy="347472"/>
          </a:xfrm>
          <a:prstGeom prst="roundRect">
            <a:avLst>
              <a:gd name="adj" fmla="val 21053"/>
            </a:avLst>
          </a:prstGeom>
          <a:solidFill>
            <a:schemeClr val="accent5"/>
          </a:solidFill>
          <a:ln/>
        </p:spPr>
      </p:sp>
      <p:sp>
        <p:nvSpPr>
          <p:cNvPr id="13" name="text-62"/>
          <p:cNvSpPr txBox="1"/>
          <p:nvPr/>
        </p:nvSpPr>
        <p:spPr>
          <a:xfrm>
            <a:off x="978408" y="4480560"/>
            <a:ext cx="1828800" cy="347472"/>
          </a:xfrm>
          <a:prstGeom prst="rect">
            <a:avLst/>
          </a:prstGeom>
          <a:noFill/>
          <a:ln/>
        </p:spPr>
        <p:txBody>
          <a:bodyPr wrap="square" lIns="0" tIns="0" rIns="0" bIns="0" rtlCol="0" anchor="ctr"/>
          <a:lstStyle/>
          <a:p>
            <a:pPr indent="0" marL="0">
              <a:buNone/>
            </a:pPr>
            <a:r>
              <a:rPr lang="en-US" sz="1150" b="1" dirty="0">
                <a:solidFill>
                  <a:schemeClr val="bg1"/>
                </a:solidFill>
              </a:rPr>
              <a:t>CGA  </a:t>
            </a:r>
            <a:pPr indent="0" marL="0">
              <a:buNone/>
            </a:pPr>
            <a:r>
              <a:rPr lang="en-US" sz="1150" dirty="0">
                <a:solidFill>
                  <a:schemeClr val="bg1">
                    <a:alpha val="70000"/>
                  </a:schemeClr>
                </a:solidFill>
              </a:rPr>
              <a:t>deficit, capex</a:t>
            </a:r>
            <a:endParaRPr lang="en-US" sz="1150" dirty="0"/>
          </a:p>
        </p:txBody>
      </p:sp>
      <p:sp>
        <p:nvSpPr>
          <p:cNvPr id="14" name="card-63"/>
          <p:cNvSpPr/>
          <p:nvPr/>
        </p:nvSpPr>
        <p:spPr>
          <a:xfrm>
            <a:off x="2971800" y="4480560"/>
            <a:ext cx="1965960" cy="347472"/>
          </a:xfrm>
          <a:prstGeom prst="roundRect">
            <a:avLst>
              <a:gd name="adj" fmla="val 21053"/>
            </a:avLst>
          </a:prstGeom>
          <a:solidFill>
            <a:schemeClr val="accent5"/>
          </a:solidFill>
          <a:ln/>
        </p:spPr>
      </p:sp>
      <p:sp>
        <p:nvSpPr>
          <p:cNvPr id="15" name="text-64"/>
          <p:cNvSpPr txBox="1"/>
          <p:nvPr/>
        </p:nvSpPr>
        <p:spPr>
          <a:xfrm>
            <a:off x="3081528" y="4480560"/>
            <a:ext cx="1828800" cy="347472"/>
          </a:xfrm>
          <a:prstGeom prst="rect">
            <a:avLst/>
          </a:prstGeom>
          <a:noFill/>
          <a:ln/>
        </p:spPr>
        <p:txBody>
          <a:bodyPr wrap="square" lIns="0" tIns="0" rIns="0" bIns="0" rtlCol="0" anchor="ctr"/>
          <a:lstStyle/>
          <a:p>
            <a:pPr indent="0" marL="0">
              <a:buNone/>
            </a:pPr>
            <a:r>
              <a:rPr lang="en-US" sz="1150" b="1" dirty="0">
                <a:solidFill>
                  <a:schemeClr val="bg1"/>
                </a:solidFill>
              </a:rPr>
              <a:t>DGCI&amp;S  </a:t>
            </a:r>
            <a:pPr indent="0" marL="0">
              <a:buNone/>
            </a:pPr>
            <a:r>
              <a:rPr lang="en-US" sz="1150" dirty="0">
                <a:solidFill>
                  <a:schemeClr val="bg1">
                    <a:alpha val="70000"/>
                  </a:schemeClr>
                </a:solidFill>
              </a:rPr>
              <a:t>trade</a:t>
            </a:r>
            <a:endParaRPr lang="en-US" sz="1150" dirty="0"/>
          </a:p>
        </p:txBody>
      </p:sp>
      <p:sp>
        <p:nvSpPr>
          <p:cNvPr id="16" name="card-65"/>
          <p:cNvSpPr/>
          <p:nvPr/>
        </p:nvSpPr>
        <p:spPr>
          <a:xfrm>
            <a:off x="868680" y="4910328"/>
            <a:ext cx="1965960" cy="347472"/>
          </a:xfrm>
          <a:prstGeom prst="roundRect">
            <a:avLst>
              <a:gd name="adj" fmla="val 21053"/>
            </a:avLst>
          </a:prstGeom>
          <a:solidFill>
            <a:schemeClr val="accent5"/>
          </a:solidFill>
          <a:ln/>
        </p:spPr>
      </p:sp>
      <p:sp>
        <p:nvSpPr>
          <p:cNvPr id="17" name="text-66"/>
          <p:cNvSpPr txBox="1"/>
          <p:nvPr/>
        </p:nvSpPr>
        <p:spPr>
          <a:xfrm>
            <a:off x="978408" y="4910328"/>
            <a:ext cx="1828800" cy="347472"/>
          </a:xfrm>
          <a:prstGeom prst="rect">
            <a:avLst/>
          </a:prstGeom>
          <a:noFill/>
          <a:ln/>
        </p:spPr>
        <p:txBody>
          <a:bodyPr wrap="square" lIns="0" tIns="0" rIns="0" bIns="0" rtlCol="0" anchor="ctr"/>
          <a:lstStyle/>
          <a:p>
            <a:pPr indent="0" marL="0">
              <a:buNone/>
            </a:pPr>
            <a:r>
              <a:rPr lang="en-US" sz="1150" b="1" dirty="0">
                <a:solidFill>
                  <a:schemeClr val="bg1"/>
                </a:solidFill>
              </a:rPr>
              <a:t>NSE / BSE  </a:t>
            </a:r>
            <a:pPr indent="0" marL="0">
              <a:buNone/>
            </a:pPr>
            <a:r>
              <a:rPr lang="en-US" sz="1150" dirty="0">
                <a:solidFill>
                  <a:schemeClr val="bg1">
                    <a:alpha val="70000"/>
                  </a:schemeClr>
                </a:solidFill>
              </a:rPr>
              <a:t>markets</a:t>
            </a:r>
            <a:endParaRPr lang="en-US" sz="1150" dirty="0"/>
          </a:p>
        </p:txBody>
      </p:sp>
      <p:sp>
        <p:nvSpPr>
          <p:cNvPr id="18" name="card-67"/>
          <p:cNvSpPr/>
          <p:nvPr/>
        </p:nvSpPr>
        <p:spPr>
          <a:xfrm>
            <a:off x="2971800" y="4910328"/>
            <a:ext cx="1965960" cy="347472"/>
          </a:xfrm>
          <a:prstGeom prst="roundRect">
            <a:avLst>
              <a:gd name="adj" fmla="val 21053"/>
            </a:avLst>
          </a:prstGeom>
          <a:solidFill>
            <a:schemeClr val="accent5"/>
          </a:solidFill>
          <a:ln/>
        </p:spPr>
      </p:sp>
      <p:sp>
        <p:nvSpPr>
          <p:cNvPr id="19" name="text-68"/>
          <p:cNvSpPr txBox="1"/>
          <p:nvPr/>
        </p:nvSpPr>
        <p:spPr>
          <a:xfrm>
            <a:off x="3081528" y="4910328"/>
            <a:ext cx="1828800" cy="347472"/>
          </a:xfrm>
          <a:prstGeom prst="rect">
            <a:avLst/>
          </a:prstGeom>
          <a:noFill/>
          <a:ln/>
        </p:spPr>
        <p:txBody>
          <a:bodyPr wrap="square" lIns="0" tIns="0" rIns="0" bIns="0" rtlCol="0" anchor="ctr"/>
          <a:lstStyle/>
          <a:p>
            <a:pPr indent="0" marL="0">
              <a:buNone/>
            </a:pPr>
            <a:r>
              <a:rPr lang="en-US" sz="1150" b="1" dirty="0">
                <a:solidFill>
                  <a:schemeClr val="bg1"/>
                </a:solidFill>
              </a:rPr>
              <a:t>IMD  </a:t>
            </a:r>
            <a:pPr indent="0" marL="0">
              <a:buNone/>
            </a:pPr>
            <a:r>
              <a:rPr lang="en-US" sz="1150" dirty="0">
                <a:solidFill>
                  <a:schemeClr val="bg1">
                    <a:alpha val="70000"/>
                  </a:schemeClr>
                </a:solidFill>
              </a:rPr>
              <a:t>monsoon</a:t>
            </a:r>
            <a:endParaRPr lang="en-US" sz="1150" dirty="0"/>
          </a:p>
        </p:txBody>
      </p:sp>
      <p:sp>
        <p:nvSpPr>
          <p:cNvPr id="20" name="card-69"/>
          <p:cNvSpPr/>
          <p:nvPr/>
        </p:nvSpPr>
        <p:spPr>
          <a:xfrm>
            <a:off x="868680" y="5340096"/>
            <a:ext cx="1965960" cy="347472"/>
          </a:xfrm>
          <a:prstGeom prst="roundRect">
            <a:avLst>
              <a:gd name="adj" fmla="val 21053"/>
            </a:avLst>
          </a:prstGeom>
          <a:solidFill>
            <a:schemeClr val="accent5"/>
          </a:solidFill>
          <a:ln/>
        </p:spPr>
      </p:sp>
      <p:sp>
        <p:nvSpPr>
          <p:cNvPr id="21" name="text-70"/>
          <p:cNvSpPr txBox="1"/>
          <p:nvPr/>
        </p:nvSpPr>
        <p:spPr>
          <a:xfrm>
            <a:off x="978408" y="5340096"/>
            <a:ext cx="1828800" cy="347472"/>
          </a:xfrm>
          <a:prstGeom prst="rect">
            <a:avLst/>
          </a:prstGeom>
          <a:noFill/>
          <a:ln/>
        </p:spPr>
        <p:txBody>
          <a:bodyPr wrap="square" lIns="0" tIns="0" rIns="0" bIns="0" rtlCol="0" anchor="ctr"/>
          <a:lstStyle/>
          <a:p>
            <a:pPr indent="0" marL="0">
              <a:buNone/>
            </a:pPr>
            <a:r>
              <a:rPr lang="en-US" sz="1150" b="1" dirty="0">
                <a:solidFill>
                  <a:schemeClr val="bg1"/>
                </a:solidFill>
              </a:rPr>
              <a:t>Agmarknet  </a:t>
            </a:r>
            <a:pPr indent="0" marL="0">
              <a:buNone/>
            </a:pPr>
            <a:r>
              <a:rPr lang="en-US" sz="1150" dirty="0">
                <a:solidFill>
                  <a:schemeClr val="bg1">
                    <a:alpha val="70000"/>
                  </a:schemeClr>
                </a:solidFill>
              </a:rPr>
              <a:t>mandi prices</a:t>
            </a:r>
            <a:endParaRPr lang="en-US" sz="1150" dirty="0"/>
          </a:p>
        </p:txBody>
      </p:sp>
      <p:sp>
        <p:nvSpPr>
          <p:cNvPr id="22" name="card-71"/>
          <p:cNvSpPr/>
          <p:nvPr/>
        </p:nvSpPr>
        <p:spPr>
          <a:xfrm>
            <a:off x="2971800" y="5340096"/>
            <a:ext cx="1965960" cy="347472"/>
          </a:xfrm>
          <a:prstGeom prst="roundRect">
            <a:avLst>
              <a:gd name="adj" fmla="val 21053"/>
            </a:avLst>
          </a:prstGeom>
          <a:solidFill>
            <a:schemeClr val="accent5"/>
          </a:solidFill>
          <a:ln/>
        </p:spPr>
      </p:sp>
      <p:sp>
        <p:nvSpPr>
          <p:cNvPr id="23" name="text-72"/>
          <p:cNvSpPr txBox="1"/>
          <p:nvPr/>
        </p:nvSpPr>
        <p:spPr>
          <a:xfrm>
            <a:off x="3081528" y="5340096"/>
            <a:ext cx="1828800" cy="347472"/>
          </a:xfrm>
          <a:prstGeom prst="rect">
            <a:avLst/>
          </a:prstGeom>
          <a:noFill/>
          <a:ln/>
        </p:spPr>
        <p:txBody>
          <a:bodyPr wrap="square" lIns="0" tIns="0" rIns="0" bIns="0" rtlCol="0" anchor="ctr"/>
          <a:lstStyle/>
          <a:p>
            <a:pPr indent="0" marL="0">
              <a:buNone/>
            </a:pPr>
            <a:r>
              <a:rPr lang="en-US" sz="1150" b="1" dirty="0">
                <a:solidFill>
                  <a:schemeClr val="bg1"/>
                </a:solidFill>
              </a:rPr>
              <a:t>EPFO  </a:t>
            </a:r>
            <a:pPr indent="0" marL="0">
              <a:buNone/>
            </a:pPr>
            <a:r>
              <a:rPr lang="en-US" sz="1150" dirty="0">
                <a:solidFill>
                  <a:schemeClr val="bg1">
                    <a:alpha val="70000"/>
                  </a:schemeClr>
                </a:solidFill>
              </a:rPr>
              <a:t>payroll</a:t>
            </a:r>
            <a:endParaRPr lang="en-US" sz="1150" dirty="0"/>
          </a:p>
        </p:txBody>
      </p:sp>
      <p:sp>
        <p:nvSpPr>
          <p:cNvPr id="24" name="text-73"/>
          <p:cNvSpPr txBox="1"/>
          <p:nvPr/>
        </p:nvSpPr>
        <p:spPr>
          <a:xfrm>
            <a:off x="868680" y="5779008"/>
            <a:ext cx="4206240" cy="228600"/>
          </a:xfrm>
          <a:prstGeom prst="rect">
            <a:avLst/>
          </a:prstGeom>
          <a:noFill/>
          <a:ln/>
        </p:spPr>
        <p:txBody>
          <a:bodyPr wrap="square" lIns="0" tIns="0" rIns="0" bIns="0" rtlCol="0" anchor="t"/>
          <a:lstStyle/>
          <a:p>
            <a:pPr indent="0" marL="0">
              <a:buNone/>
            </a:pPr>
            <a:r>
              <a:rPr lang="en-US" sz="1100" dirty="0">
                <a:solidFill>
                  <a:schemeClr val="bg1">
                    <a:alpha val="65000"/>
                  </a:schemeClr>
                </a:solidFill>
              </a:rPr>
              <a:t>Different formats, frequencies, base years and release calendars</a:t>
            </a:r>
            <a:endParaRPr lang="en-US" sz="1100" dirty="0"/>
          </a:p>
        </p:txBody>
      </p:sp>
      <p:sp>
        <p:nvSpPr>
          <p:cNvPr id="25" name="card-74"/>
          <p:cNvSpPr/>
          <p:nvPr/>
        </p:nvSpPr>
        <p:spPr>
          <a:xfrm>
            <a:off x="5577840" y="1691640"/>
            <a:ext cx="566928" cy="566928"/>
          </a:xfrm>
          <a:prstGeom prst="roundRect">
            <a:avLst>
              <a:gd name="adj" fmla="val 22000"/>
            </a:avLst>
          </a:prstGeom>
          <a:solidFill>
            <a:schemeClr val="accent1"/>
          </a:solidFill>
          <a:ln/>
        </p:spPr>
      </p:sp>
      <p:pic>
        <p:nvPicPr>
          <p:cNvPr id="26" name="icon-75" descr="Unlink icon">    </p:cNvPr>
          <p:cNvPicPr>
            <a:picLocks noChangeAspect="1"/>
          </p:cNvPicPr>
          <p:nvPr/>
        </p:nvPicPr>
        <p:blipFill>
          <a:blip r:embed="rId1"/>
          <a:stretch>
            <a:fillRect/>
          </a:stretch>
        </p:blipFill>
        <p:spPr>
          <a:xfrm>
            <a:off x="5702564" y="1816364"/>
            <a:ext cx="317480" cy="317480"/>
          </a:xfrm>
          <a:prstGeom prst="rect">
            <a:avLst/>
          </a:prstGeom>
        </p:spPr>
      </p:pic>
      <p:sp>
        <p:nvSpPr>
          <p:cNvPr id="27" name="text-76"/>
          <p:cNvSpPr txBox="1"/>
          <p:nvPr/>
        </p:nvSpPr>
        <p:spPr>
          <a:xfrm>
            <a:off x="6355080" y="1673352"/>
            <a:ext cx="5285232" cy="310896"/>
          </a:xfrm>
          <a:prstGeom prst="rect">
            <a:avLst/>
          </a:prstGeom>
          <a:noFill/>
          <a:ln/>
        </p:spPr>
        <p:txBody>
          <a:bodyPr wrap="square" lIns="0" tIns="0" rIns="0" bIns="0" rtlCol="0" anchor="t"/>
          <a:lstStyle/>
          <a:p>
            <a:pPr indent="0" marL="0">
              <a:buNone/>
            </a:pPr>
            <a:r>
              <a:rPr lang="en-US" sz="1700" b="1" dirty="0">
                <a:solidFill>
                  <a:schemeClr val="tx1"/>
                </a:solidFill>
              </a:rPr>
              <a:t>Fragmented data</a:t>
            </a:r>
            <a:endParaRPr lang="en-US" sz="1700" dirty="0"/>
          </a:p>
        </p:txBody>
      </p:sp>
      <p:sp>
        <p:nvSpPr>
          <p:cNvPr id="28" name="text-77"/>
          <p:cNvSpPr txBox="1"/>
          <p:nvPr/>
        </p:nvSpPr>
        <p:spPr>
          <a:xfrm>
            <a:off x="6355080" y="2020824"/>
            <a:ext cx="5285232" cy="658368"/>
          </a:xfrm>
          <a:prstGeom prst="rect">
            <a:avLst/>
          </a:prstGeom>
          <a:noFill/>
          <a:ln/>
        </p:spPr>
        <p:txBody>
          <a:bodyPr wrap="square" lIns="0" tIns="0" rIns="0" bIns="0" rtlCol="0" anchor="t"/>
          <a:lstStyle/>
          <a:p>
            <a:pPr indent="0" marL="0">
              <a:buNone/>
            </a:pPr>
            <a:r>
              <a:rPr lang="en-US" sz="1400" dirty="0">
                <a:solidFill>
                  <a:schemeClr val="tx2"/>
                </a:solidFill>
              </a:rPr>
              <a:t>MoSPI, RBI, CGA and DGCI&amp;S publish through APIs, spreadsheets and PDF bulletins, each with its own units, base years and release calendar.</a:t>
            </a:r>
            <a:endParaRPr lang="en-US" sz="1400" dirty="0"/>
          </a:p>
        </p:txBody>
      </p:sp>
      <p:sp>
        <p:nvSpPr>
          <p:cNvPr id="29" name="card-78"/>
          <p:cNvSpPr/>
          <p:nvPr/>
        </p:nvSpPr>
        <p:spPr>
          <a:xfrm>
            <a:off x="5577840" y="2816352"/>
            <a:ext cx="566928" cy="566928"/>
          </a:xfrm>
          <a:prstGeom prst="roundRect">
            <a:avLst>
              <a:gd name="adj" fmla="val 22000"/>
            </a:avLst>
          </a:prstGeom>
          <a:solidFill>
            <a:schemeClr val="accent1"/>
          </a:solidFill>
          <a:ln/>
        </p:spPr>
      </p:sp>
      <p:pic>
        <p:nvPicPr>
          <p:cNvPr id="30" name="icon-79" descr="TriangleAlert icon">    </p:cNvPr>
          <p:cNvPicPr>
            <a:picLocks noChangeAspect="1"/>
          </p:cNvPicPr>
          <p:nvPr/>
        </p:nvPicPr>
        <p:blipFill>
          <a:blip r:embed="rId2"/>
          <a:stretch>
            <a:fillRect/>
          </a:stretch>
        </p:blipFill>
        <p:spPr>
          <a:xfrm>
            <a:off x="5702564" y="2941076"/>
            <a:ext cx="317480" cy="317480"/>
          </a:xfrm>
          <a:prstGeom prst="rect">
            <a:avLst/>
          </a:prstGeom>
        </p:spPr>
      </p:pic>
      <p:sp>
        <p:nvSpPr>
          <p:cNvPr id="31" name="text-80"/>
          <p:cNvSpPr txBox="1"/>
          <p:nvPr/>
        </p:nvSpPr>
        <p:spPr>
          <a:xfrm>
            <a:off x="6355080" y="2798064"/>
            <a:ext cx="5285232" cy="310896"/>
          </a:xfrm>
          <a:prstGeom prst="rect">
            <a:avLst/>
          </a:prstGeom>
          <a:noFill/>
          <a:ln/>
        </p:spPr>
        <p:txBody>
          <a:bodyPr wrap="square" lIns="0" tIns="0" rIns="0" bIns="0" rtlCol="0" anchor="t"/>
          <a:lstStyle/>
          <a:p>
            <a:pPr indent="0" marL="0">
              <a:buNone/>
            </a:pPr>
            <a:r>
              <a:rPr lang="en-US" sz="1700" b="1" dirty="0">
                <a:solidFill>
                  <a:schemeClr val="tx1"/>
                </a:solidFill>
              </a:rPr>
              <a:t>Fluent, unsourced numbers</a:t>
            </a:r>
            <a:endParaRPr lang="en-US" sz="1700" dirty="0"/>
          </a:p>
        </p:txBody>
      </p:sp>
      <p:sp>
        <p:nvSpPr>
          <p:cNvPr id="32" name="text-81"/>
          <p:cNvSpPr txBox="1"/>
          <p:nvPr/>
        </p:nvSpPr>
        <p:spPr>
          <a:xfrm>
            <a:off x="6355080" y="3145536"/>
            <a:ext cx="5285232" cy="658368"/>
          </a:xfrm>
          <a:prstGeom prst="rect">
            <a:avLst/>
          </a:prstGeom>
          <a:noFill/>
          <a:ln/>
        </p:spPr>
        <p:txBody>
          <a:bodyPr wrap="square" lIns="0" tIns="0" rIns="0" bIns="0" rtlCol="0" anchor="t"/>
          <a:lstStyle/>
          <a:p>
            <a:pPr indent="0" marL="0">
              <a:buNone/>
            </a:pPr>
            <a:r>
              <a:rPr lang="en-US" sz="1400" dirty="0">
                <a:solidFill>
                  <a:schemeClr val="tx2"/>
                </a:solidFill>
              </a:rPr>
              <a:t>A language model can quote a CPI figure that appears in no official release; because it looks plausible, it is hard to catch.</a:t>
            </a:r>
            <a:endParaRPr lang="en-US" sz="1400" dirty="0"/>
          </a:p>
        </p:txBody>
      </p:sp>
      <p:sp>
        <p:nvSpPr>
          <p:cNvPr id="33" name="card-82"/>
          <p:cNvSpPr/>
          <p:nvPr/>
        </p:nvSpPr>
        <p:spPr>
          <a:xfrm>
            <a:off x="5577840" y="3941064"/>
            <a:ext cx="566928" cy="566928"/>
          </a:xfrm>
          <a:prstGeom prst="roundRect">
            <a:avLst>
              <a:gd name="adj" fmla="val 22000"/>
            </a:avLst>
          </a:prstGeom>
          <a:solidFill>
            <a:schemeClr val="accent1"/>
          </a:solidFill>
          <a:ln/>
        </p:spPr>
      </p:sp>
      <p:pic>
        <p:nvPicPr>
          <p:cNvPr id="34" name="icon-83" descr="Split icon">    </p:cNvPr>
          <p:cNvPicPr>
            <a:picLocks noChangeAspect="1"/>
          </p:cNvPicPr>
          <p:nvPr/>
        </p:nvPicPr>
        <p:blipFill>
          <a:blip r:embed="rId3"/>
          <a:stretch>
            <a:fillRect/>
          </a:stretch>
        </p:blipFill>
        <p:spPr>
          <a:xfrm>
            <a:off x="5702564" y="4065788"/>
            <a:ext cx="317480" cy="317480"/>
          </a:xfrm>
          <a:prstGeom prst="rect">
            <a:avLst/>
          </a:prstGeom>
        </p:spPr>
      </p:pic>
      <p:sp>
        <p:nvSpPr>
          <p:cNvPr id="35" name="text-84"/>
          <p:cNvSpPr txBox="1"/>
          <p:nvPr/>
        </p:nvSpPr>
        <p:spPr>
          <a:xfrm>
            <a:off x="6355080" y="3922776"/>
            <a:ext cx="5285232" cy="310896"/>
          </a:xfrm>
          <a:prstGeom prst="rect">
            <a:avLst/>
          </a:prstGeom>
          <a:noFill/>
          <a:ln/>
        </p:spPr>
        <p:txBody>
          <a:bodyPr wrap="square" lIns="0" tIns="0" rIns="0" bIns="0" rtlCol="0" anchor="t"/>
          <a:lstStyle/>
          <a:p>
            <a:pPr indent="0" marL="0">
              <a:buNone/>
            </a:pPr>
            <a:r>
              <a:rPr lang="en-US" sz="1700" b="1" dirty="0">
                <a:solidFill>
                  <a:schemeClr val="tx1"/>
                </a:solidFill>
              </a:rPr>
              <a:t>Conflicting values</a:t>
            </a:r>
            <a:endParaRPr lang="en-US" sz="1700" dirty="0"/>
          </a:p>
        </p:txBody>
      </p:sp>
      <p:sp>
        <p:nvSpPr>
          <p:cNvPr id="36" name="text-85"/>
          <p:cNvSpPr txBox="1"/>
          <p:nvPr/>
        </p:nvSpPr>
        <p:spPr>
          <a:xfrm>
            <a:off x="6355080" y="4270248"/>
            <a:ext cx="5285232" cy="658368"/>
          </a:xfrm>
          <a:prstGeom prst="rect">
            <a:avLst/>
          </a:prstGeom>
          <a:noFill/>
          <a:ln/>
        </p:spPr>
        <p:txBody>
          <a:bodyPr wrap="square" lIns="0" tIns="0" rIns="0" bIns="0" rtlCol="0" anchor="t"/>
          <a:lstStyle/>
          <a:p>
            <a:pPr indent="0" marL="0">
              <a:buNone/>
            </a:pPr>
            <a:r>
              <a:rPr lang="en-US" sz="1400" dirty="0">
                <a:solidFill>
                  <a:schemeClr val="tx2"/>
                </a:solidFill>
              </a:rPr>
              <a:t>When several agents fetch the same indicator on their own, one report can carry two different vintages of it.</a:t>
            </a:r>
            <a:endParaRPr lang="en-US" sz="1400" dirty="0"/>
          </a:p>
        </p:txBody>
      </p:sp>
      <p:sp>
        <p:nvSpPr>
          <p:cNvPr id="37" name="card-86"/>
          <p:cNvSpPr/>
          <p:nvPr/>
        </p:nvSpPr>
        <p:spPr>
          <a:xfrm>
            <a:off x="5577840" y="5065776"/>
            <a:ext cx="566928" cy="566928"/>
          </a:xfrm>
          <a:prstGeom prst="roundRect">
            <a:avLst>
              <a:gd name="adj" fmla="val 22000"/>
            </a:avLst>
          </a:prstGeom>
          <a:solidFill>
            <a:schemeClr val="accent1"/>
          </a:solidFill>
          <a:ln/>
        </p:spPr>
      </p:sp>
      <p:pic>
        <p:nvPicPr>
          <p:cNvPr id="38" name="icon-87" descr="Waypoints icon">    </p:cNvPr>
          <p:cNvPicPr>
            <a:picLocks noChangeAspect="1"/>
          </p:cNvPicPr>
          <p:nvPr/>
        </p:nvPicPr>
        <p:blipFill>
          <a:blip r:embed="rId4"/>
          <a:stretch>
            <a:fillRect/>
          </a:stretch>
        </p:blipFill>
        <p:spPr>
          <a:xfrm>
            <a:off x="5702564" y="5190500"/>
            <a:ext cx="317480" cy="317480"/>
          </a:xfrm>
          <a:prstGeom prst="rect">
            <a:avLst/>
          </a:prstGeom>
        </p:spPr>
      </p:pic>
      <p:sp>
        <p:nvSpPr>
          <p:cNvPr id="39" name="text-88"/>
          <p:cNvSpPr txBox="1"/>
          <p:nvPr/>
        </p:nvSpPr>
        <p:spPr>
          <a:xfrm>
            <a:off x="6355080" y="5047488"/>
            <a:ext cx="5285232" cy="310896"/>
          </a:xfrm>
          <a:prstGeom prst="rect">
            <a:avLst/>
          </a:prstGeom>
          <a:noFill/>
          <a:ln/>
        </p:spPr>
        <p:txBody>
          <a:bodyPr wrap="square" lIns="0" tIns="0" rIns="0" bIns="0" rtlCol="0" anchor="t"/>
          <a:lstStyle/>
          <a:p>
            <a:pPr indent="0" marL="0">
              <a:buNone/>
            </a:pPr>
            <a:r>
              <a:rPr lang="en-US" sz="1700" b="1" dirty="0">
                <a:solidFill>
                  <a:schemeClr val="tx1"/>
                </a:solidFill>
              </a:rPr>
              <a:t>Hidden transmission</a:t>
            </a:r>
            <a:endParaRPr lang="en-US" sz="1700" dirty="0"/>
          </a:p>
        </p:txBody>
      </p:sp>
      <p:sp>
        <p:nvSpPr>
          <p:cNvPr id="40" name="text-89"/>
          <p:cNvSpPr txBox="1"/>
          <p:nvPr/>
        </p:nvSpPr>
        <p:spPr>
          <a:xfrm>
            <a:off x="6355080" y="5394960"/>
            <a:ext cx="5285232" cy="658368"/>
          </a:xfrm>
          <a:prstGeom prst="rect">
            <a:avLst/>
          </a:prstGeom>
          <a:noFill/>
          <a:ln/>
        </p:spPr>
        <p:txBody>
          <a:bodyPr wrap="square" lIns="0" tIns="0" rIns="0" bIns="0" rtlCol="0" anchor="t"/>
          <a:lstStyle/>
          <a:p>
            <a:pPr indent="0" marL="0">
              <a:buNone/>
            </a:pPr>
            <a:r>
              <a:rPr lang="en-US" sz="1400" dirty="0">
                <a:solidFill>
                  <a:schemeClr val="tx2"/>
                </a:solidFill>
              </a:rPr>
              <a:t>Shocks move across sectors with lags and signs; describing each series alone cannot explain how a shock travels.</a:t>
            </a:r>
            <a:endParaRPr lang="en-US" sz="1400" dirty="0"/>
          </a:p>
        </p:txBody>
      </p:sp>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160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LITERATURE SURVEY</a:t>
            </a:r>
            <a:endParaRPr lang="en-US" sz="1200" dirty="0"/>
          </a:p>
        </p:txBody>
      </p:sp>
      <p:sp>
        <p:nvSpPr>
          <p:cNvPr id="3" name="Text 0"/>
          <p:cNvSpPr/>
          <p:nvPr>
            <p:ph idx="101" type="title" hasCustomPrompt="1"/>
          </p:nvPr>
        </p:nvSpPr>
        <p:spPr>
          <a:xfrm>
            <a:off x="548640" y="676656"/>
            <a:ext cx="11094415" cy="713232"/>
          </a:xfrm>
          <a:prstGeom prst="rect">
            <a:avLst/>
          </a:prstGeom>
          <a:noFill/>
          <a:ln/>
        </p:spPr>
        <p:txBody>
          <a:bodyPr wrap="square" lIns="0" tIns="0" rIns="0" bIns="0" rtlCol="0" anchor="t"/>
          <a:lstStyle/>
          <a:p>
            <a:pPr algn="l" indent="0" marL="0">
              <a:buNone/>
            </a:pPr>
            <a:r>
              <a:rPr lang="en-US" sz="3600" b="1" dirty="0">
                <a:solidFill>
                  <a:schemeClr val="tx1"/>
                </a:solidFill>
              </a:rPr>
              <a:t>What prior work leaves open</a:t>
            </a:r>
            <a:endParaRPr lang="en-US" sz="3600" dirty="0"/>
          </a:p>
        </p:txBody>
      </p:sp>
      <p:graphicFrame>
        <p:nvGraphicFramePr>
          <p:cNvPr id="4" name="literature-table"/>
          <p:cNvGraphicFramePr>
            <a:graphicFrameLocks noGrp="1"/>
          </p:cNvGraphicFramePr>
          <p:nvPr>
            <p:extLst>
              <p:ext uri="{D42A27DB-BD31-4B8C-83A1-F6EECF244321}">
                <p14:modId xmlns:p14="http://schemas.microsoft.com/office/powerpoint/2010/main" val="1579011935"/>
              </p:ext>
            </p:extLst>
          </p:nvPr>
        </p:nvGraphicFramePr>
        <p:xfrm>
          <a:off x="548640" y="1600200"/>
          <a:ext cx="6858000" cy="914400"/>
        </p:xfrm>
        <a:graphic>
          <a:graphicData uri="http://schemas.openxmlformats.org/drawingml/2006/table">
            <a:tbl>
              <a:tblPr/>
              <a:tblGrid>
                <a:gridCol w="1828800"/>
                <a:gridCol w="2240280"/>
                <a:gridCol w="2788920"/>
              </a:tblGrid>
              <a:tr h="384048">
                <a:tc>
                  <a:txBody>
                    <a:bodyPr/>
                    <a:lstStyle/>
                    <a:p>
                      <a:pPr indent="0" marL="0">
                        <a:buNone/>
                      </a:pPr>
                      <a:r>
                        <a:rPr lang="en-US" sz="1250" b="1" dirty="0">
                          <a:solidFill>
                            <a:schemeClr val="bg1"/>
                          </a:solidFill>
                        </a:rPr>
                        <a:t>Work</a:t>
                      </a:r>
                      <a:endParaRPr lang="en-US" sz="125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250" b="1" dirty="0">
                          <a:solidFill>
                            <a:schemeClr val="bg1"/>
                          </a:solidFill>
                        </a:rPr>
                        <a:t>Approach</a:t>
                      </a:r>
                      <a:endParaRPr lang="en-US" sz="125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250" b="1" dirty="0">
                          <a:solidFill>
                            <a:schemeClr val="bg1"/>
                          </a:solidFill>
                        </a:rPr>
                        <a:t>Gap for Indian macro answers</a:t>
                      </a:r>
                      <a:endParaRPr lang="en-US" sz="125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r>
              <a:tr h="566928">
                <a:tc>
                  <a:txBody>
                    <a:bodyPr/>
                    <a:lstStyle/>
                    <a:p>
                      <a:pPr indent="0" marL="0">
                        <a:buNone/>
                      </a:pPr>
                      <a:r>
                        <a:rPr lang="en-US" sz="1300" b="1" dirty="0">
                          <a:solidFill>
                            <a:schemeClr val="tx1"/>
                          </a:solidFill>
                        </a:rPr>
                        <a:t>Hao &amp; Xie (2025)</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2"/>
                          </a:solidFill>
                        </a:rPr>
                        <a:t>Several LLMs act as heterogeneous households</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Stylised tasks, no observed data</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300" b="1" dirty="0">
                          <a:solidFill>
                            <a:schemeClr val="tx1"/>
                          </a:solidFill>
                        </a:rPr>
                        <a:t>Lin et al. (2026)</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2"/>
                          </a:solidFill>
                        </a:rPr>
                        <a:t>LLM agents simulate macro expectation surveys</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Simulated survey answers only</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300" b="1" dirty="0">
                          <a:solidFill>
                            <a:schemeClr val="tx1"/>
                          </a:solidFill>
                        </a:rPr>
                        <a:t>Xiao et al. (2025) TradingAgents</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2"/>
                          </a:solidFill>
                        </a:rPr>
                        <a:t>Analyst, researcher and trader agent roles</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One shared data feed, no owners</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300" b="1" dirty="0">
                          <a:solidFill>
                            <a:schemeClr val="tx1"/>
                          </a:solidFill>
                        </a:rPr>
                        <a:t>Yang et al. (2020)</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2"/>
                          </a:solidFill>
                        </a:rPr>
                        <a:t>Macro knowledge graph mined from literature</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Links not re-tested on data</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300" b="1" dirty="0">
                          <a:solidFill>
                            <a:schemeClr val="tx1"/>
                          </a:solidFill>
                        </a:rPr>
                        <a:t>Zhu et al. (2025) KG2RAG</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2"/>
                          </a:solidFill>
                        </a:rPr>
                        <a:t>Graph-guided expansion of retrieved chunks</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The model still writes numbers</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300" b="1" dirty="0">
                          <a:solidFill>
                            <a:schemeClr val="tx1"/>
                          </a:solidFill>
                        </a:rPr>
                        <a:t>Dadopoulos et al. (2025)</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2"/>
                          </a:solidFill>
                        </a:rPr>
                        <a:t>Metadata-driven RAG over financial filings</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No claim-level verification</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300" b="1" dirty="0">
                          <a:solidFill>
                            <a:schemeClr val="tx1"/>
                          </a:solidFill>
                        </a:rPr>
                        <a:t>Kato (2026) AI Economist Agent</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2"/>
                          </a:solidFill>
                        </a:rPr>
                        <a:t>Reports grounded in executed model runs</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U.S. only; no Indian sources</a:t>
                      </a:r>
                      <a:endParaRPr lang="en-US" sz="13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5" name="text-90"/>
          <p:cNvSpPr txBox="1"/>
          <p:nvPr/>
        </p:nvSpPr>
        <p:spPr>
          <a:xfrm>
            <a:off x="7726680" y="1600200"/>
            <a:ext cx="3913632" cy="310896"/>
          </a:xfrm>
          <a:prstGeom prst="rect">
            <a:avLst/>
          </a:prstGeom>
          <a:noFill/>
          <a:ln/>
        </p:spPr>
        <p:txBody>
          <a:bodyPr wrap="square" lIns="0" tIns="0" rIns="0" bIns="0" rtlCol="0" anchor="t"/>
          <a:lstStyle/>
          <a:p>
            <a:pPr indent="0" marL="0">
              <a:buNone/>
            </a:pPr>
            <a:r>
              <a:rPr lang="en-US" sz="1600" b="1" dirty="0">
                <a:solidFill>
                  <a:schemeClr val="tx1"/>
                </a:solidFill>
              </a:rPr>
              <a:t>Gaps this project targets</a:t>
            </a:r>
            <a:endParaRPr lang="en-US" sz="1600" dirty="0"/>
          </a:p>
        </p:txBody>
      </p:sp>
      <p:sp>
        <p:nvSpPr>
          <p:cNvPr id="6" name="card-91"/>
          <p:cNvSpPr/>
          <p:nvPr/>
        </p:nvSpPr>
        <p:spPr>
          <a:xfrm>
            <a:off x="7726680" y="2011680"/>
            <a:ext cx="3913632" cy="914400"/>
          </a:xfrm>
          <a:prstGeom prst="roundRect">
            <a:avLst>
              <a:gd name="adj" fmla="val 10000"/>
            </a:avLst>
          </a:prstGeom>
          <a:solidFill>
            <a:schemeClr val="bg2"/>
          </a:solidFill>
          <a:ln/>
        </p:spPr>
      </p:sp>
      <p:sp>
        <p:nvSpPr>
          <p:cNvPr id="7" name="card-92"/>
          <p:cNvSpPr/>
          <p:nvPr/>
        </p:nvSpPr>
        <p:spPr>
          <a:xfrm>
            <a:off x="7891272" y="2231136"/>
            <a:ext cx="475488" cy="475488"/>
          </a:xfrm>
          <a:prstGeom prst="roundRect">
            <a:avLst>
              <a:gd name="adj" fmla="val 22000"/>
            </a:avLst>
          </a:prstGeom>
          <a:solidFill>
            <a:schemeClr val="accent1"/>
          </a:solidFill>
          <a:ln/>
        </p:spPr>
      </p:sp>
      <p:pic>
        <p:nvPicPr>
          <p:cNvPr id="8" name="icon-93" descr="KeyRound icon">    </p:cNvPr>
          <p:cNvPicPr>
            <a:picLocks noChangeAspect="1"/>
          </p:cNvPicPr>
          <p:nvPr/>
        </p:nvPicPr>
        <p:blipFill>
          <a:blip r:embed="rId1"/>
          <a:stretch>
            <a:fillRect/>
          </a:stretch>
        </p:blipFill>
        <p:spPr>
          <a:xfrm>
            <a:off x="7995879" y="2335743"/>
            <a:ext cx="266273" cy="266273"/>
          </a:xfrm>
          <a:prstGeom prst="rect">
            <a:avLst/>
          </a:prstGeom>
        </p:spPr>
      </p:pic>
      <p:sp>
        <p:nvSpPr>
          <p:cNvPr id="9" name="text-94"/>
          <p:cNvSpPr txBox="1"/>
          <p:nvPr/>
        </p:nvSpPr>
        <p:spPr>
          <a:xfrm>
            <a:off x="8522208" y="2121408"/>
            <a:ext cx="3017520" cy="274320"/>
          </a:xfrm>
          <a:prstGeom prst="rect">
            <a:avLst/>
          </a:prstGeom>
          <a:noFill/>
          <a:ln/>
        </p:spPr>
        <p:txBody>
          <a:bodyPr wrap="square" lIns="0" tIns="0" rIns="0" bIns="0" rtlCol="0" anchor="t"/>
          <a:lstStyle/>
          <a:p>
            <a:pPr indent="0" marL="0">
              <a:buNone/>
            </a:pPr>
            <a:r>
              <a:rPr lang="en-US" sz="1500" b="1" dirty="0">
                <a:solidFill>
                  <a:schemeClr val="tx1"/>
                </a:solidFill>
              </a:rPr>
              <a:t>Data ownership across agents</a:t>
            </a:r>
            <a:endParaRPr lang="en-US" sz="1500" dirty="0"/>
          </a:p>
        </p:txBody>
      </p:sp>
      <p:sp>
        <p:nvSpPr>
          <p:cNvPr id="10" name="text-95"/>
          <p:cNvSpPr txBox="1"/>
          <p:nvPr/>
        </p:nvSpPr>
        <p:spPr>
          <a:xfrm>
            <a:off x="8522208" y="2423160"/>
            <a:ext cx="3017520" cy="457200"/>
          </a:xfrm>
          <a:prstGeom prst="rect">
            <a:avLst/>
          </a:prstGeom>
          <a:noFill/>
          <a:ln/>
        </p:spPr>
        <p:txBody>
          <a:bodyPr wrap="square" lIns="0" tIns="0" rIns="0" bIns="0" rtlCol="0" anchor="t"/>
          <a:lstStyle/>
          <a:p>
            <a:pPr indent="0" marL="0">
              <a:buNone/>
            </a:pPr>
            <a:r>
              <a:rPr lang="en-US" sz="1350" dirty="0">
                <a:solidFill>
                  <a:schemeClr val="accent1"/>
                </a:solidFill>
              </a:rPr>
              <a:t>One owner per indicator,</a:t>
            </a:r>
            <a:endParaRPr lang="en-US" sz="1350" dirty="0"/>
          </a:p>
          <a:p>
            <a:pPr indent="0" marL="0">
              <a:buNone/>
            </a:pPr>
            <a:r>
              <a:rPr lang="en-US" sz="1350" dirty="0">
                <a:solidFill>
                  <a:schemeClr val="accent1"/>
                </a:solidFill>
              </a:rPr>
              <a:t>enforced by the A2A server</a:t>
            </a:r>
            <a:endParaRPr lang="en-US" sz="1350" dirty="0"/>
          </a:p>
        </p:txBody>
      </p:sp>
      <p:sp>
        <p:nvSpPr>
          <p:cNvPr id="11" name="card-96"/>
          <p:cNvSpPr/>
          <p:nvPr/>
        </p:nvSpPr>
        <p:spPr>
          <a:xfrm>
            <a:off x="7726680" y="3044952"/>
            <a:ext cx="3913632" cy="914400"/>
          </a:xfrm>
          <a:prstGeom prst="roundRect">
            <a:avLst>
              <a:gd name="adj" fmla="val 10000"/>
            </a:avLst>
          </a:prstGeom>
          <a:solidFill>
            <a:schemeClr val="bg2"/>
          </a:solidFill>
          <a:ln/>
        </p:spPr>
      </p:sp>
      <p:sp>
        <p:nvSpPr>
          <p:cNvPr id="12" name="card-97"/>
          <p:cNvSpPr/>
          <p:nvPr/>
        </p:nvSpPr>
        <p:spPr>
          <a:xfrm>
            <a:off x="7891272" y="3264408"/>
            <a:ext cx="475488" cy="475488"/>
          </a:xfrm>
          <a:prstGeom prst="roundRect">
            <a:avLst>
              <a:gd name="adj" fmla="val 22000"/>
            </a:avLst>
          </a:prstGeom>
          <a:solidFill>
            <a:schemeClr val="accent1"/>
          </a:solidFill>
          <a:ln/>
        </p:spPr>
      </p:sp>
      <p:pic>
        <p:nvPicPr>
          <p:cNvPr id="13" name="icon-98" descr="Scale icon">    </p:cNvPr>
          <p:cNvPicPr>
            <a:picLocks noChangeAspect="1"/>
          </p:cNvPicPr>
          <p:nvPr/>
        </p:nvPicPr>
        <p:blipFill>
          <a:blip r:embed="rId2"/>
          <a:stretch>
            <a:fillRect/>
          </a:stretch>
        </p:blipFill>
        <p:spPr>
          <a:xfrm>
            <a:off x="7995879" y="3369015"/>
            <a:ext cx="266273" cy="266273"/>
          </a:xfrm>
          <a:prstGeom prst="rect">
            <a:avLst/>
          </a:prstGeom>
        </p:spPr>
      </p:pic>
      <p:sp>
        <p:nvSpPr>
          <p:cNvPr id="14" name="text-99"/>
          <p:cNvSpPr txBox="1"/>
          <p:nvPr/>
        </p:nvSpPr>
        <p:spPr>
          <a:xfrm>
            <a:off x="8522208" y="3154680"/>
            <a:ext cx="3017520" cy="274320"/>
          </a:xfrm>
          <a:prstGeom prst="rect">
            <a:avLst/>
          </a:prstGeom>
          <a:noFill/>
          <a:ln/>
        </p:spPr>
        <p:txBody>
          <a:bodyPr wrap="square" lIns="0" tIns="0" rIns="0" bIns="0" rtlCol="0" anchor="t"/>
          <a:lstStyle/>
          <a:p>
            <a:pPr indent="0" marL="0">
              <a:buNone/>
            </a:pPr>
            <a:r>
              <a:rPr lang="en-US" sz="1500" b="1" dirty="0">
                <a:solidFill>
                  <a:schemeClr val="tx1"/>
                </a:solidFill>
              </a:rPr>
              <a:t>Evidence grades for causal edges</a:t>
            </a:r>
            <a:endParaRPr lang="en-US" sz="1500" dirty="0"/>
          </a:p>
        </p:txBody>
      </p:sp>
      <p:sp>
        <p:nvSpPr>
          <p:cNvPr id="15" name="text-100"/>
          <p:cNvSpPr txBox="1"/>
          <p:nvPr/>
        </p:nvSpPr>
        <p:spPr>
          <a:xfrm>
            <a:off x="8522208" y="3456432"/>
            <a:ext cx="3017520" cy="457200"/>
          </a:xfrm>
          <a:prstGeom prst="rect">
            <a:avLst/>
          </a:prstGeom>
          <a:noFill/>
          <a:ln/>
        </p:spPr>
        <p:txBody>
          <a:bodyPr wrap="square" lIns="0" tIns="0" rIns="0" bIns="0" rtlCol="0" anchor="t"/>
          <a:lstStyle/>
          <a:p>
            <a:pPr indent="0" marL="0">
              <a:buNone/>
            </a:pPr>
            <a:r>
              <a:rPr lang="en-US" sz="1350" dirty="0">
                <a:solidFill>
                  <a:schemeClr val="accent1"/>
                </a:solidFill>
              </a:rPr>
              <a:t>Edge audit labels each edge</a:t>
            </a:r>
            <a:endParaRPr lang="en-US" sz="1350" dirty="0"/>
          </a:p>
          <a:p>
            <a:pPr indent="0" marL="0">
              <a:buNone/>
            </a:pPr>
            <a:r>
              <a:rPr lang="en-US" sz="1350" dirty="0">
                <a:solidFill>
                  <a:schemeClr val="accent1"/>
                </a:solidFill>
              </a:rPr>
              <a:t>SEEDED or EMPIRICAL</a:t>
            </a:r>
            <a:endParaRPr lang="en-US" sz="1350" dirty="0"/>
          </a:p>
        </p:txBody>
      </p:sp>
      <p:sp>
        <p:nvSpPr>
          <p:cNvPr id="16" name="card-101"/>
          <p:cNvSpPr/>
          <p:nvPr/>
        </p:nvSpPr>
        <p:spPr>
          <a:xfrm>
            <a:off x="7726680" y="4078224"/>
            <a:ext cx="3913632" cy="914400"/>
          </a:xfrm>
          <a:prstGeom prst="roundRect">
            <a:avLst>
              <a:gd name="adj" fmla="val 10000"/>
            </a:avLst>
          </a:prstGeom>
          <a:solidFill>
            <a:schemeClr val="bg2"/>
          </a:solidFill>
          <a:ln/>
        </p:spPr>
      </p:sp>
      <p:sp>
        <p:nvSpPr>
          <p:cNvPr id="17" name="card-102"/>
          <p:cNvSpPr/>
          <p:nvPr/>
        </p:nvSpPr>
        <p:spPr>
          <a:xfrm>
            <a:off x="7891272" y="4297680"/>
            <a:ext cx="475488" cy="475488"/>
          </a:xfrm>
          <a:prstGeom prst="roundRect">
            <a:avLst>
              <a:gd name="adj" fmla="val 22000"/>
            </a:avLst>
          </a:prstGeom>
          <a:solidFill>
            <a:schemeClr val="accent1"/>
          </a:solidFill>
          <a:ln/>
        </p:spPr>
      </p:sp>
      <p:pic>
        <p:nvPicPr>
          <p:cNvPr id="18" name="icon-103" descr="Calculator icon">    </p:cNvPr>
          <p:cNvPicPr>
            <a:picLocks noChangeAspect="1"/>
          </p:cNvPicPr>
          <p:nvPr/>
        </p:nvPicPr>
        <p:blipFill>
          <a:blip r:embed="rId3"/>
          <a:stretch>
            <a:fillRect/>
          </a:stretch>
        </p:blipFill>
        <p:spPr>
          <a:xfrm>
            <a:off x="7995879" y="4402287"/>
            <a:ext cx="266273" cy="266273"/>
          </a:xfrm>
          <a:prstGeom prst="rect">
            <a:avLst/>
          </a:prstGeom>
        </p:spPr>
      </p:pic>
      <p:sp>
        <p:nvSpPr>
          <p:cNvPr id="19" name="text-104"/>
          <p:cNvSpPr txBox="1"/>
          <p:nvPr/>
        </p:nvSpPr>
        <p:spPr>
          <a:xfrm>
            <a:off x="8522208" y="4187952"/>
            <a:ext cx="3017520" cy="274320"/>
          </a:xfrm>
          <a:prstGeom prst="rect">
            <a:avLst/>
          </a:prstGeom>
          <a:noFill/>
          <a:ln/>
        </p:spPr>
        <p:txBody>
          <a:bodyPr wrap="square" lIns="0" tIns="0" rIns="0" bIns="0" rtlCol="0" anchor="t"/>
          <a:lstStyle/>
          <a:p>
            <a:pPr indent="0" marL="0">
              <a:buNone/>
            </a:pPr>
            <a:r>
              <a:rPr lang="en-US" sz="1500" b="1" dirty="0">
                <a:solidFill>
                  <a:schemeClr val="tx1"/>
                </a:solidFill>
              </a:rPr>
              <a:t>Machine-checked numbers</a:t>
            </a:r>
            <a:endParaRPr lang="en-US" sz="1500" dirty="0"/>
          </a:p>
        </p:txBody>
      </p:sp>
      <p:sp>
        <p:nvSpPr>
          <p:cNvPr id="20" name="text-105"/>
          <p:cNvSpPr txBox="1"/>
          <p:nvPr/>
        </p:nvSpPr>
        <p:spPr>
          <a:xfrm>
            <a:off x="8522208" y="4489704"/>
            <a:ext cx="3017520" cy="457200"/>
          </a:xfrm>
          <a:prstGeom prst="rect">
            <a:avLst/>
          </a:prstGeom>
          <a:noFill/>
          <a:ln/>
        </p:spPr>
        <p:txBody>
          <a:bodyPr wrap="square" lIns="0" tIns="0" rIns="0" bIns="0" rtlCol="0" anchor="t"/>
          <a:lstStyle/>
          <a:p>
            <a:pPr indent="0" marL="0">
              <a:buNone/>
            </a:pPr>
            <a:r>
              <a:rPr lang="en-US" sz="1350" dirty="0">
                <a:solidFill>
                  <a:schemeClr val="accent1"/>
                </a:solidFill>
              </a:rPr>
              <a:t>Decimal claim verifier against</a:t>
            </a:r>
            <a:endParaRPr lang="en-US" sz="1350" dirty="0"/>
          </a:p>
          <a:p>
            <a:pPr indent="0" marL="0">
              <a:buNone/>
            </a:pPr>
            <a:r>
              <a:rPr lang="en-US" sz="1350" dirty="0">
                <a:solidFill>
                  <a:schemeClr val="accent1"/>
                </a:solidFill>
              </a:rPr>
              <a:t>content-addressed evidence</a:t>
            </a:r>
            <a:endParaRPr lang="en-US" sz="1350" dirty="0"/>
          </a:p>
        </p:txBody>
      </p:sp>
      <p:sp>
        <p:nvSpPr>
          <p:cNvPr id="21" name="card-106"/>
          <p:cNvSpPr/>
          <p:nvPr/>
        </p:nvSpPr>
        <p:spPr>
          <a:xfrm>
            <a:off x="7726680" y="5111496"/>
            <a:ext cx="3913632" cy="914400"/>
          </a:xfrm>
          <a:prstGeom prst="roundRect">
            <a:avLst>
              <a:gd name="adj" fmla="val 10000"/>
            </a:avLst>
          </a:prstGeom>
          <a:solidFill>
            <a:schemeClr val="bg2"/>
          </a:solidFill>
          <a:ln/>
        </p:spPr>
      </p:sp>
      <p:sp>
        <p:nvSpPr>
          <p:cNvPr id="22" name="card-107"/>
          <p:cNvSpPr/>
          <p:nvPr/>
        </p:nvSpPr>
        <p:spPr>
          <a:xfrm>
            <a:off x="7891272" y="5330952"/>
            <a:ext cx="475488" cy="475488"/>
          </a:xfrm>
          <a:prstGeom prst="roundRect">
            <a:avLst>
              <a:gd name="adj" fmla="val 22000"/>
            </a:avLst>
          </a:prstGeom>
          <a:solidFill>
            <a:schemeClr val="accent1"/>
          </a:solidFill>
          <a:ln/>
        </p:spPr>
      </p:sp>
      <p:pic>
        <p:nvPicPr>
          <p:cNvPr id="23" name="icon-108" descr="IndianRupee icon">    </p:cNvPr>
          <p:cNvPicPr>
            <a:picLocks noChangeAspect="1"/>
          </p:cNvPicPr>
          <p:nvPr/>
        </p:nvPicPr>
        <p:blipFill>
          <a:blip r:embed="rId4"/>
          <a:stretch>
            <a:fillRect/>
          </a:stretch>
        </p:blipFill>
        <p:spPr>
          <a:xfrm>
            <a:off x="7995879" y="5435559"/>
            <a:ext cx="266273" cy="266273"/>
          </a:xfrm>
          <a:prstGeom prst="rect">
            <a:avLst/>
          </a:prstGeom>
        </p:spPr>
      </p:pic>
      <p:sp>
        <p:nvSpPr>
          <p:cNvPr id="24" name="text-109"/>
          <p:cNvSpPr txBox="1"/>
          <p:nvPr/>
        </p:nvSpPr>
        <p:spPr>
          <a:xfrm>
            <a:off x="8522208" y="5221224"/>
            <a:ext cx="3017520" cy="274320"/>
          </a:xfrm>
          <a:prstGeom prst="rect">
            <a:avLst/>
          </a:prstGeom>
          <a:noFill/>
          <a:ln/>
        </p:spPr>
        <p:txBody>
          <a:bodyPr wrap="square" lIns="0" tIns="0" rIns="0" bIns="0" rtlCol="0" anchor="t"/>
          <a:lstStyle/>
          <a:p>
            <a:pPr indent="0" marL="0">
              <a:buNone/>
            </a:pPr>
            <a:r>
              <a:rPr lang="en-US" sz="1500" b="1" dirty="0">
                <a:solidFill>
                  <a:schemeClr val="tx1"/>
                </a:solidFill>
              </a:rPr>
              <a:t>Coverage of India</a:t>
            </a:r>
            <a:endParaRPr lang="en-US" sz="1500" dirty="0"/>
          </a:p>
        </p:txBody>
      </p:sp>
      <p:sp>
        <p:nvSpPr>
          <p:cNvPr id="25" name="text-110"/>
          <p:cNvSpPr txBox="1"/>
          <p:nvPr/>
        </p:nvSpPr>
        <p:spPr>
          <a:xfrm>
            <a:off x="8522208" y="5522976"/>
            <a:ext cx="3017520" cy="457200"/>
          </a:xfrm>
          <a:prstGeom prst="rect">
            <a:avLst/>
          </a:prstGeom>
          <a:noFill/>
          <a:ln/>
        </p:spPr>
        <p:txBody>
          <a:bodyPr wrap="square" lIns="0" tIns="0" rIns="0" bIns="0" rtlCol="0" anchor="t"/>
          <a:lstStyle/>
          <a:p>
            <a:pPr indent="0" marL="0">
              <a:buNone/>
            </a:pPr>
            <a:r>
              <a:rPr lang="en-US" sz="1350" dirty="0">
                <a:solidFill>
                  <a:schemeClr val="accent1"/>
                </a:solidFill>
              </a:rPr>
              <a:t>MoSPI, RBI DBIE, CGA, DGCI&amp;S</a:t>
            </a:r>
            <a:endParaRPr lang="en-US" sz="1350" dirty="0"/>
          </a:p>
          <a:p>
            <a:pPr indent="0" marL="0">
              <a:buNone/>
            </a:pPr>
            <a:r>
              <a:rPr lang="en-US" sz="1350" dirty="0">
                <a:solidFill>
                  <a:schemeClr val="accent1"/>
                </a:solidFill>
              </a:rPr>
              <a:t>behind sector FastMCP servers</a:t>
            </a:r>
            <a:endParaRPr lang="en-US" sz="1350" dirty="0"/>
          </a:p>
        </p:txBody>
      </p:sp>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160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OBJECTIVES</a:t>
            </a:r>
            <a:endParaRPr lang="en-US" sz="1200" dirty="0"/>
          </a:p>
        </p:txBody>
      </p:sp>
      <p:sp>
        <p:nvSpPr>
          <p:cNvPr id="3" name="Text 0"/>
          <p:cNvSpPr/>
          <p:nvPr>
            <p:ph idx="101" type="title" hasCustomPrompt="1"/>
          </p:nvPr>
        </p:nvSpPr>
        <p:spPr>
          <a:xfrm>
            <a:off x="548640" y="676656"/>
            <a:ext cx="11094415" cy="713232"/>
          </a:xfrm>
          <a:prstGeom prst="rect">
            <a:avLst/>
          </a:prstGeom>
          <a:noFill/>
          <a:ln/>
        </p:spPr>
        <p:txBody>
          <a:bodyPr wrap="square" lIns="0" tIns="0" rIns="0" bIns="0" rtlCol="0" anchor="t"/>
          <a:lstStyle/>
          <a:p>
            <a:pPr algn="l" indent="0" marL="0">
              <a:buNone/>
            </a:pPr>
            <a:r>
              <a:rPr lang="en-US" sz="3600" b="1" dirty="0">
                <a:solidFill>
                  <a:schemeClr val="tx1"/>
                </a:solidFill>
              </a:rPr>
              <a:t>Seven objectives, one rule</a:t>
            </a:r>
            <a:endParaRPr lang="en-US" sz="3600" dirty="0"/>
          </a:p>
        </p:txBody>
      </p:sp>
      <p:sp>
        <p:nvSpPr>
          <p:cNvPr id="4" name="card-111"/>
          <p:cNvSpPr/>
          <p:nvPr/>
        </p:nvSpPr>
        <p:spPr>
          <a:xfrm>
            <a:off x="548640" y="1600200"/>
            <a:ext cx="2587752" cy="2103120"/>
          </a:xfrm>
          <a:prstGeom prst="roundRect">
            <a:avLst>
              <a:gd name="adj" fmla="val 5217"/>
            </a:avLst>
          </a:prstGeom>
          <a:solidFill>
            <a:schemeClr val="bg2"/>
          </a:solidFill>
          <a:ln/>
        </p:spPr>
      </p:sp>
      <p:sp>
        <p:nvSpPr>
          <p:cNvPr id="5" name="card-112"/>
          <p:cNvSpPr/>
          <p:nvPr/>
        </p:nvSpPr>
        <p:spPr>
          <a:xfrm>
            <a:off x="777240" y="1828800"/>
            <a:ext cx="475488" cy="475488"/>
          </a:xfrm>
          <a:prstGeom prst="roundRect">
            <a:avLst>
              <a:gd name="adj" fmla="val 22000"/>
            </a:avLst>
          </a:prstGeom>
          <a:solidFill>
            <a:schemeClr val="accent1"/>
          </a:solidFill>
          <a:ln/>
        </p:spPr>
      </p:sp>
      <p:pic>
        <p:nvPicPr>
          <p:cNvPr id="6" name="icon-113" descr="Database icon">    </p:cNvPr>
          <p:cNvPicPr>
            <a:picLocks noChangeAspect="1"/>
          </p:cNvPicPr>
          <p:nvPr/>
        </p:nvPicPr>
        <p:blipFill>
          <a:blip r:embed="rId1"/>
          <a:stretch>
            <a:fillRect/>
          </a:stretch>
        </p:blipFill>
        <p:spPr>
          <a:xfrm>
            <a:off x="881847" y="1933407"/>
            <a:ext cx="266273" cy="266273"/>
          </a:xfrm>
          <a:prstGeom prst="rect">
            <a:avLst/>
          </a:prstGeom>
        </p:spPr>
      </p:pic>
      <p:sp>
        <p:nvSpPr>
          <p:cNvPr id="7" name="text-114"/>
          <p:cNvSpPr txBox="1"/>
          <p:nvPr/>
        </p:nvSpPr>
        <p:spPr>
          <a:xfrm>
            <a:off x="2221992" y="1801368"/>
            <a:ext cx="685800" cy="420624"/>
          </a:xfrm>
          <a:prstGeom prst="rect">
            <a:avLst/>
          </a:prstGeom>
          <a:noFill/>
          <a:ln/>
        </p:spPr>
        <p:txBody>
          <a:bodyPr wrap="square" lIns="0" tIns="0" rIns="0" bIns="0" rtlCol="0" anchor="t"/>
          <a:lstStyle/>
          <a:p>
            <a:pPr algn="r" indent="0" marL="0">
              <a:buNone/>
            </a:pPr>
            <a:r>
              <a:rPr lang="en-US" sz="2400" b="1" dirty="0">
                <a:solidFill>
                  <a:schemeClr val="accent1">
                    <a:alpha val="55000"/>
                  </a:schemeClr>
                </a:solidFill>
              </a:rPr>
              <a:t>O1</a:t>
            </a:r>
            <a:endParaRPr lang="en-US" sz="2400" dirty="0"/>
          </a:p>
        </p:txBody>
      </p:sp>
      <p:sp>
        <p:nvSpPr>
          <p:cNvPr id="8" name="text-115"/>
          <p:cNvSpPr txBox="1"/>
          <p:nvPr/>
        </p:nvSpPr>
        <p:spPr>
          <a:xfrm>
            <a:off x="777240" y="2450592"/>
            <a:ext cx="2176272" cy="512064"/>
          </a:xfrm>
          <a:prstGeom prst="rect">
            <a:avLst/>
          </a:prstGeom>
          <a:noFill/>
          <a:ln/>
        </p:spPr>
        <p:txBody>
          <a:bodyPr wrap="square" lIns="0" tIns="0" rIns="0" bIns="0" rtlCol="0" anchor="b"/>
          <a:lstStyle/>
          <a:p>
            <a:pPr indent="0" marL="0">
              <a:buNone/>
            </a:pPr>
            <a:r>
              <a:rPr lang="en-US" sz="1600" b="1" dirty="0">
                <a:solidFill>
                  <a:schemeClr val="tx1"/>
                </a:solidFill>
              </a:rPr>
              <a:t>Sector-wise data access</a:t>
            </a:r>
            <a:endParaRPr lang="en-US" sz="1600" dirty="0"/>
          </a:p>
        </p:txBody>
      </p:sp>
      <p:sp>
        <p:nvSpPr>
          <p:cNvPr id="9" name="text-116"/>
          <p:cNvSpPr txBox="1"/>
          <p:nvPr/>
        </p:nvSpPr>
        <p:spPr>
          <a:xfrm>
            <a:off x="777240" y="2990088"/>
            <a:ext cx="2176272" cy="658368"/>
          </a:xfrm>
          <a:prstGeom prst="rect">
            <a:avLst/>
          </a:prstGeom>
          <a:noFill/>
          <a:ln/>
        </p:spPr>
        <p:txBody>
          <a:bodyPr wrap="square" lIns="0" tIns="0" rIns="0" bIns="0" rtlCol="0" anchor="t"/>
          <a:lstStyle/>
          <a:p>
            <a:pPr indent="0" marL="0">
              <a:buNone/>
            </a:pPr>
            <a:r>
              <a:rPr lang="en-US" sz="1300" dirty="0">
                <a:solidFill>
                  <a:schemeClr val="tx2"/>
                </a:solidFill>
              </a:rPr>
              <a:t>One FastMCP server and local store per sector, fed by official sources</a:t>
            </a:r>
            <a:endParaRPr lang="en-US" sz="1300" dirty="0"/>
          </a:p>
        </p:txBody>
      </p:sp>
      <p:sp>
        <p:nvSpPr>
          <p:cNvPr id="10" name="card-117"/>
          <p:cNvSpPr/>
          <p:nvPr/>
        </p:nvSpPr>
        <p:spPr>
          <a:xfrm>
            <a:off x="3384194" y="1600200"/>
            <a:ext cx="2587752" cy="2103120"/>
          </a:xfrm>
          <a:prstGeom prst="roundRect">
            <a:avLst>
              <a:gd name="adj" fmla="val 5217"/>
            </a:avLst>
          </a:prstGeom>
          <a:solidFill>
            <a:schemeClr val="bg2"/>
          </a:solidFill>
          <a:ln/>
        </p:spPr>
      </p:sp>
      <p:sp>
        <p:nvSpPr>
          <p:cNvPr id="11" name="card-118"/>
          <p:cNvSpPr/>
          <p:nvPr/>
        </p:nvSpPr>
        <p:spPr>
          <a:xfrm>
            <a:off x="3612794" y="1828800"/>
            <a:ext cx="475488" cy="475488"/>
          </a:xfrm>
          <a:prstGeom prst="roundRect">
            <a:avLst>
              <a:gd name="adj" fmla="val 22000"/>
            </a:avLst>
          </a:prstGeom>
          <a:solidFill>
            <a:schemeClr val="accent1"/>
          </a:solidFill>
          <a:ln/>
        </p:spPr>
      </p:sp>
      <p:pic>
        <p:nvPicPr>
          <p:cNvPr id="12" name="icon-119" descr="Network icon">    </p:cNvPr>
          <p:cNvPicPr>
            <a:picLocks noChangeAspect="1"/>
          </p:cNvPicPr>
          <p:nvPr/>
        </p:nvPicPr>
        <p:blipFill>
          <a:blip r:embed="rId2"/>
          <a:stretch>
            <a:fillRect/>
          </a:stretch>
        </p:blipFill>
        <p:spPr>
          <a:xfrm>
            <a:off x="3717402" y="1933407"/>
            <a:ext cx="266273" cy="266273"/>
          </a:xfrm>
          <a:prstGeom prst="rect">
            <a:avLst/>
          </a:prstGeom>
        </p:spPr>
      </p:pic>
      <p:sp>
        <p:nvSpPr>
          <p:cNvPr id="13" name="text-120"/>
          <p:cNvSpPr txBox="1"/>
          <p:nvPr/>
        </p:nvSpPr>
        <p:spPr>
          <a:xfrm>
            <a:off x="5057546" y="1801368"/>
            <a:ext cx="685800" cy="420624"/>
          </a:xfrm>
          <a:prstGeom prst="rect">
            <a:avLst/>
          </a:prstGeom>
          <a:noFill/>
          <a:ln/>
        </p:spPr>
        <p:txBody>
          <a:bodyPr wrap="square" lIns="0" tIns="0" rIns="0" bIns="0" rtlCol="0" anchor="t"/>
          <a:lstStyle/>
          <a:p>
            <a:pPr algn="r" indent="0" marL="0">
              <a:buNone/>
            </a:pPr>
            <a:r>
              <a:rPr lang="en-US" sz="2400" b="1" dirty="0">
                <a:solidFill>
                  <a:schemeClr val="accent1">
                    <a:alpha val="55000"/>
                  </a:schemeClr>
                </a:solidFill>
              </a:rPr>
              <a:t>O2</a:t>
            </a:r>
            <a:endParaRPr lang="en-US" sz="2400" dirty="0"/>
          </a:p>
        </p:txBody>
      </p:sp>
      <p:sp>
        <p:nvSpPr>
          <p:cNvPr id="14" name="text-121"/>
          <p:cNvSpPr txBox="1"/>
          <p:nvPr/>
        </p:nvSpPr>
        <p:spPr>
          <a:xfrm>
            <a:off x="3612794" y="2450592"/>
            <a:ext cx="2176272" cy="512064"/>
          </a:xfrm>
          <a:prstGeom prst="rect">
            <a:avLst/>
          </a:prstGeom>
          <a:noFill/>
          <a:ln/>
        </p:spPr>
        <p:txBody>
          <a:bodyPr wrap="square" lIns="0" tIns="0" rIns="0" bIns="0" rtlCol="0" anchor="b"/>
          <a:lstStyle/>
          <a:p>
            <a:pPr indent="0" marL="0">
              <a:buNone/>
            </a:pPr>
            <a:r>
              <a:rPr lang="en-US" sz="1600" b="1" dirty="0">
                <a:solidFill>
                  <a:schemeClr val="tx1"/>
                </a:solidFill>
              </a:rPr>
              <a:t>Coordinated multi-agent reasoning</a:t>
            </a:r>
            <a:endParaRPr lang="en-US" sz="1600" dirty="0"/>
          </a:p>
        </p:txBody>
      </p:sp>
      <p:sp>
        <p:nvSpPr>
          <p:cNvPr id="15" name="text-122"/>
          <p:cNvSpPr txBox="1"/>
          <p:nvPr/>
        </p:nvSpPr>
        <p:spPr>
          <a:xfrm>
            <a:off x="3612794" y="2990088"/>
            <a:ext cx="2176272" cy="658368"/>
          </a:xfrm>
          <a:prstGeom prst="rect">
            <a:avLst/>
          </a:prstGeom>
          <a:noFill/>
          <a:ln/>
        </p:spPr>
        <p:txBody>
          <a:bodyPr wrap="square" lIns="0" tIns="0" rIns="0" bIns="0" rtlCol="0" anchor="t"/>
          <a:lstStyle/>
          <a:p>
            <a:pPr indent="0" marL="0">
              <a:buNone/>
            </a:pPr>
            <a:r>
              <a:rPr lang="en-US" sz="1300" dirty="0">
                <a:solidFill>
                  <a:schemeClr val="tx2"/>
                </a:solidFill>
              </a:rPr>
              <a:t>Typed A2A protocol with discovery, routing, loop guards and tracing</a:t>
            </a:r>
            <a:endParaRPr lang="en-US" sz="1300" dirty="0"/>
          </a:p>
        </p:txBody>
      </p:sp>
      <p:sp>
        <p:nvSpPr>
          <p:cNvPr id="16" name="card-123"/>
          <p:cNvSpPr/>
          <p:nvPr/>
        </p:nvSpPr>
        <p:spPr>
          <a:xfrm>
            <a:off x="6219749" y="1600200"/>
            <a:ext cx="2587752" cy="2103120"/>
          </a:xfrm>
          <a:prstGeom prst="roundRect">
            <a:avLst>
              <a:gd name="adj" fmla="val 5217"/>
            </a:avLst>
          </a:prstGeom>
          <a:solidFill>
            <a:schemeClr val="bg2"/>
          </a:solidFill>
          <a:ln/>
        </p:spPr>
      </p:sp>
      <p:sp>
        <p:nvSpPr>
          <p:cNvPr id="17" name="card-124"/>
          <p:cNvSpPr/>
          <p:nvPr/>
        </p:nvSpPr>
        <p:spPr>
          <a:xfrm>
            <a:off x="6448349" y="1828800"/>
            <a:ext cx="475488" cy="475488"/>
          </a:xfrm>
          <a:prstGeom prst="roundRect">
            <a:avLst>
              <a:gd name="adj" fmla="val 22000"/>
            </a:avLst>
          </a:prstGeom>
          <a:solidFill>
            <a:schemeClr val="accent1"/>
          </a:solidFill>
          <a:ln/>
        </p:spPr>
      </p:sp>
      <p:pic>
        <p:nvPicPr>
          <p:cNvPr id="18" name="icon-125" descr="ShieldCheck icon">    </p:cNvPr>
          <p:cNvPicPr>
            <a:picLocks noChangeAspect="1"/>
          </p:cNvPicPr>
          <p:nvPr/>
        </p:nvPicPr>
        <p:blipFill>
          <a:blip r:embed="rId3"/>
          <a:stretch>
            <a:fillRect/>
          </a:stretch>
        </p:blipFill>
        <p:spPr>
          <a:xfrm>
            <a:off x="6552956" y="1933407"/>
            <a:ext cx="266273" cy="266273"/>
          </a:xfrm>
          <a:prstGeom prst="rect">
            <a:avLst/>
          </a:prstGeom>
        </p:spPr>
      </p:pic>
      <p:sp>
        <p:nvSpPr>
          <p:cNvPr id="19" name="text-126"/>
          <p:cNvSpPr txBox="1"/>
          <p:nvPr/>
        </p:nvSpPr>
        <p:spPr>
          <a:xfrm>
            <a:off x="7893101" y="1801368"/>
            <a:ext cx="685800" cy="420624"/>
          </a:xfrm>
          <a:prstGeom prst="rect">
            <a:avLst/>
          </a:prstGeom>
          <a:noFill/>
          <a:ln/>
        </p:spPr>
        <p:txBody>
          <a:bodyPr wrap="square" lIns="0" tIns="0" rIns="0" bIns="0" rtlCol="0" anchor="t"/>
          <a:lstStyle/>
          <a:p>
            <a:pPr algn="r" indent="0" marL="0">
              <a:buNone/>
            </a:pPr>
            <a:r>
              <a:rPr lang="en-US" sz="2400" b="1" dirty="0">
                <a:solidFill>
                  <a:schemeClr val="accent1">
                    <a:alpha val="55000"/>
                  </a:schemeClr>
                </a:solidFill>
              </a:rPr>
              <a:t>O3</a:t>
            </a:r>
            <a:endParaRPr lang="en-US" sz="2400" dirty="0"/>
          </a:p>
        </p:txBody>
      </p:sp>
      <p:sp>
        <p:nvSpPr>
          <p:cNvPr id="20" name="text-127"/>
          <p:cNvSpPr txBox="1"/>
          <p:nvPr/>
        </p:nvSpPr>
        <p:spPr>
          <a:xfrm>
            <a:off x="6448349" y="2450592"/>
            <a:ext cx="2176272" cy="512064"/>
          </a:xfrm>
          <a:prstGeom prst="rect">
            <a:avLst/>
          </a:prstGeom>
          <a:noFill/>
          <a:ln/>
        </p:spPr>
        <p:txBody>
          <a:bodyPr wrap="square" lIns="0" tIns="0" rIns="0" bIns="0" rtlCol="0" anchor="b"/>
          <a:lstStyle/>
          <a:p>
            <a:pPr indent="0" marL="0">
              <a:buNone/>
            </a:pPr>
            <a:r>
              <a:rPr lang="en-US" sz="1600" b="1" dirty="0">
                <a:solidFill>
                  <a:schemeClr val="tx1"/>
                </a:solidFill>
              </a:rPr>
              <a:t>Source-grounded answers</a:t>
            </a:r>
            <a:endParaRPr lang="en-US" sz="1600" dirty="0"/>
          </a:p>
        </p:txBody>
      </p:sp>
      <p:sp>
        <p:nvSpPr>
          <p:cNvPr id="21" name="text-128"/>
          <p:cNvSpPr txBox="1"/>
          <p:nvPr/>
        </p:nvSpPr>
        <p:spPr>
          <a:xfrm>
            <a:off x="6448349" y="2990088"/>
            <a:ext cx="2176272" cy="658368"/>
          </a:xfrm>
          <a:prstGeom prst="rect">
            <a:avLst/>
          </a:prstGeom>
          <a:noFill/>
          <a:ln/>
        </p:spPr>
        <p:txBody>
          <a:bodyPr wrap="square" lIns="0" tIns="0" rIns="0" bIns="0" rtlCol="0" anchor="t"/>
          <a:lstStyle/>
          <a:p>
            <a:pPr indent="0" marL="0">
              <a:buNone/>
            </a:pPr>
            <a:r>
              <a:rPr lang="en-US" sz="1300" dirty="0">
                <a:solidFill>
                  <a:schemeClr val="tx2"/>
                </a:solidFill>
              </a:rPr>
              <a:t>Provenance enforced in the protocol; missing data reported, not estimated</a:t>
            </a:r>
            <a:endParaRPr lang="en-US" sz="1300" dirty="0"/>
          </a:p>
        </p:txBody>
      </p:sp>
      <p:sp>
        <p:nvSpPr>
          <p:cNvPr id="22" name="card-129"/>
          <p:cNvSpPr/>
          <p:nvPr/>
        </p:nvSpPr>
        <p:spPr>
          <a:xfrm>
            <a:off x="9055303" y="1600200"/>
            <a:ext cx="2587752" cy="2103120"/>
          </a:xfrm>
          <a:prstGeom prst="roundRect">
            <a:avLst>
              <a:gd name="adj" fmla="val 5217"/>
            </a:avLst>
          </a:prstGeom>
          <a:solidFill>
            <a:schemeClr val="bg2"/>
          </a:solidFill>
          <a:ln/>
        </p:spPr>
      </p:sp>
      <p:sp>
        <p:nvSpPr>
          <p:cNvPr id="23" name="card-130"/>
          <p:cNvSpPr/>
          <p:nvPr/>
        </p:nvSpPr>
        <p:spPr>
          <a:xfrm>
            <a:off x="9283903" y="1828800"/>
            <a:ext cx="475488" cy="475488"/>
          </a:xfrm>
          <a:prstGeom prst="roundRect">
            <a:avLst>
              <a:gd name="adj" fmla="val 22000"/>
            </a:avLst>
          </a:prstGeom>
          <a:solidFill>
            <a:schemeClr val="accent1"/>
          </a:solidFill>
          <a:ln/>
        </p:spPr>
      </p:sp>
      <p:pic>
        <p:nvPicPr>
          <p:cNvPr id="24" name="icon-131" descr="Waypoints icon">    </p:cNvPr>
          <p:cNvPicPr>
            <a:picLocks noChangeAspect="1"/>
          </p:cNvPicPr>
          <p:nvPr/>
        </p:nvPicPr>
        <p:blipFill>
          <a:blip r:embed="rId4"/>
          <a:stretch>
            <a:fillRect/>
          </a:stretch>
        </p:blipFill>
        <p:spPr>
          <a:xfrm>
            <a:off x="9388511" y="1933407"/>
            <a:ext cx="266273" cy="266273"/>
          </a:xfrm>
          <a:prstGeom prst="rect">
            <a:avLst/>
          </a:prstGeom>
        </p:spPr>
      </p:pic>
      <p:sp>
        <p:nvSpPr>
          <p:cNvPr id="25" name="text-132"/>
          <p:cNvSpPr txBox="1"/>
          <p:nvPr/>
        </p:nvSpPr>
        <p:spPr>
          <a:xfrm>
            <a:off x="10728655" y="1801368"/>
            <a:ext cx="685800" cy="420624"/>
          </a:xfrm>
          <a:prstGeom prst="rect">
            <a:avLst/>
          </a:prstGeom>
          <a:noFill/>
          <a:ln/>
        </p:spPr>
        <p:txBody>
          <a:bodyPr wrap="square" lIns="0" tIns="0" rIns="0" bIns="0" rtlCol="0" anchor="t"/>
          <a:lstStyle/>
          <a:p>
            <a:pPr algn="r" indent="0" marL="0">
              <a:buNone/>
            </a:pPr>
            <a:r>
              <a:rPr lang="en-US" sz="2400" b="1" dirty="0">
                <a:solidFill>
                  <a:schemeClr val="accent1">
                    <a:alpha val="55000"/>
                  </a:schemeClr>
                </a:solidFill>
              </a:rPr>
              <a:t>O4</a:t>
            </a:r>
            <a:endParaRPr lang="en-US" sz="2400" dirty="0"/>
          </a:p>
        </p:txBody>
      </p:sp>
      <p:sp>
        <p:nvSpPr>
          <p:cNvPr id="26" name="text-133"/>
          <p:cNvSpPr txBox="1"/>
          <p:nvPr/>
        </p:nvSpPr>
        <p:spPr>
          <a:xfrm>
            <a:off x="9283903" y="2450592"/>
            <a:ext cx="2176272" cy="512064"/>
          </a:xfrm>
          <a:prstGeom prst="rect">
            <a:avLst/>
          </a:prstGeom>
          <a:noFill/>
          <a:ln/>
        </p:spPr>
        <p:txBody>
          <a:bodyPr wrap="square" lIns="0" tIns="0" rIns="0" bIns="0" rtlCol="0" anchor="b"/>
          <a:lstStyle/>
          <a:p>
            <a:pPr indent="0" marL="0">
              <a:buNone/>
            </a:pPr>
            <a:r>
              <a:rPr lang="en-US" sz="1600" b="1" dirty="0">
                <a:solidFill>
                  <a:schemeClr val="tx1"/>
                </a:solidFill>
              </a:rPr>
              <a:t>Explicit causal model</a:t>
            </a:r>
            <a:endParaRPr lang="en-US" sz="1600" dirty="0"/>
          </a:p>
        </p:txBody>
      </p:sp>
      <p:sp>
        <p:nvSpPr>
          <p:cNvPr id="27" name="text-134"/>
          <p:cNvSpPr txBox="1"/>
          <p:nvPr/>
        </p:nvSpPr>
        <p:spPr>
          <a:xfrm>
            <a:off x="9283903" y="2990088"/>
            <a:ext cx="2176272" cy="658368"/>
          </a:xfrm>
          <a:prstGeom prst="rect">
            <a:avLst/>
          </a:prstGeom>
          <a:noFill/>
          <a:ln/>
        </p:spPr>
        <p:txBody>
          <a:bodyPr wrap="square" lIns="0" tIns="0" rIns="0" bIns="0" rtlCol="0" anchor="t"/>
          <a:lstStyle/>
          <a:p>
            <a:pPr indent="0" marL="0">
              <a:buNone/>
            </a:pPr>
            <a:r>
              <a:rPr lang="en-US" sz="1300" dirty="0">
                <a:solidFill>
                  <a:schemeClr val="tx2"/>
                </a:solidFill>
              </a:rPr>
              <a:t>Knowledge graph of transmission channels with lag, sign and evidence class</a:t>
            </a:r>
            <a:endParaRPr lang="en-US" sz="1300" dirty="0"/>
          </a:p>
        </p:txBody>
      </p:sp>
      <p:sp>
        <p:nvSpPr>
          <p:cNvPr id="28" name="card-135"/>
          <p:cNvSpPr/>
          <p:nvPr/>
        </p:nvSpPr>
        <p:spPr>
          <a:xfrm>
            <a:off x="548640" y="3950208"/>
            <a:ext cx="2587752" cy="2103120"/>
          </a:xfrm>
          <a:prstGeom prst="roundRect">
            <a:avLst>
              <a:gd name="adj" fmla="val 5217"/>
            </a:avLst>
          </a:prstGeom>
          <a:solidFill>
            <a:schemeClr val="bg2"/>
          </a:solidFill>
          <a:ln/>
        </p:spPr>
      </p:sp>
      <p:sp>
        <p:nvSpPr>
          <p:cNvPr id="29" name="card-136"/>
          <p:cNvSpPr/>
          <p:nvPr/>
        </p:nvSpPr>
        <p:spPr>
          <a:xfrm>
            <a:off x="777240" y="4178808"/>
            <a:ext cx="475488" cy="475488"/>
          </a:xfrm>
          <a:prstGeom prst="roundRect">
            <a:avLst>
              <a:gd name="adj" fmla="val 22000"/>
            </a:avLst>
          </a:prstGeom>
          <a:solidFill>
            <a:schemeClr val="accent1"/>
          </a:solidFill>
          <a:ln/>
        </p:spPr>
      </p:sp>
      <p:pic>
        <p:nvPicPr>
          <p:cNvPr id="30" name="icon-137" descr="Fingerprint icon">    </p:cNvPr>
          <p:cNvPicPr>
            <a:picLocks noChangeAspect="1"/>
          </p:cNvPicPr>
          <p:nvPr/>
        </p:nvPicPr>
        <p:blipFill>
          <a:blip r:embed="rId5"/>
          <a:stretch>
            <a:fillRect/>
          </a:stretch>
        </p:blipFill>
        <p:spPr>
          <a:xfrm>
            <a:off x="881847" y="4283415"/>
            <a:ext cx="266273" cy="266273"/>
          </a:xfrm>
          <a:prstGeom prst="rect">
            <a:avLst/>
          </a:prstGeom>
        </p:spPr>
      </p:pic>
      <p:sp>
        <p:nvSpPr>
          <p:cNvPr id="31" name="text-138"/>
          <p:cNvSpPr txBox="1"/>
          <p:nvPr/>
        </p:nvSpPr>
        <p:spPr>
          <a:xfrm>
            <a:off x="2221992" y="4151376"/>
            <a:ext cx="685800" cy="420624"/>
          </a:xfrm>
          <a:prstGeom prst="rect">
            <a:avLst/>
          </a:prstGeom>
          <a:noFill/>
          <a:ln/>
        </p:spPr>
        <p:txBody>
          <a:bodyPr wrap="square" lIns="0" tIns="0" rIns="0" bIns="0" rtlCol="0" anchor="t"/>
          <a:lstStyle/>
          <a:p>
            <a:pPr algn="r" indent="0" marL="0">
              <a:buNone/>
            </a:pPr>
            <a:r>
              <a:rPr lang="en-US" sz="2400" b="1" dirty="0">
                <a:solidFill>
                  <a:schemeClr val="accent1">
                    <a:alpha val="55000"/>
                  </a:schemeClr>
                </a:solidFill>
              </a:rPr>
              <a:t>O5</a:t>
            </a:r>
            <a:endParaRPr lang="en-US" sz="2400" dirty="0"/>
          </a:p>
        </p:txBody>
      </p:sp>
      <p:sp>
        <p:nvSpPr>
          <p:cNvPr id="32" name="text-139"/>
          <p:cNvSpPr txBox="1"/>
          <p:nvPr/>
        </p:nvSpPr>
        <p:spPr>
          <a:xfrm>
            <a:off x="777240" y="4800600"/>
            <a:ext cx="2176272" cy="512064"/>
          </a:xfrm>
          <a:prstGeom prst="rect">
            <a:avLst/>
          </a:prstGeom>
          <a:noFill/>
          <a:ln/>
        </p:spPr>
        <p:txBody>
          <a:bodyPr wrap="square" lIns="0" tIns="0" rIns="0" bIns="0" rtlCol="0" anchor="b"/>
          <a:lstStyle/>
          <a:p>
            <a:pPr indent="0" marL="0">
              <a:buNone/>
            </a:pPr>
            <a:r>
              <a:rPr lang="en-US" sz="1600" b="1" dirty="0">
                <a:solidFill>
                  <a:schemeClr val="tx1"/>
                </a:solidFill>
              </a:rPr>
              <a:t>Traceable provenance</a:t>
            </a:r>
            <a:endParaRPr lang="en-US" sz="1600" dirty="0"/>
          </a:p>
        </p:txBody>
      </p:sp>
      <p:sp>
        <p:nvSpPr>
          <p:cNvPr id="33" name="text-140"/>
          <p:cNvSpPr txBox="1"/>
          <p:nvPr/>
        </p:nvSpPr>
        <p:spPr>
          <a:xfrm>
            <a:off x="777240" y="5340096"/>
            <a:ext cx="2176272" cy="658368"/>
          </a:xfrm>
          <a:prstGeom prst="rect">
            <a:avLst/>
          </a:prstGeom>
          <a:noFill/>
          <a:ln/>
        </p:spPr>
        <p:txBody>
          <a:bodyPr wrap="square" lIns="0" tIns="0" rIns="0" bIns="0" rtlCol="0" anchor="t"/>
          <a:lstStyle/>
          <a:p>
            <a:pPr indent="0" marL="0">
              <a:buNone/>
            </a:pPr>
            <a:r>
              <a:rPr lang="en-US" sz="1300" dirty="0">
                <a:solidFill>
                  <a:schemeClr val="tx2"/>
                </a:solidFill>
              </a:rPr>
              <a:t>Source, table, period, retrieval time and hash on every observation</a:t>
            </a:r>
            <a:endParaRPr lang="en-US" sz="1300" dirty="0"/>
          </a:p>
        </p:txBody>
      </p:sp>
      <p:sp>
        <p:nvSpPr>
          <p:cNvPr id="34" name="card-141"/>
          <p:cNvSpPr/>
          <p:nvPr/>
        </p:nvSpPr>
        <p:spPr>
          <a:xfrm>
            <a:off x="3384194" y="3950208"/>
            <a:ext cx="2587752" cy="2103120"/>
          </a:xfrm>
          <a:prstGeom prst="roundRect">
            <a:avLst>
              <a:gd name="adj" fmla="val 5217"/>
            </a:avLst>
          </a:prstGeom>
          <a:solidFill>
            <a:schemeClr val="bg2"/>
          </a:solidFill>
          <a:ln/>
        </p:spPr>
      </p:sp>
      <p:sp>
        <p:nvSpPr>
          <p:cNvPr id="35" name="card-142"/>
          <p:cNvSpPr/>
          <p:nvPr/>
        </p:nvSpPr>
        <p:spPr>
          <a:xfrm>
            <a:off x="3612794" y="4178808"/>
            <a:ext cx="475488" cy="475488"/>
          </a:xfrm>
          <a:prstGeom prst="roundRect">
            <a:avLst>
              <a:gd name="adj" fmla="val 22000"/>
            </a:avLst>
          </a:prstGeom>
          <a:solidFill>
            <a:schemeClr val="accent1"/>
          </a:solidFill>
          <a:ln/>
        </p:spPr>
      </p:sp>
      <p:pic>
        <p:nvPicPr>
          <p:cNvPr id="36" name="icon-143" descr="FlaskConical icon">    </p:cNvPr>
          <p:cNvPicPr>
            <a:picLocks noChangeAspect="1"/>
          </p:cNvPicPr>
          <p:nvPr/>
        </p:nvPicPr>
        <p:blipFill>
          <a:blip r:embed="rId6"/>
          <a:stretch>
            <a:fillRect/>
          </a:stretch>
        </p:blipFill>
        <p:spPr>
          <a:xfrm>
            <a:off x="3717402" y="4283415"/>
            <a:ext cx="266273" cy="266273"/>
          </a:xfrm>
          <a:prstGeom prst="rect">
            <a:avLst/>
          </a:prstGeom>
        </p:spPr>
      </p:pic>
      <p:sp>
        <p:nvSpPr>
          <p:cNvPr id="37" name="text-144"/>
          <p:cNvSpPr txBox="1"/>
          <p:nvPr/>
        </p:nvSpPr>
        <p:spPr>
          <a:xfrm>
            <a:off x="5057546" y="4151376"/>
            <a:ext cx="685800" cy="420624"/>
          </a:xfrm>
          <a:prstGeom prst="rect">
            <a:avLst/>
          </a:prstGeom>
          <a:noFill/>
          <a:ln/>
        </p:spPr>
        <p:txBody>
          <a:bodyPr wrap="square" lIns="0" tIns="0" rIns="0" bIns="0" rtlCol="0" anchor="t"/>
          <a:lstStyle/>
          <a:p>
            <a:pPr algn="r" indent="0" marL="0">
              <a:buNone/>
            </a:pPr>
            <a:r>
              <a:rPr lang="en-US" sz="2400" b="1" dirty="0">
                <a:solidFill>
                  <a:schemeClr val="accent1">
                    <a:alpha val="55000"/>
                  </a:schemeClr>
                </a:solidFill>
              </a:rPr>
              <a:t>O6</a:t>
            </a:r>
            <a:endParaRPr lang="en-US" sz="2400" dirty="0"/>
          </a:p>
        </p:txBody>
      </p:sp>
      <p:sp>
        <p:nvSpPr>
          <p:cNvPr id="38" name="text-145"/>
          <p:cNvSpPr txBox="1"/>
          <p:nvPr/>
        </p:nvSpPr>
        <p:spPr>
          <a:xfrm>
            <a:off x="3612794" y="4800600"/>
            <a:ext cx="2176272" cy="512064"/>
          </a:xfrm>
          <a:prstGeom prst="rect">
            <a:avLst/>
          </a:prstGeom>
          <a:noFill/>
          <a:ln/>
        </p:spPr>
        <p:txBody>
          <a:bodyPr wrap="square" lIns="0" tIns="0" rIns="0" bIns="0" rtlCol="0" anchor="b"/>
          <a:lstStyle/>
          <a:p>
            <a:pPr indent="0" marL="0">
              <a:buNone/>
            </a:pPr>
            <a:r>
              <a:rPr lang="en-US" sz="1600" b="1" dirty="0">
                <a:solidFill>
                  <a:schemeClr val="tx1"/>
                </a:solidFill>
              </a:rPr>
              <a:t>Research instruments</a:t>
            </a:r>
            <a:endParaRPr lang="en-US" sz="1600" dirty="0"/>
          </a:p>
        </p:txBody>
      </p:sp>
      <p:sp>
        <p:nvSpPr>
          <p:cNvPr id="39" name="text-146"/>
          <p:cNvSpPr txBox="1"/>
          <p:nvPr/>
        </p:nvSpPr>
        <p:spPr>
          <a:xfrm>
            <a:off x="3612794" y="5340096"/>
            <a:ext cx="2176272" cy="658368"/>
          </a:xfrm>
          <a:prstGeom prst="rect">
            <a:avLst/>
          </a:prstGeom>
          <a:noFill/>
          <a:ln/>
        </p:spPr>
        <p:txBody>
          <a:bodyPr wrap="square" lIns="0" tIns="0" rIns="0" bIns="0" rtlCol="0" anchor="t"/>
          <a:lstStyle/>
          <a:p>
            <a:pPr indent="0" marL="0">
              <a:buNone/>
            </a:pPr>
            <a:r>
              <a:rPr lang="en-US" sz="1300" dirty="0">
                <a:solidFill>
                  <a:schemeClr val="tx2"/>
                </a:solidFill>
              </a:rPr>
              <a:t>Edge audit, anomaly radar, trajectory, twin, MPC and claim verification</a:t>
            </a:r>
            <a:endParaRPr lang="en-US" sz="1300" dirty="0"/>
          </a:p>
        </p:txBody>
      </p:sp>
      <p:sp>
        <p:nvSpPr>
          <p:cNvPr id="40" name="card-147"/>
          <p:cNvSpPr/>
          <p:nvPr/>
        </p:nvSpPr>
        <p:spPr>
          <a:xfrm>
            <a:off x="6219749" y="3950208"/>
            <a:ext cx="2587752" cy="2103120"/>
          </a:xfrm>
          <a:prstGeom prst="roundRect">
            <a:avLst>
              <a:gd name="adj" fmla="val 5217"/>
            </a:avLst>
          </a:prstGeom>
          <a:solidFill>
            <a:schemeClr val="bg2"/>
          </a:solidFill>
          <a:ln/>
        </p:spPr>
      </p:sp>
      <p:sp>
        <p:nvSpPr>
          <p:cNvPr id="41" name="card-148"/>
          <p:cNvSpPr/>
          <p:nvPr/>
        </p:nvSpPr>
        <p:spPr>
          <a:xfrm>
            <a:off x="6448349" y="4178808"/>
            <a:ext cx="475488" cy="475488"/>
          </a:xfrm>
          <a:prstGeom prst="roundRect">
            <a:avLst>
              <a:gd name="adj" fmla="val 22000"/>
            </a:avLst>
          </a:prstGeom>
          <a:solidFill>
            <a:schemeClr val="accent1"/>
          </a:solidFill>
          <a:ln/>
        </p:spPr>
      </p:sp>
      <p:pic>
        <p:nvPicPr>
          <p:cNvPr id="42" name="icon-149" descr="LayoutDashboard icon">    </p:cNvPr>
          <p:cNvPicPr>
            <a:picLocks noChangeAspect="1"/>
          </p:cNvPicPr>
          <p:nvPr/>
        </p:nvPicPr>
        <p:blipFill>
          <a:blip r:embed="rId7"/>
          <a:stretch>
            <a:fillRect/>
          </a:stretch>
        </p:blipFill>
        <p:spPr>
          <a:xfrm>
            <a:off x="6552956" y="4283415"/>
            <a:ext cx="266273" cy="266273"/>
          </a:xfrm>
          <a:prstGeom prst="rect">
            <a:avLst/>
          </a:prstGeom>
        </p:spPr>
      </p:pic>
      <p:sp>
        <p:nvSpPr>
          <p:cNvPr id="43" name="text-150"/>
          <p:cNvSpPr txBox="1"/>
          <p:nvPr/>
        </p:nvSpPr>
        <p:spPr>
          <a:xfrm>
            <a:off x="7893101" y="4151376"/>
            <a:ext cx="685800" cy="420624"/>
          </a:xfrm>
          <a:prstGeom prst="rect">
            <a:avLst/>
          </a:prstGeom>
          <a:noFill/>
          <a:ln/>
        </p:spPr>
        <p:txBody>
          <a:bodyPr wrap="square" lIns="0" tIns="0" rIns="0" bIns="0" rtlCol="0" anchor="t"/>
          <a:lstStyle/>
          <a:p>
            <a:pPr algn="r" indent="0" marL="0">
              <a:buNone/>
            </a:pPr>
            <a:r>
              <a:rPr lang="en-US" sz="2400" b="1" dirty="0">
                <a:solidFill>
                  <a:schemeClr val="accent1">
                    <a:alpha val="55000"/>
                  </a:schemeClr>
                </a:solidFill>
              </a:rPr>
              <a:t>O7</a:t>
            </a:r>
            <a:endParaRPr lang="en-US" sz="2400" dirty="0"/>
          </a:p>
        </p:txBody>
      </p:sp>
      <p:sp>
        <p:nvSpPr>
          <p:cNvPr id="44" name="text-151"/>
          <p:cNvSpPr txBox="1"/>
          <p:nvPr/>
        </p:nvSpPr>
        <p:spPr>
          <a:xfrm>
            <a:off x="6448349" y="4800600"/>
            <a:ext cx="2176272" cy="512064"/>
          </a:xfrm>
          <a:prstGeom prst="rect">
            <a:avLst/>
          </a:prstGeom>
          <a:noFill/>
          <a:ln/>
        </p:spPr>
        <p:txBody>
          <a:bodyPr wrap="square" lIns="0" tIns="0" rIns="0" bIns="0" rtlCol="0" anchor="b"/>
          <a:lstStyle/>
          <a:p>
            <a:pPr indent="0" marL="0">
              <a:buNone/>
            </a:pPr>
            <a:r>
              <a:rPr lang="en-US" sz="1600" b="1" dirty="0">
                <a:solidFill>
                  <a:schemeClr val="tx1"/>
                </a:solidFill>
              </a:rPr>
              <a:t>Usable interface</a:t>
            </a:r>
            <a:endParaRPr lang="en-US" sz="1600" dirty="0"/>
          </a:p>
        </p:txBody>
      </p:sp>
      <p:sp>
        <p:nvSpPr>
          <p:cNvPr id="45" name="text-152"/>
          <p:cNvSpPr txBox="1"/>
          <p:nvPr/>
        </p:nvSpPr>
        <p:spPr>
          <a:xfrm>
            <a:off x="6448349" y="5340096"/>
            <a:ext cx="2176272" cy="658368"/>
          </a:xfrm>
          <a:prstGeom prst="rect">
            <a:avLst/>
          </a:prstGeom>
          <a:noFill/>
          <a:ln/>
        </p:spPr>
        <p:txBody>
          <a:bodyPr wrap="square" lIns="0" tIns="0" rIns="0" bIns="0" rtlCol="0" anchor="t"/>
          <a:lstStyle/>
          <a:p>
            <a:pPr indent="0" marL="0">
              <a:buNone/>
            </a:pPr>
            <a:r>
              <a:rPr lang="en-US" sz="1300" dirty="0">
                <a:solidFill>
                  <a:schemeClr val="tx2"/>
                </a:solidFill>
              </a:rPr>
              <a:t>Cited dashboard, streaming chat, causal lab and agent registry</a:t>
            </a:r>
            <a:endParaRPr lang="en-US" sz="1300" dirty="0"/>
          </a:p>
        </p:txBody>
      </p:sp>
      <p:sp>
        <p:nvSpPr>
          <p:cNvPr id="46" name="card-153"/>
          <p:cNvSpPr/>
          <p:nvPr/>
        </p:nvSpPr>
        <p:spPr>
          <a:xfrm>
            <a:off x="9055303" y="3950208"/>
            <a:ext cx="2587752" cy="2103120"/>
          </a:xfrm>
          <a:prstGeom prst="roundRect">
            <a:avLst>
              <a:gd name="adj" fmla="val 5217"/>
            </a:avLst>
          </a:prstGeom>
          <a:solidFill>
            <a:schemeClr val="tx1"/>
          </a:solidFill>
          <a:ln/>
        </p:spPr>
      </p:sp>
      <p:sp>
        <p:nvSpPr>
          <p:cNvPr id="47" name="card-154"/>
          <p:cNvSpPr/>
          <p:nvPr/>
        </p:nvSpPr>
        <p:spPr>
          <a:xfrm>
            <a:off x="9283903" y="4178808"/>
            <a:ext cx="475488" cy="475488"/>
          </a:xfrm>
          <a:prstGeom prst="roundRect">
            <a:avLst>
              <a:gd name="adj" fmla="val 22000"/>
            </a:avLst>
          </a:prstGeom>
          <a:solidFill>
            <a:schemeClr val="accent2"/>
          </a:solidFill>
          <a:ln/>
        </p:spPr>
      </p:sp>
      <p:pic>
        <p:nvPicPr>
          <p:cNvPr id="48" name="icon-155" descr="BadgeCheck icon">    </p:cNvPr>
          <p:cNvPicPr>
            <a:picLocks noChangeAspect="1"/>
          </p:cNvPicPr>
          <p:nvPr/>
        </p:nvPicPr>
        <p:blipFill>
          <a:blip r:embed="rId8"/>
          <a:stretch>
            <a:fillRect/>
          </a:stretch>
        </p:blipFill>
        <p:spPr>
          <a:xfrm>
            <a:off x="9388511" y="4283415"/>
            <a:ext cx="266273" cy="266273"/>
          </a:xfrm>
          <a:prstGeom prst="rect">
            <a:avLst/>
          </a:prstGeom>
        </p:spPr>
      </p:pic>
      <p:sp>
        <p:nvSpPr>
          <p:cNvPr id="49" name="text-156"/>
          <p:cNvSpPr txBox="1"/>
          <p:nvPr/>
        </p:nvSpPr>
        <p:spPr>
          <a:xfrm>
            <a:off x="9283903" y="4709160"/>
            <a:ext cx="2176272" cy="603504"/>
          </a:xfrm>
          <a:prstGeom prst="rect">
            <a:avLst/>
          </a:prstGeom>
          <a:noFill/>
          <a:ln/>
        </p:spPr>
        <p:txBody>
          <a:bodyPr wrap="square" lIns="0" tIns="0" rIns="0" bIns="0" rtlCol="0" anchor="b"/>
          <a:lstStyle/>
          <a:p>
            <a:pPr indent="0" marL="0">
              <a:buNone/>
            </a:pPr>
            <a:r>
              <a:rPr lang="en-US" sz="1900" b="1" dirty="0">
                <a:solidFill>
                  <a:schemeClr val="accent2"/>
                </a:solidFill>
                <a:latin typeface="+mj-lt" pitchFamily="34" charset="0"/>
                <a:ea typeface="+mj-lt" pitchFamily="34" charset="-122"/>
                <a:cs typeface="+mj-lt" pitchFamily="34" charset="-120"/>
              </a:rPr>
              <a:t>No source,</a:t>
            </a:r>
            <a:endParaRPr lang="en-US" sz="1900" dirty="0"/>
          </a:p>
          <a:p>
            <a:pPr indent="0" marL="0">
              <a:buNone/>
            </a:pPr>
            <a:r>
              <a:rPr lang="en-US" sz="1900" b="1" dirty="0">
                <a:solidFill>
                  <a:schemeClr val="accent2"/>
                </a:solidFill>
                <a:latin typeface="+mj-lt" pitchFamily="34" charset="0"/>
                <a:ea typeface="+mj-lt" pitchFamily="34" charset="-122"/>
                <a:cs typeface="+mj-lt" pitchFamily="34" charset="-120"/>
              </a:rPr>
              <a:t>no answer</a:t>
            </a:r>
            <a:endParaRPr lang="en-US" sz="1900" dirty="0"/>
          </a:p>
        </p:txBody>
      </p:sp>
      <p:sp>
        <p:nvSpPr>
          <p:cNvPr id="50" name="text-157"/>
          <p:cNvSpPr txBox="1"/>
          <p:nvPr/>
        </p:nvSpPr>
        <p:spPr>
          <a:xfrm>
            <a:off x="9283903" y="5340096"/>
            <a:ext cx="2176272" cy="658368"/>
          </a:xfrm>
          <a:prstGeom prst="rect">
            <a:avLst/>
          </a:prstGeom>
          <a:noFill/>
          <a:ln/>
        </p:spPr>
        <p:txBody>
          <a:bodyPr wrap="square" lIns="0" tIns="0" rIns="0" bIns="0" rtlCol="0" anchor="t"/>
          <a:lstStyle/>
          <a:p>
            <a:pPr indent="0" marL="0">
              <a:buNone/>
            </a:pPr>
            <a:r>
              <a:rPr lang="en-US" sz="1300" dirty="0">
                <a:solidFill>
                  <a:schemeClr val="bg1"/>
                </a:solidFill>
              </a:rPr>
              <a:t>Every figure carries agent, table and period; gaps are shown as unavailable</a:t>
            </a:r>
            <a:endParaRPr lang="en-US" sz="1300" dirty="0"/>
          </a:p>
        </p:txBody>
      </p:sp>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160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PROPOSED SYSTEM</a:t>
            </a:r>
            <a:endParaRPr lang="en-US" sz="1200" dirty="0"/>
          </a:p>
        </p:txBody>
      </p:sp>
      <p:sp>
        <p:nvSpPr>
          <p:cNvPr id="3" name="Text 0"/>
          <p:cNvSpPr/>
          <p:nvPr>
            <p:ph idx="101" type="title" hasCustomPrompt="1"/>
          </p:nvPr>
        </p:nvSpPr>
        <p:spPr>
          <a:xfrm>
            <a:off x="548640" y="676656"/>
            <a:ext cx="11094415" cy="713232"/>
          </a:xfrm>
          <a:prstGeom prst="rect">
            <a:avLst/>
          </a:prstGeom>
          <a:noFill/>
          <a:ln/>
        </p:spPr>
        <p:txBody>
          <a:bodyPr wrap="square" lIns="0" tIns="0" rIns="0" bIns="0" rtlCol="0" anchor="t"/>
          <a:lstStyle/>
          <a:p>
            <a:pPr algn="l" indent="0" marL="0">
              <a:buNone/>
            </a:pPr>
            <a:r>
              <a:rPr lang="en-US" sz="3600" b="1" dirty="0">
                <a:solidFill>
                  <a:schemeClr val="tx1"/>
                </a:solidFill>
              </a:rPr>
              <a:t>Ten sector agents, one owner per number</a:t>
            </a:r>
            <a:endParaRPr lang="en-US" sz="3600" dirty="0"/>
          </a:p>
        </p:txBody>
      </p:sp>
      <p:sp>
        <p:nvSpPr>
          <p:cNvPr id="4" name="card-158"/>
          <p:cNvSpPr/>
          <p:nvPr/>
        </p:nvSpPr>
        <p:spPr>
          <a:xfrm>
            <a:off x="548640" y="1600200"/>
            <a:ext cx="2075688" cy="1828800"/>
          </a:xfrm>
          <a:prstGeom prst="roundRect">
            <a:avLst>
              <a:gd name="adj" fmla="val 5000"/>
            </a:avLst>
          </a:prstGeom>
          <a:solidFill>
            <a:schemeClr val="bg2"/>
          </a:solidFill>
          <a:ln/>
        </p:spPr>
      </p:sp>
      <p:sp>
        <p:nvSpPr>
          <p:cNvPr id="5" name="card-159"/>
          <p:cNvSpPr/>
          <p:nvPr/>
        </p:nvSpPr>
        <p:spPr>
          <a:xfrm>
            <a:off x="731520" y="1783080"/>
            <a:ext cx="438912" cy="438912"/>
          </a:xfrm>
          <a:prstGeom prst="roundRect">
            <a:avLst>
              <a:gd name="adj" fmla="val 22000"/>
            </a:avLst>
          </a:prstGeom>
          <a:solidFill>
            <a:schemeClr val="accent1"/>
          </a:solidFill>
          <a:ln/>
        </p:spPr>
      </p:sp>
      <p:pic>
        <p:nvPicPr>
          <p:cNvPr id="6" name="icon-160" descr="Factory icon">    </p:cNvPr>
          <p:cNvPicPr>
            <a:picLocks noChangeAspect="1"/>
          </p:cNvPicPr>
          <p:nvPr/>
        </p:nvPicPr>
        <p:blipFill>
          <a:blip r:embed="rId1"/>
          <a:stretch>
            <a:fillRect/>
          </a:stretch>
        </p:blipFill>
        <p:spPr>
          <a:xfrm>
            <a:off x="828081" y="1879641"/>
            <a:ext cx="245791" cy="245791"/>
          </a:xfrm>
          <a:prstGeom prst="rect">
            <a:avLst/>
          </a:prstGeom>
        </p:spPr>
      </p:pic>
      <p:sp>
        <p:nvSpPr>
          <p:cNvPr id="7" name="text-161"/>
          <p:cNvSpPr txBox="1"/>
          <p:nvPr/>
        </p:nvSpPr>
        <p:spPr>
          <a:xfrm>
            <a:off x="731520" y="2313432"/>
            <a:ext cx="1783080" cy="292608"/>
          </a:xfrm>
          <a:prstGeom prst="rect">
            <a:avLst/>
          </a:prstGeom>
          <a:noFill/>
          <a:ln/>
        </p:spPr>
        <p:txBody>
          <a:bodyPr wrap="square" lIns="0" tIns="0" rIns="0" bIns="0" rtlCol="0" anchor="t"/>
          <a:lstStyle/>
          <a:p>
            <a:pPr indent="0" marL="0">
              <a:buNone/>
            </a:pPr>
            <a:r>
              <a:rPr lang="en-US" sz="1600" b="1" dirty="0">
                <a:solidFill>
                  <a:schemeClr val="tx1"/>
                </a:solidFill>
              </a:rPr>
              <a:t>Real</a:t>
            </a:r>
            <a:endParaRPr lang="en-US" sz="1600" dirty="0"/>
          </a:p>
        </p:txBody>
      </p:sp>
      <p:sp>
        <p:nvSpPr>
          <p:cNvPr id="8" name="text-162"/>
          <p:cNvSpPr txBox="1"/>
          <p:nvPr/>
        </p:nvSpPr>
        <p:spPr>
          <a:xfrm>
            <a:off x="731520" y="2606040"/>
            <a:ext cx="1783080" cy="420624"/>
          </a:xfrm>
          <a:prstGeom prst="rect">
            <a:avLst/>
          </a:prstGeom>
          <a:noFill/>
          <a:ln/>
        </p:spPr>
        <p:txBody>
          <a:bodyPr wrap="square" lIns="0" tIns="0" rIns="0" bIns="0" rtlCol="0" anchor="t"/>
          <a:lstStyle/>
          <a:p>
            <a:pPr indent="0" marL="0">
              <a:buNone/>
            </a:pPr>
            <a:r>
              <a:rPr lang="en-US" sz="1250" dirty="0">
                <a:solidFill>
                  <a:schemeClr val="tx2"/>
                </a:solidFill>
              </a:rPr>
              <a:t>GDP, GVA, IIP, GFCF</a:t>
            </a:r>
            <a:endParaRPr lang="en-US" sz="1250" dirty="0"/>
          </a:p>
        </p:txBody>
      </p:sp>
      <p:sp>
        <p:nvSpPr>
          <p:cNvPr id="9" name="card-163"/>
          <p:cNvSpPr/>
          <p:nvPr/>
        </p:nvSpPr>
        <p:spPr>
          <a:xfrm>
            <a:off x="731520" y="3081528"/>
            <a:ext cx="1356970" cy="237744"/>
          </a:xfrm>
          <a:prstGeom prst="roundRect">
            <a:avLst>
              <a:gd name="adj" fmla="val 50000"/>
            </a:avLst>
          </a:prstGeom>
          <a:solidFill>
            <a:schemeClr val="bg1"/>
          </a:solidFill>
          <a:ln/>
        </p:spPr>
      </p:sp>
      <p:sp>
        <p:nvSpPr>
          <p:cNvPr id="10" name="text-164"/>
          <p:cNvSpPr txBox="1"/>
          <p:nvPr/>
        </p:nvSpPr>
        <p:spPr>
          <a:xfrm>
            <a:off x="731520" y="3081528"/>
            <a:ext cx="1356970" cy="237744"/>
          </a:xfrm>
          <a:prstGeom prst="rect">
            <a:avLst/>
          </a:prstGeom>
          <a:noFill/>
          <a:ln/>
        </p:spPr>
        <p:txBody>
          <a:bodyPr wrap="square" lIns="0" tIns="0" rIns="0" bIns="0" rtlCol="0" anchor="ctr"/>
          <a:lstStyle/>
          <a:p>
            <a:pPr algn="ctr" indent="0" marL="0">
              <a:buNone/>
            </a:pPr>
            <a:r>
              <a:rPr lang="en-US" sz="1000" b="1" spc="50" kern="0" dirty="0">
                <a:solidFill>
                  <a:schemeClr val="accent1"/>
                </a:solidFill>
              </a:rPr>
              <a:t>MoSPI e-Sankhyiki</a:t>
            </a:r>
            <a:endParaRPr lang="en-US" sz="1000" dirty="0"/>
          </a:p>
        </p:txBody>
      </p:sp>
      <p:sp>
        <p:nvSpPr>
          <p:cNvPr id="11" name="card-165"/>
          <p:cNvSpPr/>
          <p:nvPr/>
        </p:nvSpPr>
        <p:spPr>
          <a:xfrm>
            <a:off x="2803322" y="1600200"/>
            <a:ext cx="2075688" cy="1828800"/>
          </a:xfrm>
          <a:prstGeom prst="roundRect">
            <a:avLst>
              <a:gd name="adj" fmla="val 5000"/>
            </a:avLst>
          </a:prstGeom>
          <a:solidFill>
            <a:schemeClr val="bg2"/>
          </a:solidFill>
          <a:ln/>
        </p:spPr>
      </p:sp>
      <p:sp>
        <p:nvSpPr>
          <p:cNvPr id="12" name="card-166"/>
          <p:cNvSpPr/>
          <p:nvPr/>
        </p:nvSpPr>
        <p:spPr>
          <a:xfrm>
            <a:off x="2986202" y="1783080"/>
            <a:ext cx="438912" cy="438912"/>
          </a:xfrm>
          <a:prstGeom prst="roundRect">
            <a:avLst>
              <a:gd name="adj" fmla="val 22000"/>
            </a:avLst>
          </a:prstGeom>
          <a:solidFill>
            <a:schemeClr val="accent1"/>
          </a:solidFill>
          <a:ln/>
        </p:spPr>
      </p:sp>
      <p:pic>
        <p:nvPicPr>
          <p:cNvPr id="13" name="icon-167" descr="Wheat icon">    </p:cNvPr>
          <p:cNvPicPr>
            <a:picLocks noChangeAspect="1"/>
          </p:cNvPicPr>
          <p:nvPr/>
        </p:nvPicPr>
        <p:blipFill>
          <a:blip r:embed="rId2"/>
          <a:stretch>
            <a:fillRect/>
          </a:stretch>
        </p:blipFill>
        <p:spPr>
          <a:xfrm>
            <a:off x="3082762" y="1879641"/>
            <a:ext cx="245791" cy="245791"/>
          </a:xfrm>
          <a:prstGeom prst="rect">
            <a:avLst/>
          </a:prstGeom>
        </p:spPr>
      </p:pic>
      <p:sp>
        <p:nvSpPr>
          <p:cNvPr id="14" name="text-168"/>
          <p:cNvSpPr txBox="1"/>
          <p:nvPr/>
        </p:nvSpPr>
        <p:spPr>
          <a:xfrm>
            <a:off x="2986202" y="2313432"/>
            <a:ext cx="1783080" cy="292608"/>
          </a:xfrm>
          <a:prstGeom prst="rect">
            <a:avLst/>
          </a:prstGeom>
          <a:noFill/>
          <a:ln/>
        </p:spPr>
        <p:txBody>
          <a:bodyPr wrap="square" lIns="0" tIns="0" rIns="0" bIns="0" rtlCol="0" anchor="t"/>
          <a:lstStyle/>
          <a:p>
            <a:pPr indent="0" marL="0">
              <a:buNone/>
            </a:pPr>
            <a:r>
              <a:rPr lang="en-US" sz="1600" b="1" dirty="0">
                <a:solidFill>
                  <a:schemeClr val="tx1"/>
                </a:solidFill>
              </a:rPr>
              <a:t>Agriculture</a:t>
            </a:r>
            <a:endParaRPr lang="en-US" sz="1600" dirty="0"/>
          </a:p>
        </p:txBody>
      </p:sp>
      <p:sp>
        <p:nvSpPr>
          <p:cNvPr id="15" name="text-169"/>
          <p:cNvSpPr txBox="1"/>
          <p:nvPr/>
        </p:nvSpPr>
        <p:spPr>
          <a:xfrm>
            <a:off x="2986202" y="2606040"/>
            <a:ext cx="1783080" cy="420624"/>
          </a:xfrm>
          <a:prstGeom prst="rect">
            <a:avLst/>
          </a:prstGeom>
          <a:noFill/>
          <a:ln/>
        </p:spPr>
        <p:txBody>
          <a:bodyPr wrap="square" lIns="0" tIns="0" rIns="0" bIns="0" rtlCol="0" anchor="t"/>
          <a:lstStyle/>
          <a:p>
            <a:pPr indent="0" marL="0">
              <a:buNone/>
            </a:pPr>
            <a:r>
              <a:rPr lang="en-US" sz="1250" dirty="0">
                <a:solidFill>
                  <a:schemeClr val="tx2"/>
                </a:solidFill>
              </a:rPr>
              <a:t>Crops, MSP, monsoon,</a:t>
            </a:r>
            <a:endParaRPr lang="en-US" sz="1250" dirty="0"/>
          </a:p>
          <a:p>
            <a:pPr indent="0" marL="0">
              <a:buNone/>
            </a:pPr>
            <a:r>
              <a:rPr lang="en-US" sz="1250" dirty="0">
                <a:solidFill>
                  <a:schemeClr val="tx2"/>
                </a:solidFill>
              </a:rPr>
              <a:t>mandi prices</a:t>
            </a:r>
            <a:endParaRPr lang="en-US" sz="1250" dirty="0"/>
          </a:p>
        </p:txBody>
      </p:sp>
      <p:sp>
        <p:nvSpPr>
          <p:cNvPr id="16" name="card-170"/>
          <p:cNvSpPr/>
          <p:nvPr/>
        </p:nvSpPr>
        <p:spPr>
          <a:xfrm>
            <a:off x="2986202" y="3081528"/>
            <a:ext cx="1225296" cy="237744"/>
          </a:xfrm>
          <a:prstGeom prst="roundRect">
            <a:avLst>
              <a:gd name="adj" fmla="val 50000"/>
            </a:avLst>
          </a:prstGeom>
          <a:solidFill>
            <a:schemeClr val="bg1"/>
          </a:solidFill>
          <a:ln/>
        </p:spPr>
      </p:sp>
      <p:sp>
        <p:nvSpPr>
          <p:cNvPr id="17" name="text-171"/>
          <p:cNvSpPr txBox="1"/>
          <p:nvPr/>
        </p:nvSpPr>
        <p:spPr>
          <a:xfrm>
            <a:off x="2986202" y="3081528"/>
            <a:ext cx="1225296" cy="237744"/>
          </a:xfrm>
          <a:prstGeom prst="rect">
            <a:avLst/>
          </a:prstGeom>
          <a:noFill/>
          <a:ln/>
        </p:spPr>
        <p:txBody>
          <a:bodyPr wrap="square" lIns="0" tIns="0" rIns="0" bIns="0" rtlCol="0" anchor="ctr"/>
          <a:lstStyle/>
          <a:p>
            <a:pPr algn="ctr" indent="0" marL="0">
              <a:buNone/>
            </a:pPr>
            <a:r>
              <a:rPr lang="en-US" sz="1000" b="1" spc="50" kern="0" dirty="0">
                <a:solidFill>
                  <a:schemeClr val="accent1"/>
                </a:solidFill>
              </a:rPr>
              <a:t>Agmarknet · IMD</a:t>
            </a:r>
            <a:endParaRPr lang="en-US" sz="1000" dirty="0"/>
          </a:p>
        </p:txBody>
      </p:sp>
      <p:sp>
        <p:nvSpPr>
          <p:cNvPr id="18" name="card-172"/>
          <p:cNvSpPr/>
          <p:nvPr/>
        </p:nvSpPr>
        <p:spPr>
          <a:xfrm>
            <a:off x="5058004" y="1600200"/>
            <a:ext cx="2075688" cy="1828800"/>
          </a:xfrm>
          <a:prstGeom prst="roundRect">
            <a:avLst>
              <a:gd name="adj" fmla="val 5000"/>
            </a:avLst>
          </a:prstGeom>
          <a:solidFill>
            <a:schemeClr val="bg2"/>
          </a:solidFill>
          <a:ln/>
        </p:spPr>
      </p:sp>
      <p:sp>
        <p:nvSpPr>
          <p:cNvPr id="19" name="card-173"/>
          <p:cNvSpPr/>
          <p:nvPr/>
        </p:nvSpPr>
        <p:spPr>
          <a:xfrm>
            <a:off x="5240884" y="1783080"/>
            <a:ext cx="438912" cy="438912"/>
          </a:xfrm>
          <a:prstGeom prst="roundRect">
            <a:avLst>
              <a:gd name="adj" fmla="val 22000"/>
            </a:avLst>
          </a:prstGeom>
          <a:solidFill>
            <a:schemeClr val="accent1"/>
          </a:solidFill>
          <a:ln/>
        </p:spPr>
      </p:sp>
      <p:pic>
        <p:nvPicPr>
          <p:cNvPr id="20" name="icon-174" descr="Tag icon">    </p:cNvPr>
          <p:cNvPicPr>
            <a:picLocks noChangeAspect="1"/>
          </p:cNvPicPr>
          <p:nvPr/>
        </p:nvPicPr>
        <p:blipFill>
          <a:blip r:embed="rId3"/>
          <a:stretch>
            <a:fillRect/>
          </a:stretch>
        </p:blipFill>
        <p:spPr>
          <a:xfrm>
            <a:off x="5337444" y="1879641"/>
            <a:ext cx="245791" cy="245791"/>
          </a:xfrm>
          <a:prstGeom prst="rect">
            <a:avLst/>
          </a:prstGeom>
        </p:spPr>
      </p:pic>
      <p:sp>
        <p:nvSpPr>
          <p:cNvPr id="21" name="text-175"/>
          <p:cNvSpPr txBox="1"/>
          <p:nvPr/>
        </p:nvSpPr>
        <p:spPr>
          <a:xfrm>
            <a:off x="5240884" y="2313432"/>
            <a:ext cx="1783080" cy="292608"/>
          </a:xfrm>
          <a:prstGeom prst="rect">
            <a:avLst/>
          </a:prstGeom>
          <a:noFill/>
          <a:ln/>
        </p:spPr>
        <p:txBody>
          <a:bodyPr wrap="square" lIns="0" tIns="0" rIns="0" bIns="0" rtlCol="0" anchor="t"/>
          <a:lstStyle/>
          <a:p>
            <a:pPr indent="0" marL="0">
              <a:buNone/>
            </a:pPr>
            <a:r>
              <a:rPr lang="en-US" sz="1600" b="1" dirty="0">
                <a:solidFill>
                  <a:schemeClr val="tx1"/>
                </a:solidFill>
              </a:rPr>
              <a:t>Prices</a:t>
            </a:r>
            <a:endParaRPr lang="en-US" sz="1600" dirty="0"/>
          </a:p>
        </p:txBody>
      </p:sp>
      <p:sp>
        <p:nvSpPr>
          <p:cNvPr id="22" name="text-176"/>
          <p:cNvSpPr txBox="1"/>
          <p:nvPr/>
        </p:nvSpPr>
        <p:spPr>
          <a:xfrm>
            <a:off x="5240884" y="2606040"/>
            <a:ext cx="1783080" cy="420624"/>
          </a:xfrm>
          <a:prstGeom prst="rect">
            <a:avLst/>
          </a:prstGeom>
          <a:noFill/>
          <a:ln/>
        </p:spPr>
        <p:txBody>
          <a:bodyPr wrap="square" lIns="0" tIns="0" rIns="0" bIns="0" rtlCol="0" anchor="t"/>
          <a:lstStyle/>
          <a:p>
            <a:pPr indent="0" marL="0">
              <a:buNone/>
            </a:pPr>
            <a:r>
              <a:rPr lang="en-US" sz="1250" dirty="0">
                <a:solidFill>
                  <a:schemeClr val="tx2"/>
                </a:solidFill>
              </a:rPr>
              <a:t>CPI and WPI inflation,</a:t>
            </a:r>
            <a:endParaRPr lang="en-US" sz="1250" dirty="0"/>
          </a:p>
          <a:p>
            <a:pPr indent="0" marL="0">
              <a:buNone/>
            </a:pPr>
            <a:r>
              <a:rPr lang="en-US" sz="1250" dirty="0">
                <a:solidFill>
                  <a:schemeClr val="tx2"/>
                </a:solidFill>
              </a:rPr>
              <a:t>food, fuel and core</a:t>
            </a:r>
            <a:endParaRPr lang="en-US" sz="1250" dirty="0"/>
          </a:p>
        </p:txBody>
      </p:sp>
      <p:sp>
        <p:nvSpPr>
          <p:cNvPr id="23" name="card-177"/>
          <p:cNvSpPr/>
          <p:nvPr/>
        </p:nvSpPr>
        <p:spPr>
          <a:xfrm>
            <a:off x="5240884" y="3081528"/>
            <a:ext cx="1356970" cy="237744"/>
          </a:xfrm>
          <a:prstGeom prst="roundRect">
            <a:avLst>
              <a:gd name="adj" fmla="val 50000"/>
            </a:avLst>
          </a:prstGeom>
          <a:solidFill>
            <a:schemeClr val="bg1"/>
          </a:solidFill>
          <a:ln/>
        </p:spPr>
      </p:sp>
      <p:sp>
        <p:nvSpPr>
          <p:cNvPr id="24" name="text-178"/>
          <p:cNvSpPr txBox="1"/>
          <p:nvPr/>
        </p:nvSpPr>
        <p:spPr>
          <a:xfrm>
            <a:off x="5240884" y="3081528"/>
            <a:ext cx="1356970" cy="237744"/>
          </a:xfrm>
          <a:prstGeom prst="rect">
            <a:avLst/>
          </a:prstGeom>
          <a:noFill/>
          <a:ln/>
        </p:spPr>
        <p:txBody>
          <a:bodyPr wrap="square" lIns="0" tIns="0" rIns="0" bIns="0" rtlCol="0" anchor="ctr"/>
          <a:lstStyle/>
          <a:p>
            <a:pPr algn="ctr" indent="0" marL="0">
              <a:buNone/>
            </a:pPr>
            <a:r>
              <a:rPr lang="en-US" sz="1000" b="1" spc="50" kern="0" dirty="0">
                <a:solidFill>
                  <a:schemeClr val="accent1"/>
                </a:solidFill>
              </a:rPr>
              <a:t>MoSPI e-Sankhyiki</a:t>
            </a:r>
            <a:endParaRPr lang="en-US" sz="1000" dirty="0"/>
          </a:p>
        </p:txBody>
      </p:sp>
      <p:sp>
        <p:nvSpPr>
          <p:cNvPr id="25" name="card-179"/>
          <p:cNvSpPr/>
          <p:nvPr/>
        </p:nvSpPr>
        <p:spPr>
          <a:xfrm>
            <a:off x="7312685" y="1600200"/>
            <a:ext cx="2075688" cy="1828800"/>
          </a:xfrm>
          <a:prstGeom prst="roundRect">
            <a:avLst>
              <a:gd name="adj" fmla="val 5000"/>
            </a:avLst>
          </a:prstGeom>
          <a:solidFill>
            <a:schemeClr val="bg2"/>
          </a:solidFill>
          <a:ln/>
        </p:spPr>
      </p:sp>
      <p:sp>
        <p:nvSpPr>
          <p:cNvPr id="26" name="card-180"/>
          <p:cNvSpPr/>
          <p:nvPr/>
        </p:nvSpPr>
        <p:spPr>
          <a:xfrm>
            <a:off x="7495565" y="1783080"/>
            <a:ext cx="438912" cy="438912"/>
          </a:xfrm>
          <a:prstGeom prst="roundRect">
            <a:avLst>
              <a:gd name="adj" fmla="val 22000"/>
            </a:avLst>
          </a:prstGeom>
          <a:solidFill>
            <a:schemeClr val="accent1"/>
          </a:solidFill>
          <a:ln/>
        </p:spPr>
      </p:sp>
      <p:pic>
        <p:nvPicPr>
          <p:cNvPr id="27" name="icon-181" descr="Landmark icon">    </p:cNvPr>
          <p:cNvPicPr>
            <a:picLocks noChangeAspect="1"/>
          </p:cNvPicPr>
          <p:nvPr/>
        </p:nvPicPr>
        <p:blipFill>
          <a:blip r:embed="rId4"/>
          <a:stretch>
            <a:fillRect/>
          </a:stretch>
        </p:blipFill>
        <p:spPr>
          <a:xfrm>
            <a:off x="7592126" y="1879641"/>
            <a:ext cx="245791" cy="245791"/>
          </a:xfrm>
          <a:prstGeom prst="rect">
            <a:avLst/>
          </a:prstGeom>
        </p:spPr>
      </p:pic>
      <p:sp>
        <p:nvSpPr>
          <p:cNvPr id="28" name="text-182"/>
          <p:cNvSpPr txBox="1"/>
          <p:nvPr/>
        </p:nvSpPr>
        <p:spPr>
          <a:xfrm>
            <a:off x="7495565" y="2313432"/>
            <a:ext cx="1783080" cy="292608"/>
          </a:xfrm>
          <a:prstGeom prst="rect">
            <a:avLst/>
          </a:prstGeom>
          <a:noFill/>
          <a:ln/>
        </p:spPr>
        <p:txBody>
          <a:bodyPr wrap="square" lIns="0" tIns="0" rIns="0" bIns="0" rtlCol="0" anchor="t"/>
          <a:lstStyle/>
          <a:p>
            <a:pPr indent="0" marL="0">
              <a:buNone/>
            </a:pPr>
            <a:r>
              <a:rPr lang="en-US" sz="1600" b="1" dirty="0">
                <a:solidFill>
                  <a:schemeClr val="tx1"/>
                </a:solidFill>
              </a:rPr>
              <a:t>Monetary</a:t>
            </a:r>
            <a:endParaRPr lang="en-US" sz="1600" dirty="0"/>
          </a:p>
        </p:txBody>
      </p:sp>
      <p:sp>
        <p:nvSpPr>
          <p:cNvPr id="29" name="text-183"/>
          <p:cNvSpPr txBox="1"/>
          <p:nvPr/>
        </p:nvSpPr>
        <p:spPr>
          <a:xfrm>
            <a:off x="7495565" y="2606040"/>
            <a:ext cx="1783080" cy="420624"/>
          </a:xfrm>
          <a:prstGeom prst="rect">
            <a:avLst/>
          </a:prstGeom>
          <a:noFill/>
          <a:ln/>
        </p:spPr>
        <p:txBody>
          <a:bodyPr wrap="square" lIns="0" tIns="0" rIns="0" bIns="0" rtlCol="0" anchor="t"/>
          <a:lstStyle/>
          <a:p>
            <a:pPr indent="0" marL="0">
              <a:buNone/>
            </a:pPr>
            <a:r>
              <a:rPr lang="en-US" sz="1250" dirty="0">
                <a:solidFill>
                  <a:schemeClr val="tx2"/>
                </a:solidFill>
              </a:rPr>
              <a:t>Repo corridor, M3,</a:t>
            </a:r>
            <a:endParaRPr lang="en-US" sz="1250" dirty="0"/>
          </a:p>
          <a:p>
            <a:pPr indent="0" marL="0">
              <a:buNone/>
            </a:pPr>
            <a:r>
              <a:rPr lang="en-US" sz="1250" dirty="0">
                <a:solidFill>
                  <a:schemeClr val="tx2"/>
                </a:solidFill>
              </a:rPr>
              <a:t>liquidity, stance</a:t>
            </a:r>
            <a:endParaRPr lang="en-US" sz="1250" dirty="0"/>
          </a:p>
        </p:txBody>
      </p:sp>
      <p:sp>
        <p:nvSpPr>
          <p:cNvPr id="30" name="card-184"/>
          <p:cNvSpPr/>
          <p:nvPr/>
        </p:nvSpPr>
        <p:spPr>
          <a:xfrm>
            <a:off x="7495565" y="3081528"/>
            <a:ext cx="764438" cy="237744"/>
          </a:xfrm>
          <a:prstGeom prst="roundRect">
            <a:avLst>
              <a:gd name="adj" fmla="val 50000"/>
            </a:avLst>
          </a:prstGeom>
          <a:solidFill>
            <a:schemeClr val="bg1"/>
          </a:solidFill>
          <a:ln/>
        </p:spPr>
      </p:sp>
      <p:sp>
        <p:nvSpPr>
          <p:cNvPr id="31" name="text-185"/>
          <p:cNvSpPr txBox="1"/>
          <p:nvPr/>
        </p:nvSpPr>
        <p:spPr>
          <a:xfrm>
            <a:off x="7495565" y="3081528"/>
            <a:ext cx="764438" cy="237744"/>
          </a:xfrm>
          <a:prstGeom prst="rect">
            <a:avLst/>
          </a:prstGeom>
          <a:noFill/>
          <a:ln/>
        </p:spPr>
        <p:txBody>
          <a:bodyPr wrap="square" lIns="0" tIns="0" rIns="0" bIns="0" rtlCol="0" anchor="ctr"/>
          <a:lstStyle/>
          <a:p>
            <a:pPr algn="ctr" indent="0" marL="0">
              <a:buNone/>
            </a:pPr>
            <a:r>
              <a:rPr lang="en-US" sz="1000" b="1" spc="50" kern="0" dirty="0">
                <a:solidFill>
                  <a:schemeClr val="accent1"/>
                </a:solidFill>
              </a:rPr>
              <a:t>RBI DBIE</a:t>
            </a:r>
            <a:endParaRPr lang="en-US" sz="1000" dirty="0"/>
          </a:p>
        </p:txBody>
      </p:sp>
      <p:sp>
        <p:nvSpPr>
          <p:cNvPr id="32" name="card-186"/>
          <p:cNvSpPr/>
          <p:nvPr/>
        </p:nvSpPr>
        <p:spPr>
          <a:xfrm>
            <a:off x="9567367" y="1600200"/>
            <a:ext cx="2075688" cy="1828800"/>
          </a:xfrm>
          <a:prstGeom prst="roundRect">
            <a:avLst>
              <a:gd name="adj" fmla="val 5000"/>
            </a:avLst>
          </a:prstGeom>
          <a:solidFill>
            <a:schemeClr val="bg2"/>
          </a:solidFill>
          <a:ln/>
        </p:spPr>
      </p:sp>
      <p:sp>
        <p:nvSpPr>
          <p:cNvPr id="33" name="card-187"/>
          <p:cNvSpPr/>
          <p:nvPr/>
        </p:nvSpPr>
        <p:spPr>
          <a:xfrm>
            <a:off x="9750247" y="1783080"/>
            <a:ext cx="438912" cy="438912"/>
          </a:xfrm>
          <a:prstGeom prst="roundRect">
            <a:avLst>
              <a:gd name="adj" fmla="val 22000"/>
            </a:avLst>
          </a:prstGeom>
          <a:solidFill>
            <a:schemeClr val="accent1"/>
          </a:solidFill>
          <a:ln/>
        </p:spPr>
      </p:sp>
      <p:pic>
        <p:nvPicPr>
          <p:cNvPr id="34" name="icon-188" descr="PiggyBank icon">    </p:cNvPr>
          <p:cNvPicPr>
            <a:picLocks noChangeAspect="1"/>
          </p:cNvPicPr>
          <p:nvPr/>
        </p:nvPicPr>
        <p:blipFill>
          <a:blip r:embed="rId5"/>
          <a:stretch>
            <a:fillRect/>
          </a:stretch>
        </p:blipFill>
        <p:spPr>
          <a:xfrm>
            <a:off x="9846808" y="1879641"/>
            <a:ext cx="245791" cy="245791"/>
          </a:xfrm>
          <a:prstGeom prst="rect">
            <a:avLst/>
          </a:prstGeom>
        </p:spPr>
      </p:pic>
      <p:sp>
        <p:nvSpPr>
          <p:cNvPr id="35" name="text-189"/>
          <p:cNvSpPr txBox="1"/>
          <p:nvPr/>
        </p:nvSpPr>
        <p:spPr>
          <a:xfrm>
            <a:off x="9750247" y="2313432"/>
            <a:ext cx="1783080" cy="292608"/>
          </a:xfrm>
          <a:prstGeom prst="rect">
            <a:avLst/>
          </a:prstGeom>
          <a:noFill/>
          <a:ln/>
        </p:spPr>
        <p:txBody>
          <a:bodyPr wrap="square" lIns="0" tIns="0" rIns="0" bIns="0" rtlCol="0" anchor="t"/>
          <a:lstStyle/>
          <a:p>
            <a:pPr indent="0" marL="0">
              <a:buNone/>
            </a:pPr>
            <a:r>
              <a:rPr lang="en-US" sz="1600" b="1" dirty="0">
                <a:solidFill>
                  <a:schemeClr val="tx1"/>
                </a:solidFill>
              </a:rPr>
              <a:t>Finance</a:t>
            </a:r>
            <a:endParaRPr lang="en-US" sz="1600" dirty="0"/>
          </a:p>
        </p:txBody>
      </p:sp>
      <p:sp>
        <p:nvSpPr>
          <p:cNvPr id="36" name="text-190"/>
          <p:cNvSpPr txBox="1"/>
          <p:nvPr/>
        </p:nvSpPr>
        <p:spPr>
          <a:xfrm>
            <a:off x="9750247" y="2606040"/>
            <a:ext cx="1783080" cy="420624"/>
          </a:xfrm>
          <a:prstGeom prst="rect">
            <a:avLst/>
          </a:prstGeom>
          <a:noFill/>
          <a:ln/>
        </p:spPr>
        <p:txBody>
          <a:bodyPr wrap="square" lIns="0" tIns="0" rIns="0" bIns="0" rtlCol="0" anchor="t"/>
          <a:lstStyle/>
          <a:p>
            <a:pPr indent="0" marL="0">
              <a:buNone/>
            </a:pPr>
            <a:r>
              <a:rPr lang="en-US" sz="1250" dirty="0">
                <a:solidFill>
                  <a:schemeClr val="tx2"/>
                </a:solidFill>
              </a:rPr>
              <a:t>Bank credit, GNPA,</a:t>
            </a:r>
            <a:endParaRPr lang="en-US" sz="1250" dirty="0"/>
          </a:p>
          <a:p>
            <a:pPr indent="0" marL="0">
              <a:buNone/>
            </a:pPr>
            <a:r>
              <a:rPr lang="en-US" sz="1250" dirty="0">
                <a:solidFill>
                  <a:schemeClr val="tx2"/>
                </a:solidFill>
              </a:rPr>
              <a:t>WALR and MCLR</a:t>
            </a:r>
            <a:endParaRPr lang="en-US" sz="1250" dirty="0"/>
          </a:p>
        </p:txBody>
      </p:sp>
      <p:sp>
        <p:nvSpPr>
          <p:cNvPr id="37" name="card-191"/>
          <p:cNvSpPr/>
          <p:nvPr/>
        </p:nvSpPr>
        <p:spPr>
          <a:xfrm>
            <a:off x="9750247" y="3081528"/>
            <a:ext cx="1225296" cy="237744"/>
          </a:xfrm>
          <a:prstGeom prst="roundRect">
            <a:avLst>
              <a:gd name="adj" fmla="val 50000"/>
            </a:avLst>
          </a:prstGeom>
          <a:solidFill>
            <a:schemeClr val="bg1"/>
          </a:solidFill>
          <a:ln/>
        </p:spPr>
      </p:sp>
      <p:sp>
        <p:nvSpPr>
          <p:cNvPr id="38" name="text-192"/>
          <p:cNvSpPr txBox="1"/>
          <p:nvPr/>
        </p:nvSpPr>
        <p:spPr>
          <a:xfrm>
            <a:off x="9750247" y="3081528"/>
            <a:ext cx="1225296" cy="237744"/>
          </a:xfrm>
          <a:prstGeom prst="rect">
            <a:avLst/>
          </a:prstGeom>
          <a:noFill/>
          <a:ln/>
        </p:spPr>
        <p:txBody>
          <a:bodyPr wrap="square" lIns="0" tIns="0" rIns="0" bIns="0" rtlCol="0" anchor="ctr"/>
          <a:lstStyle/>
          <a:p>
            <a:pPr algn="ctr" indent="0" marL="0">
              <a:buNone/>
            </a:pPr>
            <a:r>
              <a:rPr lang="en-US" sz="1000" b="1" spc="50" kern="0" dirty="0">
                <a:solidFill>
                  <a:schemeClr val="accent1"/>
                </a:solidFill>
              </a:rPr>
              <a:t>RBI DBIE tables</a:t>
            </a:r>
            <a:endParaRPr lang="en-US" sz="1000" dirty="0"/>
          </a:p>
        </p:txBody>
      </p:sp>
      <p:sp>
        <p:nvSpPr>
          <p:cNvPr id="39" name="card-193"/>
          <p:cNvSpPr/>
          <p:nvPr/>
        </p:nvSpPr>
        <p:spPr>
          <a:xfrm>
            <a:off x="548640" y="3611880"/>
            <a:ext cx="2075688" cy="1828800"/>
          </a:xfrm>
          <a:prstGeom prst="roundRect">
            <a:avLst>
              <a:gd name="adj" fmla="val 5000"/>
            </a:avLst>
          </a:prstGeom>
          <a:solidFill>
            <a:schemeClr val="bg2"/>
          </a:solidFill>
          <a:ln/>
        </p:spPr>
      </p:sp>
      <p:sp>
        <p:nvSpPr>
          <p:cNvPr id="40" name="card-194"/>
          <p:cNvSpPr/>
          <p:nvPr/>
        </p:nvSpPr>
        <p:spPr>
          <a:xfrm>
            <a:off x="731520" y="3794760"/>
            <a:ext cx="438912" cy="438912"/>
          </a:xfrm>
          <a:prstGeom prst="roundRect">
            <a:avLst>
              <a:gd name="adj" fmla="val 22000"/>
            </a:avLst>
          </a:prstGeom>
          <a:solidFill>
            <a:schemeClr val="accent1"/>
          </a:solidFill>
          <a:ln/>
        </p:spPr>
      </p:sp>
      <p:pic>
        <p:nvPicPr>
          <p:cNvPr id="41" name="icon-195" descr="ChartCandlestick icon">    </p:cNvPr>
          <p:cNvPicPr>
            <a:picLocks noChangeAspect="1"/>
          </p:cNvPicPr>
          <p:nvPr/>
        </p:nvPicPr>
        <p:blipFill>
          <a:blip r:embed="rId6"/>
          <a:stretch>
            <a:fillRect/>
          </a:stretch>
        </p:blipFill>
        <p:spPr>
          <a:xfrm>
            <a:off x="828081" y="3891321"/>
            <a:ext cx="245791" cy="245791"/>
          </a:xfrm>
          <a:prstGeom prst="rect">
            <a:avLst/>
          </a:prstGeom>
        </p:spPr>
      </p:pic>
      <p:sp>
        <p:nvSpPr>
          <p:cNvPr id="42" name="text-196"/>
          <p:cNvSpPr txBox="1"/>
          <p:nvPr/>
        </p:nvSpPr>
        <p:spPr>
          <a:xfrm>
            <a:off x="731520" y="4325112"/>
            <a:ext cx="1783080" cy="292608"/>
          </a:xfrm>
          <a:prstGeom prst="rect">
            <a:avLst/>
          </a:prstGeom>
          <a:noFill/>
          <a:ln/>
        </p:spPr>
        <p:txBody>
          <a:bodyPr wrap="square" lIns="0" tIns="0" rIns="0" bIns="0" rtlCol="0" anchor="t"/>
          <a:lstStyle/>
          <a:p>
            <a:pPr indent="0" marL="0">
              <a:buNone/>
            </a:pPr>
            <a:r>
              <a:rPr lang="en-US" sz="1600" b="1" dirty="0">
                <a:solidFill>
                  <a:schemeClr val="tx1"/>
                </a:solidFill>
              </a:rPr>
              <a:t>Capital Markets</a:t>
            </a:r>
            <a:endParaRPr lang="en-US" sz="1600" dirty="0"/>
          </a:p>
        </p:txBody>
      </p:sp>
      <p:sp>
        <p:nvSpPr>
          <p:cNvPr id="43" name="text-197"/>
          <p:cNvSpPr txBox="1"/>
          <p:nvPr/>
        </p:nvSpPr>
        <p:spPr>
          <a:xfrm>
            <a:off x="731520" y="4617720"/>
            <a:ext cx="1783080" cy="420624"/>
          </a:xfrm>
          <a:prstGeom prst="rect">
            <a:avLst/>
          </a:prstGeom>
          <a:noFill/>
          <a:ln/>
        </p:spPr>
        <p:txBody>
          <a:bodyPr wrap="square" lIns="0" tIns="0" rIns="0" bIns="0" rtlCol="0" anchor="t"/>
          <a:lstStyle/>
          <a:p>
            <a:pPr indent="0" marL="0">
              <a:buNone/>
            </a:pPr>
            <a:r>
              <a:rPr lang="en-US" sz="1250" dirty="0">
                <a:solidFill>
                  <a:schemeClr val="tx2"/>
                </a:solidFill>
              </a:rPr>
              <a:t>NIFTY, India VIX,</a:t>
            </a:r>
            <a:endParaRPr lang="en-US" sz="1250" dirty="0"/>
          </a:p>
          <a:p>
            <a:pPr indent="0" marL="0">
              <a:buNone/>
            </a:pPr>
            <a:r>
              <a:rPr lang="en-US" sz="1250" dirty="0">
                <a:solidFill>
                  <a:schemeClr val="tx2"/>
                </a:solidFill>
              </a:rPr>
              <a:t>FII/DII flows, G‑Sec</a:t>
            </a:r>
            <a:endParaRPr lang="en-US" sz="1250" dirty="0"/>
          </a:p>
        </p:txBody>
      </p:sp>
      <p:sp>
        <p:nvSpPr>
          <p:cNvPr id="44" name="card-198"/>
          <p:cNvSpPr/>
          <p:nvPr/>
        </p:nvSpPr>
        <p:spPr>
          <a:xfrm>
            <a:off x="731520" y="5093208"/>
            <a:ext cx="1225296" cy="237744"/>
          </a:xfrm>
          <a:prstGeom prst="roundRect">
            <a:avLst>
              <a:gd name="adj" fmla="val 50000"/>
            </a:avLst>
          </a:prstGeom>
          <a:solidFill>
            <a:schemeClr val="bg1"/>
          </a:solidFill>
          <a:ln/>
        </p:spPr>
      </p:sp>
      <p:sp>
        <p:nvSpPr>
          <p:cNvPr id="45" name="text-199"/>
          <p:cNvSpPr txBox="1"/>
          <p:nvPr/>
        </p:nvSpPr>
        <p:spPr>
          <a:xfrm>
            <a:off x="731520" y="5093208"/>
            <a:ext cx="1225296" cy="237744"/>
          </a:xfrm>
          <a:prstGeom prst="rect">
            <a:avLst/>
          </a:prstGeom>
          <a:noFill/>
          <a:ln/>
        </p:spPr>
        <p:txBody>
          <a:bodyPr wrap="square" lIns="0" tIns="0" rIns="0" bIns="0" rtlCol="0" anchor="ctr"/>
          <a:lstStyle/>
          <a:p>
            <a:pPr algn="ctr" indent="0" marL="0">
              <a:buNone/>
            </a:pPr>
            <a:r>
              <a:rPr lang="en-US" sz="1000" b="1" spc="50" kern="0" dirty="0">
                <a:solidFill>
                  <a:schemeClr val="accent1"/>
                </a:solidFill>
              </a:rPr>
              <a:t>yfinance · SEBI</a:t>
            </a:r>
            <a:endParaRPr lang="en-US" sz="1000" dirty="0"/>
          </a:p>
        </p:txBody>
      </p:sp>
      <p:sp>
        <p:nvSpPr>
          <p:cNvPr id="46" name="card-200"/>
          <p:cNvSpPr/>
          <p:nvPr/>
        </p:nvSpPr>
        <p:spPr>
          <a:xfrm>
            <a:off x="2803322" y="3611880"/>
            <a:ext cx="2075688" cy="1828800"/>
          </a:xfrm>
          <a:prstGeom prst="roundRect">
            <a:avLst>
              <a:gd name="adj" fmla="val 5000"/>
            </a:avLst>
          </a:prstGeom>
          <a:solidFill>
            <a:schemeClr val="bg2"/>
          </a:solidFill>
          <a:ln/>
        </p:spPr>
      </p:sp>
      <p:sp>
        <p:nvSpPr>
          <p:cNvPr id="47" name="card-201"/>
          <p:cNvSpPr/>
          <p:nvPr/>
        </p:nvSpPr>
        <p:spPr>
          <a:xfrm>
            <a:off x="2986202" y="3794760"/>
            <a:ext cx="438912" cy="438912"/>
          </a:xfrm>
          <a:prstGeom prst="roundRect">
            <a:avLst>
              <a:gd name="adj" fmla="val 22000"/>
            </a:avLst>
          </a:prstGeom>
          <a:solidFill>
            <a:schemeClr val="accent1"/>
          </a:solidFill>
          <a:ln/>
        </p:spPr>
      </p:sp>
      <p:pic>
        <p:nvPicPr>
          <p:cNvPr id="48" name="icon-202" descr="Receipt icon">    </p:cNvPr>
          <p:cNvPicPr>
            <a:picLocks noChangeAspect="1"/>
          </p:cNvPicPr>
          <p:nvPr/>
        </p:nvPicPr>
        <p:blipFill>
          <a:blip r:embed="rId7"/>
          <a:stretch>
            <a:fillRect/>
          </a:stretch>
        </p:blipFill>
        <p:spPr>
          <a:xfrm>
            <a:off x="3082762" y="3891321"/>
            <a:ext cx="245791" cy="245791"/>
          </a:xfrm>
          <a:prstGeom prst="rect">
            <a:avLst/>
          </a:prstGeom>
        </p:spPr>
      </p:pic>
      <p:sp>
        <p:nvSpPr>
          <p:cNvPr id="49" name="text-203"/>
          <p:cNvSpPr txBox="1"/>
          <p:nvPr/>
        </p:nvSpPr>
        <p:spPr>
          <a:xfrm>
            <a:off x="2986202" y="4325112"/>
            <a:ext cx="1783080" cy="292608"/>
          </a:xfrm>
          <a:prstGeom prst="rect">
            <a:avLst/>
          </a:prstGeom>
          <a:noFill/>
          <a:ln/>
        </p:spPr>
        <p:txBody>
          <a:bodyPr wrap="square" lIns="0" tIns="0" rIns="0" bIns="0" rtlCol="0" anchor="t"/>
          <a:lstStyle/>
          <a:p>
            <a:pPr indent="0" marL="0">
              <a:buNone/>
            </a:pPr>
            <a:r>
              <a:rPr lang="en-US" sz="1600" b="1" dirty="0">
                <a:solidFill>
                  <a:schemeClr val="tx1"/>
                </a:solidFill>
              </a:rPr>
              <a:t>Fiscal</a:t>
            </a:r>
            <a:endParaRPr lang="en-US" sz="1600" dirty="0"/>
          </a:p>
        </p:txBody>
      </p:sp>
      <p:sp>
        <p:nvSpPr>
          <p:cNvPr id="50" name="text-204"/>
          <p:cNvSpPr txBox="1"/>
          <p:nvPr/>
        </p:nvSpPr>
        <p:spPr>
          <a:xfrm>
            <a:off x="2986202" y="4617720"/>
            <a:ext cx="1783080" cy="420624"/>
          </a:xfrm>
          <a:prstGeom prst="rect">
            <a:avLst/>
          </a:prstGeom>
          <a:noFill/>
          <a:ln/>
        </p:spPr>
        <p:txBody>
          <a:bodyPr wrap="square" lIns="0" tIns="0" rIns="0" bIns="0" rtlCol="0" anchor="t"/>
          <a:lstStyle/>
          <a:p>
            <a:pPr indent="0" marL="0">
              <a:buNone/>
            </a:pPr>
            <a:r>
              <a:rPr lang="en-US" sz="1250" dirty="0">
                <a:solidFill>
                  <a:schemeClr val="tx2"/>
                </a:solidFill>
              </a:rPr>
              <a:t>Fiscal deficit, GST,</a:t>
            </a:r>
            <a:endParaRPr lang="en-US" sz="1250" dirty="0"/>
          </a:p>
          <a:p>
            <a:pPr indent="0" marL="0">
              <a:buNone/>
            </a:pPr>
            <a:r>
              <a:rPr lang="en-US" sz="1250" dirty="0">
                <a:solidFill>
                  <a:schemeClr val="tx2"/>
                </a:solidFill>
              </a:rPr>
              <a:t>capex, public debt</a:t>
            </a:r>
            <a:endParaRPr lang="en-US" sz="1250" dirty="0"/>
          </a:p>
        </p:txBody>
      </p:sp>
      <p:sp>
        <p:nvSpPr>
          <p:cNvPr id="51" name="card-205"/>
          <p:cNvSpPr/>
          <p:nvPr/>
        </p:nvSpPr>
        <p:spPr>
          <a:xfrm>
            <a:off x="2986202" y="5093208"/>
            <a:ext cx="1422806" cy="237744"/>
          </a:xfrm>
          <a:prstGeom prst="roundRect">
            <a:avLst>
              <a:gd name="adj" fmla="val 50000"/>
            </a:avLst>
          </a:prstGeom>
          <a:solidFill>
            <a:schemeClr val="bg1"/>
          </a:solidFill>
          <a:ln/>
        </p:spPr>
      </p:sp>
      <p:sp>
        <p:nvSpPr>
          <p:cNvPr id="52" name="text-206"/>
          <p:cNvSpPr txBox="1"/>
          <p:nvPr/>
        </p:nvSpPr>
        <p:spPr>
          <a:xfrm>
            <a:off x="2986202" y="5093208"/>
            <a:ext cx="1422806" cy="237744"/>
          </a:xfrm>
          <a:prstGeom prst="rect">
            <a:avLst/>
          </a:prstGeom>
          <a:noFill/>
          <a:ln/>
        </p:spPr>
        <p:txBody>
          <a:bodyPr wrap="square" lIns="0" tIns="0" rIns="0" bIns="0" rtlCol="0" anchor="ctr"/>
          <a:lstStyle/>
          <a:p>
            <a:pPr algn="ctr" indent="0" marL="0">
              <a:buNone/>
            </a:pPr>
            <a:r>
              <a:rPr lang="en-US" sz="1000" b="1" spc="50" kern="0" dirty="0">
                <a:solidFill>
                  <a:schemeClr val="accent1"/>
                </a:solidFill>
              </a:rPr>
              <a:t>CGA · Union Budget</a:t>
            </a:r>
            <a:endParaRPr lang="en-US" sz="1000" dirty="0"/>
          </a:p>
        </p:txBody>
      </p:sp>
      <p:sp>
        <p:nvSpPr>
          <p:cNvPr id="53" name="card-207"/>
          <p:cNvSpPr/>
          <p:nvPr/>
        </p:nvSpPr>
        <p:spPr>
          <a:xfrm>
            <a:off x="5058004" y="3611880"/>
            <a:ext cx="2075688" cy="1828800"/>
          </a:xfrm>
          <a:prstGeom prst="roundRect">
            <a:avLst>
              <a:gd name="adj" fmla="val 5000"/>
            </a:avLst>
          </a:prstGeom>
          <a:solidFill>
            <a:schemeClr val="bg2"/>
          </a:solidFill>
          <a:ln/>
        </p:spPr>
      </p:sp>
      <p:sp>
        <p:nvSpPr>
          <p:cNvPr id="54" name="card-208"/>
          <p:cNvSpPr/>
          <p:nvPr/>
        </p:nvSpPr>
        <p:spPr>
          <a:xfrm>
            <a:off x="5240884" y="3794760"/>
            <a:ext cx="438912" cy="438912"/>
          </a:xfrm>
          <a:prstGeom prst="roundRect">
            <a:avLst>
              <a:gd name="adj" fmla="val 22000"/>
            </a:avLst>
          </a:prstGeom>
          <a:solidFill>
            <a:schemeClr val="accent1"/>
          </a:solidFill>
          <a:ln/>
        </p:spPr>
      </p:sp>
      <p:pic>
        <p:nvPicPr>
          <p:cNvPr id="55" name="icon-209" descr="Ship icon">    </p:cNvPr>
          <p:cNvPicPr>
            <a:picLocks noChangeAspect="1"/>
          </p:cNvPicPr>
          <p:nvPr/>
        </p:nvPicPr>
        <p:blipFill>
          <a:blip r:embed="rId8"/>
          <a:stretch>
            <a:fillRect/>
          </a:stretch>
        </p:blipFill>
        <p:spPr>
          <a:xfrm>
            <a:off x="5337444" y="3891321"/>
            <a:ext cx="245791" cy="245791"/>
          </a:xfrm>
          <a:prstGeom prst="rect">
            <a:avLst/>
          </a:prstGeom>
        </p:spPr>
      </p:pic>
      <p:sp>
        <p:nvSpPr>
          <p:cNvPr id="56" name="text-210"/>
          <p:cNvSpPr txBox="1"/>
          <p:nvPr/>
        </p:nvSpPr>
        <p:spPr>
          <a:xfrm>
            <a:off x="5240884" y="4325112"/>
            <a:ext cx="1783080" cy="292608"/>
          </a:xfrm>
          <a:prstGeom prst="rect">
            <a:avLst/>
          </a:prstGeom>
          <a:noFill/>
          <a:ln/>
        </p:spPr>
        <p:txBody>
          <a:bodyPr wrap="square" lIns="0" tIns="0" rIns="0" bIns="0" rtlCol="0" anchor="t"/>
          <a:lstStyle/>
          <a:p>
            <a:pPr indent="0" marL="0">
              <a:buNone/>
            </a:pPr>
            <a:r>
              <a:rPr lang="en-US" sz="1600" b="1" dirty="0">
                <a:solidFill>
                  <a:schemeClr val="tx1"/>
                </a:solidFill>
              </a:rPr>
              <a:t>External</a:t>
            </a:r>
            <a:endParaRPr lang="en-US" sz="1600" dirty="0"/>
          </a:p>
        </p:txBody>
      </p:sp>
      <p:sp>
        <p:nvSpPr>
          <p:cNvPr id="57" name="text-211"/>
          <p:cNvSpPr txBox="1"/>
          <p:nvPr/>
        </p:nvSpPr>
        <p:spPr>
          <a:xfrm>
            <a:off x="5240884" y="4617720"/>
            <a:ext cx="1783080" cy="420624"/>
          </a:xfrm>
          <a:prstGeom prst="rect">
            <a:avLst/>
          </a:prstGeom>
          <a:noFill/>
          <a:ln/>
        </p:spPr>
        <p:txBody>
          <a:bodyPr wrap="square" lIns="0" tIns="0" rIns="0" bIns="0" rtlCol="0" anchor="t"/>
          <a:lstStyle/>
          <a:p>
            <a:pPr indent="0" marL="0">
              <a:buNone/>
            </a:pPr>
            <a:r>
              <a:rPr lang="en-US" sz="1250" dirty="0">
                <a:solidFill>
                  <a:schemeClr val="tx2"/>
                </a:solidFill>
              </a:rPr>
              <a:t>Forex reserves, trade,</a:t>
            </a:r>
            <a:endParaRPr lang="en-US" sz="1250" dirty="0"/>
          </a:p>
          <a:p>
            <a:pPr indent="0" marL="0">
              <a:buNone/>
            </a:pPr>
            <a:r>
              <a:rPr lang="en-US" sz="1250" dirty="0">
                <a:solidFill>
                  <a:schemeClr val="tx2"/>
                </a:solidFill>
              </a:rPr>
              <a:t>BoP, USD/INR</a:t>
            </a:r>
            <a:endParaRPr lang="en-US" sz="1250" dirty="0"/>
          </a:p>
        </p:txBody>
      </p:sp>
      <p:sp>
        <p:nvSpPr>
          <p:cNvPr id="58" name="card-212"/>
          <p:cNvSpPr/>
          <p:nvPr/>
        </p:nvSpPr>
        <p:spPr>
          <a:xfrm>
            <a:off x="5240884" y="5093208"/>
            <a:ext cx="1027786" cy="237744"/>
          </a:xfrm>
          <a:prstGeom prst="roundRect">
            <a:avLst>
              <a:gd name="adj" fmla="val 50000"/>
            </a:avLst>
          </a:prstGeom>
          <a:solidFill>
            <a:schemeClr val="bg1"/>
          </a:solidFill>
          <a:ln/>
        </p:spPr>
      </p:sp>
      <p:sp>
        <p:nvSpPr>
          <p:cNvPr id="59" name="text-213"/>
          <p:cNvSpPr txBox="1"/>
          <p:nvPr/>
        </p:nvSpPr>
        <p:spPr>
          <a:xfrm>
            <a:off x="5240884" y="5093208"/>
            <a:ext cx="1027786" cy="237744"/>
          </a:xfrm>
          <a:prstGeom prst="rect">
            <a:avLst/>
          </a:prstGeom>
          <a:noFill/>
          <a:ln/>
        </p:spPr>
        <p:txBody>
          <a:bodyPr wrap="square" lIns="0" tIns="0" rIns="0" bIns="0" rtlCol="0" anchor="ctr"/>
          <a:lstStyle/>
          <a:p>
            <a:pPr algn="ctr" indent="0" marL="0">
              <a:buNone/>
            </a:pPr>
            <a:r>
              <a:rPr lang="en-US" sz="1000" b="1" spc="50" kern="0" dirty="0">
                <a:solidFill>
                  <a:schemeClr val="accent1"/>
                </a:solidFill>
              </a:rPr>
              <a:t>RBI · DGCI&amp;S</a:t>
            </a:r>
            <a:endParaRPr lang="en-US" sz="1000" dirty="0"/>
          </a:p>
        </p:txBody>
      </p:sp>
      <p:sp>
        <p:nvSpPr>
          <p:cNvPr id="60" name="card-214"/>
          <p:cNvSpPr/>
          <p:nvPr/>
        </p:nvSpPr>
        <p:spPr>
          <a:xfrm>
            <a:off x="7312685" y="3611880"/>
            <a:ext cx="2075688" cy="1828800"/>
          </a:xfrm>
          <a:prstGeom prst="roundRect">
            <a:avLst>
              <a:gd name="adj" fmla="val 5000"/>
            </a:avLst>
          </a:prstGeom>
          <a:solidFill>
            <a:schemeClr val="bg2"/>
          </a:solidFill>
          <a:ln/>
        </p:spPr>
      </p:sp>
      <p:sp>
        <p:nvSpPr>
          <p:cNvPr id="61" name="card-215"/>
          <p:cNvSpPr/>
          <p:nvPr/>
        </p:nvSpPr>
        <p:spPr>
          <a:xfrm>
            <a:off x="7495565" y="3794760"/>
            <a:ext cx="438912" cy="438912"/>
          </a:xfrm>
          <a:prstGeom prst="roundRect">
            <a:avLst>
              <a:gd name="adj" fmla="val 22000"/>
            </a:avLst>
          </a:prstGeom>
          <a:solidFill>
            <a:schemeClr val="accent1"/>
          </a:solidFill>
          <a:ln/>
        </p:spPr>
      </p:sp>
      <p:pic>
        <p:nvPicPr>
          <p:cNvPr id="62" name="icon-216" descr="Users icon">    </p:cNvPr>
          <p:cNvPicPr>
            <a:picLocks noChangeAspect="1"/>
          </p:cNvPicPr>
          <p:nvPr/>
        </p:nvPicPr>
        <p:blipFill>
          <a:blip r:embed="rId9"/>
          <a:stretch>
            <a:fillRect/>
          </a:stretch>
        </p:blipFill>
        <p:spPr>
          <a:xfrm>
            <a:off x="7592126" y="3891321"/>
            <a:ext cx="245791" cy="245791"/>
          </a:xfrm>
          <a:prstGeom prst="rect">
            <a:avLst/>
          </a:prstGeom>
        </p:spPr>
      </p:pic>
      <p:sp>
        <p:nvSpPr>
          <p:cNvPr id="63" name="text-217"/>
          <p:cNvSpPr txBox="1"/>
          <p:nvPr/>
        </p:nvSpPr>
        <p:spPr>
          <a:xfrm>
            <a:off x="7495565" y="4325112"/>
            <a:ext cx="1783080" cy="292608"/>
          </a:xfrm>
          <a:prstGeom prst="rect">
            <a:avLst/>
          </a:prstGeom>
          <a:noFill/>
          <a:ln/>
        </p:spPr>
        <p:txBody>
          <a:bodyPr wrap="square" lIns="0" tIns="0" rIns="0" bIns="0" rtlCol="0" anchor="t"/>
          <a:lstStyle/>
          <a:p>
            <a:pPr indent="0" marL="0">
              <a:buNone/>
            </a:pPr>
            <a:r>
              <a:rPr lang="en-US" sz="1600" b="1" dirty="0">
                <a:solidFill>
                  <a:schemeClr val="tx1"/>
                </a:solidFill>
              </a:rPr>
              <a:t>Labour</a:t>
            </a:r>
            <a:endParaRPr lang="en-US" sz="1600" dirty="0"/>
          </a:p>
        </p:txBody>
      </p:sp>
      <p:sp>
        <p:nvSpPr>
          <p:cNvPr id="64" name="text-218"/>
          <p:cNvSpPr txBox="1"/>
          <p:nvPr/>
        </p:nvSpPr>
        <p:spPr>
          <a:xfrm>
            <a:off x="7495565" y="4617720"/>
            <a:ext cx="1783080" cy="420624"/>
          </a:xfrm>
          <a:prstGeom prst="rect">
            <a:avLst/>
          </a:prstGeom>
          <a:noFill/>
          <a:ln/>
        </p:spPr>
        <p:txBody>
          <a:bodyPr wrap="square" lIns="0" tIns="0" rIns="0" bIns="0" rtlCol="0" anchor="t"/>
          <a:lstStyle/>
          <a:p>
            <a:pPr indent="0" marL="0">
              <a:buNone/>
            </a:pPr>
            <a:r>
              <a:rPr lang="en-US" sz="1250" dirty="0">
                <a:solidFill>
                  <a:schemeClr val="tx2"/>
                </a:solidFill>
              </a:rPr>
              <a:t>PLFS unemployment,</a:t>
            </a:r>
            <a:endParaRPr lang="en-US" sz="1250" dirty="0"/>
          </a:p>
          <a:p>
            <a:pPr indent="0" marL="0">
              <a:buNone/>
            </a:pPr>
            <a:r>
              <a:rPr lang="en-US" sz="1250" dirty="0">
                <a:solidFill>
                  <a:schemeClr val="tx2"/>
                </a:solidFill>
              </a:rPr>
              <a:t>EPFO payroll</a:t>
            </a:r>
            <a:endParaRPr lang="en-US" sz="1250" dirty="0"/>
          </a:p>
        </p:txBody>
      </p:sp>
      <p:sp>
        <p:nvSpPr>
          <p:cNvPr id="65" name="card-219"/>
          <p:cNvSpPr/>
          <p:nvPr/>
        </p:nvSpPr>
        <p:spPr>
          <a:xfrm>
            <a:off x="7495565" y="5093208"/>
            <a:ext cx="1356970" cy="237744"/>
          </a:xfrm>
          <a:prstGeom prst="roundRect">
            <a:avLst>
              <a:gd name="adj" fmla="val 50000"/>
            </a:avLst>
          </a:prstGeom>
          <a:solidFill>
            <a:schemeClr val="bg1"/>
          </a:solidFill>
          <a:ln/>
        </p:spPr>
      </p:sp>
      <p:sp>
        <p:nvSpPr>
          <p:cNvPr id="66" name="text-220"/>
          <p:cNvSpPr txBox="1"/>
          <p:nvPr/>
        </p:nvSpPr>
        <p:spPr>
          <a:xfrm>
            <a:off x="7495565" y="5093208"/>
            <a:ext cx="1356970" cy="237744"/>
          </a:xfrm>
          <a:prstGeom prst="rect">
            <a:avLst/>
          </a:prstGeom>
          <a:noFill/>
          <a:ln/>
        </p:spPr>
        <p:txBody>
          <a:bodyPr wrap="square" lIns="0" tIns="0" rIns="0" bIns="0" rtlCol="0" anchor="ctr"/>
          <a:lstStyle/>
          <a:p>
            <a:pPr algn="ctr" indent="0" marL="0">
              <a:buNone/>
            </a:pPr>
            <a:r>
              <a:rPr lang="en-US" sz="1000" b="1" spc="50" kern="0" dirty="0">
                <a:solidFill>
                  <a:schemeClr val="accent1"/>
                </a:solidFill>
              </a:rPr>
              <a:t>MoSPI PLFS · EPFO</a:t>
            </a:r>
            <a:endParaRPr lang="en-US" sz="1000" dirty="0"/>
          </a:p>
        </p:txBody>
      </p:sp>
      <p:sp>
        <p:nvSpPr>
          <p:cNvPr id="67" name="card-221"/>
          <p:cNvSpPr/>
          <p:nvPr/>
        </p:nvSpPr>
        <p:spPr>
          <a:xfrm>
            <a:off x="9567367" y="3611880"/>
            <a:ext cx="2075688" cy="1828800"/>
          </a:xfrm>
          <a:prstGeom prst="roundRect">
            <a:avLst>
              <a:gd name="adj" fmla="val 5000"/>
            </a:avLst>
          </a:prstGeom>
          <a:solidFill>
            <a:schemeClr val="bg2"/>
          </a:solidFill>
          <a:ln/>
        </p:spPr>
      </p:sp>
      <p:sp>
        <p:nvSpPr>
          <p:cNvPr id="68" name="card-222"/>
          <p:cNvSpPr/>
          <p:nvPr/>
        </p:nvSpPr>
        <p:spPr>
          <a:xfrm>
            <a:off x="9750247" y="3794760"/>
            <a:ext cx="438912" cy="438912"/>
          </a:xfrm>
          <a:prstGeom prst="roundRect">
            <a:avLst>
              <a:gd name="adj" fmla="val 22000"/>
            </a:avLst>
          </a:prstGeom>
          <a:solidFill>
            <a:schemeClr val="accent1"/>
          </a:solidFill>
          <a:ln/>
        </p:spPr>
      </p:sp>
      <p:pic>
        <p:nvPicPr>
          <p:cNvPr id="69" name="icon-223" descr="Laptop icon">    </p:cNvPr>
          <p:cNvPicPr>
            <a:picLocks noChangeAspect="1"/>
          </p:cNvPicPr>
          <p:nvPr/>
        </p:nvPicPr>
        <p:blipFill>
          <a:blip r:embed="rId10"/>
          <a:stretch>
            <a:fillRect/>
          </a:stretch>
        </p:blipFill>
        <p:spPr>
          <a:xfrm>
            <a:off x="9846808" y="3891321"/>
            <a:ext cx="245791" cy="245791"/>
          </a:xfrm>
          <a:prstGeom prst="rect">
            <a:avLst/>
          </a:prstGeom>
        </p:spPr>
      </p:pic>
      <p:sp>
        <p:nvSpPr>
          <p:cNvPr id="70" name="text-224"/>
          <p:cNvSpPr txBox="1"/>
          <p:nvPr/>
        </p:nvSpPr>
        <p:spPr>
          <a:xfrm>
            <a:off x="9750247" y="4325112"/>
            <a:ext cx="1783080" cy="292608"/>
          </a:xfrm>
          <a:prstGeom prst="rect">
            <a:avLst/>
          </a:prstGeom>
          <a:noFill/>
          <a:ln/>
        </p:spPr>
        <p:txBody>
          <a:bodyPr wrap="square" lIns="0" tIns="0" rIns="0" bIns="0" rtlCol="0" anchor="t"/>
          <a:lstStyle/>
          <a:p>
            <a:pPr indent="0" marL="0">
              <a:buNone/>
            </a:pPr>
            <a:r>
              <a:rPr lang="en-US" sz="1600" b="1" dirty="0">
                <a:solidFill>
                  <a:schemeClr val="tx1"/>
                </a:solidFill>
              </a:rPr>
              <a:t>Services</a:t>
            </a:r>
            <a:endParaRPr lang="en-US" sz="1600" dirty="0"/>
          </a:p>
        </p:txBody>
      </p:sp>
      <p:sp>
        <p:nvSpPr>
          <p:cNvPr id="71" name="text-225"/>
          <p:cNvSpPr txBox="1"/>
          <p:nvPr/>
        </p:nvSpPr>
        <p:spPr>
          <a:xfrm>
            <a:off x="9750247" y="4617720"/>
            <a:ext cx="1783080" cy="420624"/>
          </a:xfrm>
          <a:prstGeom prst="rect">
            <a:avLst/>
          </a:prstGeom>
          <a:noFill/>
          <a:ln/>
        </p:spPr>
        <p:txBody>
          <a:bodyPr wrap="square" lIns="0" tIns="0" rIns="0" bIns="0" rtlCol="0" anchor="t"/>
          <a:lstStyle/>
          <a:p>
            <a:pPr indent="0" marL="0">
              <a:buNone/>
            </a:pPr>
            <a:r>
              <a:rPr lang="en-US" sz="1250" dirty="0">
                <a:solidFill>
                  <a:schemeClr val="tx2"/>
                </a:solidFill>
              </a:rPr>
              <a:t>Services GVA, PMI,</a:t>
            </a:r>
            <a:endParaRPr lang="en-US" sz="1250" dirty="0"/>
          </a:p>
          <a:p>
            <a:pPr indent="0" marL="0">
              <a:buNone/>
            </a:pPr>
            <a:r>
              <a:rPr lang="en-US" sz="1250" dirty="0">
                <a:solidFill>
                  <a:schemeClr val="tx2"/>
                </a:solidFill>
              </a:rPr>
              <a:t>IT exports</a:t>
            </a:r>
            <a:endParaRPr lang="en-US" sz="1250" dirty="0"/>
          </a:p>
        </p:txBody>
      </p:sp>
      <p:sp>
        <p:nvSpPr>
          <p:cNvPr id="72" name="card-226"/>
          <p:cNvSpPr/>
          <p:nvPr/>
        </p:nvSpPr>
        <p:spPr>
          <a:xfrm>
            <a:off x="9750247" y="5093208"/>
            <a:ext cx="1554480" cy="237744"/>
          </a:xfrm>
          <a:prstGeom prst="roundRect">
            <a:avLst>
              <a:gd name="adj" fmla="val 50000"/>
            </a:avLst>
          </a:prstGeom>
          <a:solidFill>
            <a:schemeClr val="bg1"/>
          </a:solidFill>
          <a:ln/>
        </p:spPr>
      </p:sp>
      <p:sp>
        <p:nvSpPr>
          <p:cNvPr id="73" name="text-227"/>
          <p:cNvSpPr txBox="1"/>
          <p:nvPr/>
        </p:nvSpPr>
        <p:spPr>
          <a:xfrm>
            <a:off x="9750247" y="5093208"/>
            <a:ext cx="1554480" cy="237744"/>
          </a:xfrm>
          <a:prstGeom prst="rect">
            <a:avLst/>
          </a:prstGeom>
          <a:noFill/>
          <a:ln/>
        </p:spPr>
        <p:txBody>
          <a:bodyPr wrap="square" lIns="0" tIns="0" rIns="0" bIns="0" rtlCol="0" anchor="ctr"/>
          <a:lstStyle/>
          <a:p>
            <a:pPr algn="ctr" indent="0" marL="0">
              <a:buNone/>
            </a:pPr>
            <a:r>
              <a:rPr lang="en-US" sz="1000" b="1" spc="50" kern="0" dirty="0">
                <a:solidFill>
                  <a:schemeClr val="accent1"/>
                </a:solidFill>
              </a:rPr>
              <a:t>MoSPI · PMI releases</a:t>
            </a:r>
            <a:endParaRPr lang="en-US" sz="1000" dirty="0"/>
          </a:p>
        </p:txBody>
      </p:sp>
      <p:sp>
        <p:nvSpPr>
          <p:cNvPr id="74" name="card-228"/>
          <p:cNvSpPr/>
          <p:nvPr/>
        </p:nvSpPr>
        <p:spPr>
          <a:xfrm>
            <a:off x="548640" y="5669280"/>
            <a:ext cx="438912" cy="438912"/>
          </a:xfrm>
          <a:prstGeom prst="roundRect">
            <a:avLst>
              <a:gd name="adj" fmla="val 22000"/>
            </a:avLst>
          </a:prstGeom>
          <a:solidFill>
            <a:schemeClr val="tx1"/>
          </a:solidFill>
          <a:ln/>
        </p:spPr>
      </p:sp>
      <p:pic>
        <p:nvPicPr>
          <p:cNvPr id="75" name="icon-229" descr="MessagesSquare icon">    </p:cNvPr>
          <p:cNvPicPr>
            <a:picLocks noChangeAspect="1"/>
          </p:cNvPicPr>
          <p:nvPr/>
        </p:nvPicPr>
        <p:blipFill>
          <a:blip r:embed="rId11"/>
          <a:stretch>
            <a:fillRect/>
          </a:stretch>
        </p:blipFill>
        <p:spPr>
          <a:xfrm>
            <a:off x="645201" y="5765841"/>
            <a:ext cx="245791" cy="245791"/>
          </a:xfrm>
          <a:prstGeom prst="rect">
            <a:avLst/>
          </a:prstGeom>
        </p:spPr>
      </p:pic>
      <p:sp>
        <p:nvSpPr>
          <p:cNvPr id="76" name="text-230"/>
          <p:cNvSpPr txBox="1"/>
          <p:nvPr/>
        </p:nvSpPr>
        <p:spPr>
          <a:xfrm>
            <a:off x="1115568" y="5623560"/>
            <a:ext cx="3108960" cy="256032"/>
          </a:xfrm>
          <a:prstGeom prst="rect">
            <a:avLst/>
          </a:prstGeom>
          <a:noFill/>
          <a:ln/>
        </p:spPr>
        <p:txBody>
          <a:bodyPr wrap="square" lIns="0" tIns="0" rIns="0" bIns="0" rtlCol="0" anchor="t"/>
          <a:lstStyle/>
          <a:p>
            <a:pPr indent="0" marL="0">
              <a:buNone/>
            </a:pPr>
            <a:r>
              <a:rPr lang="en-US" sz="1400" b="1" dirty="0">
                <a:solidFill>
                  <a:schemeClr val="tx1"/>
                </a:solidFill>
              </a:rPr>
              <a:t>A2A for reasoning</a:t>
            </a:r>
            <a:endParaRPr lang="en-US" sz="1400" dirty="0"/>
          </a:p>
        </p:txBody>
      </p:sp>
      <p:sp>
        <p:nvSpPr>
          <p:cNvPr id="77" name="text-231"/>
          <p:cNvSpPr txBox="1"/>
          <p:nvPr/>
        </p:nvSpPr>
        <p:spPr>
          <a:xfrm>
            <a:off x="1115568" y="5879592"/>
            <a:ext cx="3108960" cy="237744"/>
          </a:xfrm>
          <a:prstGeom prst="rect">
            <a:avLst/>
          </a:prstGeom>
          <a:noFill/>
          <a:ln/>
        </p:spPr>
        <p:txBody>
          <a:bodyPr wrap="square" lIns="0" tIns="0" rIns="0" bIns="0" rtlCol="0" anchor="t"/>
          <a:lstStyle/>
          <a:p>
            <a:pPr indent="0" marL="0">
              <a:buNone/>
            </a:pPr>
            <a:r>
              <a:rPr lang="en-US" sz="1250" dirty="0">
                <a:solidFill>
                  <a:schemeClr val="tx2"/>
                </a:solidFill>
              </a:rPr>
              <a:t>agents talk only through typed requests</a:t>
            </a:r>
            <a:endParaRPr lang="en-US" sz="1250" dirty="0"/>
          </a:p>
        </p:txBody>
      </p:sp>
      <p:sp>
        <p:nvSpPr>
          <p:cNvPr id="78" name="card-232"/>
          <p:cNvSpPr/>
          <p:nvPr/>
        </p:nvSpPr>
        <p:spPr>
          <a:xfrm>
            <a:off x="4315968" y="5669280"/>
            <a:ext cx="438912" cy="438912"/>
          </a:xfrm>
          <a:prstGeom prst="roundRect">
            <a:avLst>
              <a:gd name="adj" fmla="val 22000"/>
            </a:avLst>
          </a:prstGeom>
          <a:solidFill>
            <a:schemeClr val="tx1"/>
          </a:solidFill>
          <a:ln/>
        </p:spPr>
      </p:sp>
      <p:pic>
        <p:nvPicPr>
          <p:cNvPr id="79" name="icon-233" descr="Database icon">    </p:cNvPr>
          <p:cNvPicPr>
            <a:picLocks noChangeAspect="1"/>
          </p:cNvPicPr>
          <p:nvPr/>
        </p:nvPicPr>
        <p:blipFill>
          <a:blip r:embed="rId12"/>
          <a:stretch>
            <a:fillRect/>
          </a:stretch>
        </p:blipFill>
        <p:spPr>
          <a:xfrm>
            <a:off x="4412529" y="5765841"/>
            <a:ext cx="245791" cy="245791"/>
          </a:xfrm>
          <a:prstGeom prst="rect">
            <a:avLst/>
          </a:prstGeom>
        </p:spPr>
      </p:pic>
      <p:sp>
        <p:nvSpPr>
          <p:cNvPr id="80" name="text-234"/>
          <p:cNvSpPr txBox="1"/>
          <p:nvPr/>
        </p:nvSpPr>
        <p:spPr>
          <a:xfrm>
            <a:off x="4882896" y="5623560"/>
            <a:ext cx="3108960" cy="256032"/>
          </a:xfrm>
          <a:prstGeom prst="rect">
            <a:avLst/>
          </a:prstGeom>
          <a:noFill/>
          <a:ln/>
        </p:spPr>
        <p:txBody>
          <a:bodyPr wrap="square" lIns="0" tIns="0" rIns="0" bIns="0" rtlCol="0" anchor="t"/>
          <a:lstStyle/>
          <a:p>
            <a:pPr indent="0" marL="0">
              <a:buNone/>
            </a:pPr>
            <a:r>
              <a:rPr lang="en-US" sz="1400" b="1" dirty="0">
                <a:solidFill>
                  <a:schemeClr val="tx1"/>
                </a:solidFill>
              </a:rPr>
              <a:t>MCP for data</a:t>
            </a:r>
            <a:endParaRPr lang="en-US" sz="1400" dirty="0"/>
          </a:p>
        </p:txBody>
      </p:sp>
      <p:sp>
        <p:nvSpPr>
          <p:cNvPr id="81" name="text-235"/>
          <p:cNvSpPr txBox="1"/>
          <p:nvPr/>
        </p:nvSpPr>
        <p:spPr>
          <a:xfrm>
            <a:off x="4882896" y="5879592"/>
            <a:ext cx="3108960" cy="237744"/>
          </a:xfrm>
          <a:prstGeom prst="rect">
            <a:avLst/>
          </a:prstGeom>
          <a:noFill/>
          <a:ln/>
        </p:spPr>
        <p:txBody>
          <a:bodyPr wrap="square" lIns="0" tIns="0" rIns="0" bIns="0" rtlCol="0" anchor="t"/>
          <a:lstStyle/>
          <a:p>
            <a:pPr indent="0" marL="0">
              <a:buNone/>
            </a:pPr>
            <a:r>
              <a:rPr lang="en-US" sz="1250" dirty="0">
                <a:solidFill>
                  <a:schemeClr val="tx2"/>
                </a:solidFill>
              </a:rPr>
              <a:t>each agent reads only its own MCP server</a:t>
            </a:r>
            <a:endParaRPr lang="en-US" sz="1250" dirty="0"/>
          </a:p>
        </p:txBody>
      </p:sp>
      <p:sp>
        <p:nvSpPr>
          <p:cNvPr id="82" name="card-236"/>
          <p:cNvSpPr/>
          <p:nvPr/>
        </p:nvSpPr>
        <p:spPr>
          <a:xfrm>
            <a:off x="8083296" y="5669280"/>
            <a:ext cx="438912" cy="438912"/>
          </a:xfrm>
          <a:prstGeom prst="roundRect">
            <a:avLst>
              <a:gd name="adj" fmla="val 22000"/>
            </a:avLst>
          </a:prstGeom>
          <a:solidFill>
            <a:schemeClr val="tx1"/>
          </a:solidFill>
          <a:ln/>
        </p:spPr>
      </p:sp>
      <p:pic>
        <p:nvPicPr>
          <p:cNvPr id="83" name="icon-237" descr="Ban icon">    </p:cNvPr>
          <p:cNvPicPr>
            <a:picLocks noChangeAspect="1"/>
          </p:cNvPicPr>
          <p:nvPr/>
        </p:nvPicPr>
        <p:blipFill>
          <a:blip r:embed="rId13"/>
          <a:stretch>
            <a:fillRect/>
          </a:stretch>
        </p:blipFill>
        <p:spPr>
          <a:xfrm>
            <a:off x="8179857" y="5765841"/>
            <a:ext cx="245791" cy="245791"/>
          </a:xfrm>
          <a:prstGeom prst="rect">
            <a:avLst/>
          </a:prstGeom>
        </p:spPr>
      </p:pic>
      <p:sp>
        <p:nvSpPr>
          <p:cNvPr id="84" name="text-238"/>
          <p:cNvSpPr txBox="1"/>
          <p:nvPr/>
        </p:nvSpPr>
        <p:spPr>
          <a:xfrm>
            <a:off x="8650224" y="5623560"/>
            <a:ext cx="3108960" cy="256032"/>
          </a:xfrm>
          <a:prstGeom prst="rect">
            <a:avLst/>
          </a:prstGeom>
          <a:noFill/>
          <a:ln/>
        </p:spPr>
        <p:txBody>
          <a:bodyPr wrap="square" lIns="0" tIns="0" rIns="0" bIns="0" rtlCol="0" anchor="t"/>
          <a:lstStyle/>
          <a:p>
            <a:pPr indent="0" marL="0">
              <a:buNone/>
            </a:pPr>
            <a:r>
              <a:rPr lang="en-US" sz="1400" b="1" dirty="0">
                <a:solidFill>
                  <a:schemeClr val="tx1"/>
                </a:solidFill>
              </a:rPr>
              <a:t>No shortcuts</a:t>
            </a:r>
            <a:endParaRPr lang="en-US" sz="1400" dirty="0"/>
          </a:p>
        </p:txBody>
      </p:sp>
      <p:sp>
        <p:nvSpPr>
          <p:cNvPr id="85" name="text-239"/>
          <p:cNvSpPr txBox="1"/>
          <p:nvPr/>
        </p:nvSpPr>
        <p:spPr>
          <a:xfrm>
            <a:off x="8650224" y="5879592"/>
            <a:ext cx="3108960" cy="237744"/>
          </a:xfrm>
          <a:prstGeom prst="rect">
            <a:avLst/>
          </a:prstGeom>
          <a:noFill/>
          <a:ln/>
        </p:spPr>
        <p:txBody>
          <a:bodyPr wrap="square" lIns="0" tIns="0" rIns="0" bIns="0" rtlCol="0" anchor="t"/>
          <a:lstStyle/>
          <a:p>
            <a:pPr indent="0" marL="0">
              <a:buNone/>
            </a:pPr>
            <a:r>
              <a:rPr lang="en-US" sz="1250" dirty="0">
                <a:solidFill>
                  <a:schemeClr val="tx2"/>
                </a:solidFill>
              </a:rPr>
              <a:t>sector packages never import each other</a:t>
            </a:r>
            <a:endParaRPr lang="en-US" sz="1250" dirty="0"/>
          </a:p>
        </p:txBody>
      </p:sp>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160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ARCHITECTURE</a:t>
            </a:r>
            <a:endParaRPr lang="en-US" sz="1200" dirty="0"/>
          </a:p>
        </p:txBody>
      </p:sp>
      <p:sp>
        <p:nvSpPr>
          <p:cNvPr id="3" name="Text 0"/>
          <p:cNvSpPr/>
          <p:nvPr>
            <p:ph idx="101" type="title" hasCustomPrompt="1"/>
          </p:nvPr>
        </p:nvSpPr>
        <p:spPr>
          <a:xfrm>
            <a:off x="548640" y="676656"/>
            <a:ext cx="11094415" cy="713232"/>
          </a:xfrm>
          <a:prstGeom prst="rect">
            <a:avLst/>
          </a:prstGeom>
          <a:noFill/>
          <a:ln/>
        </p:spPr>
        <p:txBody>
          <a:bodyPr wrap="square" lIns="0" tIns="0" rIns="0" bIns="0" rtlCol="0" anchor="t"/>
          <a:lstStyle/>
          <a:p>
            <a:pPr algn="l" indent="0" marL="0">
              <a:buNone/>
            </a:pPr>
            <a:r>
              <a:rPr lang="en-US" sz="3600" b="1" dirty="0">
                <a:solidFill>
                  <a:schemeClr val="tx1"/>
                </a:solidFill>
              </a:rPr>
              <a:t>Reasoning flows apart from data</a:t>
            </a:r>
            <a:endParaRPr lang="en-US" sz="3600" dirty="0"/>
          </a:p>
        </p:txBody>
      </p:sp>
      <p:sp>
        <p:nvSpPr>
          <p:cNvPr id="4" name="card-240"/>
          <p:cNvSpPr/>
          <p:nvPr/>
        </p:nvSpPr>
        <p:spPr>
          <a:xfrm>
            <a:off x="548640" y="1600200"/>
            <a:ext cx="2148840" cy="566928"/>
          </a:xfrm>
          <a:prstGeom prst="roundRect">
            <a:avLst>
              <a:gd name="adj" fmla="val 11290"/>
            </a:avLst>
          </a:prstGeom>
          <a:solidFill>
            <a:schemeClr val="tx1"/>
          </a:solidFill>
          <a:ln/>
        </p:spPr>
      </p:sp>
      <p:pic>
        <p:nvPicPr>
          <p:cNvPr id="5" name="icon-241" descr="Monitor icon">    </p:cNvPr>
          <p:cNvPicPr>
            <a:picLocks noChangeAspect="1"/>
          </p:cNvPicPr>
          <p:nvPr/>
        </p:nvPicPr>
        <p:blipFill>
          <a:blip r:embed="rId1"/>
          <a:stretch>
            <a:fillRect/>
          </a:stretch>
        </p:blipFill>
        <p:spPr>
          <a:xfrm>
            <a:off x="685800" y="1755648"/>
            <a:ext cx="256032" cy="256032"/>
          </a:xfrm>
          <a:prstGeom prst="rect">
            <a:avLst/>
          </a:prstGeom>
        </p:spPr>
      </p:pic>
      <p:sp>
        <p:nvSpPr>
          <p:cNvPr id="6" name="text-242"/>
          <p:cNvSpPr txBox="1"/>
          <p:nvPr/>
        </p:nvSpPr>
        <p:spPr>
          <a:xfrm>
            <a:off x="1051560" y="1664208"/>
            <a:ext cx="1600200" cy="237744"/>
          </a:xfrm>
          <a:prstGeom prst="rect">
            <a:avLst/>
          </a:prstGeom>
          <a:noFill/>
          <a:ln/>
        </p:spPr>
        <p:txBody>
          <a:bodyPr wrap="square" lIns="0" tIns="0" rIns="0" bIns="0" rtlCol="0" anchor="t"/>
          <a:lstStyle/>
          <a:p>
            <a:pPr indent="0" marL="0">
              <a:buNone/>
            </a:pPr>
            <a:r>
              <a:rPr lang="en-US" sz="1350" b="1" dirty="0">
                <a:solidFill>
                  <a:schemeClr val="bg1"/>
                </a:solidFill>
              </a:rPr>
              <a:t>Web app</a:t>
            </a:r>
            <a:endParaRPr lang="en-US" sz="1350" dirty="0"/>
          </a:p>
        </p:txBody>
      </p:sp>
      <p:sp>
        <p:nvSpPr>
          <p:cNvPr id="7" name="text-243"/>
          <p:cNvSpPr txBox="1"/>
          <p:nvPr/>
        </p:nvSpPr>
        <p:spPr>
          <a:xfrm>
            <a:off x="1051560" y="1911096"/>
            <a:ext cx="1627632" cy="201168"/>
          </a:xfrm>
          <a:prstGeom prst="rect">
            <a:avLst/>
          </a:prstGeom>
          <a:noFill/>
          <a:ln/>
        </p:spPr>
        <p:txBody>
          <a:bodyPr wrap="square" lIns="0" tIns="0" rIns="0" bIns="0" rtlCol="0" anchor="t"/>
          <a:lstStyle/>
          <a:p>
            <a:pPr indent="0" marL="0">
              <a:buNone/>
            </a:pPr>
            <a:r>
              <a:rPr lang="en-US" sz="950" dirty="0">
                <a:solidFill>
                  <a:schemeClr val="bg1">
                    <a:alpha val="78000"/>
                  </a:schemeClr>
                </a:solidFill>
              </a:rPr>
              <a:t>React 18 · TypeScript · Vite</a:t>
            </a:r>
            <a:endParaRPr lang="en-US" sz="950" dirty="0"/>
          </a:p>
        </p:txBody>
      </p:sp>
      <p:sp>
        <p:nvSpPr>
          <p:cNvPr id="8" name="card-244"/>
          <p:cNvSpPr/>
          <p:nvPr/>
        </p:nvSpPr>
        <p:spPr>
          <a:xfrm>
            <a:off x="2788920" y="1600200"/>
            <a:ext cx="8851392" cy="566928"/>
          </a:xfrm>
          <a:prstGeom prst="roundRect">
            <a:avLst>
              <a:gd name="adj" fmla="val 11290"/>
            </a:avLst>
          </a:prstGeom>
          <a:solidFill>
            <a:schemeClr val="bg2"/>
          </a:solidFill>
          <a:ln/>
        </p:spPr>
      </p:sp>
      <p:sp>
        <p:nvSpPr>
          <p:cNvPr id="9" name="card-245"/>
          <p:cNvSpPr/>
          <p:nvPr/>
        </p:nvSpPr>
        <p:spPr>
          <a:xfrm>
            <a:off x="2926080" y="1719072"/>
            <a:ext cx="875995" cy="329184"/>
          </a:xfrm>
          <a:prstGeom prst="roundRect">
            <a:avLst>
              <a:gd name="adj" fmla="val 16667"/>
            </a:avLst>
          </a:prstGeom>
          <a:solidFill>
            <a:schemeClr val="bg1"/>
          </a:solidFill>
          <a:ln/>
        </p:spPr>
      </p:sp>
      <p:sp>
        <p:nvSpPr>
          <p:cNvPr id="10" name="text-246"/>
          <p:cNvSpPr txBox="1"/>
          <p:nvPr/>
        </p:nvSpPr>
        <p:spPr>
          <a:xfrm>
            <a:off x="2926080" y="1719072"/>
            <a:ext cx="875995" cy="329184"/>
          </a:xfrm>
          <a:prstGeom prst="rect">
            <a:avLst/>
          </a:prstGeom>
          <a:noFill/>
          <a:ln/>
        </p:spPr>
        <p:txBody>
          <a:bodyPr wrap="square" lIns="0" tIns="0" rIns="0" bIns="0" rtlCol="0" anchor="ctr"/>
          <a:lstStyle/>
          <a:p>
            <a:pPr algn="ctr" indent="0" marL="0">
              <a:buNone/>
            </a:pPr>
            <a:r>
              <a:rPr lang="en-US" sz="1150" dirty="0">
                <a:solidFill>
                  <a:schemeClr val="tx1"/>
                </a:solidFill>
              </a:rPr>
              <a:t>Dashboard</a:t>
            </a:r>
            <a:endParaRPr lang="en-US" sz="1150" dirty="0"/>
          </a:p>
        </p:txBody>
      </p:sp>
      <p:sp>
        <p:nvSpPr>
          <p:cNvPr id="11" name="card-247"/>
          <p:cNvSpPr/>
          <p:nvPr/>
        </p:nvSpPr>
        <p:spPr>
          <a:xfrm>
            <a:off x="3893515" y="1719072"/>
            <a:ext cx="1250899" cy="329184"/>
          </a:xfrm>
          <a:prstGeom prst="roundRect">
            <a:avLst>
              <a:gd name="adj" fmla="val 16667"/>
            </a:avLst>
          </a:prstGeom>
          <a:solidFill>
            <a:schemeClr val="bg1"/>
          </a:solidFill>
          <a:ln/>
        </p:spPr>
      </p:sp>
      <p:sp>
        <p:nvSpPr>
          <p:cNvPr id="12" name="text-248"/>
          <p:cNvSpPr txBox="1"/>
          <p:nvPr/>
        </p:nvSpPr>
        <p:spPr>
          <a:xfrm>
            <a:off x="3893515" y="1719072"/>
            <a:ext cx="1250899" cy="329184"/>
          </a:xfrm>
          <a:prstGeom prst="rect">
            <a:avLst/>
          </a:prstGeom>
          <a:noFill/>
          <a:ln/>
        </p:spPr>
        <p:txBody>
          <a:bodyPr wrap="square" lIns="0" tIns="0" rIns="0" bIns="0" rtlCol="0" anchor="ctr"/>
          <a:lstStyle/>
          <a:p>
            <a:pPr algn="ctr" indent="0" marL="0">
              <a:buNone/>
            </a:pPr>
            <a:r>
              <a:rPr lang="en-US" sz="1150" dirty="0">
                <a:solidFill>
                  <a:schemeClr val="tx1"/>
                </a:solidFill>
              </a:rPr>
              <a:t>Streaming chat</a:t>
            </a:r>
            <a:endParaRPr lang="en-US" sz="1150" dirty="0"/>
          </a:p>
        </p:txBody>
      </p:sp>
      <p:sp>
        <p:nvSpPr>
          <p:cNvPr id="13" name="card-249"/>
          <p:cNvSpPr/>
          <p:nvPr/>
        </p:nvSpPr>
        <p:spPr>
          <a:xfrm>
            <a:off x="5235854" y="1719072"/>
            <a:ext cx="950976" cy="329184"/>
          </a:xfrm>
          <a:prstGeom prst="roundRect">
            <a:avLst>
              <a:gd name="adj" fmla="val 16667"/>
            </a:avLst>
          </a:prstGeom>
          <a:solidFill>
            <a:schemeClr val="bg1"/>
          </a:solidFill>
          <a:ln/>
        </p:spPr>
      </p:sp>
      <p:sp>
        <p:nvSpPr>
          <p:cNvPr id="14" name="text-250"/>
          <p:cNvSpPr txBox="1"/>
          <p:nvPr/>
        </p:nvSpPr>
        <p:spPr>
          <a:xfrm>
            <a:off x="5235854" y="1719072"/>
            <a:ext cx="950976" cy="329184"/>
          </a:xfrm>
          <a:prstGeom prst="rect">
            <a:avLst/>
          </a:prstGeom>
          <a:noFill/>
          <a:ln/>
        </p:spPr>
        <p:txBody>
          <a:bodyPr wrap="square" lIns="0" tIns="0" rIns="0" bIns="0" rtlCol="0" anchor="ctr"/>
          <a:lstStyle/>
          <a:p>
            <a:pPr algn="ctr" indent="0" marL="0">
              <a:buNone/>
            </a:pPr>
            <a:r>
              <a:rPr lang="en-US" sz="1150" dirty="0">
                <a:solidFill>
                  <a:schemeClr val="tx1"/>
                </a:solidFill>
              </a:rPr>
              <a:t>Causal Lab</a:t>
            </a:r>
            <a:endParaRPr lang="en-US" sz="1150" dirty="0"/>
          </a:p>
        </p:txBody>
      </p:sp>
      <p:sp>
        <p:nvSpPr>
          <p:cNvPr id="15" name="card-251"/>
          <p:cNvSpPr/>
          <p:nvPr/>
        </p:nvSpPr>
        <p:spPr>
          <a:xfrm>
            <a:off x="6278270" y="1719072"/>
            <a:ext cx="1100938" cy="329184"/>
          </a:xfrm>
          <a:prstGeom prst="roundRect">
            <a:avLst>
              <a:gd name="adj" fmla="val 16667"/>
            </a:avLst>
          </a:prstGeom>
          <a:solidFill>
            <a:schemeClr val="bg1"/>
          </a:solidFill>
          <a:ln/>
        </p:spPr>
      </p:sp>
      <p:sp>
        <p:nvSpPr>
          <p:cNvPr id="16" name="text-252"/>
          <p:cNvSpPr txBox="1"/>
          <p:nvPr/>
        </p:nvSpPr>
        <p:spPr>
          <a:xfrm>
            <a:off x="6278270" y="1719072"/>
            <a:ext cx="1100938" cy="329184"/>
          </a:xfrm>
          <a:prstGeom prst="rect">
            <a:avLst/>
          </a:prstGeom>
          <a:noFill/>
          <a:ln/>
        </p:spPr>
        <p:txBody>
          <a:bodyPr wrap="square" lIns="0" tIns="0" rIns="0" bIns="0" rtlCol="0" anchor="ctr"/>
          <a:lstStyle/>
          <a:p>
            <a:pPr algn="ctr" indent="0" marL="0">
              <a:buNone/>
            </a:pPr>
            <a:r>
              <a:rPr lang="en-US" sz="1150" dirty="0">
                <a:solidFill>
                  <a:schemeClr val="tx1"/>
                </a:solidFill>
              </a:rPr>
              <a:t>A2A registry</a:t>
            </a:r>
            <a:endParaRPr lang="en-US" sz="1150" dirty="0"/>
          </a:p>
        </p:txBody>
      </p:sp>
      <p:sp>
        <p:nvSpPr>
          <p:cNvPr id="17" name="card-253"/>
          <p:cNvSpPr/>
          <p:nvPr/>
        </p:nvSpPr>
        <p:spPr>
          <a:xfrm>
            <a:off x="7470648" y="1719072"/>
            <a:ext cx="2000707" cy="329184"/>
          </a:xfrm>
          <a:prstGeom prst="roundRect">
            <a:avLst>
              <a:gd name="adj" fmla="val 16667"/>
            </a:avLst>
          </a:prstGeom>
          <a:solidFill>
            <a:schemeClr val="bg1"/>
          </a:solidFill>
          <a:ln/>
        </p:spPr>
      </p:sp>
      <p:sp>
        <p:nvSpPr>
          <p:cNvPr id="18" name="text-254"/>
          <p:cNvSpPr txBox="1"/>
          <p:nvPr/>
        </p:nvSpPr>
        <p:spPr>
          <a:xfrm>
            <a:off x="7470648" y="1719072"/>
            <a:ext cx="2000707" cy="329184"/>
          </a:xfrm>
          <a:prstGeom prst="rect">
            <a:avLst/>
          </a:prstGeom>
          <a:noFill/>
          <a:ln/>
        </p:spPr>
        <p:txBody>
          <a:bodyPr wrap="square" lIns="0" tIns="0" rIns="0" bIns="0" rtlCol="0" anchor="ctr"/>
          <a:lstStyle/>
          <a:p>
            <a:pPr algn="ctr" indent="0" marL="0">
              <a:buNone/>
            </a:pPr>
            <a:r>
              <a:rPr lang="en-US" sz="1150" dirty="0">
                <a:solidFill>
                  <a:schemeClr val="tx1"/>
                </a:solidFill>
              </a:rPr>
              <a:t>Knowledge-graph explorer</a:t>
            </a:r>
            <a:endParaRPr lang="en-US" sz="1150" dirty="0"/>
          </a:p>
        </p:txBody>
      </p:sp>
      <p:sp>
        <p:nvSpPr>
          <p:cNvPr id="19" name="card-255"/>
          <p:cNvSpPr/>
          <p:nvPr/>
        </p:nvSpPr>
        <p:spPr>
          <a:xfrm>
            <a:off x="9562795" y="1719072"/>
            <a:ext cx="1325880" cy="329184"/>
          </a:xfrm>
          <a:prstGeom prst="roundRect">
            <a:avLst>
              <a:gd name="adj" fmla="val 16667"/>
            </a:avLst>
          </a:prstGeom>
          <a:solidFill>
            <a:schemeClr val="bg1"/>
          </a:solidFill>
          <a:ln/>
        </p:spPr>
      </p:sp>
      <p:sp>
        <p:nvSpPr>
          <p:cNvPr id="20" name="text-256"/>
          <p:cNvSpPr txBox="1"/>
          <p:nvPr/>
        </p:nvSpPr>
        <p:spPr>
          <a:xfrm>
            <a:off x="9562795" y="1719072"/>
            <a:ext cx="1325880" cy="329184"/>
          </a:xfrm>
          <a:prstGeom prst="rect">
            <a:avLst/>
          </a:prstGeom>
          <a:noFill/>
          <a:ln/>
        </p:spPr>
        <p:txBody>
          <a:bodyPr wrap="square" lIns="0" tIns="0" rIns="0" bIns="0" rtlCol="0" anchor="ctr"/>
          <a:lstStyle/>
          <a:p>
            <a:pPr algn="ctr" indent="0" marL="0">
              <a:buNone/>
            </a:pPr>
            <a:r>
              <a:rPr lang="en-US" sz="1150" dirty="0">
                <a:solidFill>
                  <a:schemeClr val="tx1"/>
                </a:solidFill>
              </a:rPr>
              <a:t>Evidence drawer</a:t>
            </a:r>
            <a:endParaRPr lang="en-US" sz="1150" dirty="0"/>
          </a:p>
        </p:txBody>
      </p:sp>
      <p:sp>
        <p:nvSpPr>
          <p:cNvPr id="21" name="card-257"/>
          <p:cNvSpPr/>
          <p:nvPr/>
        </p:nvSpPr>
        <p:spPr>
          <a:xfrm>
            <a:off x="548640" y="2249424"/>
            <a:ext cx="2148840" cy="566928"/>
          </a:xfrm>
          <a:prstGeom prst="roundRect">
            <a:avLst>
              <a:gd name="adj" fmla="val 11290"/>
            </a:avLst>
          </a:prstGeom>
          <a:solidFill>
            <a:schemeClr val="tx1"/>
          </a:solidFill>
          <a:ln/>
        </p:spPr>
      </p:sp>
      <p:pic>
        <p:nvPicPr>
          <p:cNvPr id="22" name="icon-258" descr="Server icon">    </p:cNvPr>
          <p:cNvPicPr>
            <a:picLocks noChangeAspect="1"/>
          </p:cNvPicPr>
          <p:nvPr/>
        </p:nvPicPr>
        <p:blipFill>
          <a:blip r:embed="rId2"/>
          <a:stretch>
            <a:fillRect/>
          </a:stretch>
        </p:blipFill>
        <p:spPr>
          <a:xfrm>
            <a:off x="685800" y="2404872"/>
            <a:ext cx="256032" cy="256032"/>
          </a:xfrm>
          <a:prstGeom prst="rect">
            <a:avLst/>
          </a:prstGeom>
        </p:spPr>
      </p:pic>
      <p:sp>
        <p:nvSpPr>
          <p:cNvPr id="23" name="text-259"/>
          <p:cNvSpPr txBox="1"/>
          <p:nvPr/>
        </p:nvSpPr>
        <p:spPr>
          <a:xfrm>
            <a:off x="1051560" y="2313432"/>
            <a:ext cx="1600200" cy="237744"/>
          </a:xfrm>
          <a:prstGeom prst="rect">
            <a:avLst/>
          </a:prstGeom>
          <a:noFill/>
          <a:ln/>
        </p:spPr>
        <p:txBody>
          <a:bodyPr wrap="square" lIns="0" tIns="0" rIns="0" bIns="0" rtlCol="0" anchor="t"/>
          <a:lstStyle/>
          <a:p>
            <a:pPr indent="0" marL="0">
              <a:buNone/>
            </a:pPr>
            <a:r>
              <a:rPr lang="en-US" sz="1350" b="1" dirty="0">
                <a:solidFill>
                  <a:schemeClr val="bg1"/>
                </a:solidFill>
              </a:rPr>
              <a:t>API gateway</a:t>
            </a:r>
            <a:endParaRPr lang="en-US" sz="1350" dirty="0"/>
          </a:p>
        </p:txBody>
      </p:sp>
      <p:sp>
        <p:nvSpPr>
          <p:cNvPr id="24" name="text-260"/>
          <p:cNvSpPr txBox="1"/>
          <p:nvPr/>
        </p:nvSpPr>
        <p:spPr>
          <a:xfrm>
            <a:off x="1051560" y="2560320"/>
            <a:ext cx="1627632" cy="201168"/>
          </a:xfrm>
          <a:prstGeom prst="rect">
            <a:avLst/>
          </a:prstGeom>
          <a:noFill/>
          <a:ln/>
        </p:spPr>
        <p:txBody>
          <a:bodyPr wrap="square" lIns="0" tIns="0" rIns="0" bIns="0" rtlCol="0" anchor="t"/>
          <a:lstStyle/>
          <a:p>
            <a:pPr indent="0" marL="0">
              <a:buNone/>
            </a:pPr>
            <a:r>
              <a:rPr lang="en-US" sz="950" dirty="0">
                <a:solidFill>
                  <a:schemeClr val="bg1">
                    <a:alpha val="78000"/>
                  </a:schemeClr>
                </a:solidFill>
              </a:rPr>
              <a:t>FastAPI · Uvicorn · SSE</a:t>
            </a:r>
            <a:endParaRPr lang="en-US" sz="950" dirty="0"/>
          </a:p>
        </p:txBody>
      </p:sp>
      <p:sp>
        <p:nvSpPr>
          <p:cNvPr id="25" name="card-261"/>
          <p:cNvSpPr/>
          <p:nvPr/>
        </p:nvSpPr>
        <p:spPr>
          <a:xfrm>
            <a:off x="2788920" y="2249424"/>
            <a:ext cx="8851392" cy="566928"/>
          </a:xfrm>
          <a:prstGeom prst="roundRect">
            <a:avLst>
              <a:gd name="adj" fmla="val 11290"/>
            </a:avLst>
          </a:prstGeom>
          <a:solidFill>
            <a:schemeClr val="bg2"/>
          </a:solidFill>
          <a:ln/>
        </p:spPr>
      </p:sp>
      <p:sp>
        <p:nvSpPr>
          <p:cNvPr id="26" name="card-262"/>
          <p:cNvSpPr/>
          <p:nvPr/>
        </p:nvSpPr>
        <p:spPr>
          <a:xfrm>
            <a:off x="2926080" y="2368296"/>
            <a:ext cx="1730045" cy="329184"/>
          </a:xfrm>
          <a:prstGeom prst="roundRect">
            <a:avLst>
              <a:gd name="adj" fmla="val 16667"/>
            </a:avLst>
          </a:prstGeom>
          <a:solidFill>
            <a:schemeClr val="bg1"/>
          </a:solidFill>
          <a:ln/>
        </p:spPr>
      </p:sp>
      <p:sp>
        <p:nvSpPr>
          <p:cNvPr id="27" name="text-263"/>
          <p:cNvSpPr txBox="1"/>
          <p:nvPr/>
        </p:nvSpPr>
        <p:spPr>
          <a:xfrm>
            <a:off x="2926080" y="2368296"/>
            <a:ext cx="1730045" cy="329184"/>
          </a:xfrm>
          <a:prstGeom prst="rect">
            <a:avLst/>
          </a:prstGeom>
          <a:noFill/>
          <a:ln/>
        </p:spPr>
        <p:txBody>
          <a:bodyPr wrap="square" lIns="0" tIns="0" rIns="0" bIns="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/api/v1/chat/stream</a:t>
            </a:r>
            <a:endParaRPr lang="en-US" sz="1100" dirty="0"/>
          </a:p>
        </p:txBody>
      </p:sp>
      <p:sp>
        <p:nvSpPr>
          <p:cNvPr id="28" name="card-264"/>
          <p:cNvSpPr/>
          <p:nvPr/>
        </p:nvSpPr>
        <p:spPr>
          <a:xfrm>
            <a:off x="4747565" y="2368296"/>
            <a:ext cx="1408176" cy="329184"/>
          </a:xfrm>
          <a:prstGeom prst="roundRect">
            <a:avLst>
              <a:gd name="adj" fmla="val 16667"/>
            </a:avLst>
          </a:prstGeom>
          <a:solidFill>
            <a:schemeClr val="bg1"/>
          </a:solidFill>
          <a:ln/>
        </p:spPr>
      </p:sp>
      <p:sp>
        <p:nvSpPr>
          <p:cNvPr id="29" name="text-265"/>
          <p:cNvSpPr txBox="1"/>
          <p:nvPr/>
        </p:nvSpPr>
        <p:spPr>
          <a:xfrm>
            <a:off x="4747565" y="2368296"/>
            <a:ext cx="1408176" cy="329184"/>
          </a:xfrm>
          <a:prstGeom prst="rect">
            <a:avLst/>
          </a:prstGeom>
          <a:noFill/>
          <a:ln/>
        </p:spPr>
        <p:txBody>
          <a:bodyPr wrap="square" lIns="0" tIns="0" rIns="0" bIns="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/api/v1/analyze</a:t>
            </a:r>
            <a:endParaRPr lang="en-US" sz="1100" dirty="0"/>
          </a:p>
        </p:txBody>
      </p:sp>
      <p:sp>
        <p:nvSpPr>
          <p:cNvPr id="30" name="card-266"/>
          <p:cNvSpPr/>
          <p:nvPr/>
        </p:nvSpPr>
        <p:spPr>
          <a:xfrm>
            <a:off x="6247181" y="2368296"/>
            <a:ext cx="1649578" cy="329184"/>
          </a:xfrm>
          <a:prstGeom prst="roundRect">
            <a:avLst>
              <a:gd name="adj" fmla="val 16667"/>
            </a:avLst>
          </a:prstGeom>
          <a:solidFill>
            <a:schemeClr val="bg1"/>
          </a:solidFill>
          <a:ln/>
        </p:spPr>
      </p:sp>
      <p:sp>
        <p:nvSpPr>
          <p:cNvPr id="31" name="text-267"/>
          <p:cNvSpPr txBox="1"/>
          <p:nvPr/>
        </p:nvSpPr>
        <p:spPr>
          <a:xfrm>
            <a:off x="6247181" y="2368296"/>
            <a:ext cx="1649578" cy="329184"/>
          </a:xfrm>
          <a:prstGeom prst="rect">
            <a:avLst/>
          </a:prstGeom>
          <a:noFill/>
          <a:ln/>
        </p:spPr>
        <p:txBody>
          <a:bodyPr wrap="square" lIns="0" tIns="0" rIns="0" bIns="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/api/v1/research/*</a:t>
            </a:r>
            <a:endParaRPr lang="en-US" sz="1100" dirty="0"/>
          </a:p>
        </p:txBody>
      </p:sp>
      <p:sp>
        <p:nvSpPr>
          <p:cNvPr id="32" name="card-268"/>
          <p:cNvSpPr/>
          <p:nvPr/>
        </p:nvSpPr>
        <p:spPr>
          <a:xfrm>
            <a:off x="7988198" y="2368296"/>
            <a:ext cx="1408176" cy="329184"/>
          </a:xfrm>
          <a:prstGeom prst="roundRect">
            <a:avLst>
              <a:gd name="adj" fmla="val 16667"/>
            </a:avLst>
          </a:prstGeom>
          <a:solidFill>
            <a:schemeClr val="bg1"/>
          </a:solidFill>
          <a:ln/>
        </p:spPr>
      </p:sp>
      <p:sp>
        <p:nvSpPr>
          <p:cNvPr id="33" name="text-269"/>
          <p:cNvSpPr txBox="1"/>
          <p:nvPr/>
        </p:nvSpPr>
        <p:spPr>
          <a:xfrm>
            <a:off x="7988198" y="2368296"/>
            <a:ext cx="1408176" cy="329184"/>
          </a:xfrm>
          <a:prstGeom prst="rect">
            <a:avLst/>
          </a:prstGeom>
          <a:noFill/>
          <a:ln/>
        </p:spPr>
        <p:txBody>
          <a:bodyPr wrap="square" lIns="0" tIns="0" rIns="0" bIns="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/api/v1/brief/*</a:t>
            </a:r>
            <a:endParaRPr lang="en-US" sz="1100" dirty="0"/>
          </a:p>
        </p:txBody>
      </p:sp>
      <p:sp>
        <p:nvSpPr>
          <p:cNvPr id="34" name="card-270"/>
          <p:cNvSpPr/>
          <p:nvPr/>
        </p:nvSpPr>
        <p:spPr>
          <a:xfrm>
            <a:off x="9487814" y="2368296"/>
            <a:ext cx="925373" cy="329184"/>
          </a:xfrm>
          <a:prstGeom prst="roundRect">
            <a:avLst>
              <a:gd name="adj" fmla="val 16667"/>
            </a:avLst>
          </a:prstGeom>
          <a:solidFill>
            <a:schemeClr val="bg1"/>
          </a:solidFill>
          <a:ln/>
        </p:spPr>
      </p:sp>
      <p:sp>
        <p:nvSpPr>
          <p:cNvPr id="35" name="text-271"/>
          <p:cNvSpPr txBox="1"/>
          <p:nvPr/>
        </p:nvSpPr>
        <p:spPr>
          <a:xfrm>
            <a:off x="9487814" y="2368296"/>
            <a:ext cx="925373" cy="329184"/>
          </a:xfrm>
          <a:prstGeom prst="rect">
            <a:avLst/>
          </a:prstGeom>
          <a:noFill/>
          <a:ln/>
        </p:spPr>
        <p:txBody>
          <a:bodyPr wrap="square" lIns="0" tIns="0" rIns="0" bIns="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/a2a/v1/*</a:t>
            </a:r>
            <a:endParaRPr lang="en-US" sz="1100" dirty="0"/>
          </a:p>
        </p:txBody>
      </p:sp>
      <p:sp>
        <p:nvSpPr>
          <p:cNvPr id="36" name="card-272"/>
          <p:cNvSpPr/>
          <p:nvPr/>
        </p:nvSpPr>
        <p:spPr>
          <a:xfrm>
            <a:off x="548640" y="2898648"/>
            <a:ext cx="2148840" cy="566928"/>
          </a:xfrm>
          <a:prstGeom prst="roundRect">
            <a:avLst>
              <a:gd name="adj" fmla="val 11290"/>
            </a:avLst>
          </a:prstGeom>
          <a:solidFill>
            <a:schemeClr val="tx1"/>
          </a:solidFill>
          <a:ln/>
        </p:spPr>
      </p:sp>
      <p:pic>
        <p:nvPicPr>
          <p:cNvPr id="37" name="icon-273" descr="Workflow icon">    </p:cNvPr>
          <p:cNvPicPr>
            <a:picLocks noChangeAspect="1"/>
          </p:cNvPicPr>
          <p:nvPr/>
        </p:nvPicPr>
        <p:blipFill>
          <a:blip r:embed="rId3"/>
          <a:stretch>
            <a:fillRect/>
          </a:stretch>
        </p:blipFill>
        <p:spPr>
          <a:xfrm>
            <a:off x="685800" y="3054096"/>
            <a:ext cx="256032" cy="256032"/>
          </a:xfrm>
          <a:prstGeom prst="rect">
            <a:avLst/>
          </a:prstGeom>
        </p:spPr>
      </p:pic>
      <p:sp>
        <p:nvSpPr>
          <p:cNvPr id="38" name="text-274"/>
          <p:cNvSpPr txBox="1"/>
          <p:nvPr/>
        </p:nvSpPr>
        <p:spPr>
          <a:xfrm>
            <a:off x="1051560" y="2962656"/>
            <a:ext cx="1600200" cy="237744"/>
          </a:xfrm>
          <a:prstGeom prst="rect">
            <a:avLst/>
          </a:prstGeom>
          <a:noFill/>
          <a:ln/>
        </p:spPr>
        <p:txBody>
          <a:bodyPr wrap="square" lIns="0" tIns="0" rIns="0" bIns="0" rtlCol="0" anchor="t"/>
          <a:lstStyle/>
          <a:p>
            <a:pPr indent="0" marL="0">
              <a:buNone/>
            </a:pPr>
            <a:r>
              <a:rPr lang="en-US" sz="1350" b="1" dirty="0">
                <a:solidFill>
                  <a:schemeClr val="bg1"/>
                </a:solidFill>
              </a:rPr>
              <a:t>Orchestrator</a:t>
            </a:r>
            <a:endParaRPr lang="en-US" sz="1350" dirty="0"/>
          </a:p>
        </p:txBody>
      </p:sp>
      <p:sp>
        <p:nvSpPr>
          <p:cNvPr id="39" name="text-275"/>
          <p:cNvSpPr txBox="1"/>
          <p:nvPr/>
        </p:nvSpPr>
        <p:spPr>
          <a:xfrm>
            <a:off x="1051560" y="3209544"/>
            <a:ext cx="1627632" cy="201168"/>
          </a:xfrm>
          <a:prstGeom prst="rect">
            <a:avLst/>
          </a:prstGeom>
          <a:noFill/>
          <a:ln/>
        </p:spPr>
        <p:txBody>
          <a:bodyPr wrap="square" lIns="0" tIns="0" rIns="0" bIns="0" rtlCol="0" anchor="t"/>
          <a:lstStyle/>
          <a:p>
            <a:pPr indent="0" marL="0">
              <a:buNone/>
            </a:pPr>
            <a:r>
              <a:rPr lang="en-US" sz="950" dirty="0">
                <a:solidFill>
                  <a:schemeClr val="bg1">
                    <a:alpha val="78000"/>
                  </a:schemeClr>
                </a:solidFill>
              </a:rPr>
              <a:t>LangGraph StateGraph</a:t>
            </a:r>
            <a:endParaRPr lang="en-US" sz="950" dirty="0"/>
          </a:p>
        </p:txBody>
      </p:sp>
      <p:sp>
        <p:nvSpPr>
          <p:cNvPr id="40" name="card-276"/>
          <p:cNvSpPr/>
          <p:nvPr/>
        </p:nvSpPr>
        <p:spPr>
          <a:xfrm>
            <a:off x="2788920" y="2898648"/>
            <a:ext cx="8851392" cy="566928"/>
          </a:xfrm>
          <a:prstGeom prst="roundRect">
            <a:avLst>
              <a:gd name="adj" fmla="val 11290"/>
            </a:avLst>
          </a:prstGeom>
          <a:solidFill>
            <a:schemeClr val="bg2"/>
          </a:solidFill>
          <a:ln/>
        </p:spPr>
      </p:sp>
      <p:sp>
        <p:nvSpPr>
          <p:cNvPr id="41" name="card-277"/>
          <p:cNvSpPr/>
          <p:nvPr/>
        </p:nvSpPr>
        <p:spPr>
          <a:xfrm>
            <a:off x="2926080" y="3017520"/>
            <a:ext cx="925373" cy="329184"/>
          </a:xfrm>
          <a:prstGeom prst="roundRect">
            <a:avLst>
              <a:gd name="adj" fmla="val 16667"/>
            </a:avLst>
          </a:prstGeom>
          <a:solidFill>
            <a:schemeClr val="bg1"/>
          </a:solidFill>
          <a:ln/>
        </p:spPr>
      </p:sp>
      <p:sp>
        <p:nvSpPr>
          <p:cNvPr id="42" name="text-278"/>
          <p:cNvSpPr txBox="1"/>
          <p:nvPr/>
        </p:nvSpPr>
        <p:spPr>
          <a:xfrm>
            <a:off x="2926080" y="3017520"/>
            <a:ext cx="925373" cy="329184"/>
          </a:xfrm>
          <a:prstGeom prst="rect">
            <a:avLst/>
          </a:prstGeom>
          <a:noFill/>
          <a:ln/>
        </p:spPr>
        <p:txBody>
          <a:bodyPr wrap="square" lIns="0" tIns="0" rIns="0" bIns="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decompose</a:t>
            </a:r>
            <a:endParaRPr lang="en-US" sz="1100" dirty="0"/>
          </a:p>
        </p:txBody>
      </p:sp>
      <p:sp>
        <p:nvSpPr>
          <p:cNvPr id="43" name="link-279"/>
          <p:cNvSpPr/>
          <p:nvPr/>
        </p:nvSpPr>
        <p:spPr>
          <a:xfrm>
            <a:off x="3906317" y="3182112"/>
            <a:ext cx="256032" cy="0"/>
          </a:xfrm>
          <a:prstGeom prst="line">
            <a:avLst/>
          </a:prstGeom>
          <a:noFill/>
          <a:ln w="22225">
            <a:solidFill>
              <a:schemeClr val="accent1"/>
            </a:solidFill>
            <a:prstDash val="solid"/>
            <a:tailEnd type="triangle"/>
          </a:ln>
        </p:spPr>
      </p:sp>
      <p:sp>
        <p:nvSpPr>
          <p:cNvPr id="44" name="card-280"/>
          <p:cNvSpPr/>
          <p:nvPr/>
        </p:nvSpPr>
        <p:spPr>
          <a:xfrm>
            <a:off x="4272077" y="3017520"/>
            <a:ext cx="1810512" cy="329184"/>
          </a:xfrm>
          <a:prstGeom prst="roundRect">
            <a:avLst>
              <a:gd name="adj" fmla="val 16667"/>
            </a:avLst>
          </a:prstGeom>
          <a:solidFill>
            <a:schemeClr val="bg1"/>
          </a:solidFill>
          <a:ln/>
        </p:spPr>
      </p:sp>
      <p:sp>
        <p:nvSpPr>
          <p:cNvPr id="45" name="text-281"/>
          <p:cNvSpPr txBox="1"/>
          <p:nvPr/>
        </p:nvSpPr>
        <p:spPr>
          <a:xfrm>
            <a:off x="4272077" y="3017520"/>
            <a:ext cx="1810512" cy="329184"/>
          </a:xfrm>
          <a:prstGeom prst="rect">
            <a:avLst/>
          </a:prstGeom>
          <a:noFill/>
          <a:ln/>
        </p:spPr>
        <p:txBody>
          <a:bodyPr wrap="square" lIns="0" tIns="0" rIns="0" bIns="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parallel_a2a_execute</a:t>
            </a:r>
            <a:endParaRPr lang="en-US" sz="1100" dirty="0"/>
          </a:p>
        </p:txBody>
      </p:sp>
      <p:sp>
        <p:nvSpPr>
          <p:cNvPr id="46" name="link-282"/>
          <p:cNvSpPr/>
          <p:nvPr/>
        </p:nvSpPr>
        <p:spPr>
          <a:xfrm>
            <a:off x="6137453" y="3182112"/>
            <a:ext cx="256032" cy="0"/>
          </a:xfrm>
          <a:prstGeom prst="line">
            <a:avLst/>
          </a:prstGeom>
          <a:noFill/>
          <a:ln w="22225">
            <a:solidFill>
              <a:schemeClr val="accent1"/>
            </a:solidFill>
            <a:prstDash val="solid"/>
            <a:tailEnd type="triangle"/>
          </a:ln>
        </p:spPr>
      </p:sp>
      <p:sp>
        <p:nvSpPr>
          <p:cNvPr id="47" name="card-283"/>
          <p:cNvSpPr/>
          <p:nvPr/>
        </p:nvSpPr>
        <p:spPr>
          <a:xfrm>
            <a:off x="6503213" y="3017520"/>
            <a:ext cx="1810512" cy="329184"/>
          </a:xfrm>
          <a:prstGeom prst="roundRect">
            <a:avLst>
              <a:gd name="adj" fmla="val 16667"/>
            </a:avLst>
          </a:prstGeom>
          <a:solidFill>
            <a:schemeClr val="bg1"/>
          </a:solidFill>
          <a:ln/>
        </p:spPr>
      </p:sp>
      <p:sp>
        <p:nvSpPr>
          <p:cNvPr id="48" name="text-284"/>
          <p:cNvSpPr txBox="1"/>
          <p:nvPr/>
        </p:nvSpPr>
        <p:spPr>
          <a:xfrm>
            <a:off x="6503213" y="3017520"/>
            <a:ext cx="1810512" cy="329184"/>
          </a:xfrm>
          <a:prstGeom prst="rect">
            <a:avLst/>
          </a:prstGeom>
          <a:noFill/>
          <a:ln/>
        </p:spPr>
        <p:txBody>
          <a:bodyPr wrap="square" lIns="0" tIns="0" rIns="0" bIns="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kg_causal_enrichment</a:t>
            </a:r>
            <a:endParaRPr lang="en-US" sz="1100" dirty="0"/>
          </a:p>
        </p:txBody>
      </p:sp>
      <p:sp>
        <p:nvSpPr>
          <p:cNvPr id="49" name="link-285"/>
          <p:cNvSpPr/>
          <p:nvPr/>
        </p:nvSpPr>
        <p:spPr>
          <a:xfrm>
            <a:off x="8368589" y="3182112"/>
            <a:ext cx="256032" cy="0"/>
          </a:xfrm>
          <a:prstGeom prst="line">
            <a:avLst/>
          </a:prstGeom>
          <a:noFill/>
          <a:ln w="22225">
            <a:solidFill>
              <a:schemeClr val="accent1"/>
            </a:solidFill>
            <a:prstDash val="solid"/>
            <a:tailEnd type="triangle"/>
          </a:ln>
        </p:spPr>
      </p:sp>
      <p:sp>
        <p:nvSpPr>
          <p:cNvPr id="50" name="card-286"/>
          <p:cNvSpPr/>
          <p:nvPr/>
        </p:nvSpPr>
        <p:spPr>
          <a:xfrm>
            <a:off x="8734349" y="3017520"/>
            <a:ext cx="925373" cy="329184"/>
          </a:xfrm>
          <a:prstGeom prst="roundRect">
            <a:avLst>
              <a:gd name="adj" fmla="val 16667"/>
            </a:avLst>
          </a:prstGeom>
          <a:solidFill>
            <a:schemeClr val="bg1"/>
          </a:solidFill>
          <a:ln/>
        </p:spPr>
      </p:sp>
      <p:sp>
        <p:nvSpPr>
          <p:cNvPr id="51" name="text-287"/>
          <p:cNvSpPr txBox="1"/>
          <p:nvPr/>
        </p:nvSpPr>
        <p:spPr>
          <a:xfrm>
            <a:off x="8734349" y="3017520"/>
            <a:ext cx="925373" cy="329184"/>
          </a:xfrm>
          <a:prstGeom prst="rect">
            <a:avLst/>
          </a:prstGeom>
          <a:noFill/>
          <a:ln/>
        </p:spPr>
        <p:txBody>
          <a:bodyPr wrap="square" lIns="0" tIns="0" rIns="0" bIns="0"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synthesis</a:t>
            </a:r>
            <a:endParaRPr lang="en-US" sz="1100" dirty="0"/>
          </a:p>
        </p:txBody>
      </p:sp>
      <p:sp>
        <p:nvSpPr>
          <p:cNvPr id="52" name="card-288"/>
          <p:cNvSpPr/>
          <p:nvPr/>
        </p:nvSpPr>
        <p:spPr>
          <a:xfrm>
            <a:off x="548640" y="3547872"/>
            <a:ext cx="2148840" cy="566928"/>
          </a:xfrm>
          <a:prstGeom prst="roundRect">
            <a:avLst>
              <a:gd name="adj" fmla="val 11290"/>
            </a:avLst>
          </a:prstGeom>
          <a:solidFill>
            <a:schemeClr val="tx1"/>
          </a:solidFill>
          <a:ln/>
        </p:spPr>
      </p:sp>
      <p:pic>
        <p:nvPicPr>
          <p:cNvPr id="53" name="icon-289" descr="Brain icon">    </p:cNvPr>
          <p:cNvPicPr>
            <a:picLocks noChangeAspect="1"/>
          </p:cNvPicPr>
          <p:nvPr/>
        </p:nvPicPr>
        <p:blipFill>
          <a:blip r:embed="rId4"/>
          <a:stretch>
            <a:fillRect/>
          </a:stretch>
        </p:blipFill>
        <p:spPr>
          <a:xfrm>
            <a:off x="685800" y="3703320"/>
            <a:ext cx="256032" cy="256032"/>
          </a:xfrm>
          <a:prstGeom prst="rect">
            <a:avLst/>
          </a:prstGeom>
        </p:spPr>
      </p:pic>
      <p:sp>
        <p:nvSpPr>
          <p:cNvPr id="54" name="text-290"/>
          <p:cNvSpPr txBox="1"/>
          <p:nvPr/>
        </p:nvSpPr>
        <p:spPr>
          <a:xfrm>
            <a:off x="1051560" y="3611880"/>
            <a:ext cx="1600200" cy="237744"/>
          </a:xfrm>
          <a:prstGeom prst="rect">
            <a:avLst/>
          </a:prstGeom>
          <a:noFill/>
          <a:ln/>
        </p:spPr>
        <p:txBody>
          <a:bodyPr wrap="square" lIns="0" tIns="0" rIns="0" bIns="0" rtlCol="0" anchor="t"/>
          <a:lstStyle/>
          <a:p>
            <a:pPr indent="0" marL="0">
              <a:buNone/>
            </a:pPr>
            <a:r>
              <a:rPr lang="en-US" sz="1350" b="1" dirty="0">
                <a:solidFill>
                  <a:schemeClr val="bg1"/>
                </a:solidFill>
              </a:rPr>
              <a:t>Causal intelligence</a:t>
            </a:r>
            <a:endParaRPr lang="en-US" sz="1350" dirty="0"/>
          </a:p>
        </p:txBody>
      </p:sp>
      <p:sp>
        <p:nvSpPr>
          <p:cNvPr id="55" name="text-291"/>
          <p:cNvSpPr txBox="1"/>
          <p:nvPr/>
        </p:nvSpPr>
        <p:spPr>
          <a:xfrm>
            <a:off x="1051560" y="3858768"/>
            <a:ext cx="1627632" cy="201168"/>
          </a:xfrm>
          <a:prstGeom prst="rect">
            <a:avLst/>
          </a:prstGeom>
          <a:noFill/>
          <a:ln/>
        </p:spPr>
        <p:txBody>
          <a:bodyPr wrap="square" lIns="0" tIns="0" rIns="0" bIns="0" rtlCol="0" anchor="t"/>
          <a:lstStyle/>
          <a:p>
            <a:pPr indent="0" marL="0">
              <a:buNone/>
            </a:pPr>
            <a:r>
              <a:rPr lang="en-US" sz="950" dirty="0">
                <a:solidFill>
                  <a:schemeClr val="bg1">
                    <a:alpha val="78000"/>
                  </a:schemeClr>
                </a:solidFill>
              </a:rPr>
              <a:t>NetworkX · statsmodels</a:t>
            </a:r>
            <a:endParaRPr lang="en-US" sz="950" dirty="0"/>
          </a:p>
        </p:txBody>
      </p:sp>
      <p:sp>
        <p:nvSpPr>
          <p:cNvPr id="56" name="card-292"/>
          <p:cNvSpPr/>
          <p:nvPr/>
        </p:nvSpPr>
        <p:spPr>
          <a:xfrm>
            <a:off x="2788920" y="3547872"/>
            <a:ext cx="8851392" cy="566928"/>
          </a:xfrm>
          <a:prstGeom prst="roundRect">
            <a:avLst>
              <a:gd name="adj" fmla="val 11290"/>
            </a:avLst>
          </a:prstGeom>
          <a:solidFill>
            <a:schemeClr val="bg2"/>
          </a:solidFill>
          <a:ln/>
        </p:spPr>
      </p:sp>
      <p:sp>
        <p:nvSpPr>
          <p:cNvPr id="57" name="card-293"/>
          <p:cNvSpPr/>
          <p:nvPr/>
        </p:nvSpPr>
        <p:spPr>
          <a:xfrm>
            <a:off x="2926080" y="3666744"/>
            <a:ext cx="2075688" cy="329184"/>
          </a:xfrm>
          <a:prstGeom prst="roundRect">
            <a:avLst>
              <a:gd name="adj" fmla="val 16667"/>
            </a:avLst>
          </a:prstGeom>
          <a:solidFill>
            <a:schemeClr val="bg1"/>
          </a:solidFill>
          <a:ln/>
        </p:spPr>
      </p:sp>
      <p:sp>
        <p:nvSpPr>
          <p:cNvPr id="58" name="text-294"/>
          <p:cNvSpPr txBox="1"/>
          <p:nvPr/>
        </p:nvSpPr>
        <p:spPr>
          <a:xfrm>
            <a:off x="2926080" y="3666744"/>
            <a:ext cx="2075688" cy="329184"/>
          </a:xfrm>
          <a:prstGeom prst="rect">
            <a:avLst/>
          </a:prstGeom>
          <a:noFill/>
          <a:ln/>
        </p:spPr>
        <p:txBody>
          <a:bodyPr wrap="square" lIns="0" tIns="0" rIns="0" bIns="0" rtlCol="0" anchor="ctr"/>
          <a:lstStyle/>
          <a:p>
            <a:pPr algn="ctr" indent="0" marL="0">
              <a:buNone/>
            </a:pPr>
            <a:r>
              <a:rPr lang="en-US" sz="1150" dirty="0">
                <a:solidFill>
                  <a:schemeClr val="tx1"/>
                </a:solidFill>
              </a:rPr>
              <a:t>Knowledge graph (20 × 12)</a:t>
            </a:r>
            <a:endParaRPr lang="en-US" sz="1150" dirty="0"/>
          </a:p>
        </p:txBody>
      </p:sp>
      <p:sp>
        <p:nvSpPr>
          <p:cNvPr id="59" name="card-295"/>
          <p:cNvSpPr/>
          <p:nvPr/>
        </p:nvSpPr>
        <p:spPr>
          <a:xfrm>
            <a:off x="5093208" y="3666744"/>
            <a:ext cx="1325880" cy="329184"/>
          </a:xfrm>
          <a:prstGeom prst="roundRect">
            <a:avLst>
              <a:gd name="adj" fmla="val 16667"/>
            </a:avLst>
          </a:prstGeom>
          <a:solidFill>
            <a:schemeClr val="bg1"/>
          </a:solidFill>
          <a:ln/>
        </p:spPr>
      </p:sp>
      <p:sp>
        <p:nvSpPr>
          <p:cNvPr id="60" name="text-296"/>
          <p:cNvSpPr txBox="1"/>
          <p:nvPr/>
        </p:nvSpPr>
        <p:spPr>
          <a:xfrm>
            <a:off x="5093208" y="3666744"/>
            <a:ext cx="1325880" cy="329184"/>
          </a:xfrm>
          <a:prstGeom prst="rect">
            <a:avLst/>
          </a:prstGeom>
          <a:noFill/>
          <a:ln/>
        </p:spPr>
        <p:txBody>
          <a:bodyPr wrap="square" lIns="0" tIns="0" rIns="0" bIns="0" rtlCol="0" anchor="ctr"/>
          <a:lstStyle/>
          <a:p>
            <a:pPr algn="ctr" indent="0" marL="0">
              <a:buNone/>
            </a:pPr>
            <a:r>
              <a:rPr lang="en-US" sz="1150" dirty="0">
                <a:solidFill>
                  <a:schemeClr val="tx1"/>
                </a:solidFill>
              </a:rPr>
              <a:t>Scenario engine</a:t>
            </a:r>
            <a:endParaRPr lang="en-US" sz="1150" dirty="0"/>
          </a:p>
        </p:txBody>
      </p:sp>
      <p:sp>
        <p:nvSpPr>
          <p:cNvPr id="61" name="card-297"/>
          <p:cNvSpPr/>
          <p:nvPr/>
        </p:nvSpPr>
        <p:spPr>
          <a:xfrm>
            <a:off x="6510528" y="3666744"/>
            <a:ext cx="1100938" cy="329184"/>
          </a:xfrm>
          <a:prstGeom prst="roundRect">
            <a:avLst>
              <a:gd name="adj" fmla="val 16667"/>
            </a:avLst>
          </a:prstGeom>
          <a:solidFill>
            <a:schemeClr val="bg1"/>
          </a:solidFill>
          <a:ln/>
        </p:spPr>
      </p:sp>
      <p:sp>
        <p:nvSpPr>
          <p:cNvPr id="62" name="text-298"/>
          <p:cNvSpPr txBox="1"/>
          <p:nvPr/>
        </p:nvSpPr>
        <p:spPr>
          <a:xfrm>
            <a:off x="6510528" y="3666744"/>
            <a:ext cx="1100938" cy="329184"/>
          </a:xfrm>
          <a:prstGeom prst="rect">
            <a:avLst/>
          </a:prstGeom>
          <a:noFill/>
          <a:ln/>
        </p:spPr>
        <p:txBody>
          <a:bodyPr wrap="square" lIns="0" tIns="0" rIns="0" bIns="0" rtlCol="0" anchor="ctr"/>
          <a:lstStyle/>
          <a:p>
            <a:pPr algn="ctr" indent="0" marL="0">
              <a:buNone/>
            </a:pPr>
            <a:r>
              <a:rPr lang="en-US" sz="1150" dirty="0">
                <a:solidFill>
                  <a:schemeClr val="tx1"/>
                </a:solidFill>
              </a:rPr>
              <a:t>Research lab</a:t>
            </a:r>
            <a:endParaRPr lang="en-US" sz="1150" dirty="0"/>
          </a:p>
        </p:txBody>
      </p:sp>
      <p:sp>
        <p:nvSpPr>
          <p:cNvPr id="63" name="card-299"/>
          <p:cNvSpPr/>
          <p:nvPr/>
        </p:nvSpPr>
        <p:spPr>
          <a:xfrm>
            <a:off x="7702906" y="3666744"/>
            <a:ext cx="1025957" cy="329184"/>
          </a:xfrm>
          <a:prstGeom prst="roundRect">
            <a:avLst>
              <a:gd name="adj" fmla="val 16667"/>
            </a:avLst>
          </a:prstGeom>
          <a:solidFill>
            <a:schemeClr val="bg1"/>
          </a:solidFill>
          <a:ln/>
        </p:spPr>
      </p:sp>
      <p:sp>
        <p:nvSpPr>
          <p:cNvPr id="64" name="text-300"/>
          <p:cNvSpPr txBox="1"/>
          <p:nvPr/>
        </p:nvSpPr>
        <p:spPr>
          <a:xfrm>
            <a:off x="7702906" y="3666744"/>
            <a:ext cx="1025957" cy="329184"/>
          </a:xfrm>
          <a:prstGeom prst="rect">
            <a:avLst/>
          </a:prstGeom>
          <a:noFill/>
          <a:ln/>
        </p:spPr>
        <p:txBody>
          <a:bodyPr wrap="square" lIns="0" tIns="0" rIns="0" bIns="0" rtlCol="0" anchor="ctr"/>
          <a:lstStyle/>
          <a:p>
            <a:pPr algn="ctr" indent="0" marL="0">
              <a:buNone/>
            </a:pPr>
            <a:r>
              <a:rPr lang="en-US" sz="1150" dirty="0">
                <a:solidFill>
                  <a:schemeClr val="tx1"/>
                </a:solidFill>
              </a:rPr>
              <a:t>Daily brief</a:t>
            </a:r>
            <a:endParaRPr lang="en-US" sz="1150" dirty="0"/>
          </a:p>
        </p:txBody>
      </p:sp>
      <p:sp>
        <p:nvSpPr>
          <p:cNvPr id="65" name="card-301"/>
          <p:cNvSpPr/>
          <p:nvPr/>
        </p:nvSpPr>
        <p:spPr>
          <a:xfrm>
            <a:off x="8820302" y="3666744"/>
            <a:ext cx="2000707" cy="329184"/>
          </a:xfrm>
          <a:prstGeom prst="roundRect">
            <a:avLst>
              <a:gd name="adj" fmla="val 16667"/>
            </a:avLst>
          </a:prstGeom>
          <a:solidFill>
            <a:schemeClr val="bg1"/>
          </a:solidFill>
          <a:ln/>
        </p:spPr>
      </p:sp>
      <p:sp>
        <p:nvSpPr>
          <p:cNvPr id="66" name="text-302"/>
          <p:cNvSpPr txBox="1"/>
          <p:nvPr/>
        </p:nvSpPr>
        <p:spPr>
          <a:xfrm>
            <a:off x="8820302" y="3666744"/>
            <a:ext cx="2000707" cy="329184"/>
          </a:xfrm>
          <a:prstGeom prst="rect">
            <a:avLst/>
          </a:prstGeom>
          <a:noFill/>
          <a:ln/>
        </p:spPr>
        <p:txBody>
          <a:bodyPr wrap="square" lIns="0" tIns="0" rIns="0" bIns="0" rtlCol="0" anchor="ctr"/>
          <a:lstStyle/>
          <a:p>
            <a:pPr algn="ctr" indent="0" marL="0">
              <a:buNone/>
            </a:pPr>
            <a:r>
              <a:rPr lang="en-US" sz="1150" dirty="0">
                <a:solidFill>
                  <a:schemeClr val="tx1"/>
                </a:solidFill>
              </a:rPr>
              <a:t>Claim verifier (library)</a:t>
            </a:r>
            <a:endParaRPr lang="en-US" sz="1150" dirty="0"/>
          </a:p>
        </p:txBody>
      </p:sp>
      <p:sp>
        <p:nvSpPr>
          <p:cNvPr id="67" name="card-303"/>
          <p:cNvSpPr/>
          <p:nvPr/>
        </p:nvSpPr>
        <p:spPr>
          <a:xfrm>
            <a:off x="548640" y="4197096"/>
            <a:ext cx="2148840" cy="566928"/>
          </a:xfrm>
          <a:prstGeom prst="roundRect">
            <a:avLst>
              <a:gd name="adj" fmla="val 11290"/>
            </a:avLst>
          </a:prstGeom>
          <a:solidFill>
            <a:schemeClr val="accent1"/>
          </a:solidFill>
          <a:ln/>
        </p:spPr>
      </p:sp>
      <p:pic>
        <p:nvPicPr>
          <p:cNvPr id="68" name="icon-304" descr="MessagesSquare icon">    </p:cNvPr>
          <p:cNvPicPr>
            <a:picLocks noChangeAspect="1"/>
          </p:cNvPicPr>
          <p:nvPr/>
        </p:nvPicPr>
        <p:blipFill>
          <a:blip r:embed="rId5"/>
          <a:stretch>
            <a:fillRect/>
          </a:stretch>
        </p:blipFill>
        <p:spPr>
          <a:xfrm>
            <a:off x="685800" y="4352544"/>
            <a:ext cx="256032" cy="256032"/>
          </a:xfrm>
          <a:prstGeom prst="rect">
            <a:avLst/>
          </a:prstGeom>
        </p:spPr>
      </p:pic>
      <p:sp>
        <p:nvSpPr>
          <p:cNvPr id="69" name="text-305"/>
          <p:cNvSpPr txBox="1"/>
          <p:nvPr/>
        </p:nvSpPr>
        <p:spPr>
          <a:xfrm>
            <a:off x="1051560" y="4261104"/>
            <a:ext cx="1600200" cy="237744"/>
          </a:xfrm>
          <a:prstGeom prst="rect">
            <a:avLst/>
          </a:prstGeom>
          <a:noFill/>
          <a:ln/>
        </p:spPr>
        <p:txBody>
          <a:bodyPr wrap="square" lIns="0" tIns="0" rIns="0" bIns="0" rtlCol="0" anchor="t"/>
          <a:lstStyle/>
          <a:p>
            <a:pPr indent="0" marL="0">
              <a:buNone/>
            </a:pPr>
            <a:r>
              <a:rPr lang="en-US" sz="1350" b="1" dirty="0">
                <a:solidFill>
                  <a:schemeClr val="bg1"/>
                </a:solidFill>
              </a:rPr>
              <a:t>A2A protocol</a:t>
            </a:r>
            <a:endParaRPr lang="en-US" sz="1350" dirty="0"/>
          </a:p>
        </p:txBody>
      </p:sp>
      <p:sp>
        <p:nvSpPr>
          <p:cNvPr id="70" name="text-306"/>
          <p:cNvSpPr txBox="1"/>
          <p:nvPr/>
        </p:nvSpPr>
        <p:spPr>
          <a:xfrm>
            <a:off x="1051560" y="4507992"/>
            <a:ext cx="1627632" cy="201168"/>
          </a:xfrm>
          <a:prstGeom prst="rect">
            <a:avLst/>
          </a:prstGeom>
          <a:noFill/>
          <a:ln/>
        </p:spPr>
        <p:txBody>
          <a:bodyPr wrap="square" lIns="0" tIns="0" rIns="0" bIns="0" rtlCol="0" anchor="t"/>
          <a:lstStyle/>
          <a:p>
            <a:pPr indent="0" marL="0">
              <a:buNone/>
            </a:pPr>
            <a:r>
              <a:rPr lang="en-US" sz="950" dirty="0">
                <a:solidFill>
                  <a:schemeClr val="bg1">
                    <a:alpha val="78000"/>
                  </a:schemeClr>
                </a:solidFill>
              </a:rPr>
              <a:t>agent ↔ agent · reasoning only</a:t>
            </a:r>
            <a:endParaRPr lang="en-US" sz="950" dirty="0"/>
          </a:p>
        </p:txBody>
      </p:sp>
      <p:sp>
        <p:nvSpPr>
          <p:cNvPr id="71" name="card-307"/>
          <p:cNvSpPr/>
          <p:nvPr/>
        </p:nvSpPr>
        <p:spPr>
          <a:xfrm>
            <a:off x="2788920" y="4197096"/>
            <a:ext cx="8851392" cy="566928"/>
          </a:xfrm>
          <a:prstGeom prst="roundRect">
            <a:avLst>
              <a:gd name="adj" fmla="val 11290"/>
            </a:avLst>
          </a:prstGeom>
          <a:solidFill>
            <a:schemeClr val="bg2"/>
          </a:solidFill>
          <a:ln/>
        </p:spPr>
      </p:sp>
      <p:sp>
        <p:nvSpPr>
          <p:cNvPr id="72" name="card-308"/>
          <p:cNvSpPr/>
          <p:nvPr/>
        </p:nvSpPr>
        <p:spPr>
          <a:xfrm>
            <a:off x="2926080" y="4315968"/>
            <a:ext cx="1025957" cy="329184"/>
          </a:xfrm>
          <a:prstGeom prst="roundRect">
            <a:avLst>
              <a:gd name="adj" fmla="val 16667"/>
            </a:avLst>
          </a:prstGeom>
          <a:solidFill>
            <a:schemeClr val="bg1"/>
          </a:solidFill>
          <a:ln/>
        </p:spPr>
      </p:sp>
      <p:sp>
        <p:nvSpPr>
          <p:cNvPr id="73" name="text-309"/>
          <p:cNvSpPr txBox="1"/>
          <p:nvPr/>
        </p:nvSpPr>
        <p:spPr>
          <a:xfrm>
            <a:off x="2926080" y="4315968"/>
            <a:ext cx="1025957" cy="329184"/>
          </a:xfrm>
          <a:prstGeom prst="rect">
            <a:avLst/>
          </a:prstGeom>
          <a:noFill/>
          <a:ln/>
        </p:spPr>
        <p:txBody>
          <a:bodyPr wrap="square" lIns="0" tIns="0" rIns="0" bIns="0" rtlCol="0" anchor="ctr"/>
          <a:lstStyle/>
          <a:p>
            <a:pPr algn="ctr" indent="0" marL="0">
              <a:buNone/>
            </a:pPr>
            <a:r>
              <a:rPr lang="en-US" sz="1150" dirty="0">
                <a:solidFill>
                  <a:schemeClr val="tx1"/>
                </a:solidFill>
              </a:rPr>
              <a:t>Agent Cards</a:t>
            </a:r>
            <a:endParaRPr lang="en-US" sz="1150" dirty="0"/>
          </a:p>
        </p:txBody>
      </p:sp>
      <p:sp>
        <p:nvSpPr>
          <p:cNvPr id="74" name="card-310"/>
          <p:cNvSpPr/>
          <p:nvPr/>
        </p:nvSpPr>
        <p:spPr>
          <a:xfrm>
            <a:off x="4043477" y="4315968"/>
            <a:ext cx="1475842" cy="329184"/>
          </a:xfrm>
          <a:prstGeom prst="roundRect">
            <a:avLst>
              <a:gd name="adj" fmla="val 16667"/>
            </a:avLst>
          </a:prstGeom>
          <a:solidFill>
            <a:schemeClr val="bg1"/>
          </a:solidFill>
          <a:ln/>
        </p:spPr>
      </p:sp>
      <p:sp>
        <p:nvSpPr>
          <p:cNvPr id="75" name="text-311"/>
          <p:cNvSpPr txBox="1"/>
          <p:nvPr/>
        </p:nvSpPr>
        <p:spPr>
          <a:xfrm>
            <a:off x="4043477" y="4315968"/>
            <a:ext cx="1475842" cy="329184"/>
          </a:xfrm>
          <a:prstGeom prst="rect">
            <a:avLst/>
          </a:prstGeom>
          <a:noFill/>
          <a:ln/>
        </p:spPr>
        <p:txBody>
          <a:bodyPr wrap="square" lIns="0" tIns="0" rIns="0" bIns="0" rtlCol="0" anchor="ctr"/>
          <a:lstStyle/>
          <a:p>
            <a:pPr algn="ctr" indent="0" marL="0">
              <a:buNone/>
            </a:pPr>
            <a:r>
              <a:rPr lang="en-US" sz="1150" dirty="0">
                <a:solidFill>
                  <a:schemeClr val="tx1"/>
                </a:solidFill>
              </a:rPr>
              <a:t>Capability router</a:t>
            </a:r>
            <a:endParaRPr lang="en-US" sz="1150" dirty="0"/>
          </a:p>
        </p:txBody>
      </p:sp>
      <p:sp>
        <p:nvSpPr>
          <p:cNvPr id="76" name="card-312"/>
          <p:cNvSpPr/>
          <p:nvPr/>
        </p:nvSpPr>
        <p:spPr>
          <a:xfrm>
            <a:off x="5610758" y="4315968"/>
            <a:ext cx="1325880" cy="329184"/>
          </a:xfrm>
          <a:prstGeom prst="roundRect">
            <a:avLst>
              <a:gd name="adj" fmla="val 16667"/>
            </a:avLst>
          </a:prstGeom>
          <a:solidFill>
            <a:schemeClr val="bg1"/>
          </a:solidFill>
          <a:ln/>
        </p:spPr>
      </p:sp>
      <p:sp>
        <p:nvSpPr>
          <p:cNvPr id="77" name="text-313"/>
          <p:cNvSpPr txBox="1"/>
          <p:nvPr/>
        </p:nvSpPr>
        <p:spPr>
          <a:xfrm>
            <a:off x="5610758" y="4315968"/>
            <a:ext cx="1325880" cy="329184"/>
          </a:xfrm>
          <a:prstGeom prst="rect">
            <a:avLst/>
          </a:prstGeom>
          <a:noFill/>
          <a:ln/>
        </p:spPr>
        <p:txBody>
          <a:bodyPr wrap="square" lIns="0" tIns="0" rIns="0" bIns="0" rtlCol="0" anchor="ctr"/>
          <a:lstStyle/>
          <a:p>
            <a:pPr algn="ctr" indent="0" marL="0">
              <a:buNone/>
            </a:pPr>
            <a:r>
              <a:rPr lang="en-US" sz="1150" dirty="0">
                <a:solidFill>
                  <a:schemeClr val="tx1"/>
                </a:solidFill>
              </a:rPr>
              <a:t>6 server checks</a:t>
            </a:r>
            <a:endParaRPr lang="en-US" sz="1150" dirty="0"/>
          </a:p>
        </p:txBody>
      </p:sp>
      <p:sp>
        <p:nvSpPr>
          <p:cNvPr id="78" name="card-314"/>
          <p:cNvSpPr/>
          <p:nvPr/>
        </p:nvSpPr>
        <p:spPr>
          <a:xfrm>
            <a:off x="7028078" y="4315968"/>
            <a:ext cx="1775765" cy="329184"/>
          </a:xfrm>
          <a:prstGeom prst="roundRect">
            <a:avLst>
              <a:gd name="adj" fmla="val 16667"/>
            </a:avLst>
          </a:prstGeom>
          <a:solidFill>
            <a:schemeClr val="bg1"/>
          </a:solidFill>
          <a:ln/>
        </p:spPr>
      </p:sp>
      <p:sp>
        <p:nvSpPr>
          <p:cNvPr id="79" name="text-315"/>
          <p:cNvSpPr txBox="1"/>
          <p:nvPr/>
        </p:nvSpPr>
        <p:spPr>
          <a:xfrm>
            <a:off x="7028078" y="4315968"/>
            <a:ext cx="1775765" cy="329184"/>
          </a:xfrm>
          <a:prstGeom prst="rect">
            <a:avLst/>
          </a:prstGeom>
          <a:noFill/>
          <a:ln/>
        </p:spPr>
        <p:txBody>
          <a:bodyPr wrap="square" lIns="0" tIns="0" rIns="0" bIns="0" rtlCol="0" anchor="ctr"/>
          <a:lstStyle/>
          <a:p>
            <a:pPr algn="ctr" indent="0" marL="0">
              <a:buNone/>
            </a:pPr>
            <a:r>
              <a:rPr lang="en-US" sz="1150" dirty="0">
                <a:solidFill>
                  <a:schemeClr val="tx1"/>
                </a:solidFill>
              </a:rPr>
              <a:t>7 declared peer edges</a:t>
            </a:r>
            <a:endParaRPr lang="en-US" sz="1150" dirty="0"/>
          </a:p>
        </p:txBody>
      </p:sp>
      <p:sp>
        <p:nvSpPr>
          <p:cNvPr id="80" name="card-316"/>
          <p:cNvSpPr/>
          <p:nvPr/>
        </p:nvSpPr>
        <p:spPr>
          <a:xfrm>
            <a:off x="8895283" y="4315968"/>
            <a:ext cx="1025957" cy="329184"/>
          </a:xfrm>
          <a:prstGeom prst="roundRect">
            <a:avLst>
              <a:gd name="adj" fmla="val 16667"/>
            </a:avLst>
          </a:prstGeom>
          <a:solidFill>
            <a:schemeClr val="bg1"/>
          </a:solidFill>
          <a:ln/>
        </p:spPr>
      </p:sp>
      <p:sp>
        <p:nvSpPr>
          <p:cNvPr id="81" name="text-317"/>
          <p:cNvSpPr txBox="1"/>
          <p:nvPr/>
        </p:nvSpPr>
        <p:spPr>
          <a:xfrm>
            <a:off x="8895283" y="4315968"/>
            <a:ext cx="1025957" cy="329184"/>
          </a:xfrm>
          <a:prstGeom prst="rect">
            <a:avLst/>
          </a:prstGeom>
          <a:noFill/>
          <a:ln/>
        </p:spPr>
        <p:txBody>
          <a:bodyPr wrap="square" lIns="0" tIns="0" rIns="0" bIns="0" rtlCol="0" anchor="ctr"/>
          <a:lstStyle/>
          <a:p>
            <a:pPr algn="ctr" indent="0" marL="0">
              <a:buNone/>
            </a:pPr>
            <a:r>
              <a:rPr lang="en-US" sz="1150" dirty="0">
                <a:solidFill>
                  <a:schemeClr val="tx1"/>
                </a:solidFill>
              </a:rPr>
              <a:t>Trace store</a:t>
            </a:r>
            <a:endParaRPr lang="en-US" sz="1150" dirty="0"/>
          </a:p>
        </p:txBody>
      </p:sp>
      <p:sp>
        <p:nvSpPr>
          <p:cNvPr id="82" name="card-318"/>
          <p:cNvSpPr/>
          <p:nvPr/>
        </p:nvSpPr>
        <p:spPr>
          <a:xfrm>
            <a:off x="548640" y="4846320"/>
            <a:ext cx="2148840" cy="566928"/>
          </a:xfrm>
          <a:prstGeom prst="roundRect">
            <a:avLst>
              <a:gd name="adj" fmla="val 11290"/>
            </a:avLst>
          </a:prstGeom>
          <a:solidFill>
            <a:schemeClr val="tx1"/>
          </a:solidFill>
          <a:ln/>
        </p:spPr>
      </p:sp>
      <p:pic>
        <p:nvPicPr>
          <p:cNvPr id="83" name="icon-319" descr="Bot icon">    </p:cNvPr>
          <p:cNvPicPr>
            <a:picLocks noChangeAspect="1"/>
          </p:cNvPicPr>
          <p:nvPr/>
        </p:nvPicPr>
        <p:blipFill>
          <a:blip r:embed="rId6"/>
          <a:stretch>
            <a:fillRect/>
          </a:stretch>
        </p:blipFill>
        <p:spPr>
          <a:xfrm>
            <a:off x="685800" y="5001768"/>
            <a:ext cx="256032" cy="256032"/>
          </a:xfrm>
          <a:prstGeom prst="rect">
            <a:avLst/>
          </a:prstGeom>
        </p:spPr>
      </p:pic>
      <p:sp>
        <p:nvSpPr>
          <p:cNvPr id="84" name="text-320"/>
          <p:cNvSpPr txBox="1"/>
          <p:nvPr/>
        </p:nvSpPr>
        <p:spPr>
          <a:xfrm>
            <a:off x="1051560" y="4910328"/>
            <a:ext cx="1600200" cy="237744"/>
          </a:xfrm>
          <a:prstGeom prst="rect">
            <a:avLst/>
          </a:prstGeom>
          <a:noFill/>
          <a:ln/>
        </p:spPr>
        <p:txBody>
          <a:bodyPr wrap="square" lIns="0" tIns="0" rIns="0" bIns="0" rtlCol="0" anchor="t"/>
          <a:lstStyle/>
          <a:p>
            <a:pPr indent="0" marL="0">
              <a:buNone/>
            </a:pPr>
            <a:r>
              <a:rPr lang="en-US" sz="1350" b="1" dirty="0">
                <a:solidFill>
                  <a:schemeClr val="bg1"/>
                </a:solidFill>
              </a:rPr>
              <a:t>Sector agents</a:t>
            </a:r>
            <a:endParaRPr lang="en-US" sz="1350" dirty="0"/>
          </a:p>
        </p:txBody>
      </p:sp>
      <p:sp>
        <p:nvSpPr>
          <p:cNvPr id="85" name="text-321"/>
          <p:cNvSpPr txBox="1"/>
          <p:nvPr/>
        </p:nvSpPr>
        <p:spPr>
          <a:xfrm>
            <a:off x="1051560" y="5157216"/>
            <a:ext cx="1627632" cy="201168"/>
          </a:xfrm>
          <a:prstGeom prst="rect">
            <a:avLst/>
          </a:prstGeom>
          <a:noFill/>
          <a:ln/>
        </p:spPr>
        <p:txBody>
          <a:bodyPr wrap="square" lIns="0" tIns="0" rIns="0" bIns="0" rtlCol="0" anchor="t"/>
          <a:lstStyle/>
          <a:p>
            <a:pPr indent="0" marL="0">
              <a:buNone/>
            </a:pPr>
            <a:r>
              <a:rPr lang="en-US" sz="950" dirty="0">
                <a:solidFill>
                  <a:schemeClr val="bg1">
                    <a:alpha val="78000"/>
                  </a:schemeClr>
                </a:solidFill>
              </a:rPr>
              <a:t>10 packages · one owner each</a:t>
            </a:r>
            <a:endParaRPr lang="en-US" sz="950" dirty="0"/>
          </a:p>
        </p:txBody>
      </p:sp>
      <p:sp>
        <p:nvSpPr>
          <p:cNvPr id="86" name="card-322"/>
          <p:cNvSpPr/>
          <p:nvPr/>
        </p:nvSpPr>
        <p:spPr>
          <a:xfrm>
            <a:off x="2788920" y="4846320"/>
            <a:ext cx="8851392" cy="566928"/>
          </a:xfrm>
          <a:prstGeom prst="roundRect">
            <a:avLst>
              <a:gd name="adj" fmla="val 11290"/>
            </a:avLst>
          </a:prstGeom>
          <a:solidFill>
            <a:schemeClr val="bg2"/>
          </a:solidFill>
          <a:ln/>
        </p:spPr>
      </p:sp>
      <p:sp>
        <p:nvSpPr>
          <p:cNvPr id="87" name="card-323"/>
          <p:cNvSpPr/>
          <p:nvPr/>
        </p:nvSpPr>
        <p:spPr>
          <a:xfrm>
            <a:off x="2926080" y="4965192"/>
            <a:ext cx="449885" cy="329184"/>
          </a:xfrm>
          <a:prstGeom prst="roundRect">
            <a:avLst>
              <a:gd name="adj" fmla="val 16667"/>
            </a:avLst>
          </a:prstGeom>
          <a:solidFill>
            <a:schemeClr val="bg1"/>
          </a:solidFill>
          <a:ln/>
        </p:spPr>
      </p:sp>
      <p:sp>
        <p:nvSpPr>
          <p:cNvPr id="88" name="text-324"/>
          <p:cNvSpPr txBox="1"/>
          <p:nvPr/>
        </p:nvSpPr>
        <p:spPr>
          <a:xfrm>
            <a:off x="2926080" y="4965192"/>
            <a:ext cx="449885" cy="329184"/>
          </a:xfrm>
          <a:prstGeom prst="rect">
            <a:avLst/>
          </a:prstGeom>
          <a:noFill/>
          <a:ln/>
        </p:spPr>
        <p:txBody>
          <a:bodyPr wrap="square" lIns="0" tIns="0" rIns="0" bIns="0" rtlCol="0" anchor="ctr"/>
          <a:lstStyle/>
          <a:p>
            <a:pPr algn="ctr" indent="0" marL="0">
              <a:buNone/>
            </a:pPr>
            <a:r>
              <a:rPr lang="en-US" sz="1100" dirty="0">
                <a:solidFill>
                  <a:schemeClr val="tx1"/>
                </a:solidFill>
              </a:rPr>
              <a:t>Real</a:t>
            </a:r>
            <a:endParaRPr lang="en-US" sz="1100" dirty="0"/>
          </a:p>
        </p:txBody>
      </p:sp>
      <p:sp>
        <p:nvSpPr>
          <p:cNvPr id="89" name="card-325"/>
          <p:cNvSpPr/>
          <p:nvPr/>
        </p:nvSpPr>
        <p:spPr>
          <a:xfrm>
            <a:off x="3449117" y="4965192"/>
            <a:ext cx="949147" cy="329184"/>
          </a:xfrm>
          <a:prstGeom prst="roundRect">
            <a:avLst>
              <a:gd name="adj" fmla="val 16667"/>
            </a:avLst>
          </a:prstGeom>
          <a:solidFill>
            <a:schemeClr val="bg1"/>
          </a:solidFill>
          <a:ln/>
        </p:spPr>
      </p:sp>
      <p:sp>
        <p:nvSpPr>
          <p:cNvPr id="90" name="text-326"/>
          <p:cNvSpPr txBox="1"/>
          <p:nvPr/>
        </p:nvSpPr>
        <p:spPr>
          <a:xfrm>
            <a:off x="3449117" y="4965192"/>
            <a:ext cx="949147" cy="329184"/>
          </a:xfrm>
          <a:prstGeom prst="rect">
            <a:avLst/>
          </a:prstGeom>
          <a:noFill/>
          <a:ln/>
        </p:spPr>
        <p:txBody>
          <a:bodyPr wrap="square" lIns="0" tIns="0" rIns="0" bIns="0" rtlCol="0" anchor="ctr"/>
          <a:lstStyle/>
          <a:p>
            <a:pPr algn="ctr" indent="0" marL="0">
              <a:buNone/>
            </a:pPr>
            <a:r>
              <a:rPr lang="en-US" sz="1100" dirty="0">
                <a:solidFill>
                  <a:schemeClr val="tx1"/>
                </a:solidFill>
              </a:rPr>
              <a:t>Agriculture</a:t>
            </a:r>
            <a:endParaRPr lang="en-US" sz="1100" dirty="0"/>
          </a:p>
        </p:txBody>
      </p:sp>
      <p:sp>
        <p:nvSpPr>
          <p:cNvPr id="91" name="card-327"/>
          <p:cNvSpPr/>
          <p:nvPr/>
        </p:nvSpPr>
        <p:spPr>
          <a:xfrm>
            <a:off x="4471416" y="4965192"/>
            <a:ext cx="592531" cy="329184"/>
          </a:xfrm>
          <a:prstGeom prst="roundRect">
            <a:avLst>
              <a:gd name="adj" fmla="val 16667"/>
            </a:avLst>
          </a:prstGeom>
          <a:solidFill>
            <a:schemeClr val="bg1"/>
          </a:solidFill>
          <a:ln/>
        </p:spPr>
      </p:sp>
      <p:sp>
        <p:nvSpPr>
          <p:cNvPr id="92" name="text-328"/>
          <p:cNvSpPr txBox="1"/>
          <p:nvPr/>
        </p:nvSpPr>
        <p:spPr>
          <a:xfrm>
            <a:off x="4471416" y="4965192"/>
            <a:ext cx="592531" cy="329184"/>
          </a:xfrm>
          <a:prstGeom prst="rect">
            <a:avLst/>
          </a:prstGeom>
          <a:noFill/>
          <a:ln/>
        </p:spPr>
        <p:txBody>
          <a:bodyPr wrap="square" lIns="0" tIns="0" rIns="0" bIns="0" rtlCol="0" anchor="ctr"/>
          <a:lstStyle/>
          <a:p>
            <a:pPr algn="ctr" indent="0" marL="0">
              <a:buNone/>
            </a:pPr>
            <a:r>
              <a:rPr lang="en-US" sz="1100" dirty="0">
                <a:solidFill>
                  <a:schemeClr val="tx1"/>
                </a:solidFill>
              </a:rPr>
              <a:t>Prices</a:t>
            </a:r>
            <a:endParaRPr lang="en-US" sz="1100" dirty="0"/>
          </a:p>
        </p:txBody>
      </p:sp>
      <p:sp>
        <p:nvSpPr>
          <p:cNvPr id="93" name="card-329"/>
          <p:cNvSpPr/>
          <p:nvPr/>
        </p:nvSpPr>
        <p:spPr>
          <a:xfrm>
            <a:off x="5137099" y="4965192"/>
            <a:ext cx="735178" cy="329184"/>
          </a:xfrm>
          <a:prstGeom prst="roundRect">
            <a:avLst>
              <a:gd name="adj" fmla="val 16667"/>
            </a:avLst>
          </a:prstGeom>
          <a:solidFill>
            <a:schemeClr val="bg1"/>
          </a:solidFill>
          <a:ln/>
        </p:spPr>
      </p:sp>
      <p:sp>
        <p:nvSpPr>
          <p:cNvPr id="94" name="text-330"/>
          <p:cNvSpPr txBox="1"/>
          <p:nvPr/>
        </p:nvSpPr>
        <p:spPr>
          <a:xfrm>
            <a:off x="5137099" y="4965192"/>
            <a:ext cx="735178" cy="329184"/>
          </a:xfrm>
          <a:prstGeom prst="rect">
            <a:avLst/>
          </a:prstGeom>
          <a:noFill/>
          <a:ln/>
        </p:spPr>
        <p:txBody>
          <a:bodyPr wrap="square" lIns="0" tIns="0" rIns="0" bIns="0" rtlCol="0" anchor="ctr"/>
          <a:lstStyle/>
          <a:p>
            <a:pPr algn="ctr" indent="0" marL="0">
              <a:buNone/>
            </a:pPr>
            <a:r>
              <a:rPr lang="en-US" sz="1100" dirty="0">
                <a:solidFill>
                  <a:schemeClr val="tx1"/>
                </a:solidFill>
              </a:rPr>
              <a:t>Monetary</a:t>
            </a:r>
            <a:endParaRPr lang="en-US" sz="1100" dirty="0"/>
          </a:p>
        </p:txBody>
      </p:sp>
      <p:sp>
        <p:nvSpPr>
          <p:cNvPr id="95" name="card-331"/>
          <p:cNvSpPr/>
          <p:nvPr/>
        </p:nvSpPr>
        <p:spPr>
          <a:xfrm>
            <a:off x="5945429" y="4965192"/>
            <a:ext cx="663854" cy="329184"/>
          </a:xfrm>
          <a:prstGeom prst="roundRect">
            <a:avLst>
              <a:gd name="adj" fmla="val 16667"/>
            </a:avLst>
          </a:prstGeom>
          <a:solidFill>
            <a:schemeClr val="bg1"/>
          </a:solidFill>
          <a:ln/>
        </p:spPr>
      </p:sp>
      <p:sp>
        <p:nvSpPr>
          <p:cNvPr id="96" name="text-332"/>
          <p:cNvSpPr txBox="1"/>
          <p:nvPr/>
        </p:nvSpPr>
        <p:spPr>
          <a:xfrm>
            <a:off x="5945429" y="4965192"/>
            <a:ext cx="663854" cy="329184"/>
          </a:xfrm>
          <a:prstGeom prst="rect">
            <a:avLst/>
          </a:prstGeom>
          <a:noFill/>
          <a:ln/>
        </p:spPr>
        <p:txBody>
          <a:bodyPr wrap="square" lIns="0" tIns="0" rIns="0" bIns="0" rtlCol="0" anchor="ctr"/>
          <a:lstStyle/>
          <a:p>
            <a:pPr algn="ctr" indent="0" marL="0">
              <a:buNone/>
            </a:pPr>
            <a:r>
              <a:rPr lang="en-US" sz="1100" dirty="0">
                <a:solidFill>
                  <a:schemeClr val="tx1"/>
                </a:solidFill>
              </a:rPr>
              <a:t>Finance</a:t>
            </a:r>
            <a:endParaRPr lang="en-US" sz="1100" dirty="0"/>
          </a:p>
        </p:txBody>
      </p:sp>
      <p:sp>
        <p:nvSpPr>
          <p:cNvPr id="97" name="card-333"/>
          <p:cNvSpPr/>
          <p:nvPr/>
        </p:nvSpPr>
        <p:spPr>
          <a:xfrm>
            <a:off x="6682435" y="4965192"/>
            <a:ext cx="1234440" cy="329184"/>
          </a:xfrm>
          <a:prstGeom prst="roundRect">
            <a:avLst>
              <a:gd name="adj" fmla="val 16667"/>
            </a:avLst>
          </a:prstGeom>
          <a:solidFill>
            <a:schemeClr val="bg1"/>
          </a:solidFill>
          <a:ln/>
        </p:spPr>
      </p:sp>
      <p:sp>
        <p:nvSpPr>
          <p:cNvPr id="98" name="text-334"/>
          <p:cNvSpPr txBox="1"/>
          <p:nvPr/>
        </p:nvSpPr>
        <p:spPr>
          <a:xfrm>
            <a:off x="6682435" y="4965192"/>
            <a:ext cx="1234440" cy="329184"/>
          </a:xfrm>
          <a:prstGeom prst="rect">
            <a:avLst/>
          </a:prstGeom>
          <a:noFill/>
          <a:ln/>
        </p:spPr>
        <p:txBody>
          <a:bodyPr wrap="square" lIns="0" tIns="0" rIns="0" bIns="0" rtlCol="0" anchor="ctr"/>
          <a:lstStyle/>
          <a:p>
            <a:pPr algn="ctr" indent="0" marL="0">
              <a:buNone/>
            </a:pPr>
            <a:r>
              <a:rPr lang="en-US" sz="1100" dirty="0">
                <a:solidFill>
                  <a:schemeClr val="tx1"/>
                </a:solidFill>
              </a:rPr>
              <a:t>Capital Markets</a:t>
            </a:r>
            <a:endParaRPr lang="en-US" sz="1100" dirty="0"/>
          </a:p>
        </p:txBody>
      </p:sp>
      <p:sp>
        <p:nvSpPr>
          <p:cNvPr id="99" name="card-335"/>
          <p:cNvSpPr/>
          <p:nvPr/>
        </p:nvSpPr>
        <p:spPr>
          <a:xfrm>
            <a:off x="7990027" y="4965192"/>
            <a:ext cx="592531" cy="329184"/>
          </a:xfrm>
          <a:prstGeom prst="roundRect">
            <a:avLst>
              <a:gd name="adj" fmla="val 16667"/>
            </a:avLst>
          </a:prstGeom>
          <a:solidFill>
            <a:schemeClr val="bg1"/>
          </a:solidFill>
          <a:ln/>
        </p:spPr>
      </p:sp>
      <p:sp>
        <p:nvSpPr>
          <p:cNvPr id="100" name="text-336"/>
          <p:cNvSpPr txBox="1"/>
          <p:nvPr/>
        </p:nvSpPr>
        <p:spPr>
          <a:xfrm>
            <a:off x="7990027" y="4965192"/>
            <a:ext cx="592531" cy="329184"/>
          </a:xfrm>
          <a:prstGeom prst="rect">
            <a:avLst/>
          </a:prstGeom>
          <a:noFill/>
          <a:ln/>
        </p:spPr>
        <p:txBody>
          <a:bodyPr wrap="square" lIns="0" tIns="0" rIns="0" bIns="0" rtlCol="0" anchor="ctr"/>
          <a:lstStyle/>
          <a:p>
            <a:pPr algn="ctr" indent="0" marL="0">
              <a:buNone/>
            </a:pPr>
            <a:r>
              <a:rPr lang="en-US" sz="1100" dirty="0">
                <a:solidFill>
                  <a:schemeClr val="tx1"/>
                </a:solidFill>
              </a:rPr>
              <a:t>Fiscal</a:t>
            </a:r>
            <a:endParaRPr lang="en-US" sz="1100" dirty="0"/>
          </a:p>
        </p:txBody>
      </p:sp>
      <p:sp>
        <p:nvSpPr>
          <p:cNvPr id="101" name="card-337"/>
          <p:cNvSpPr/>
          <p:nvPr/>
        </p:nvSpPr>
        <p:spPr>
          <a:xfrm>
            <a:off x="8655710" y="4965192"/>
            <a:ext cx="735178" cy="329184"/>
          </a:xfrm>
          <a:prstGeom prst="roundRect">
            <a:avLst>
              <a:gd name="adj" fmla="val 16667"/>
            </a:avLst>
          </a:prstGeom>
          <a:solidFill>
            <a:schemeClr val="bg1"/>
          </a:solidFill>
          <a:ln/>
        </p:spPr>
      </p:sp>
      <p:sp>
        <p:nvSpPr>
          <p:cNvPr id="102" name="text-338"/>
          <p:cNvSpPr txBox="1"/>
          <p:nvPr/>
        </p:nvSpPr>
        <p:spPr>
          <a:xfrm>
            <a:off x="8655710" y="4965192"/>
            <a:ext cx="735178" cy="329184"/>
          </a:xfrm>
          <a:prstGeom prst="rect">
            <a:avLst/>
          </a:prstGeom>
          <a:noFill/>
          <a:ln/>
        </p:spPr>
        <p:txBody>
          <a:bodyPr wrap="square" lIns="0" tIns="0" rIns="0" bIns="0" rtlCol="0" anchor="ctr"/>
          <a:lstStyle/>
          <a:p>
            <a:pPr algn="ctr" indent="0" marL="0">
              <a:buNone/>
            </a:pPr>
            <a:r>
              <a:rPr lang="en-US" sz="1100" dirty="0">
                <a:solidFill>
                  <a:schemeClr val="tx1"/>
                </a:solidFill>
              </a:rPr>
              <a:t>External</a:t>
            </a:r>
            <a:endParaRPr lang="en-US" sz="1100" dirty="0"/>
          </a:p>
        </p:txBody>
      </p:sp>
      <p:sp>
        <p:nvSpPr>
          <p:cNvPr id="103" name="card-339"/>
          <p:cNvSpPr/>
          <p:nvPr/>
        </p:nvSpPr>
        <p:spPr>
          <a:xfrm>
            <a:off x="9464040" y="4965192"/>
            <a:ext cx="592531" cy="329184"/>
          </a:xfrm>
          <a:prstGeom prst="roundRect">
            <a:avLst>
              <a:gd name="adj" fmla="val 16667"/>
            </a:avLst>
          </a:prstGeom>
          <a:solidFill>
            <a:schemeClr val="bg1"/>
          </a:solidFill>
          <a:ln/>
        </p:spPr>
      </p:sp>
      <p:sp>
        <p:nvSpPr>
          <p:cNvPr id="104" name="text-340"/>
          <p:cNvSpPr txBox="1"/>
          <p:nvPr/>
        </p:nvSpPr>
        <p:spPr>
          <a:xfrm>
            <a:off x="9464040" y="4965192"/>
            <a:ext cx="592531" cy="329184"/>
          </a:xfrm>
          <a:prstGeom prst="rect">
            <a:avLst/>
          </a:prstGeom>
          <a:noFill/>
          <a:ln/>
        </p:spPr>
        <p:txBody>
          <a:bodyPr wrap="square" lIns="0" tIns="0" rIns="0" bIns="0" rtlCol="0" anchor="ctr"/>
          <a:lstStyle/>
          <a:p>
            <a:pPr algn="ctr" indent="0" marL="0">
              <a:buNone/>
            </a:pPr>
            <a:r>
              <a:rPr lang="en-US" sz="1100" dirty="0">
                <a:solidFill>
                  <a:schemeClr val="tx1"/>
                </a:solidFill>
              </a:rPr>
              <a:t>Labour</a:t>
            </a:r>
            <a:endParaRPr lang="en-US" sz="1100" dirty="0"/>
          </a:p>
        </p:txBody>
      </p:sp>
      <p:sp>
        <p:nvSpPr>
          <p:cNvPr id="105" name="card-341"/>
          <p:cNvSpPr/>
          <p:nvPr/>
        </p:nvSpPr>
        <p:spPr>
          <a:xfrm>
            <a:off x="10129723" y="4965192"/>
            <a:ext cx="735178" cy="329184"/>
          </a:xfrm>
          <a:prstGeom prst="roundRect">
            <a:avLst>
              <a:gd name="adj" fmla="val 16667"/>
            </a:avLst>
          </a:prstGeom>
          <a:solidFill>
            <a:schemeClr val="bg1"/>
          </a:solidFill>
          <a:ln/>
        </p:spPr>
      </p:sp>
      <p:sp>
        <p:nvSpPr>
          <p:cNvPr id="106" name="text-342"/>
          <p:cNvSpPr txBox="1"/>
          <p:nvPr/>
        </p:nvSpPr>
        <p:spPr>
          <a:xfrm>
            <a:off x="10129723" y="4965192"/>
            <a:ext cx="735178" cy="329184"/>
          </a:xfrm>
          <a:prstGeom prst="rect">
            <a:avLst/>
          </a:prstGeom>
          <a:noFill/>
          <a:ln/>
        </p:spPr>
        <p:txBody>
          <a:bodyPr wrap="square" lIns="0" tIns="0" rIns="0" bIns="0" rtlCol="0" anchor="ctr"/>
          <a:lstStyle/>
          <a:p>
            <a:pPr algn="ctr" indent="0" marL="0">
              <a:buNone/>
            </a:pPr>
            <a:r>
              <a:rPr lang="en-US" sz="1100" dirty="0">
                <a:solidFill>
                  <a:schemeClr val="tx1"/>
                </a:solidFill>
              </a:rPr>
              <a:t>Services</a:t>
            </a:r>
            <a:endParaRPr lang="en-US" sz="1100" dirty="0"/>
          </a:p>
        </p:txBody>
      </p:sp>
      <p:sp>
        <p:nvSpPr>
          <p:cNvPr id="107" name="card-343"/>
          <p:cNvSpPr/>
          <p:nvPr/>
        </p:nvSpPr>
        <p:spPr>
          <a:xfrm>
            <a:off x="548640" y="5495544"/>
            <a:ext cx="2148840" cy="566928"/>
          </a:xfrm>
          <a:prstGeom prst="roundRect">
            <a:avLst>
              <a:gd name="adj" fmla="val 11290"/>
            </a:avLst>
          </a:prstGeom>
          <a:solidFill>
            <a:schemeClr val="accent1"/>
          </a:solidFill>
          <a:ln/>
        </p:spPr>
      </p:sp>
      <p:pic>
        <p:nvPicPr>
          <p:cNvPr id="108" name="icon-344" descr="Database icon">    </p:cNvPr>
          <p:cNvPicPr>
            <a:picLocks noChangeAspect="1"/>
          </p:cNvPicPr>
          <p:nvPr/>
        </p:nvPicPr>
        <p:blipFill>
          <a:blip r:embed="rId7"/>
          <a:stretch>
            <a:fillRect/>
          </a:stretch>
        </p:blipFill>
        <p:spPr>
          <a:xfrm>
            <a:off x="685800" y="5650992"/>
            <a:ext cx="256032" cy="256032"/>
          </a:xfrm>
          <a:prstGeom prst="rect">
            <a:avLst/>
          </a:prstGeom>
        </p:spPr>
      </p:pic>
      <p:sp>
        <p:nvSpPr>
          <p:cNvPr id="109" name="text-345"/>
          <p:cNvSpPr txBox="1"/>
          <p:nvPr/>
        </p:nvSpPr>
        <p:spPr>
          <a:xfrm>
            <a:off x="1051560" y="5559552"/>
            <a:ext cx="1600200" cy="237744"/>
          </a:xfrm>
          <a:prstGeom prst="rect">
            <a:avLst/>
          </a:prstGeom>
          <a:noFill/>
          <a:ln/>
        </p:spPr>
        <p:txBody>
          <a:bodyPr wrap="square" lIns="0" tIns="0" rIns="0" bIns="0" rtlCol="0" anchor="t"/>
          <a:lstStyle/>
          <a:p>
            <a:pPr indent="0" marL="0">
              <a:buNone/>
            </a:pPr>
            <a:r>
              <a:rPr lang="en-US" sz="1350" b="1" dirty="0">
                <a:solidFill>
                  <a:schemeClr val="bg1"/>
                </a:solidFill>
              </a:rPr>
              <a:t>Data layer</a:t>
            </a:r>
            <a:endParaRPr lang="en-US" sz="1350" dirty="0"/>
          </a:p>
        </p:txBody>
      </p:sp>
      <p:sp>
        <p:nvSpPr>
          <p:cNvPr id="110" name="text-346"/>
          <p:cNvSpPr txBox="1"/>
          <p:nvPr/>
        </p:nvSpPr>
        <p:spPr>
          <a:xfrm>
            <a:off x="1051560" y="5806440"/>
            <a:ext cx="1627632" cy="201168"/>
          </a:xfrm>
          <a:prstGeom prst="rect">
            <a:avLst/>
          </a:prstGeom>
          <a:noFill/>
          <a:ln/>
        </p:spPr>
        <p:txBody>
          <a:bodyPr wrap="square" lIns="0" tIns="0" rIns="0" bIns="0" rtlCol="0" anchor="t"/>
          <a:lstStyle/>
          <a:p>
            <a:pPr indent="0" marL="0">
              <a:buNone/>
            </a:pPr>
            <a:r>
              <a:rPr lang="en-US" sz="950" dirty="0">
                <a:solidFill>
                  <a:schemeClr val="bg1">
                    <a:alpha val="78000"/>
                  </a:schemeClr>
                </a:solidFill>
              </a:rPr>
              <a:t>agent ↔ data · data only</a:t>
            </a:r>
            <a:endParaRPr lang="en-US" sz="950" dirty="0"/>
          </a:p>
        </p:txBody>
      </p:sp>
      <p:sp>
        <p:nvSpPr>
          <p:cNvPr id="111" name="card-347"/>
          <p:cNvSpPr/>
          <p:nvPr/>
        </p:nvSpPr>
        <p:spPr>
          <a:xfrm>
            <a:off x="2788920" y="5495544"/>
            <a:ext cx="8851392" cy="566928"/>
          </a:xfrm>
          <a:prstGeom prst="roundRect">
            <a:avLst>
              <a:gd name="adj" fmla="val 11290"/>
            </a:avLst>
          </a:prstGeom>
          <a:solidFill>
            <a:schemeClr val="bg2"/>
          </a:solidFill>
          <a:ln/>
        </p:spPr>
      </p:sp>
      <p:sp>
        <p:nvSpPr>
          <p:cNvPr id="112" name="card-348"/>
          <p:cNvSpPr/>
          <p:nvPr/>
        </p:nvSpPr>
        <p:spPr>
          <a:xfrm>
            <a:off x="2926080" y="5614416"/>
            <a:ext cx="1475842" cy="329184"/>
          </a:xfrm>
          <a:prstGeom prst="roundRect">
            <a:avLst>
              <a:gd name="adj" fmla="val 16667"/>
            </a:avLst>
          </a:prstGeom>
          <a:solidFill>
            <a:schemeClr val="bg1"/>
          </a:solidFill>
          <a:ln/>
        </p:spPr>
      </p:sp>
      <p:sp>
        <p:nvSpPr>
          <p:cNvPr id="113" name="text-349"/>
          <p:cNvSpPr txBox="1"/>
          <p:nvPr/>
        </p:nvSpPr>
        <p:spPr>
          <a:xfrm>
            <a:off x="2926080" y="5614416"/>
            <a:ext cx="1475842" cy="329184"/>
          </a:xfrm>
          <a:prstGeom prst="rect">
            <a:avLst/>
          </a:prstGeom>
          <a:noFill/>
          <a:ln/>
        </p:spPr>
        <p:txBody>
          <a:bodyPr wrap="square" lIns="0" tIns="0" rIns="0" bIns="0" rtlCol="0" anchor="ctr"/>
          <a:lstStyle/>
          <a:p>
            <a:pPr algn="ctr" indent="0" marL="0">
              <a:buNone/>
            </a:pPr>
            <a:r>
              <a:rPr lang="en-US" sz="1150" dirty="0">
                <a:solidFill>
                  <a:schemeClr val="tx1"/>
                </a:solidFill>
              </a:rPr>
              <a:t>MoSPI e-Sankhyiki</a:t>
            </a:r>
            <a:endParaRPr lang="en-US" sz="1150" dirty="0"/>
          </a:p>
        </p:txBody>
      </p:sp>
      <p:sp>
        <p:nvSpPr>
          <p:cNvPr id="114" name="card-350"/>
          <p:cNvSpPr/>
          <p:nvPr/>
        </p:nvSpPr>
        <p:spPr>
          <a:xfrm>
            <a:off x="4493362" y="5614416"/>
            <a:ext cx="801014" cy="329184"/>
          </a:xfrm>
          <a:prstGeom prst="roundRect">
            <a:avLst>
              <a:gd name="adj" fmla="val 16667"/>
            </a:avLst>
          </a:prstGeom>
          <a:solidFill>
            <a:schemeClr val="bg1"/>
          </a:solidFill>
          <a:ln/>
        </p:spPr>
      </p:sp>
      <p:sp>
        <p:nvSpPr>
          <p:cNvPr id="115" name="text-351"/>
          <p:cNvSpPr txBox="1"/>
          <p:nvPr/>
        </p:nvSpPr>
        <p:spPr>
          <a:xfrm>
            <a:off x="4493362" y="5614416"/>
            <a:ext cx="801014" cy="329184"/>
          </a:xfrm>
          <a:prstGeom prst="rect">
            <a:avLst/>
          </a:prstGeom>
          <a:noFill/>
          <a:ln/>
        </p:spPr>
        <p:txBody>
          <a:bodyPr wrap="square" lIns="0" tIns="0" rIns="0" bIns="0" rtlCol="0" anchor="ctr"/>
          <a:lstStyle/>
          <a:p>
            <a:pPr algn="ctr" indent="0" marL="0">
              <a:buNone/>
            </a:pPr>
            <a:r>
              <a:rPr lang="en-US" sz="1150" dirty="0">
                <a:solidFill>
                  <a:schemeClr val="tx1"/>
                </a:solidFill>
              </a:rPr>
              <a:t>RBI DBIE</a:t>
            </a:r>
            <a:endParaRPr lang="en-US" sz="1150" dirty="0"/>
          </a:p>
        </p:txBody>
      </p:sp>
      <p:sp>
        <p:nvSpPr>
          <p:cNvPr id="116" name="card-352"/>
          <p:cNvSpPr/>
          <p:nvPr/>
        </p:nvSpPr>
        <p:spPr>
          <a:xfrm>
            <a:off x="5385816" y="5614416"/>
            <a:ext cx="426110" cy="329184"/>
          </a:xfrm>
          <a:prstGeom prst="roundRect">
            <a:avLst>
              <a:gd name="adj" fmla="val 16667"/>
            </a:avLst>
          </a:prstGeom>
          <a:solidFill>
            <a:schemeClr val="bg1"/>
          </a:solidFill>
          <a:ln/>
        </p:spPr>
      </p:sp>
      <p:sp>
        <p:nvSpPr>
          <p:cNvPr id="117" name="text-353"/>
          <p:cNvSpPr txBox="1"/>
          <p:nvPr/>
        </p:nvSpPr>
        <p:spPr>
          <a:xfrm>
            <a:off x="5385816" y="5614416"/>
            <a:ext cx="426110" cy="329184"/>
          </a:xfrm>
          <a:prstGeom prst="rect">
            <a:avLst/>
          </a:prstGeom>
          <a:noFill/>
          <a:ln/>
        </p:spPr>
        <p:txBody>
          <a:bodyPr wrap="square" lIns="0" tIns="0" rIns="0" bIns="0" rtlCol="0" anchor="ctr"/>
          <a:lstStyle/>
          <a:p>
            <a:pPr algn="ctr" indent="0" marL="0">
              <a:buNone/>
            </a:pPr>
            <a:r>
              <a:rPr lang="en-US" sz="1150" dirty="0">
                <a:solidFill>
                  <a:schemeClr val="tx1"/>
                </a:solidFill>
              </a:rPr>
              <a:t>CGA</a:t>
            </a:r>
            <a:endParaRPr lang="en-US" sz="1150" dirty="0"/>
          </a:p>
        </p:txBody>
      </p:sp>
      <p:sp>
        <p:nvSpPr>
          <p:cNvPr id="118" name="card-354"/>
          <p:cNvSpPr/>
          <p:nvPr/>
        </p:nvSpPr>
        <p:spPr>
          <a:xfrm>
            <a:off x="5903366" y="5614416"/>
            <a:ext cx="651053" cy="329184"/>
          </a:xfrm>
          <a:prstGeom prst="roundRect">
            <a:avLst>
              <a:gd name="adj" fmla="val 16667"/>
            </a:avLst>
          </a:prstGeom>
          <a:solidFill>
            <a:schemeClr val="bg1"/>
          </a:solidFill>
          <a:ln/>
        </p:spPr>
      </p:sp>
      <p:sp>
        <p:nvSpPr>
          <p:cNvPr id="119" name="text-355"/>
          <p:cNvSpPr txBox="1"/>
          <p:nvPr/>
        </p:nvSpPr>
        <p:spPr>
          <a:xfrm>
            <a:off x="5903366" y="5614416"/>
            <a:ext cx="651053" cy="329184"/>
          </a:xfrm>
          <a:prstGeom prst="rect">
            <a:avLst/>
          </a:prstGeom>
          <a:noFill/>
          <a:ln/>
        </p:spPr>
        <p:txBody>
          <a:bodyPr wrap="square" lIns="0" tIns="0" rIns="0" bIns="0" rtlCol="0" anchor="ctr"/>
          <a:lstStyle/>
          <a:p>
            <a:pPr algn="ctr" indent="0" marL="0">
              <a:buNone/>
            </a:pPr>
            <a:r>
              <a:rPr lang="en-US" sz="1150" dirty="0">
                <a:solidFill>
                  <a:schemeClr val="tx1"/>
                </a:solidFill>
              </a:rPr>
              <a:t>DGCI&amp;S</a:t>
            </a:r>
            <a:endParaRPr lang="en-US" sz="1150" dirty="0"/>
          </a:p>
        </p:txBody>
      </p:sp>
      <p:sp>
        <p:nvSpPr>
          <p:cNvPr id="120" name="card-356"/>
          <p:cNvSpPr/>
          <p:nvPr/>
        </p:nvSpPr>
        <p:spPr>
          <a:xfrm>
            <a:off x="6645859" y="5614416"/>
            <a:ext cx="801014" cy="329184"/>
          </a:xfrm>
          <a:prstGeom prst="roundRect">
            <a:avLst>
              <a:gd name="adj" fmla="val 16667"/>
            </a:avLst>
          </a:prstGeom>
          <a:solidFill>
            <a:schemeClr val="bg1"/>
          </a:solidFill>
          <a:ln/>
        </p:spPr>
      </p:sp>
      <p:sp>
        <p:nvSpPr>
          <p:cNvPr id="121" name="text-357"/>
          <p:cNvSpPr txBox="1"/>
          <p:nvPr/>
        </p:nvSpPr>
        <p:spPr>
          <a:xfrm>
            <a:off x="6645859" y="5614416"/>
            <a:ext cx="801014" cy="329184"/>
          </a:xfrm>
          <a:prstGeom prst="rect">
            <a:avLst/>
          </a:prstGeom>
          <a:noFill/>
          <a:ln/>
        </p:spPr>
        <p:txBody>
          <a:bodyPr wrap="square" lIns="0" tIns="0" rIns="0" bIns="0" rtlCol="0" anchor="ctr"/>
          <a:lstStyle/>
          <a:p>
            <a:pPr algn="ctr" indent="0" marL="0">
              <a:buNone/>
            </a:pPr>
            <a:r>
              <a:rPr lang="en-US" sz="1150" dirty="0">
                <a:solidFill>
                  <a:schemeClr val="tx1"/>
                </a:solidFill>
              </a:rPr>
              <a:t>yfinance</a:t>
            </a:r>
            <a:endParaRPr lang="en-US" sz="1150" dirty="0"/>
          </a:p>
        </p:txBody>
      </p:sp>
      <p:sp>
        <p:nvSpPr>
          <p:cNvPr id="122" name="card-358"/>
          <p:cNvSpPr/>
          <p:nvPr/>
        </p:nvSpPr>
        <p:spPr>
          <a:xfrm>
            <a:off x="7538314" y="5614416"/>
            <a:ext cx="426110" cy="329184"/>
          </a:xfrm>
          <a:prstGeom prst="roundRect">
            <a:avLst>
              <a:gd name="adj" fmla="val 16667"/>
            </a:avLst>
          </a:prstGeom>
          <a:solidFill>
            <a:schemeClr val="bg1"/>
          </a:solidFill>
          <a:ln/>
        </p:spPr>
      </p:sp>
      <p:sp>
        <p:nvSpPr>
          <p:cNvPr id="123" name="text-359"/>
          <p:cNvSpPr txBox="1"/>
          <p:nvPr/>
        </p:nvSpPr>
        <p:spPr>
          <a:xfrm>
            <a:off x="7538314" y="5614416"/>
            <a:ext cx="426110" cy="329184"/>
          </a:xfrm>
          <a:prstGeom prst="rect">
            <a:avLst/>
          </a:prstGeom>
          <a:noFill/>
          <a:ln/>
        </p:spPr>
        <p:txBody>
          <a:bodyPr wrap="square" lIns="0" tIns="0" rIns="0" bIns="0" rtlCol="0" anchor="ctr"/>
          <a:lstStyle/>
          <a:p>
            <a:pPr algn="ctr" indent="0" marL="0">
              <a:buNone/>
            </a:pPr>
            <a:r>
              <a:rPr lang="en-US" sz="1150" dirty="0">
                <a:solidFill>
                  <a:schemeClr val="tx1"/>
                </a:solidFill>
              </a:rPr>
              <a:t>IMD</a:t>
            </a:r>
            <a:endParaRPr lang="en-US" sz="1150" dirty="0"/>
          </a:p>
        </p:txBody>
      </p:sp>
      <p:sp>
        <p:nvSpPr>
          <p:cNvPr id="124" name="card-360"/>
          <p:cNvSpPr/>
          <p:nvPr/>
        </p:nvSpPr>
        <p:spPr>
          <a:xfrm>
            <a:off x="8055864" y="5614416"/>
            <a:ext cx="875995" cy="329184"/>
          </a:xfrm>
          <a:prstGeom prst="roundRect">
            <a:avLst>
              <a:gd name="adj" fmla="val 16667"/>
            </a:avLst>
          </a:prstGeom>
          <a:solidFill>
            <a:schemeClr val="bg1"/>
          </a:solidFill>
          <a:ln/>
        </p:spPr>
      </p:sp>
      <p:sp>
        <p:nvSpPr>
          <p:cNvPr id="125" name="text-361"/>
          <p:cNvSpPr txBox="1"/>
          <p:nvPr/>
        </p:nvSpPr>
        <p:spPr>
          <a:xfrm>
            <a:off x="8055864" y="5614416"/>
            <a:ext cx="875995" cy="329184"/>
          </a:xfrm>
          <a:prstGeom prst="rect">
            <a:avLst/>
          </a:prstGeom>
          <a:noFill/>
          <a:ln/>
        </p:spPr>
        <p:txBody>
          <a:bodyPr wrap="square" lIns="0" tIns="0" rIns="0" bIns="0" rtlCol="0" anchor="ctr"/>
          <a:lstStyle/>
          <a:p>
            <a:pPr algn="ctr" indent="0" marL="0">
              <a:buNone/>
            </a:pPr>
            <a:r>
              <a:rPr lang="en-US" sz="1150" dirty="0">
                <a:solidFill>
                  <a:schemeClr val="tx1"/>
                </a:solidFill>
              </a:rPr>
              <a:t>Agmarknet</a:t>
            </a:r>
            <a:endParaRPr lang="en-US" sz="1150" dirty="0"/>
          </a:p>
        </p:txBody>
      </p:sp>
      <p:sp>
        <p:nvSpPr>
          <p:cNvPr id="126" name="card-362"/>
          <p:cNvSpPr/>
          <p:nvPr/>
        </p:nvSpPr>
        <p:spPr>
          <a:xfrm>
            <a:off x="9023299" y="5614416"/>
            <a:ext cx="1175918" cy="329184"/>
          </a:xfrm>
          <a:prstGeom prst="roundRect">
            <a:avLst>
              <a:gd name="adj" fmla="val 16667"/>
            </a:avLst>
          </a:prstGeom>
          <a:solidFill>
            <a:schemeClr val="bg1"/>
          </a:solidFill>
          <a:ln/>
        </p:spPr>
      </p:sp>
      <p:sp>
        <p:nvSpPr>
          <p:cNvPr id="127" name="text-363"/>
          <p:cNvSpPr txBox="1"/>
          <p:nvPr/>
        </p:nvSpPr>
        <p:spPr>
          <a:xfrm>
            <a:off x="9023299" y="5614416"/>
            <a:ext cx="1175918" cy="329184"/>
          </a:xfrm>
          <a:prstGeom prst="rect">
            <a:avLst/>
          </a:prstGeom>
          <a:noFill/>
          <a:ln/>
        </p:spPr>
        <p:txBody>
          <a:bodyPr wrap="square" lIns="0" tIns="0" rIns="0" bIns="0" rtlCol="0" anchor="ctr"/>
          <a:lstStyle/>
          <a:p>
            <a:pPr algn="ctr" indent="0" marL="0">
              <a:buNone/>
            </a:pPr>
            <a:r>
              <a:rPr lang="en-US" sz="1150" dirty="0">
                <a:solidFill>
                  <a:schemeClr val="tx1"/>
                </a:solidFill>
              </a:rPr>
              <a:t>DuckDB stores</a:t>
            </a:r>
            <a:endParaRPr lang="en-US" sz="1150" dirty="0"/>
          </a:p>
        </p:txBody>
      </p:sp>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160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ORCHESTRATION</a:t>
            </a:r>
            <a:endParaRPr lang="en-US" sz="1200" dirty="0"/>
          </a:p>
        </p:txBody>
      </p:sp>
      <p:sp>
        <p:nvSpPr>
          <p:cNvPr id="3" name="Text 0"/>
          <p:cNvSpPr/>
          <p:nvPr>
            <p:ph idx="101" type="title" hasCustomPrompt="1"/>
          </p:nvPr>
        </p:nvSpPr>
        <p:spPr>
          <a:xfrm>
            <a:off x="548640" y="676656"/>
            <a:ext cx="11094415" cy="713232"/>
          </a:xfrm>
          <a:prstGeom prst="rect">
            <a:avLst/>
          </a:prstGeom>
          <a:noFill/>
          <a:ln/>
        </p:spPr>
        <p:txBody>
          <a:bodyPr wrap="square" lIns="0" tIns="0" rIns="0" bIns="0" rtlCol="0" anchor="t"/>
          <a:lstStyle/>
          <a:p>
            <a:pPr algn="l" indent="0" marL="0">
              <a:buNone/>
            </a:pPr>
            <a:r>
              <a:rPr lang="en-US" sz="3600" b="1" dirty="0">
                <a:solidFill>
                  <a:schemeClr val="tx1"/>
                </a:solidFill>
              </a:rPr>
              <a:t>From question to cited report in four steps</a:t>
            </a:r>
            <a:endParaRPr lang="en-US" sz="3600" dirty="0"/>
          </a:p>
        </p:txBody>
      </p:sp>
      <p:sp>
        <p:nvSpPr>
          <p:cNvPr id="4" name="card-364"/>
          <p:cNvSpPr/>
          <p:nvPr/>
        </p:nvSpPr>
        <p:spPr>
          <a:xfrm>
            <a:off x="548640" y="1600200"/>
            <a:ext cx="2523744" cy="1783080"/>
          </a:xfrm>
          <a:prstGeom prst="roundRect">
            <a:avLst>
              <a:gd name="adj" fmla="val 5128"/>
            </a:avLst>
          </a:prstGeom>
          <a:solidFill>
            <a:schemeClr val="bg2"/>
          </a:solidFill>
          <a:ln/>
        </p:spPr>
      </p:sp>
      <p:sp>
        <p:nvSpPr>
          <p:cNvPr id="5" name="dot-365"/>
          <p:cNvSpPr/>
          <p:nvPr/>
        </p:nvSpPr>
        <p:spPr>
          <a:xfrm>
            <a:off x="731520" y="1783080"/>
            <a:ext cx="402336" cy="402336"/>
          </a:xfrm>
          <a:prstGeom prst="ellipse">
            <a:avLst/>
          </a:prstGeom>
          <a:solidFill>
            <a:schemeClr val="accent2"/>
          </a:solidFill>
          <a:ln/>
        </p:spPr>
      </p:sp>
      <p:sp>
        <p:nvSpPr>
          <p:cNvPr id="6" name="text-366"/>
          <p:cNvSpPr txBox="1"/>
          <p:nvPr/>
        </p:nvSpPr>
        <p:spPr>
          <a:xfrm>
            <a:off x="731520" y="1783080"/>
            <a:ext cx="402336" cy="402336"/>
          </a:xfrm>
          <a:prstGeom prst="rect">
            <a:avLst/>
          </a:prstGeom>
          <a:noFill/>
          <a:ln/>
        </p:spPr>
        <p:txBody>
          <a:bodyPr wrap="square" lIns="0" tIns="0" rIns="0" bIns="0" rtlCol="0" anchor="ctr"/>
          <a:lstStyle/>
          <a:p>
            <a:pPr algn="ctr" indent="0" marL="0">
              <a:buNone/>
            </a:pPr>
            <a:r>
              <a:rPr lang="en-US" sz="1500" b="1" dirty="0">
                <a:solidFill>
                  <a:schemeClr val="tx1"/>
                </a:solidFill>
              </a:rPr>
              <a:t>1</a:t>
            </a:r>
            <a:endParaRPr lang="en-US" sz="1500" dirty="0"/>
          </a:p>
        </p:txBody>
      </p:sp>
      <p:sp>
        <p:nvSpPr>
          <p:cNvPr id="7" name="text-367"/>
          <p:cNvSpPr txBox="1"/>
          <p:nvPr/>
        </p:nvSpPr>
        <p:spPr>
          <a:xfrm>
            <a:off x="1243584" y="1801368"/>
            <a:ext cx="1700784" cy="365760"/>
          </a:xfrm>
          <a:prstGeom prst="rect">
            <a:avLst/>
          </a:prstGeom>
          <a:noFill/>
          <a:ln/>
        </p:spPr>
        <p:txBody>
          <a:bodyPr wrap="square" lIns="0" tIns="0" rIns="0" bIns="0" rtlCol="0" anchor="ctr"/>
          <a:lstStyle/>
          <a:p>
            <a:pPr indent="0" marL="0">
              <a:buNone/>
            </a:pPr>
            <a:r>
              <a:rPr lang="en-US" sz="1600" b="1" dirty="0">
                <a:solidFill>
                  <a:schemeClr val="tx1"/>
                </a:solidFill>
              </a:rPr>
              <a:t>Route</a:t>
            </a:r>
            <a:endParaRPr lang="en-US" sz="1600" dirty="0"/>
          </a:p>
        </p:txBody>
      </p:sp>
      <p:sp>
        <p:nvSpPr>
          <p:cNvPr id="8" name="text-368"/>
          <p:cNvSpPr txBox="1"/>
          <p:nvPr/>
        </p:nvSpPr>
        <p:spPr>
          <a:xfrm>
            <a:off x="731520" y="2295144"/>
            <a:ext cx="2249424" cy="256032"/>
          </a:xfrm>
          <a:prstGeom prst="rect">
            <a:avLst/>
          </a:prstGeom>
          <a:noFill/>
          <a:ln/>
        </p:spPr>
        <p:txBody>
          <a:bodyPr wrap="square" lIns="0" tIns="0" rIns="0" bIns="0" rtlCol="0" anchor="t"/>
          <a:lstStyle/>
          <a:p>
            <a:pPr indent="0" marL="0">
              <a:buNone/>
            </a:pPr>
            <a:r>
              <a:rPr lang="en-US" sz="1150" b="1" dirty="0">
                <a:solidFill>
                  <a:schemeClr val="accent1"/>
                </a:solidFill>
                <a:latin typeface="Consolas" pitchFamily="34" charset="0"/>
                <a:ea typeface="Consolas" pitchFamily="34" charset="-122"/>
                <a:cs typeface="Consolas" pitchFamily="34" charset="-120"/>
              </a:rPr>
              <a:t>decompose</a:t>
            </a:r>
            <a:endParaRPr lang="en-US" sz="1150" dirty="0"/>
          </a:p>
        </p:txBody>
      </p:sp>
      <p:sp>
        <p:nvSpPr>
          <p:cNvPr id="9" name="text-369"/>
          <p:cNvSpPr txBox="1"/>
          <p:nvPr/>
        </p:nvSpPr>
        <p:spPr>
          <a:xfrm>
            <a:off x="731520" y="2587752"/>
            <a:ext cx="2203704" cy="731520"/>
          </a:xfrm>
          <a:prstGeom prst="rect">
            <a:avLst/>
          </a:prstGeom>
          <a:noFill/>
          <a:ln/>
        </p:spPr>
        <p:txBody>
          <a:bodyPr wrap="square" lIns="0" tIns="0" rIns="0" bIns="0" rtlCol="0" anchor="t"/>
          <a:lstStyle/>
          <a:p>
            <a:pPr indent="0" marL="0">
              <a:buNone/>
            </a:pPr>
            <a:r>
              <a:rPr lang="en-US" sz="1250" dirty="0">
                <a:solidFill>
                  <a:schemeClr val="tx2"/>
                </a:solidFill>
              </a:rPr>
              <a:t>Scores Agent Cards against the query; an LLM chooses only if no card matches</a:t>
            </a:r>
            <a:endParaRPr lang="en-US" sz="1250" dirty="0"/>
          </a:p>
        </p:txBody>
      </p:sp>
      <p:sp>
        <p:nvSpPr>
          <p:cNvPr id="10" name="link-370"/>
          <p:cNvSpPr/>
          <p:nvPr/>
        </p:nvSpPr>
        <p:spPr>
          <a:xfrm>
            <a:off x="3127248" y="2487168"/>
            <a:ext cx="223418" cy="0"/>
          </a:xfrm>
          <a:prstGeom prst="line">
            <a:avLst/>
          </a:prstGeom>
          <a:noFill/>
          <a:ln w="25400">
            <a:solidFill>
              <a:schemeClr val="accent1"/>
            </a:solidFill>
            <a:prstDash val="solid"/>
            <a:tailEnd type="triangle"/>
          </a:ln>
        </p:spPr>
      </p:sp>
      <p:sp>
        <p:nvSpPr>
          <p:cNvPr id="11" name="card-371"/>
          <p:cNvSpPr/>
          <p:nvPr/>
        </p:nvSpPr>
        <p:spPr>
          <a:xfrm>
            <a:off x="3405530" y="1600200"/>
            <a:ext cx="2523744" cy="1783080"/>
          </a:xfrm>
          <a:prstGeom prst="roundRect">
            <a:avLst>
              <a:gd name="adj" fmla="val 5128"/>
            </a:avLst>
          </a:prstGeom>
          <a:solidFill>
            <a:schemeClr val="bg2"/>
          </a:solidFill>
          <a:ln/>
        </p:spPr>
      </p:sp>
      <p:sp>
        <p:nvSpPr>
          <p:cNvPr id="12" name="dot-372"/>
          <p:cNvSpPr/>
          <p:nvPr/>
        </p:nvSpPr>
        <p:spPr>
          <a:xfrm>
            <a:off x="3588410" y="1783080"/>
            <a:ext cx="402336" cy="402336"/>
          </a:xfrm>
          <a:prstGeom prst="ellipse">
            <a:avLst/>
          </a:prstGeom>
          <a:solidFill>
            <a:schemeClr val="accent2"/>
          </a:solidFill>
          <a:ln/>
        </p:spPr>
      </p:sp>
      <p:sp>
        <p:nvSpPr>
          <p:cNvPr id="13" name="text-373"/>
          <p:cNvSpPr txBox="1"/>
          <p:nvPr/>
        </p:nvSpPr>
        <p:spPr>
          <a:xfrm>
            <a:off x="3588410" y="1783080"/>
            <a:ext cx="402336" cy="402336"/>
          </a:xfrm>
          <a:prstGeom prst="rect">
            <a:avLst/>
          </a:prstGeom>
          <a:noFill/>
          <a:ln/>
        </p:spPr>
        <p:txBody>
          <a:bodyPr wrap="square" lIns="0" tIns="0" rIns="0" bIns="0" rtlCol="0" anchor="ctr"/>
          <a:lstStyle/>
          <a:p>
            <a:pPr algn="ctr" indent="0" marL="0">
              <a:buNone/>
            </a:pPr>
            <a:r>
              <a:rPr lang="en-US" sz="1500" b="1" dirty="0">
                <a:solidFill>
                  <a:schemeClr val="tx1"/>
                </a:solidFill>
              </a:rPr>
              <a:t>2</a:t>
            </a:r>
            <a:endParaRPr lang="en-US" sz="1500" dirty="0"/>
          </a:p>
        </p:txBody>
      </p:sp>
      <p:sp>
        <p:nvSpPr>
          <p:cNvPr id="14" name="text-374"/>
          <p:cNvSpPr txBox="1"/>
          <p:nvPr/>
        </p:nvSpPr>
        <p:spPr>
          <a:xfrm>
            <a:off x="4100474" y="1801368"/>
            <a:ext cx="1700784" cy="365760"/>
          </a:xfrm>
          <a:prstGeom prst="rect">
            <a:avLst/>
          </a:prstGeom>
          <a:noFill/>
          <a:ln/>
        </p:spPr>
        <p:txBody>
          <a:bodyPr wrap="square" lIns="0" tIns="0" rIns="0" bIns="0" rtlCol="0" anchor="ctr"/>
          <a:lstStyle/>
          <a:p>
            <a:pPr indent="0" marL="0">
              <a:buNone/>
            </a:pPr>
            <a:r>
              <a:rPr lang="en-US" sz="1600" b="1" dirty="0">
                <a:solidFill>
                  <a:schemeClr val="tx1"/>
                </a:solidFill>
              </a:rPr>
              <a:t>Delegate</a:t>
            </a:r>
            <a:endParaRPr lang="en-US" sz="1600" dirty="0"/>
          </a:p>
        </p:txBody>
      </p:sp>
      <p:sp>
        <p:nvSpPr>
          <p:cNvPr id="15" name="text-375"/>
          <p:cNvSpPr txBox="1"/>
          <p:nvPr/>
        </p:nvSpPr>
        <p:spPr>
          <a:xfrm>
            <a:off x="3588410" y="2295144"/>
            <a:ext cx="2249424" cy="256032"/>
          </a:xfrm>
          <a:prstGeom prst="rect">
            <a:avLst/>
          </a:prstGeom>
          <a:noFill/>
          <a:ln/>
        </p:spPr>
        <p:txBody>
          <a:bodyPr wrap="square" lIns="0" tIns="0" rIns="0" bIns="0" rtlCol="0" anchor="t"/>
          <a:lstStyle/>
          <a:p>
            <a:pPr indent="0" marL="0">
              <a:buNone/>
            </a:pPr>
            <a:r>
              <a:rPr lang="en-US" sz="1150" b="1" dirty="0">
                <a:solidFill>
                  <a:schemeClr val="accent1"/>
                </a:solidFill>
                <a:latin typeface="Consolas" pitchFamily="34" charset="0"/>
                <a:ea typeface="Consolas" pitchFamily="34" charset="-122"/>
                <a:cs typeface="Consolas" pitchFamily="34" charset="-120"/>
              </a:rPr>
              <a:t>parallel_a2a_execute</a:t>
            </a:r>
            <a:endParaRPr lang="en-US" sz="1150" dirty="0"/>
          </a:p>
        </p:txBody>
      </p:sp>
      <p:sp>
        <p:nvSpPr>
          <p:cNvPr id="16" name="text-376"/>
          <p:cNvSpPr txBox="1"/>
          <p:nvPr/>
        </p:nvSpPr>
        <p:spPr>
          <a:xfrm>
            <a:off x="3588410" y="2587752"/>
            <a:ext cx="2203704" cy="731520"/>
          </a:xfrm>
          <a:prstGeom prst="rect">
            <a:avLst/>
          </a:prstGeom>
          <a:noFill/>
          <a:ln/>
        </p:spPr>
        <p:txBody>
          <a:bodyPr wrap="square" lIns="0" tIns="0" rIns="0" bIns="0" rtlCol="0" anchor="t"/>
          <a:lstStyle/>
          <a:p>
            <a:pPr indent="0" marL="0">
              <a:buNone/>
            </a:pPr>
            <a:r>
              <a:rPr lang="en-US" sz="1250" dirty="0">
                <a:solidFill>
                  <a:schemeClr val="tx2"/>
                </a:solidFill>
              </a:rPr>
              <a:t>Concurrent sector_analysis requests, plus one bounded follow-up round</a:t>
            </a:r>
            <a:endParaRPr lang="en-US" sz="1250" dirty="0"/>
          </a:p>
        </p:txBody>
      </p:sp>
      <p:sp>
        <p:nvSpPr>
          <p:cNvPr id="17" name="link-377"/>
          <p:cNvSpPr/>
          <p:nvPr/>
        </p:nvSpPr>
        <p:spPr>
          <a:xfrm>
            <a:off x="5984138" y="2487168"/>
            <a:ext cx="223418" cy="0"/>
          </a:xfrm>
          <a:prstGeom prst="line">
            <a:avLst/>
          </a:prstGeom>
          <a:noFill/>
          <a:ln w="25400">
            <a:solidFill>
              <a:schemeClr val="accent1"/>
            </a:solidFill>
            <a:prstDash val="solid"/>
            <a:tailEnd type="triangle"/>
          </a:ln>
        </p:spPr>
      </p:sp>
      <p:sp>
        <p:nvSpPr>
          <p:cNvPr id="18" name="card-378"/>
          <p:cNvSpPr/>
          <p:nvPr/>
        </p:nvSpPr>
        <p:spPr>
          <a:xfrm>
            <a:off x="6262421" y="1600200"/>
            <a:ext cx="2523744" cy="1783080"/>
          </a:xfrm>
          <a:prstGeom prst="roundRect">
            <a:avLst>
              <a:gd name="adj" fmla="val 5128"/>
            </a:avLst>
          </a:prstGeom>
          <a:solidFill>
            <a:schemeClr val="bg2"/>
          </a:solidFill>
          <a:ln/>
        </p:spPr>
      </p:sp>
      <p:sp>
        <p:nvSpPr>
          <p:cNvPr id="19" name="dot-379"/>
          <p:cNvSpPr/>
          <p:nvPr/>
        </p:nvSpPr>
        <p:spPr>
          <a:xfrm>
            <a:off x="6445301" y="1783080"/>
            <a:ext cx="402336" cy="402336"/>
          </a:xfrm>
          <a:prstGeom prst="ellipse">
            <a:avLst/>
          </a:prstGeom>
          <a:solidFill>
            <a:schemeClr val="accent2"/>
          </a:solidFill>
          <a:ln/>
        </p:spPr>
      </p:sp>
      <p:sp>
        <p:nvSpPr>
          <p:cNvPr id="20" name="text-380"/>
          <p:cNvSpPr txBox="1"/>
          <p:nvPr/>
        </p:nvSpPr>
        <p:spPr>
          <a:xfrm>
            <a:off x="6445301" y="1783080"/>
            <a:ext cx="402336" cy="402336"/>
          </a:xfrm>
          <a:prstGeom prst="rect">
            <a:avLst/>
          </a:prstGeom>
          <a:no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21" name="text-381"/>
          <p:cNvSpPr txBox="1"/>
          <p:nvPr/>
        </p:nvSpPr>
        <p:spPr>
          <a:xfrm>
            <a:off x="6957365" y="1801368"/>
            <a:ext cx="1700784" cy="365760"/>
          </a:xfrm>
          <a:prstGeom prst="rect">
            <a:avLst/>
          </a:prstGeom>
          <a:noFill/>
          <a:ln/>
        </p:spPr>
        <p:txBody>
          <a:bodyPr wrap="square" lIns="0" tIns="0" rIns="0" bIns="0" rtlCol="0" anchor="ctr"/>
          <a:lstStyle/>
          <a:p>
            <a:pPr indent="0" marL="0">
              <a:buNone/>
            </a:pPr>
            <a:r>
              <a:rPr lang="en-US" sz="1600" b="1" dirty="0">
                <a:solidFill>
                  <a:schemeClr val="tx1"/>
                </a:solidFill>
              </a:rPr>
              <a:t>Enrich</a:t>
            </a:r>
            <a:endParaRPr lang="en-US" sz="1600" dirty="0"/>
          </a:p>
        </p:txBody>
      </p:sp>
      <p:sp>
        <p:nvSpPr>
          <p:cNvPr id="22" name="text-382"/>
          <p:cNvSpPr txBox="1"/>
          <p:nvPr/>
        </p:nvSpPr>
        <p:spPr>
          <a:xfrm>
            <a:off x="6445301" y="2295144"/>
            <a:ext cx="2249424" cy="256032"/>
          </a:xfrm>
          <a:prstGeom prst="rect">
            <a:avLst/>
          </a:prstGeom>
          <a:noFill/>
          <a:ln/>
        </p:spPr>
        <p:txBody>
          <a:bodyPr wrap="square" lIns="0" tIns="0" rIns="0" bIns="0" rtlCol="0" anchor="t"/>
          <a:lstStyle/>
          <a:p>
            <a:pPr indent="0" marL="0">
              <a:buNone/>
            </a:pPr>
            <a:r>
              <a:rPr lang="en-US" sz="1150" b="1" dirty="0">
                <a:solidFill>
                  <a:schemeClr val="accent1"/>
                </a:solidFill>
                <a:latin typeface="Consolas" pitchFamily="34" charset="0"/>
                <a:ea typeface="Consolas" pitchFamily="34" charset="-122"/>
                <a:cs typeface="Consolas" pitchFamily="34" charset="-120"/>
              </a:rPr>
              <a:t>kg_causal_enrichment</a:t>
            </a:r>
            <a:endParaRPr lang="en-US" sz="1150" dirty="0"/>
          </a:p>
        </p:txBody>
      </p:sp>
      <p:sp>
        <p:nvSpPr>
          <p:cNvPr id="23" name="text-383"/>
          <p:cNvSpPr txBox="1"/>
          <p:nvPr/>
        </p:nvSpPr>
        <p:spPr>
          <a:xfrm>
            <a:off x="6445301" y="2587752"/>
            <a:ext cx="2203704" cy="731520"/>
          </a:xfrm>
          <a:prstGeom prst="rect">
            <a:avLst/>
          </a:prstGeom>
          <a:noFill/>
          <a:ln/>
        </p:spPr>
        <p:txBody>
          <a:bodyPr wrap="square" lIns="0" tIns="0" rIns="0" bIns="0" rtlCol="0" anchor="t"/>
          <a:lstStyle/>
          <a:p>
            <a:pPr indent="0" marL="0">
              <a:buNone/>
            </a:pPr>
            <a:r>
              <a:rPr lang="en-US" sz="1250" dirty="0">
                <a:solidFill>
                  <a:schemeClr val="tx2"/>
                </a:solidFill>
              </a:rPr>
              <a:t>Shortest causal paths between observed indicators; optional shock simulation</a:t>
            </a:r>
            <a:endParaRPr lang="en-US" sz="1250" dirty="0"/>
          </a:p>
        </p:txBody>
      </p:sp>
      <p:sp>
        <p:nvSpPr>
          <p:cNvPr id="24" name="link-384"/>
          <p:cNvSpPr/>
          <p:nvPr/>
        </p:nvSpPr>
        <p:spPr>
          <a:xfrm>
            <a:off x="8841029" y="2487168"/>
            <a:ext cx="223418" cy="0"/>
          </a:xfrm>
          <a:prstGeom prst="line">
            <a:avLst/>
          </a:prstGeom>
          <a:noFill/>
          <a:ln w="25400">
            <a:solidFill>
              <a:schemeClr val="accent1"/>
            </a:solidFill>
            <a:prstDash val="solid"/>
            <a:tailEnd type="triangle"/>
          </a:ln>
        </p:spPr>
      </p:sp>
      <p:sp>
        <p:nvSpPr>
          <p:cNvPr id="25" name="card-385"/>
          <p:cNvSpPr/>
          <p:nvPr/>
        </p:nvSpPr>
        <p:spPr>
          <a:xfrm>
            <a:off x="9119311" y="1600200"/>
            <a:ext cx="2523744" cy="1783080"/>
          </a:xfrm>
          <a:prstGeom prst="roundRect">
            <a:avLst>
              <a:gd name="adj" fmla="val 5128"/>
            </a:avLst>
          </a:prstGeom>
          <a:solidFill>
            <a:schemeClr val="bg2"/>
          </a:solidFill>
          <a:ln/>
        </p:spPr>
      </p:sp>
      <p:sp>
        <p:nvSpPr>
          <p:cNvPr id="26" name="dot-386"/>
          <p:cNvSpPr/>
          <p:nvPr/>
        </p:nvSpPr>
        <p:spPr>
          <a:xfrm>
            <a:off x="9302191" y="1783080"/>
            <a:ext cx="402336" cy="402336"/>
          </a:xfrm>
          <a:prstGeom prst="ellipse">
            <a:avLst/>
          </a:prstGeom>
          <a:solidFill>
            <a:schemeClr val="accent2"/>
          </a:solidFill>
          <a:ln/>
        </p:spPr>
      </p:sp>
      <p:sp>
        <p:nvSpPr>
          <p:cNvPr id="27" name="text-387"/>
          <p:cNvSpPr txBox="1"/>
          <p:nvPr/>
        </p:nvSpPr>
        <p:spPr>
          <a:xfrm>
            <a:off x="9302191" y="1783080"/>
            <a:ext cx="402336" cy="402336"/>
          </a:xfrm>
          <a:prstGeom prst="rect">
            <a:avLst/>
          </a:prstGeom>
          <a:noFill/>
          <a:ln/>
        </p:spPr>
        <p:txBody>
          <a:bodyPr wrap="square" lIns="0" tIns="0" rIns="0" bIns="0" rtlCol="0" anchor="ctr"/>
          <a:lstStyle/>
          <a:p>
            <a:pPr algn="ctr" indent="0" marL="0">
              <a:buNone/>
            </a:pPr>
            <a:r>
              <a:rPr lang="en-US" sz="1500" b="1" dirty="0">
                <a:solidFill>
                  <a:schemeClr val="tx1"/>
                </a:solidFill>
              </a:rPr>
              <a:t>4</a:t>
            </a:r>
            <a:endParaRPr lang="en-US" sz="1500" dirty="0"/>
          </a:p>
        </p:txBody>
      </p:sp>
      <p:sp>
        <p:nvSpPr>
          <p:cNvPr id="28" name="text-388"/>
          <p:cNvSpPr txBox="1"/>
          <p:nvPr/>
        </p:nvSpPr>
        <p:spPr>
          <a:xfrm>
            <a:off x="9814255" y="1801368"/>
            <a:ext cx="1700784" cy="365760"/>
          </a:xfrm>
          <a:prstGeom prst="rect">
            <a:avLst/>
          </a:prstGeom>
          <a:noFill/>
          <a:ln/>
        </p:spPr>
        <p:txBody>
          <a:bodyPr wrap="square" lIns="0" tIns="0" rIns="0" bIns="0" rtlCol="0" anchor="ctr"/>
          <a:lstStyle/>
          <a:p>
            <a:pPr indent="0" marL="0">
              <a:buNone/>
            </a:pPr>
            <a:r>
              <a:rPr lang="en-US" sz="1600" b="1" dirty="0">
                <a:solidFill>
                  <a:schemeClr val="tx1"/>
                </a:solidFill>
              </a:rPr>
              <a:t>Synthesise</a:t>
            </a:r>
            <a:endParaRPr lang="en-US" sz="1600" dirty="0"/>
          </a:p>
        </p:txBody>
      </p:sp>
      <p:sp>
        <p:nvSpPr>
          <p:cNvPr id="29" name="text-389"/>
          <p:cNvSpPr txBox="1"/>
          <p:nvPr/>
        </p:nvSpPr>
        <p:spPr>
          <a:xfrm>
            <a:off x="9302191" y="2295144"/>
            <a:ext cx="2249424" cy="256032"/>
          </a:xfrm>
          <a:prstGeom prst="rect">
            <a:avLst/>
          </a:prstGeom>
          <a:noFill/>
          <a:ln/>
        </p:spPr>
        <p:txBody>
          <a:bodyPr wrap="square" lIns="0" tIns="0" rIns="0" bIns="0" rtlCol="0" anchor="t"/>
          <a:lstStyle/>
          <a:p>
            <a:pPr indent="0" marL="0">
              <a:buNone/>
            </a:pPr>
            <a:r>
              <a:rPr lang="en-US" sz="1150" b="1" dirty="0">
                <a:solidFill>
                  <a:schemeClr val="accent1"/>
                </a:solidFill>
                <a:latin typeface="Consolas" pitchFamily="34" charset="0"/>
                <a:ea typeface="Consolas" pitchFamily="34" charset="-122"/>
                <a:cs typeface="Consolas" pitchFamily="34" charset="-120"/>
              </a:rPr>
              <a:t>synthesis</a:t>
            </a:r>
            <a:endParaRPr lang="en-US" sz="1150" dirty="0"/>
          </a:p>
        </p:txBody>
      </p:sp>
      <p:sp>
        <p:nvSpPr>
          <p:cNvPr id="30" name="text-390"/>
          <p:cNvSpPr txBox="1"/>
          <p:nvPr/>
        </p:nvSpPr>
        <p:spPr>
          <a:xfrm>
            <a:off x="9302191" y="2587752"/>
            <a:ext cx="2203704" cy="731520"/>
          </a:xfrm>
          <a:prstGeom prst="rect">
            <a:avLst/>
          </a:prstGeom>
          <a:noFill/>
          <a:ln/>
        </p:spPr>
        <p:txBody>
          <a:bodyPr wrap="square" lIns="0" tIns="0" rIns="0" bIns="0" rtlCol="0" anchor="t"/>
          <a:lstStyle/>
          <a:p>
            <a:pPr indent="0" marL="0">
              <a:buNone/>
            </a:pPr>
            <a:r>
              <a:rPr lang="en-US" sz="1250" dirty="0">
                <a:solidFill>
                  <a:schemeClr val="tx2"/>
                </a:solidFill>
              </a:rPr>
              <a:t>Indicator matrix with provenance hashes, causal diagram and source table</a:t>
            </a:r>
            <a:endParaRPr lang="en-US" sz="1250" dirty="0"/>
          </a:p>
        </p:txBody>
      </p:sp>
      <p:sp>
        <p:nvSpPr>
          <p:cNvPr id="31" name="card-391"/>
          <p:cNvSpPr/>
          <p:nvPr/>
        </p:nvSpPr>
        <p:spPr>
          <a:xfrm>
            <a:off x="548640" y="3611880"/>
            <a:ext cx="11094415" cy="2514600"/>
          </a:xfrm>
          <a:prstGeom prst="roundRect">
            <a:avLst>
              <a:gd name="adj" fmla="val 5091"/>
            </a:avLst>
          </a:prstGeom>
          <a:solidFill>
            <a:schemeClr val="tx1"/>
          </a:solidFill>
          <a:ln/>
        </p:spPr>
      </p:sp>
      <p:sp>
        <p:nvSpPr>
          <p:cNvPr id="32" name="text-392"/>
          <p:cNvSpPr txBox="1"/>
          <p:nvPr/>
        </p:nvSpPr>
        <p:spPr>
          <a:xfrm>
            <a:off x="822960" y="3794760"/>
            <a:ext cx="329184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WORKED RUN  ·  OCTOBER 2026</a:t>
            </a:r>
            <a:endParaRPr lang="en-US" sz="1100" dirty="0"/>
          </a:p>
        </p:txBody>
      </p:sp>
      <p:sp>
        <p:nvSpPr>
          <p:cNvPr id="33" name="text-393"/>
          <p:cNvSpPr txBox="1"/>
          <p:nvPr/>
        </p:nvSpPr>
        <p:spPr>
          <a:xfrm>
            <a:off x="822960" y="4087368"/>
            <a:ext cx="3520440" cy="1005840"/>
          </a:xfrm>
          <a:prstGeom prst="rect">
            <a:avLst/>
          </a:prstGeom>
          <a:noFill/>
          <a:ln/>
        </p:spPr>
        <p:txBody>
          <a:bodyPr wrap="square" lIns="0" tIns="0" rIns="0" bIns="0" rtlCol="0" anchor="t"/>
          <a:lstStyle/>
          <a:p>
            <a:pPr indent="0" marL="0">
              <a:buNone/>
            </a:pPr>
            <a:r>
              <a:rPr lang="en-US" sz="1700" i="1" dirty="0">
                <a:solidFill>
                  <a:schemeClr val="bg1"/>
                </a:solidFill>
                <a:latin typeface="+mj-lt" pitchFamily="34" charset="0"/>
                <a:ea typeface="+mj-lt" pitchFamily="34" charset="-122"/>
                <a:cs typeface="+mj-lt" pitchFamily="34" charset="-120"/>
              </a:rPr>
              <a:t>“How does a rise in crude oil prices affect inflation and RBI repo rate policy?”</a:t>
            </a:r>
            <a:endParaRPr lang="en-US" sz="1700" dirty="0"/>
          </a:p>
        </p:txBody>
      </p:sp>
      <p:sp>
        <p:nvSpPr>
          <p:cNvPr id="34" name="card-394"/>
          <p:cNvSpPr/>
          <p:nvPr/>
        </p:nvSpPr>
        <p:spPr>
          <a:xfrm>
            <a:off x="822960" y="5184648"/>
            <a:ext cx="1965960" cy="292608"/>
          </a:xfrm>
          <a:prstGeom prst="roundRect">
            <a:avLst>
              <a:gd name="adj" fmla="val 50000"/>
            </a:avLst>
          </a:prstGeom>
          <a:solidFill>
            <a:schemeClr val="accent2"/>
          </a:solidFill>
          <a:ln/>
        </p:spPr>
      </p:sp>
      <p:sp>
        <p:nvSpPr>
          <p:cNvPr id="35" name="text-395"/>
          <p:cNvSpPr txBox="1"/>
          <p:nvPr/>
        </p:nvSpPr>
        <p:spPr>
          <a:xfrm>
            <a:off x="822960" y="5184648"/>
            <a:ext cx="1965960" cy="292608"/>
          </a:xfrm>
          <a:prstGeom prst="rect">
            <a:avLst/>
          </a:prstGeom>
          <a:noFill/>
          <a:ln/>
        </p:spPr>
        <p:txBody>
          <a:bodyPr wrap="square" lIns="0" tIns="0" rIns="0" bIns="0" rtlCol="0" anchor="ctr"/>
          <a:lstStyle/>
          <a:p>
            <a:pPr algn="ctr" indent="0" marL="0">
              <a:buNone/>
            </a:pPr>
            <a:r>
              <a:rPr lang="en-US" sz="1100" b="1" spc="50" kern="0" dirty="0">
                <a:solidFill>
                  <a:schemeClr val="tx1"/>
                </a:solidFill>
              </a:rPr>
              <a:t>Shock: Brent +$20 / bbl</a:t>
            </a:r>
            <a:endParaRPr lang="en-US" sz="1100" dirty="0"/>
          </a:p>
        </p:txBody>
      </p:sp>
      <p:sp>
        <p:nvSpPr>
          <p:cNvPr id="36" name="text-396"/>
          <p:cNvSpPr txBox="1"/>
          <p:nvPr/>
        </p:nvSpPr>
        <p:spPr>
          <a:xfrm>
            <a:off x="822960" y="5577840"/>
            <a:ext cx="3383280" cy="274320"/>
          </a:xfrm>
          <a:prstGeom prst="rect">
            <a:avLst/>
          </a:prstGeom>
          <a:noFill/>
          <a:ln/>
        </p:spPr>
        <p:txBody>
          <a:bodyPr wrap="square" lIns="0" tIns="0" rIns="0" bIns="0" rtlCol="0" anchor="t"/>
          <a:lstStyle/>
          <a:p>
            <a:pPr indent="0" marL="0">
              <a:buNone/>
            </a:pPr>
            <a:r>
              <a:rPr lang="en-US" sz="1250" dirty="0">
                <a:solidFill>
                  <a:schemeClr val="bg1">
                    <a:alpha val="75000"/>
                  </a:schemeClr>
                </a:solidFill>
              </a:rPr>
              <a:t>Routed to Monetary, Prices and Agriculture</a:t>
            </a:r>
            <a:endParaRPr lang="en-US" sz="1250" dirty="0"/>
          </a:p>
        </p:txBody>
      </p:sp>
      <p:sp>
        <p:nvSpPr>
          <p:cNvPr id="37" name="text-397"/>
          <p:cNvSpPr txBox="1"/>
          <p:nvPr/>
        </p:nvSpPr>
        <p:spPr>
          <a:xfrm>
            <a:off x="4526280" y="3794760"/>
            <a:ext cx="365760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OBSERVATIONS RETURNED</a:t>
            </a:r>
            <a:endParaRPr lang="en-US" sz="1100" dirty="0"/>
          </a:p>
        </p:txBody>
      </p:sp>
      <p:graphicFrame>
        <p:nvGraphicFramePr>
          <p:cNvPr id="8" name="observations-table"/>
          <p:cNvGraphicFramePr>
            <a:graphicFrameLocks noGrp="1"/>
          </p:cNvGraphicFramePr>
          <p:nvPr>
            <p:extLst>
              <p:ext uri="{D42A27DB-BD31-4B8C-83A1-F6EECF244321}">
                <p14:modId xmlns:p14="http://schemas.microsoft.com/office/powerpoint/2010/main" val="1579011935"/>
              </p:ext>
            </p:extLst>
          </p:nvPr>
        </p:nvGraphicFramePr>
        <p:xfrm>
          <a:off x="4526280" y="4087368"/>
          <a:ext cx="3886200" cy="914400"/>
        </p:xfrm>
        <a:graphic>
          <a:graphicData uri="http://schemas.openxmlformats.org/drawingml/2006/table">
            <a:tbl>
              <a:tblPr/>
              <a:tblGrid>
                <a:gridCol w="1463040"/>
                <a:gridCol w="960120"/>
                <a:gridCol w="731520"/>
                <a:gridCol w="731520"/>
              </a:tblGrid>
              <a:tr h="310896">
                <a:tc>
                  <a:txBody>
                    <a:bodyPr/>
                    <a:lstStyle/>
                    <a:p>
                      <a:pPr indent="0" marL="0">
                        <a:buNone/>
                      </a:pPr>
                      <a:r>
                        <a:rPr lang="en-US" sz="1200" b="1" dirty="0">
                          <a:solidFill>
                            <a:schemeClr val="accent6"/>
                          </a:solidFill>
                        </a:rPr>
                        <a:t>Indicator</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tcPr>
                </a:tc>
                <a:tc>
                  <a:txBody>
                    <a:bodyPr/>
                    <a:lstStyle/>
                    <a:p>
                      <a:pPr indent="0" marL="0">
                        <a:buNone/>
                      </a:pPr>
                      <a:r>
                        <a:rPr lang="en-US" sz="1200" b="1" dirty="0">
                          <a:solidFill>
                            <a:schemeClr val="accent6"/>
                          </a:solidFill>
                        </a:rPr>
                        <a:t>Value</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tcPr>
                </a:tc>
                <a:tc>
                  <a:txBody>
                    <a:bodyPr/>
                    <a:lstStyle/>
                    <a:p>
                      <a:pPr indent="0" marL="0">
                        <a:buNone/>
                      </a:pPr>
                      <a:r>
                        <a:rPr lang="en-US" sz="1200" b="1" dirty="0">
                          <a:solidFill>
                            <a:schemeClr val="accent6"/>
                          </a:solidFill>
                        </a:rPr>
                        <a:t>Period</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tcPr>
                </a:tc>
                <a:tc>
                  <a:txBody>
                    <a:bodyPr/>
                    <a:lstStyle/>
                    <a:p>
                      <a:pPr indent="0" marL="0">
                        <a:buNone/>
                      </a:pPr>
                      <a:r>
                        <a:rPr lang="en-US" sz="1200" b="1" dirty="0">
                          <a:solidFill>
                            <a:schemeClr val="accent6"/>
                          </a:solidFill>
                        </a:rPr>
                        <a:t>Source</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tcPr>
                </a:tc>
              </a:tr>
              <a:tr h="347472">
                <a:tc>
                  <a:txBody>
                    <a:bodyPr/>
                    <a:lstStyle/>
                    <a:p>
                      <a:pPr indent="0" marL="0">
                        <a:buNone/>
                      </a:pPr>
                      <a:r>
                        <a:rPr lang="en-US" sz="1200" dirty="0">
                          <a:solidFill>
                            <a:schemeClr val="bg1"/>
                          </a:solidFill>
                        </a:rPr>
                        <a:t>CPI headline (YoY)</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tcPr>
                </a:tc>
                <a:tc>
                  <a:txBody>
                    <a:bodyPr/>
                    <a:lstStyle/>
                    <a:p>
                      <a:pPr indent="0" marL="0">
                        <a:buNone/>
                      </a:pPr>
                      <a:r>
                        <a:rPr lang="en-US" sz="1200" b="1" dirty="0">
                          <a:solidFill>
                            <a:schemeClr val="bg1"/>
                          </a:solidFill>
                        </a:rPr>
                        <a:t>5.54%</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tcPr>
                </a:tc>
                <a:tc>
                  <a:txBody>
                    <a:bodyPr/>
                    <a:lstStyle/>
                    <a:p>
                      <a:pPr indent="0" marL="0">
                        <a:buNone/>
                      </a:pPr>
                      <a:r>
                        <a:rPr lang="en-US" sz="1200" dirty="0">
                          <a:solidFill>
                            <a:schemeClr val="bg1"/>
                          </a:solidFill>
                        </a:rPr>
                        <a:t>Sep 2026</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tcPr>
                </a:tc>
                <a:tc>
                  <a:txBody>
                    <a:bodyPr/>
                    <a:lstStyle/>
                    <a:p>
                      <a:pPr indent="0" marL="0">
                        <a:buNone/>
                      </a:pPr>
                      <a:r>
                        <a:rPr lang="en-US" sz="1200" dirty="0">
                          <a:solidFill>
                            <a:schemeClr val="bg1"/>
                          </a:solidFill>
                        </a:rPr>
                        <a:t>MoSPI</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tcPr>
                </a:tc>
              </a:tr>
              <a:tr h="347472">
                <a:tc>
                  <a:txBody>
                    <a:bodyPr/>
                    <a:lstStyle/>
                    <a:p>
                      <a:pPr indent="0" marL="0">
                        <a:buNone/>
                      </a:pPr>
                      <a:r>
                        <a:rPr lang="en-US" sz="1200" dirty="0">
                          <a:solidFill>
                            <a:schemeClr val="bg1"/>
                          </a:solidFill>
                        </a:rPr>
                        <a:t>Repo rate</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tcPr>
                </a:tc>
                <a:tc>
                  <a:txBody>
                    <a:bodyPr/>
                    <a:lstStyle/>
                    <a:p>
                      <a:pPr indent="0" marL="0">
                        <a:buNone/>
                      </a:pPr>
                      <a:r>
                        <a:rPr lang="en-US" sz="1200" b="1" dirty="0">
                          <a:solidFill>
                            <a:schemeClr val="bg1"/>
                          </a:solidFill>
                        </a:rPr>
                        <a:t>5.25%</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tcPr>
                </a:tc>
                <a:tc>
                  <a:txBody>
                    <a:bodyPr/>
                    <a:lstStyle/>
                    <a:p>
                      <a:pPr indent="0" marL="0">
                        <a:buNone/>
                      </a:pPr>
                      <a:r>
                        <a:rPr lang="en-US" sz="1200" dirty="0">
                          <a:solidFill>
                            <a:schemeClr val="bg1"/>
                          </a:solidFill>
                        </a:rPr>
                        <a:t>Feb 2026</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tcPr>
                </a:tc>
                <a:tc>
                  <a:txBody>
                    <a:bodyPr/>
                    <a:lstStyle/>
                    <a:p>
                      <a:pPr indent="0" marL="0">
                        <a:buNone/>
                      </a:pPr>
                      <a:r>
                        <a:rPr lang="en-US" sz="1200" dirty="0">
                          <a:solidFill>
                            <a:schemeClr val="bg1"/>
                          </a:solidFill>
                        </a:rPr>
                        <a:t>RBI DBIE</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tcPr>
                </a:tc>
              </a:tr>
              <a:tr h="347472">
                <a:tc>
                  <a:txBody>
                    <a:bodyPr/>
                    <a:lstStyle/>
                    <a:p>
                      <a:pPr indent="0" marL="0">
                        <a:buNone/>
                      </a:pPr>
                      <a:r>
                        <a:rPr lang="en-US" sz="1200" dirty="0">
                          <a:solidFill>
                            <a:schemeClr val="bg1"/>
                          </a:solidFill>
                        </a:rPr>
                        <a:t>M3 growth (YoY)</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tcPr>
                </a:tc>
                <a:tc>
                  <a:txBody>
                    <a:bodyPr/>
                    <a:lstStyle/>
                    <a:p>
                      <a:pPr indent="0" marL="0">
                        <a:buNone/>
                      </a:pPr>
                      <a:r>
                        <a:rPr lang="en-US" sz="1200" b="1" dirty="0">
                          <a:solidFill>
                            <a:schemeClr val="accent2"/>
                          </a:solidFill>
                        </a:rPr>
                        <a:t>unavailable</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tcPr>
                </a:tc>
                <a:tc>
                  <a:txBody>
                    <a:bodyPr/>
                    <a:lstStyle/>
                    <a:p>
                      <a:pPr indent="0" marL="0">
                        <a:buNone/>
                      </a:pPr>
                      <a:r>
                        <a:rPr lang="en-US" sz="1200" dirty="0">
                          <a:solidFill>
                            <a:schemeClr val="bg1"/>
                          </a:solidFill>
                        </a:rPr>
                        <a:t>Jun 2026</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tcPr>
                </a:tc>
                <a:tc>
                  <a:txBody>
                    <a:bodyPr/>
                    <a:lstStyle/>
                    <a:p>
                      <a:pPr indent="0" marL="0">
                        <a:buNone/>
                      </a:pPr>
                      <a:r>
                        <a:rPr lang="en-US" sz="1200" dirty="0">
                          <a:solidFill>
                            <a:schemeClr val="bg1"/>
                          </a:solidFill>
                        </a:rPr>
                        <a:t>RBI DBIE</a:t>
                      </a:r>
                      <a:endParaRPr lang="en-US" sz="1200" dirty="0"/>
                    </a:p>
                  </a:txBody>
                  <a:tcPr marL="54864" marR="54864" marT="18288" marB="18288"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tcPr>
                </a:tc>
              </a:tr>
            </a:tbl>
          </a:graphicData>
        </a:graphic>
      </p:graphicFrame>
      <p:sp>
        <p:nvSpPr>
          <p:cNvPr id="39" name="text-398"/>
          <p:cNvSpPr txBox="1"/>
          <p:nvPr/>
        </p:nvSpPr>
        <p:spPr>
          <a:xfrm>
            <a:off x="4526280" y="5577840"/>
            <a:ext cx="3931920" cy="274320"/>
          </a:xfrm>
          <a:prstGeom prst="rect">
            <a:avLst/>
          </a:prstGeom>
          <a:noFill/>
          <a:ln/>
        </p:spPr>
        <p:txBody>
          <a:bodyPr wrap="square" lIns="0" tIns="0" rIns="0" bIns="0" rtlCol="0" anchor="t"/>
          <a:lstStyle/>
          <a:p>
            <a:pPr indent="0" marL="0">
              <a:buNone/>
            </a:pPr>
            <a:r>
              <a:rPr lang="en-US" sz="1150" dirty="0">
                <a:solidFill>
                  <a:schemeClr val="bg1">
                    <a:alpha val="70000"/>
                  </a:schemeClr>
                </a:solidFill>
              </a:rPr>
              <a:t>Every value keeps its period, status and SHA-256 hash</a:t>
            </a:r>
            <a:endParaRPr lang="en-US" sz="1150" dirty="0"/>
          </a:p>
        </p:txBody>
      </p:sp>
      <p:sp>
        <p:nvSpPr>
          <p:cNvPr id="40" name="text-399"/>
          <p:cNvSpPr txBox="1"/>
          <p:nvPr/>
        </p:nvSpPr>
        <p:spPr>
          <a:xfrm>
            <a:off x="8778240" y="3794760"/>
            <a:ext cx="274320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GRAPH PATHS FOUND</a:t>
            </a:r>
            <a:endParaRPr lang="en-US" sz="1100" dirty="0"/>
          </a:p>
        </p:txBody>
      </p:sp>
      <p:sp>
        <p:nvSpPr>
          <p:cNvPr id="41" name="text-400"/>
          <p:cNvSpPr txBox="1"/>
          <p:nvPr/>
        </p:nvSpPr>
        <p:spPr>
          <a:xfrm>
            <a:off x="8778240" y="4087368"/>
            <a:ext cx="2697480" cy="777240"/>
          </a:xfrm>
          <a:prstGeom prst="rect">
            <a:avLst/>
          </a:prstGeom>
          <a:noFill/>
          <a:ln/>
        </p:spPr>
        <p:txBody>
          <a:bodyPr wrap="square" lIns="0" tIns="0" rIns="0" bIns="0" rtlCol="0" anchor="t"/>
          <a:lstStyle/>
          <a:p>
            <a:pPr indent="0" marL="0">
              <a:spcAft>
                <a:spcPts val="300"/>
              </a:spcAft>
              <a:buNone/>
            </a:pPr>
            <a:r>
              <a:rPr lang="en-US" sz="1250" dirty="0">
                <a:solidFill>
                  <a:schemeClr val="bg1"/>
                </a:solidFill>
              </a:rPr>
              <a:t>CPI → repo  ·  1 hop, 1 month</a:t>
            </a:r>
            <a:endParaRPr lang="en-US" sz="1250" dirty="0"/>
          </a:p>
          <a:p>
            <a:pPr indent="0" marL="0">
              <a:spcAft>
                <a:spcPts val="300"/>
              </a:spcAft>
              <a:buNone/>
            </a:pPr>
            <a:r>
              <a:rPr lang="en-US" sz="1250" dirty="0">
                <a:solidFill>
                  <a:schemeClr val="bg1"/>
                </a:solidFill>
              </a:rPr>
              <a:t>Brent → CPI  ·  2 hops, 3 months</a:t>
            </a:r>
            <a:endParaRPr lang="en-US" sz="1250" dirty="0"/>
          </a:p>
          <a:p>
            <a:pPr indent="0" marL="0">
              <a:spcAft>
                <a:spcPts val="300"/>
              </a:spcAft>
              <a:buNone/>
            </a:pPr>
            <a:r>
              <a:rPr lang="en-US" sz="1250" dirty="0">
                <a:solidFill>
                  <a:schemeClr val="bg1"/>
                </a:solidFill>
              </a:rPr>
              <a:t>Brent → repo  ·  3 hops, 4 months</a:t>
            </a:r>
            <a:endParaRPr lang="en-US" sz="1250" dirty="0"/>
          </a:p>
        </p:txBody>
      </p:sp>
      <p:sp>
        <p:nvSpPr>
          <p:cNvPr id="42" name="text-401"/>
          <p:cNvSpPr txBox="1"/>
          <p:nvPr/>
        </p:nvSpPr>
        <p:spPr>
          <a:xfrm>
            <a:off x="8778240" y="4937760"/>
            <a:ext cx="2651760" cy="566928"/>
          </a:xfrm>
          <a:prstGeom prst="rect">
            <a:avLst/>
          </a:prstGeom>
          <a:noFill/>
          <a:ln/>
        </p:spPr>
        <p:txBody>
          <a:bodyPr wrap="square" lIns="0" tIns="0" rIns="0" bIns="0" rtlCol="0" anchor="t"/>
          <a:lstStyle/>
          <a:p>
            <a:pPr indent="0" marL="0">
              <a:buNone/>
            </a:pPr>
            <a:r>
              <a:rPr lang="en-US" sz="3400" b="1" dirty="0">
                <a:solidFill>
                  <a:schemeClr val="accent2"/>
                </a:solidFill>
                <a:latin typeface="+mj-lt" pitchFamily="34" charset="0"/>
                <a:ea typeface="+mj-lt" pitchFamily="34" charset="-122"/>
                <a:cs typeface="+mj-lt" pitchFamily="34" charset="-120"/>
              </a:rPr>
              <a:t>≈ 11 s</a:t>
            </a:r>
            <a:endParaRPr lang="en-US" sz="3400" dirty="0"/>
          </a:p>
        </p:txBody>
      </p:sp>
      <p:sp>
        <p:nvSpPr>
          <p:cNvPr id="43" name="text-402"/>
          <p:cNvSpPr txBox="1"/>
          <p:nvPr/>
        </p:nvSpPr>
        <p:spPr>
          <a:xfrm>
            <a:off x="8778240" y="5550408"/>
            <a:ext cx="2697480" cy="411480"/>
          </a:xfrm>
          <a:prstGeom prst="rect">
            <a:avLst/>
          </a:prstGeom>
          <a:noFill/>
          <a:ln/>
        </p:spPr>
        <p:txBody>
          <a:bodyPr wrap="square" lIns="0" tIns="0" rIns="0" bIns="0" rtlCol="0" anchor="t"/>
          <a:lstStyle/>
          <a:p>
            <a:pPr indent="0" marL="0">
              <a:buNone/>
            </a:pPr>
            <a:r>
              <a:rPr lang="en-US" sz="1150" dirty="0">
                <a:solidFill>
                  <a:schemeClr val="bg1">
                    <a:alpha val="75000"/>
                  </a:schemeClr>
                </a:solidFill>
              </a:rPr>
              <a:t>end to end with live official data</a:t>
            </a:r>
            <a:endParaRPr lang="en-US" sz="1150" dirty="0"/>
          </a:p>
          <a:p>
            <a:pPr indent="0" marL="0">
              <a:buNone/>
            </a:pPr>
            <a:r>
              <a:rPr lang="en-US" sz="1150" dirty="0">
                <a:solidFill>
                  <a:schemeClr val="bg1">
                    <a:alpha val="75000"/>
                  </a:schemeClr>
                </a:solidFill>
              </a:rPr>
              <a:t>and no LLM key</a:t>
            </a:r>
            <a:endParaRPr lang="en-US" sz="1150" dirty="0"/>
          </a:p>
        </p:txBody>
      </p:sp>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160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TRUST LAYER  ·  A2A + MCP</a:t>
            </a:r>
            <a:endParaRPr lang="en-US" sz="1200" dirty="0"/>
          </a:p>
        </p:txBody>
      </p:sp>
      <p:sp>
        <p:nvSpPr>
          <p:cNvPr id="3" name="Text 0"/>
          <p:cNvSpPr/>
          <p:nvPr>
            <p:ph idx="101" type="title" hasCustomPrompt="1"/>
          </p:nvPr>
        </p:nvSpPr>
        <p:spPr>
          <a:xfrm>
            <a:off x="548640" y="676656"/>
            <a:ext cx="11094415" cy="713232"/>
          </a:xfrm>
          <a:prstGeom prst="rect">
            <a:avLst/>
          </a:prstGeom>
          <a:noFill/>
          <a:ln/>
        </p:spPr>
        <p:txBody>
          <a:bodyPr wrap="square" lIns="0" tIns="0" rIns="0" bIns="0" rtlCol="0" anchor="t"/>
          <a:lstStyle/>
          <a:p>
            <a:pPr algn="l" indent="0" marL="0">
              <a:buNone/>
            </a:pPr>
            <a:r>
              <a:rPr lang="en-US" sz="3600" b="1" dirty="0">
                <a:solidFill>
                  <a:schemeClr val="tx1"/>
                </a:solidFill>
              </a:rPr>
              <a:t>A protocol that refuses unsourced answers</a:t>
            </a:r>
            <a:endParaRPr lang="en-US" sz="3600" dirty="0"/>
          </a:p>
        </p:txBody>
      </p:sp>
      <p:sp>
        <p:nvSpPr>
          <p:cNvPr id="4" name="text-403"/>
          <p:cNvSpPr txBox="1"/>
          <p:nvPr/>
        </p:nvSpPr>
        <p:spPr>
          <a:xfrm>
            <a:off x="548640" y="1600200"/>
            <a:ext cx="5486400" cy="292608"/>
          </a:xfrm>
          <a:prstGeom prst="rect">
            <a:avLst/>
          </a:prstGeom>
          <a:noFill/>
          <a:ln/>
        </p:spPr>
        <p:txBody>
          <a:bodyPr wrap="square" lIns="0" tIns="0" rIns="0" bIns="0" rtlCol="0" anchor="t"/>
          <a:lstStyle/>
          <a:p>
            <a:pPr indent="0" marL="0">
              <a:buNone/>
            </a:pPr>
            <a:r>
              <a:rPr lang="en-US" sz="1500" b="1" dirty="0">
                <a:solidFill>
                  <a:schemeClr val="tx1"/>
                </a:solidFill>
              </a:rPr>
              <a:t>Six checks on every A2A request</a:t>
            </a:r>
            <a:endParaRPr lang="en-US" sz="1500" dirty="0"/>
          </a:p>
        </p:txBody>
      </p:sp>
      <p:sp>
        <p:nvSpPr>
          <p:cNvPr id="5" name="link-404"/>
          <p:cNvSpPr/>
          <p:nvPr/>
        </p:nvSpPr>
        <p:spPr>
          <a:xfrm>
            <a:off x="777240" y="2313432"/>
            <a:ext cx="0" cy="3429000"/>
          </a:xfrm>
          <a:prstGeom prst="line">
            <a:avLst/>
          </a:prstGeom>
          <a:noFill/>
          <a:ln w="25400">
            <a:solidFill>
              <a:schemeClr val="accent1">
                <a:alpha val="45000"/>
              </a:schemeClr>
            </a:solidFill>
            <a:prstDash val="solid"/>
          </a:ln>
        </p:spPr>
      </p:sp>
      <p:sp>
        <p:nvSpPr>
          <p:cNvPr id="6" name="dot-405"/>
          <p:cNvSpPr/>
          <p:nvPr/>
        </p:nvSpPr>
        <p:spPr>
          <a:xfrm>
            <a:off x="548640" y="2084832"/>
            <a:ext cx="457200" cy="457200"/>
          </a:xfrm>
          <a:prstGeom prst="ellipse">
            <a:avLst/>
          </a:prstGeom>
          <a:solidFill>
            <a:schemeClr val="accent1"/>
          </a:solidFill>
          <a:ln/>
        </p:spPr>
      </p:sp>
      <p:sp>
        <p:nvSpPr>
          <p:cNvPr id="7" name="text-406"/>
          <p:cNvSpPr txBox="1"/>
          <p:nvPr/>
        </p:nvSpPr>
        <p:spPr>
          <a:xfrm>
            <a:off x="548640" y="208483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407"/>
          <p:cNvSpPr txBox="1"/>
          <p:nvPr/>
        </p:nvSpPr>
        <p:spPr>
          <a:xfrm>
            <a:off x="1188720" y="2029968"/>
            <a:ext cx="2926080" cy="274320"/>
          </a:xfrm>
          <a:prstGeom prst="rect">
            <a:avLst/>
          </a:prstGeom>
          <a:noFill/>
          <a:ln/>
        </p:spPr>
        <p:txBody>
          <a:bodyPr wrap="square" lIns="0" tIns="0" rIns="0" bIns="0" rtlCol="0" anchor="t"/>
          <a:lstStyle/>
          <a:p>
            <a:pPr indent="0" marL="0">
              <a:buNone/>
            </a:pPr>
            <a:r>
              <a:rPr lang="en-US" sz="1450" b="1" dirty="0">
                <a:solidFill>
                  <a:schemeClr val="tx1"/>
                </a:solidFill>
              </a:rPr>
              <a:t>Loop guards</a:t>
            </a:r>
            <a:endParaRPr lang="en-US" sz="1450" dirty="0"/>
          </a:p>
        </p:txBody>
      </p:sp>
      <p:sp>
        <p:nvSpPr>
          <p:cNvPr id="9" name="text-408"/>
          <p:cNvSpPr txBox="1"/>
          <p:nvPr/>
        </p:nvSpPr>
        <p:spPr>
          <a:xfrm>
            <a:off x="1188720" y="2313432"/>
            <a:ext cx="5166360" cy="274320"/>
          </a:xfrm>
          <a:prstGeom prst="rect">
            <a:avLst/>
          </a:prstGeom>
          <a:noFill/>
          <a:ln/>
        </p:spPr>
        <p:txBody>
          <a:bodyPr wrap="square" lIns="0" tIns="0" rIns="0" bIns="0" rtlCol="0" anchor="t"/>
          <a:lstStyle/>
          <a:p>
            <a:pPr indent="0" marL="0">
              <a:buNone/>
            </a:pPr>
            <a:r>
              <a:rPr lang="en-US" sz="1250" dirty="0">
                <a:solidFill>
                  <a:schemeClr val="tx2"/>
                </a:solidFill>
              </a:rPr>
              <a:t>Depth ≤ 5 · at most 25 requests per conversation · no cycles</a:t>
            </a:r>
            <a:endParaRPr lang="en-US" sz="1250" dirty="0"/>
          </a:p>
        </p:txBody>
      </p:sp>
      <p:sp>
        <p:nvSpPr>
          <p:cNvPr id="10" name="dot-409"/>
          <p:cNvSpPr/>
          <p:nvPr/>
        </p:nvSpPr>
        <p:spPr>
          <a:xfrm>
            <a:off x="548640" y="2770632"/>
            <a:ext cx="457200" cy="457200"/>
          </a:xfrm>
          <a:prstGeom prst="ellipse">
            <a:avLst/>
          </a:prstGeom>
          <a:solidFill>
            <a:schemeClr val="accent1"/>
          </a:solidFill>
          <a:ln/>
        </p:spPr>
      </p:sp>
      <p:sp>
        <p:nvSpPr>
          <p:cNvPr id="11" name="text-410"/>
          <p:cNvSpPr txBox="1"/>
          <p:nvPr/>
        </p:nvSpPr>
        <p:spPr>
          <a:xfrm>
            <a:off x="548640" y="277063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411"/>
          <p:cNvSpPr txBox="1"/>
          <p:nvPr/>
        </p:nvSpPr>
        <p:spPr>
          <a:xfrm>
            <a:off x="1188720" y="2715768"/>
            <a:ext cx="2926080" cy="274320"/>
          </a:xfrm>
          <a:prstGeom prst="rect">
            <a:avLst/>
          </a:prstGeom>
          <a:noFill/>
          <a:ln/>
        </p:spPr>
        <p:txBody>
          <a:bodyPr wrap="square" lIns="0" tIns="0" rIns="0" bIns="0" rtlCol="0" anchor="t"/>
          <a:lstStyle/>
          <a:p>
            <a:pPr indent="0" marL="0">
              <a:buNone/>
            </a:pPr>
            <a:r>
              <a:rPr lang="en-US" sz="1450" b="1" dirty="0">
                <a:solidFill>
                  <a:schemeClr val="tx1"/>
                </a:solidFill>
              </a:rPr>
              <a:t>Declared dependency</a:t>
            </a:r>
            <a:endParaRPr lang="en-US" sz="1450" dirty="0"/>
          </a:p>
        </p:txBody>
      </p:sp>
      <p:sp>
        <p:nvSpPr>
          <p:cNvPr id="13" name="text-412"/>
          <p:cNvSpPr txBox="1"/>
          <p:nvPr/>
        </p:nvSpPr>
        <p:spPr>
          <a:xfrm>
            <a:off x="1188720" y="2999232"/>
            <a:ext cx="5166360" cy="274320"/>
          </a:xfrm>
          <a:prstGeom prst="rect">
            <a:avLst/>
          </a:prstGeom>
          <a:noFill/>
          <a:ln/>
        </p:spPr>
        <p:txBody>
          <a:bodyPr wrap="square" lIns="0" tIns="0" rIns="0" bIns="0" rtlCol="0" anchor="t"/>
          <a:lstStyle/>
          <a:p>
            <a:pPr indent="0" marL="0">
              <a:buNone/>
            </a:pPr>
            <a:r>
              <a:rPr lang="en-US" sz="1250" dirty="0">
                <a:solidFill>
                  <a:schemeClr val="tx2"/>
                </a:solidFill>
              </a:rPr>
              <a:t>Sector-to-sector calls only on the 7 declared edges</a:t>
            </a:r>
            <a:endParaRPr lang="en-US" sz="1250" dirty="0"/>
          </a:p>
        </p:txBody>
      </p:sp>
      <p:sp>
        <p:nvSpPr>
          <p:cNvPr id="14" name="dot-413"/>
          <p:cNvSpPr/>
          <p:nvPr/>
        </p:nvSpPr>
        <p:spPr>
          <a:xfrm>
            <a:off x="548640" y="3456432"/>
            <a:ext cx="457200" cy="457200"/>
          </a:xfrm>
          <a:prstGeom prst="ellipse">
            <a:avLst/>
          </a:prstGeom>
          <a:solidFill>
            <a:schemeClr val="accent1"/>
          </a:solidFill>
          <a:ln/>
        </p:spPr>
      </p:sp>
      <p:sp>
        <p:nvSpPr>
          <p:cNvPr id="15" name="text-414"/>
          <p:cNvSpPr txBox="1"/>
          <p:nvPr/>
        </p:nvSpPr>
        <p:spPr>
          <a:xfrm>
            <a:off x="548640" y="345643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415"/>
          <p:cNvSpPr txBox="1"/>
          <p:nvPr/>
        </p:nvSpPr>
        <p:spPr>
          <a:xfrm>
            <a:off x="1188720" y="3401568"/>
            <a:ext cx="2926080" cy="274320"/>
          </a:xfrm>
          <a:prstGeom prst="rect">
            <a:avLst/>
          </a:prstGeom>
          <a:noFill/>
          <a:ln/>
        </p:spPr>
        <p:txBody>
          <a:bodyPr wrap="square" lIns="0" tIns="0" rIns="0" bIns="0" rtlCol="0" anchor="t"/>
          <a:lstStyle/>
          <a:p>
            <a:pPr indent="0" marL="0">
              <a:buNone/>
            </a:pPr>
            <a:r>
              <a:rPr lang="en-US" sz="1450" b="1" dirty="0">
                <a:solidFill>
                  <a:schemeClr val="tx1"/>
                </a:solidFill>
              </a:rPr>
              <a:t>Capability</a:t>
            </a:r>
            <a:endParaRPr lang="en-US" sz="1450" dirty="0"/>
          </a:p>
        </p:txBody>
      </p:sp>
      <p:sp>
        <p:nvSpPr>
          <p:cNvPr id="17" name="text-416"/>
          <p:cNvSpPr txBox="1"/>
          <p:nvPr/>
        </p:nvSpPr>
        <p:spPr>
          <a:xfrm>
            <a:off x="1188720" y="3685032"/>
            <a:ext cx="5166360" cy="274320"/>
          </a:xfrm>
          <a:prstGeom prst="rect">
            <a:avLst/>
          </a:prstGeom>
          <a:noFill/>
          <a:ln/>
        </p:spPr>
        <p:txBody>
          <a:bodyPr wrap="square" lIns="0" tIns="0" rIns="0" bIns="0" rtlCol="0" anchor="t"/>
          <a:lstStyle/>
          <a:p>
            <a:pPr indent="0" marL="0">
              <a:buNone/>
            </a:pPr>
            <a:r>
              <a:rPr lang="en-US" sz="1250" dirty="0">
                <a:solidFill>
                  <a:schemeClr val="tx2"/>
                </a:solidFill>
              </a:rPr>
              <a:t>The task must be listed in the receiver’s Agent Card</a:t>
            </a:r>
            <a:endParaRPr lang="en-US" sz="1250" dirty="0"/>
          </a:p>
        </p:txBody>
      </p:sp>
      <p:sp>
        <p:nvSpPr>
          <p:cNvPr id="18" name="dot-417"/>
          <p:cNvSpPr/>
          <p:nvPr/>
        </p:nvSpPr>
        <p:spPr>
          <a:xfrm>
            <a:off x="548640" y="4142232"/>
            <a:ext cx="457200" cy="457200"/>
          </a:xfrm>
          <a:prstGeom prst="ellipse">
            <a:avLst/>
          </a:prstGeom>
          <a:solidFill>
            <a:schemeClr val="accent1"/>
          </a:solidFill>
          <a:ln/>
        </p:spPr>
      </p:sp>
      <p:sp>
        <p:nvSpPr>
          <p:cNvPr id="19" name="text-418"/>
          <p:cNvSpPr txBox="1"/>
          <p:nvPr/>
        </p:nvSpPr>
        <p:spPr>
          <a:xfrm>
            <a:off x="548640" y="414223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text-419"/>
          <p:cNvSpPr txBox="1"/>
          <p:nvPr/>
        </p:nvSpPr>
        <p:spPr>
          <a:xfrm>
            <a:off x="1188720" y="4087368"/>
            <a:ext cx="2926080" cy="274320"/>
          </a:xfrm>
          <a:prstGeom prst="rect">
            <a:avLst/>
          </a:prstGeom>
          <a:noFill/>
          <a:ln/>
        </p:spPr>
        <p:txBody>
          <a:bodyPr wrap="square" lIns="0" tIns="0" rIns="0" bIns="0" rtlCol="0" anchor="t"/>
          <a:lstStyle/>
          <a:p>
            <a:pPr indent="0" marL="0">
              <a:buNone/>
            </a:pPr>
            <a:r>
              <a:rPr lang="en-US" sz="1450" b="1" dirty="0">
                <a:solidFill>
                  <a:schemeClr val="tx1"/>
                </a:solidFill>
              </a:rPr>
              <a:t>Schema</a:t>
            </a:r>
            <a:endParaRPr lang="en-US" sz="1450" dirty="0"/>
          </a:p>
        </p:txBody>
      </p:sp>
      <p:sp>
        <p:nvSpPr>
          <p:cNvPr id="21" name="text-420"/>
          <p:cNvSpPr txBox="1"/>
          <p:nvPr/>
        </p:nvSpPr>
        <p:spPr>
          <a:xfrm>
            <a:off x="1188720" y="4370832"/>
            <a:ext cx="5166360" cy="274320"/>
          </a:xfrm>
          <a:prstGeom prst="rect">
            <a:avLst/>
          </a:prstGeom>
          <a:noFill/>
          <a:ln/>
        </p:spPr>
        <p:txBody>
          <a:bodyPr wrap="square" lIns="0" tIns="0" rIns="0" bIns="0" rtlCol="0" anchor="t"/>
          <a:lstStyle/>
          <a:p>
            <a:pPr indent="0" marL="0">
              <a:buNone/>
            </a:pPr>
            <a:r>
              <a:rPr lang="en-US" sz="1250" dirty="0">
                <a:solidFill>
                  <a:schemeClr val="tx2"/>
                </a:solidFill>
              </a:rPr>
              <a:t>Strict Pydantic v2 envelopes; extra fields rejected</a:t>
            </a:r>
            <a:endParaRPr lang="en-US" sz="1250" dirty="0"/>
          </a:p>
        </p:txBody>
      </p:sp>
      <p:sp>
        <p:nvSpPr>
          <p:cNvPr id="22" name="dot-421"/>
          <p:cNvSpPr/>
          <p:nvPr/>
        </p:nvSpPr>
        <p:spPr>
          <a:xfrm>
            <a:off x="548640" y="4828032"/>
            <a:ext cx="457200" cy="457200"/>
          </a:xfrm>
          <a:prstGeom prst="ellipse">
            <a:avLst/>
          </a:prstGeom>
          <a:solidFill>
            <a:schemeClr val="accent1"/>
          </a:solidFill>
          <a:ln/>
        </p:spPr>
      </p:sp>
      <p:sp>
        <p:nvSpPr>
          <p:cNvPr id="23" name="text-422"/>
          <p:cNvSpPr txBox="1"/>
          <p:nvPr/>
        </p:nvSpPr>
        <p:spPr>
          <a:xfrm>
            <a:off x="548640" y="482803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4" name="text-423"/>
          <p:cNvSpPr txBox="1"/>
          <p:nvPr/>
        </p:nvSpPr>
        <p:spPr>
          <a:xfrm>
            <a:off x="1188720" y="4773168"/>
            <a:ext cx="2926080" cy="274320"/>
          </a:xfrm>
          <a:prstGeom prst="rect">
            <a:avLst/>
          </a:prstGeom>
          <a:noFill/>
          <a:ln/>
        </p:spPr>
        <p:txBody>
          <a:bodyPr wrap="square" lIns="0" tIns="0" rIns="0" bIns="0" rtlCol="0" anchor="t"/>
          <a:lstStyle/>
          <a:p>
            <a:pPr indent="0" marL="0">
              <a:buNone/>
            </a:pPr>
            <a:r>
              <a:rPr lang="en-US" sz="1450" b="1" dirty="0">
                <a:solidFill>
                  <a:schemeClr val="tx1"/>
                </a:solidFill>
              </a:rPr>
              <a:t>Timeout and retry</a:t>
            </a:r>
            <a:endParaRPr lang="en-US" sz="1450" dirty="0"/>
          </a:p>
        </p:txBody>
      </p:sp>
      <p:sp>
        <p:nvSpPr>
          <p:cNvPr id="25" name="text-424"/>
          <p:cNvSpPr txBox="1"/>
          <p:nvPr/>
        </p:nvSpPr>
        <p:spPr>
          <a:xfrm>
            <a:off x="1188720" y="5056632"/>
            <a:ext cx="5166360" cy="274320"/>
          </a:xfrm>
          <a:prstGeom prst="rect">
            <a:avLst/>
          </a:prstGeom>
          <a:noFill/>
          <a:ln/>
        </p:spPr>
        <p:txBody>
          <a:bodyPr wrap="square" lIns="0" tIns="0" rIns="0" bIns="0" rtlCol="0" anchor="t"/>
          <a:lstStyle/>
          <a:p>
            <a:pPr indent="0" marL="0">
              <a:buNone/>
            </a:pPr>
            <a:r>
              <a:rPr lang="en-US" sz="1250" dirty="0">
                <a:solidFill>
                  <a:schemeClr val="tx2"/>
                </a:solidFill>
              </a:rPr>
              <a:t>90 s request, 25 s peer; only transient errors are retried</a:t>
            </a:r>
            <a:endParaRPr lang="en-US" sz="1250" dirty="0"/>
          </a:p>
        </p:txBody>
      </p:sp>
      <p:sp>
        <p:nvSpPr>
          <p:cNvPr id="26" name="dot-425"/>
          <p:cNvSpPr/>
          <p:nvPr/>
        </p:nvSpPr>
        <p:spPr>
          <a:xfrm>
            <a:off x="548640" y="5513832"/>
            <a:ext cx="457200" cy="457200"/>
          </a:xfrm>
          <a:prstGeom prst="ellipse">
            <a:avLst/>
          </a:prstGeom>
          <a:solidFill>
            <a:schemeClr val="accent2"/>
          </a:solidFill>
          <a:ln/>
        </p:spPr>
      </p:sp>
      <p:sp>
        <p:nvSpPr>
          <p:cNvPr id="27" name="text-426"/>
          <p:cNvSpPr txBox="1"/>
          <p:nvPr/>
        </p:nvSpPr>
        <p:spPr>
          <a:xfrm>
            <a:off x="548640" y="5513832"/>
            <a:ext cx="457200" cy="457200"/>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8" name="text-427"/>
          <p:cNvSpPr txBox="1"/>
          <p:nvPr/>
        </p:nvSpPr>
        <p:spPr>
          <a:xfrm>
            <a:off x="1188720" y="5458968"/>
            <a:ext cx="1143000" cy="274320"/>
          </a:xfrm>
          <a:prstGeom prst="rect">
            <a:avLst/>
          </a:prstGeom>
          <a:noFill/>
          <a:ln/>
        </p:spPr>
        <p:txBody>
          <a:bodyPr wrap="square" lIns="0" tIns="0" rIns="0" bIns="0" rtlCol="0" anchor="t"/>
          <a:lstStyle/>
          <a:p>
            <a:pPr indent="0" marL="0">
              <a:buNone/>
            </a:pPr>
            <a:r>
              <a:rPr lang="en-US" sz="1450" b="1" dirty="0">
                <a:solidFill>
                  <a:schemeClr val="tx1"/>
                </a:solidFill>
              </a:rPr>
              <a:t>Provenance</a:t>
            </a:r>
            <a:endParaRPr lang="en-US" sz="1450" dirty="0"/>
          </a:p>
        </p:txBody>
      </p:sp>
      <p:sp>
        <p:nvSpPr>
          <p:cNvPr id="29" name="text-428"/>
          <p:cNvSpPr txBox="1"/>
          <p:nvPr/>
        </p:nvSpPr>
        <p:spPr>
          <a:xfrm>
            <a:off x="1188720" y="5742432"/>
            <a:ext cx="5166360" cy="274320"/>
          </a:xfrm>
          <a:prstGeom prst="rect">
            <a:avLst/>
          </a:prstGeom>
          <a:noFill/>
          <a:ln/>
        </p:spPr>
        <p:txBody>
          <a:bodyPr wrap="square" lIns="0" tIns="0" rIns="0" bIns="0" rtlCol="0" anchor="t"/>
          <a:lstStyle/>
          <a:p>
            <a:pPr indent="0" marL="0">
              <a:buNone/>
            </a:pPr>
            <a:r>
              <a:rPr lang="en-US" sz="1250" dirty="0">
                <a:solidFill>
                  <a:schemeClr val="tx2"/>
                </a:solidFill>
              </a:rPr>
              <a:t>A successful reply with no sources is rejected</a:t>
            </a:r>
            <a:endParaRPr lang="en-US" sz="1250" dirty="0"/>
          </a:p>
        </p:txBody>
      </p:sp>
      <p:sp>
        <p:nvSpPr>
          <p:cNvPr id="30" name="card-429"/>
          <p:cNvSpPr/>
          <p:nvPr/>
        </p:nvSpPr>
        <p:spPr>
          <a:xfrm>
            <a:off x="2423160" y="5468112"/>
            <a:ext cx="1783080" cy="256032"/>
          </a:xfrm>
          <a:prstGeom prst="roundRect">
            <a:avLst>
              <a:gd name="adj" fmla="val 50000"/>
            </a:avLst>
          </a:prstGeom>
          <a:solidFill>
            <a:schemeClr val="accent2"/>
          </a:solidFill>
          <a:ln/>
        </p:spPr>
      </p:sp>
      <p:sp>
        <p:nvSpPr>
          <p:cNvPr id="31" name="text-430"/>
          <p:cNvSpPr txBox="1"/>
          <p:nvPr/>
        </p:nvSpPr>
        <p:spPr>
          <a:xfrm>
            <a:off x="2423160" y="5468112"/>
            <a:ext cx="1783080" cy="256032"/>
          </a:xfrm>
          <a:prstGeom prst="rect">
            <a:avLst/>
          </a:prstGeom>
          <a:noFill/>
          <a:ln/>
        </p:spPr>
        <p:txBody>
          <a:bodyPr wrap="square" lIns="0" tIns="0" rIns="0" bIns="0" rtlCol="0" anchor="ctr"/>
          <a:lstStyle/>
          <a:p>
            <a:pPr algn="ctr" indent="0" marL="0">
              <a:buNone/>
            </a:pPr>
            <a:r>
              <a:rPr lang="en-US" sz="1050" b="1" spc="50" kern="0" dirty="0">
                <a:solidFill>
                  <a:schemeClr val="tx1"/>
                </a:solidFill>
              </a:rPr>
              <a:t>No Source, No Answer</a:t>
            </a:r>
            <a:endParaRPr lang="en-US" sz="1050" dirty="0"/>
          </a:p>
        </p:txBody>
      </p:sp>
      <p:sp>
        <p:nvSpPr>
          <p:cNvPr id="32" name="card-431"/>
          <p:cNvSpPr/>
          <p:nvPr/>
        </p:nvSpPr>
        <p:spPr>
          <a:xfrm>
            <a:off x="6720840" y="1600200"/>
            <a:ext cx="4922215" cy="2514600"/>
          </a:xfrm>
          <a:prstGeom prst="roundRect">
            <a:avLst>
              <a:gd name="adj" fmla="val 4364"/>
            </a:avLst>
          </a:prstGeom>
          <a:solidFill>
            <a:schemeClr val="bg2"/>
          </a:solidFill>
          <a:ln/>
        </p:spPr>
      </p:sp>
      <p:sp>
        <p:nvSpPr>
          <p:cNvPr id="33" name="text-432"/>
          <p:cNvSpPr txBox="1"/>
          <p:nvPr/>
        </p:nvSpPr>
        <p:spPr>
          <a:xfrm>
            <a:off x="6949440" y="1737360"/>
            <a:ext cx="3200400" cy="274320"/>
          </a:xfrm>
          <a:prstGeom prst="rect">
            <a:avLst/>
          </a:prstGeom>
          <a:noFill/>
          <a:ln/>
        </p:spPr>
        <p:txBody>
          <a:bodyPr wrap="square" lIns="0" tIns="0" rIns="0" bIns="0" rtlCol="0" anchor="t"/>
          <a:lstStyle/>
          <a:p>
            <a:pPr indent="0" marL="0">
              <a:buNone/>
            </a:pPr>
            <a:r>
              <a:rPr lang="en-US" sz="1500" b="1" dirty="0">
                <a:solidFill>
                  <a:schemeClr val="tx1"/>
                </a:solidFill>
              </a:rPr>
              <a:t>7 declared peer edges</a:t>
            </a:r>
            <a:endParaRPr lang="en-US" sz="1500" dirty="0"/>
          </a:p>
        </p:txBody>
      </p:sp>
      <p:sp>
        <p:nvSpPr>
          <p:cNvPr id="34" name="text-433"/>
          <p:cNvSpPr txBox="1"/>
          <p:nvPr/>
        </p:nvSpPr>
        <p:spPr>
          <a:xfrm>
            <a:off x="6949440" y="2011680"/>
            <a:ext cx="3200400" cy="228600"/>
          </a:xfrm>
          <a:prstGeom prst="rect">
            <a:avLst/>
          </a:prstGeom>
          <a:noFill/>
          <a:ln/>
        </p:spPr>
        <p:txBody>
          <a:bodyPr wrap="square" lIns="0" tIns="0" rIns="0" bIns="0" rtlCol="0" anchor="t"/>
          <a:lstStyle/>
          <a:p>
            <a:pPr indent="0" marL="0">
              <a:buNone/>
            </a:pPr>
            <a:r>
              <a:rPr lang="en-US" sz="1100" dirty="0">
                <a:solidFill>
                  <a:schemeClr val="tx2"/>
                </a:solidFill>
              </a:rPr>
              <a:t>consumer → provider · A2A task</a:t>
            </a:r>
            <a:endParaRPr lang="en-US" sz="1100" dirty="0"/>
          </a:p>
        </p:txBody>
      </p:sp>
      <p:sp>
        <p:nvSpPr>
          <p:cNvPr id="35" name="card-434"/>
          <p:cNvSpPr/>
          <p:nvPr/>
        </p:nvSpPr>
        <p:spPr>
          <a:xfrm>
            <a:off x="6949440" y="2377440"/>
            <a:ext cx="1234440" cy="457200"/>
          </a:xfrm>
          <a:prstGeom prst="roundRect">
            <a:avLst>
              <a:gd name="adj" fmla="val 16000"/>
            </a:avLst>
          </a:prstGeom>
          <a:solidFill>
            <a:schemeClr val="bg1"/>
          </a:solidFill>
          <a:ln/>
        </p:spPr>
      </p:sp>
      <p:sp>
        <p:nvSpPr>
          <p:cNvPr id="36" name="text-435"/>
          <p:cNvSpPr txBox="1"/>
          <p:nvPr/>
        </p:nvSpPr>
        <p:spPr>
          <a:xfrm>
            <a:off x="6949440" y="2377440"/>
            <a:ext cx="1234440" cy="457200"/>
          </a:xfrm>
          <a:prstGeom prst="rect">
            <a:avLst/>
          </a:prstGeom>
          <a:noFill/>
          <a:ln/>
        </p:spPr>
        <p:txBody>
          <a:bodyPr wrap="square" lIns="0" tIns="0" rIns="0" bIns="0" rtlCol="0" anchor="ctr"/>
          <a:lstStyle/>
          <a:p>
            <a:pPr algn="ctr" indent="0" marL="0">
              <a:buNone/>
            </a:pPr>
            <a:r>
              <a:rPr lang="en-US" sz="1250" b="1" dirty="0">
                <a:solidFill>
                  <a:schemeClr val="tx1"/>
                </a:solidFill>
              </a:rPr>
              <a:t>Finance</a:t>
            </a:r>
            <a:endParaRPr lang="en-US" sz="1250" dirty="0"/>
          </a:p>
        </p:txBody>
      </p:sp>
      <p:sp>
        <p:nvSpPr>
          <p:cNvPr id="37" name="card-436"/>
          <p:cNvSpPr/>
          <p:nvPr/>
        </p:nvSpPr>
        <p:spPr>
          <a:xfrm>
            <a:off x="6949440" y="2944368"/>
            <a:ext cx="1234440" cy="457200"/>
          </a:xfrm>
          <a:prstGeom prst="roundRect">
            <a:avLst>
              <a:gd name="adj" fmla="val 16000"/>
            </a:avLst>
          </a:prstGeom>
          <a:solidFill>
            <a:schemeClr val="bg1"/>
          </a:solidFill>
          <a:ln/>
        </p:spPr>
      </p:sp>
      <p:sp>
        <p:nvSpPr>
          <p:cNvPr id="38" name="text-437"/>
          <p:cNvSpPr txBox="1"/>
          <p:nvPr/>
        </p:nvSpPr>
        <p:spPr>
          <a:xfrm>
            <a:off x="6949440" y="2944368"/>
            <a:ext cx="1234440" cy="457200"/>
          </a:xfrm>
          <a:prstGeom prst="rect">
            <a:avLst/>
          </a:prstGeom>
          <a:noFill/>
          <a:ln/>
        </p:spPr>
        <p:txBody>
          <a:bodyPr wrap="square" lIns="0" tIns="0" rIns="0" bIns="0" rtlCol="0" anchor="ctr"/>
          <a:lstStyle/>
          <a:p>
            <a:pPr algn="ctr" indent="0" marL="0">
              <a:buNone/>
            </a:pPr>
            <a:r>
              <a:rPr lang="en-US" sz="1250" b="1" dirty="0">
                <a:solidFill>
                  <a:schemeClr val="tx1"/>
                </a:solidFill>
              </a:rPr>
              <a:t>Fiscal</a:t>
            </a:r>
            <a:endParaRPr lang="en-US" sz="1250" dirty="0"/>
          </a:p>
        </p:txBody>
      </p:sp>
      <p:sp>
        <p:nvSpPr>
          <p:cNvPr id="39" name="card-438"/>
          <p:cNvSpPr/>
          <p:nvPr/>
        </p:nvSpPr>
        <p:spPr>
          <a:xfrm>
            <a:off x="6949440" y="3511296"/>
            <a:ext cx="1234440" cy="457200"/>
          </a:xfrm>
          <a:prstGeom prst="roundRect">
            <a:avLst>
              <a:gd name="adj" fmla="val 16000"/>
            </a:avLst>
          </a:prstGeom>
          <a:solidFill>
            <a:schemeClr val="bg1"/>
          </a:solidFill>
          <a:ln/>
        </p:spPr>
      </p:sp>
      <p:sp>
        <p:nvSpPr>
          <p:cNvPr id="40" name="text-439"/>
          <p:cNvSpPr txBox="1"/>
          <p:nvPr/>
        </p:nvSpPr>
        <p:spPr>
          <a:xfrm>
            <a:off x="6949440" y="3511296"/>
            <a:ext cx="1234440" cy="457200"/>
          </a:xfrm>
          <a:prstGeom prst="rect">
            <a:avLst/>
          </a:prstGeom>
          <a:noFill/>
          <a:ln/>
        </p:spPr>
        <p:txBody>
          <a:bodyPr wrap="square" lIns="0" tIns="0" rIns="0" bIns="0" rtlCol="0" anchor="ctr"/>
          <a:lstStyle/>
          <a:p>
            <a:pPr algn="ctr" indent="0" marL="0">
              <a:buNone/>
            </a:pPr>
            <a:r>
              <a:rPr lang="en-US" sz="1250" b="1" dirty="0">
                <a:solidFill>
                  <a:schemeClr val="tx1"/>
                </a:solidFill>
              </a:rPr>
              <a:t>External</a:t>
            </a:r>
            <a:endParaRPr lang="en-US" sz="1250" dirty="0"/>
          </a:p>
        </p:txBody>
      </p:sp>
      <p:sp>
        <p:nvSpPr>
          <p:cNvPr id="41" name="card-440"/>
          <p:cNvSpPr/>
          <p:nvPr/>
        </p:nvSpPr>
        <p:spPr>
          <a:xfrm>
            <a:off x="9585655" y="2377440"/>
            <a:ext cx="1828800" cy="457200"/>
          </a:xfrm>
          <a:prstGeom prst="roundRect">
            <a:avLst>
              <a:gd name="adj" fmla="val 16000"/>
            </a:avLst>
          </a:prstGeom>
          <a:solidFill>
            <a:schemeClr val="bg1"/>
          </a:solidFill>
          <a:ln/>
        </p:spPr>
      </p:sp>
      <p:sp>
        <p:nvSpPr>
          <p:cNvPr id="42" name="text-441"/>
          <p:cNvSpPr txBox="1"/>
          <p:nvPr/>
        </p:nvSpPr>
        <p:spPr>
          <a:xfrm>
            <a:off x="9695383" y="2395728"/>
            <a:ext cx="1691640" cy="420624"/>
          </a:xfrm>
          <a:prstGeom prst="rect">
            <a:avLst/>
          </a:prstGeom>
          <a:noFill/>
          <a:ln/>
        </p:spPr>
        <p:txBody>
          <a:bodyPr wrap="square" lIns="0" tIns="0" rIns="0" bIns="0" rtlCol="0" anchor="ctr"/>
          <a:lstStyle/>
          <a:p>
            <a:pPr indent="0" marL="0">
              <a:buNone/>
            </a:pPr>
            <a:r>
              <a:rPr lang="en-US" sz="1200" b="1" dirty="0">
                <a:solidFill>
                  <a:schemeClr val="tx1"/>
                </a:solidFill>
              </a:rPr>
              <a:t>Monetary</a:t>
            </a:r>
            <a:endParaRPr lang="en-US" sz="1200" dirty="0"/>
          </a:p>
          <a:p>
            <a:pPr indent="0" marL="0">
              <a:buNone/>
            </a:pPr>
            <a:r>
              <a:rPr lang="en-US" sz="1000" dirty="0">
                <a:solidFill>
                  <a:schemeClr val="accent1"/>
                </a:solidFill>
                <a:latin typeface="Consolas" pitchFamily="34" charset="0"/>
                <a:ea typeface="Consolas" pitchFamily="34" charset="-122"/>
                <a:cs typeface="Consolas" pitchFamily="34" charset="-120"/>
              </a:rPr>
              <a:t>repo_rate</a:t>
            </a:r>
            <a:endParaRPr lang="en-US" sz="1200" dirty="0"/>
          </a:p>
        </p:txBody>
      </p:sp>
      <p:sp>
        <p:nvSpPr>
          <p:cNvPr id="43" name="card-442"/>
          <p:cNvSpPr/>
          <p:nvPr/>
        </p:nvSpPr>
        <p:spPr>
          <a:xfrm>
            <a:off x="9585655" y="2944368"/>
            <a:ext cx="1828800" cy="457200"/>
          </a:xfrm>
          <a:prstGeom prst="roundRect">
            <a:avLst>
              <a:gd name="adj" fmla="val 16000"/>
            </a:avLst>
          </a:prstGeom>
          <a:solidFill>
            <a:schemeClr val="bg1"/>
          </a:solidFill>
          <a:ln/>
        </p:spPr>
      </p:sp>
      <p:sp>
        <p:nvSpPr>
          <p:cNvPr id="44" name="text-443"/>
          <p:cNvSpPr txBox="1"/>
          <p:nvPr/>
        </p:nvSpPr>
        <p:spPr>
          <a:xfrm>
            <a:off x="9695383" y="2962656"/>
            <a:ext cx="1691640" cy="420624"/>
          </a:xfrm>
          <a:prstGeom prst="rect">
            <a:avLst/>
          </a:prstGeom>
          <a:noFill/>
          <a:ln/>
        </p:spPr>
        <p:txBody>
          <a:bodyPr wrap="square" lIns="0" tIns="0" rIns="0" bIns="0" rtlCol="0" anchor="ctr"/>
          <a:lstStyle/>
          <a:p>
            <a:pPr indent="0" marL="0">
              <a:buNone/>
            </a:pPr>
            <a:r>
              <a:rPr lang="en-US" sz="1200" b="1" dirty="0">
                <a:solidFill>
                  <a:schemeClr val="tx1"/>
                </a:solidFill>
              </a:rPr>
              <a:t>Prices</a:t>
            </a:r>
            <a:endParaRPr lang="en-US" sz="1200" dirty="0"/>
          </a:p>
          <a:p>
            <a:pPr indent="0" marL="0">
              <a:buNone/>
            </a:pPr>
            <a:r>
              <a:rPr lang="en-US" sz="1000" dirty="0">
                <a:solidFill>
                  <a:schemeClr val="accent1"/>
                </a:solidFill>
                <a:latin typeface="Consolas" pitchFamily="34" charset="0"/>
                <a:ea typeface="Consolas" pitchFamily="34" charset="-122"/>
                <a:cs typeface="Consolas" pitchFamily="34" charset="-120"/>
              </a:rPr>
              <a:t>cpi_headline</a:t>
            </a:r>
            <a:endParaRPr lang="en-US" sz="1200" dirty="0"/>
          </a:p>
        </p:txBody>
      </p:sp>
      <p:sp>
        <p:nvSpPr>
          <p:cNvPr id="45" name="card-444"/>
          <p:cNvSpPr/>
          <p:nvPr/>
        </p:nvSpPr>
        <p:spPr>
          <a:xfrm>
            <a:off x="9585655" y="3511296"/>
            <a:ext cx="1828800" cy="457200"/>
          </a:xfrm>
          <a:prstGeom prst="roundRect">
            <a:avLst>
              <a:gd name="adj" fmla="val 16000"/>
            </a:avLst>
          </a:prstGeom>
          <a:solidFill>
            <a:schemeClr val="bg1"/>
          </a:solidFill>
          <a:ln/>
        </p:spPr>
      </p:sp>
      <p:sp>
        <p:nvSpPr>
          <p:cNvPr id="46" name="text-445"/>
          <p:cNvSpPr txBox="1"/>
          <p:nvPr/>
        </p:nvSpPr>
        <p:spPr>
          <a:xfrm>
            <a:off x="9695383" y="3529584"/>
            <a:ext cx="1691640" cy="420624"/>
          </a:xfrm>
          <a:prstGeom prst="rect">
            <a:avLst/>
          </a:prstGeom>
          <a:noFill/>
          <a:ln/>
        </p:spPr>
        <p:txBody>
          <a:bodyPr wrap="square" lIns="0" tIns="0" rIns="0" bIns="0" rtlCol="0" anchor="ctr"/>
          <a:lstStyle/>
          <a:p>
            <a:pPr indent="0" marL="0">
              <a:buNone/>
            </a:pPr>
            <a:r>
              <a:rPr lang="en-US" sz="1200" b="1" dirty="0">
                <a:solidFill>
                  <a:schemeClr val="tx1"/>
                </a:solidFill>
              </a:rPr>
              <a:t>Finance</a:t>
            </a:r>
            <a:endParaRPr lang="en-US" sz="1200" dirty="0"/>
          </a:p>
          <a:p>
            <a:pPr indent="0" marL="0">
              <a:buNone/>
            </a:pPr>
            <a:r>
              <a:rPr lang="en-US" sz="1000" dirty="0">
                <a:solidFill>
                  <a:schemeClr val="accent1"/>
                </a:solidFill>
                <a:latin typeface="Consolas" pitchFamily="34" charset="0"/>
                <a:ea typeface="Consolas" pitchFamily="34" charset="-122"/>
                <a:cs typeface="Consolas" pitchFamily="34" charset="-120"/>
              </a:rPr>
              <a:t>bank_credit_growth</a:t>
            </a:r>
            <a:endParaRPr lang="en-US" sz="1200" dirty="0"/>
          </a:p>
        </p:txBody>
      </p:sp>
      <p:sp>
        <p:nvSpPr>
          <p:cNvPr id="47" name="link-446"/>
          <p:cNvSpPr/>
          <p:nvPr/>
        </p:nvSpPr>
        <p:spPr>
          <a:xfrm flipV="1">
            <a:off x="8202168" y="2514600"/>
            <a:ext cx="1356055" cy="27432"/>
          </a:xfrm>
          <a:prstGeom prst="line">
            <a:avLst/>
          </a:prstGeom>
          <a:noFill/>
          <a:ln w="15875">
            <a:solidFill>
              <a:schemeClr val="accent1"/>
            </a:solidFill>
            <a:prstDash val="solid"/>
            <a:tailEnd type="triangle"/>
          </a:ln>
        </p:spPr>
      </p:sp>
      <p:sp>
        <p:nvSpPr>
          <p:cNvPr id="48" name="link-447"/>
          <p:cNvSpPr/>
          <p:nvPr/>
        </p:nvSpPr>
        <p:spPr>
          <a:xfrm>
            <a:off x="8202168" y="2670048"/>
            <a:ext cx="1356055" cy="411480"/>
          </a:xfrm>
          <a:prstGeom prst="line">
            <a:avLst/>
          </a:prstGeom>
          <a:noFill/>
          <a:ln w="15875">
            <a:solidFill>
              <a:schemeClr val="accent1"/>
            </a:solidFill>
            <a:prstDash val="solid"/>
            <a:tailEnd type="triangle"/>
          </a:ln>
        </p:spPr>
      </p:sp>
      <p:sp>
        <p:nvSpPr>
          <p:cNvPr id="49" name="link-448"/>
          <p:cNvSpPr/>
          <p:nvPr/>
        </p:nvSpPr>
        <p:spPr>
          <a:xfrm flipV="1">
            <a:off x="8202168" y="2606040"/>
            <a:ext cx="1356055" cy="475488"/>
          </a:xfrm>
          <a:prstGeom prst="line">
            <a:avLst/>
          </a:prstGeom>
          <a:noFill/>
          <a:ln w="15875">
            <a:solidFill>
              <a:schemeClr val="accent1"/>
            </a:solidFill>
            <a:prstDash val="solid"/>
            <a:tailEnd type="triangle"/>
          </a:ln>
        </p:spPr>
      </p:sp>
      <p:sp>
        <p:nvSpPr>
          <p:cNvPr id="50" name="link-449"/>
          <p:cNvSpPr/>
          <p:nvPr/>
        </p:nvSpPr>
        <p:spPr>
          <a:xfrm>
            <a:off x="8202168" y="3172968"/>
            <a:ext cx="1356055" cy="0"/>
          </a:xfrm>
          <a:prstGeom prst="line">
            <a:avLst/>
          </a:prstGeom>
          <a:noFill/>
          <a:ln w="15875">
            <a:solidFill>
              <a:schemeClr val="accent1"/>
            </a:solidFill>
            <a:prstDash val="solid"/>
            <a:tailEnd type="triangle"/>
          </a:ln>
        </p:spPr>
      </p:sp>
      <p:sp>
        <p:nvSpPr>
          <p:cNvPr id="51" name="link-450"/>
          <p:cNvSpPr/>
          <p:nvPr/>
        </p:nvSpPr>
        <p:spPr>
          <a:xfrm>
            <a:off x="8202168" y="3264408"/>
            <a:ext cx="1356055" cy="475488"/>
          </a:xfrm>
          <a:prstGeom prst="line">
            <a:avLst/>
          </a:prstGeom>
          <a:noFill/>
          <a:ln w="15875">
            <a:solidFill>
              <a:schemeClr val="accent1"/>
            </a:solidFill>
            <a:prstDash val="solid"/>
            <a:tailEnd type="triangle"/>
          </a:ln>
        </p:spPr>
      </p:sp>
      <p:sp>
        <p:nvSpPr>
          <p:cNvPr id="52" name="link-451"/>
          <p:cNvSpPr/>
          <p:nvPr/>
        </p:nvSpPr>
        <p:spPr>
          <a:xfrm flipV="1">
            <a:off x="8202168" y="2697480"/>
            <a:ext cx="1356055" cy="978408"/>
          </a:xfrm>
          <a:prstGeom prst="line">
            <a:avLst/>
          </a:prstGeom>
          <a:noFill/>
          <a:ln w="15875">
            <a:solidFill>
              <a:schemeClr val="accent1"/>
            </a:solidFill>
            <a:prstDash val="solid"/>
            <a:tailEnd type="triangle"/>
          </a:ln>
        </p:spPr>
      </p:sp>
      <p:sp>
        <p:nvSpPr>
          <p:cNvPr id="53" name="link-452"/>
          <p:cNvSpPr/>
          <p:nvPr/>
        </p:nvSpPr>
        <p:spPr>
          <a:xfrm flipV="1">
            <a:off x="8202168" y="3264408"/>
            <a:ext cx="1356055" cy="539496"/>
          </a:xfrm>
          <a:prstGeom prst="line">
            <a:avLst/>
          </a:prstGeom>
          <a:noFill/>
          <a:ln w="15875">
            <a:solidFill>
              <a:schemeClr val="accent1"/>
            </a:solidFill>
            <a:prstDash val="solid"/>
            <a:tailEnd type="triangle"/>
          </a:ln>
        </p:spPr>
      </p:sp>
      <p:sp>
        <p:nvSpPr>
          <p:cNvPr id="54" name="card-453"/>
          <p:cNvSpPr/>
          <p:nvPr/>
        </p:nvSpPr>
        <p:spPr>
          <a:xfrm>
            <a:off x="6720840" y="4297680"/>
            <a:ext cx="4922215" cy="1828800"/>
          </a:xfrm>
          <a:prstGeom prst="roundRect">
            <a:avLst>
              <a:gd name="adj" fmla="val 6000"/>
            </a:avLst>
          </a:prstGeom>
          <a:solidFill>
            <a:schemeClr val="bg2"/>
          </a:solidFill>
          <a:ln/>
        </p:spPr>
      </p:sp>
      <p:sp>
        <p:nvSpPr>
          <p:cNvPr id="55" name="text-454"/>
          <p:cNvSpPr txBox="1"/>
          <p:nvPr/>
        </p:nvSpPr>
        <p:spPr>
          <a:xfrm>
            <a:off x="6949440" y="4434840"/>
            <a:ext cx="4114800" cy="274320"/>
          </a:xfrm>
          <a:prstGeom prst="rect">
            <a:avLst/>
          </a:prstGeom>
          <a:noFill/>
          <a:ln/>
        </p:spPr>
        <p:txBody>
          <a:bodyPr wrap="square" lIns="0" tIns="0" rIns="0" bIns="0" rtlCol="0" anchor="t"/>
          <a:lstStyle/>
          <a:p>
            <a:pPr indent="0" marL="0">
              <a:buNone/>
            </a:pPr>
            <a:r>
              <a:rPr lang="en-US" sz="1500" b="1" dirty="0">
                <a:solidFill>
                  <a:schemeClr val="tx1"/>
                </a:solidFill>
              </a:rPr>
              <a:t>MCP data path for every value</a:t>
            </a:r>
            <a:endParaRPr lang="en-US" sz="1500" dirty="0"/>
          </a:p>
        </p:txBody>
      </p:sp>
      <p:sp>
        <p:nvSpPr>
          <p:cNvPr id="56" name="card-455"/>
          <p:cNvSpPr/>
          <p:nvPr/>
        </p:nvSpPr>
        <p:spPr>
          <a:xfrm>
            <a:off x="6949440" y="4846320"/>
            <a:ext cx="1298448" cy="566928"/>
          </a:xfrm>
          <a:prstGeom prst="roundRect">
            <a:avLst>
              <a:gd name="adj" fmla="val 12903"/>
            </a:avLst>
          </a:prstGeom>
          <a:solidFill>
            <a:schemeClr val="bg1"/>
          </a:solidFill>
          <a:ln/>
        </p:spPr>
      </p:sp>
      <p:sp>
        <p:nvSpPr>
          <p:cNvPr id="57" name="card-456"/>
          <p:cNvSpPr/>
          <p:nvPr/>
        </p:nvSpPr>
        <p:spPr>
          <a:xfrm>
            <a:off x="7040880" y="4974336"/>
            <a:ext cx="310896" cy="310896"/>
          </a:xfrm>
          <a:prstGeom prst="roundRect">
            <a:avLst>
              <a:gd name="adj" fmla="val 22000"/>
            </a:avLst>
          </a:prstGeom>
          <a:solidFill>
            <a:schemeClr val="accent1"/>
          </a:solidFill>
          <a:ln/>
        </p:spPr>
      </p:sp>
      <p:pic>
        <p:nvPicPr>
          <p:cNvPr id="58" name="icon-457" descr="Signal icon">    </p:cNvPr>
          <p:cNvPicPr>
            <a:picLocks noChangeAspect="1"/>
          </p:cNvPicPr>
          <p:nvPr/>
        </p:nvPicPr>
        <p:blipFill>
          <a:blip r:embed="rId1"/>
          <a:stretch>
            <a:fillRect/>
          </a:stretch>
        </p:blipFill>
        <p:spPr>
          <a:xfrm>
            <a:off x="7109277" y="5042733"/>
            <a:ext cx="174102" cy="174102"/>
          </a:xfrm>
          <a:prstGeom prst="rect">
            <a:avLst/>
          </a:prstGeom>
        </p:spPr>
      </p:pic>
      <p:sp>
        <p:nvSpPr>
          <p:cNvPr id="59" name="text-458"/>
          <p:cNvSpPr txBox="1"/>
          <p:nvPr/>
        </p:nvSpPr>
        <p:spPr>
          <a:xfrm>
            <a:off x="7406640" y="4846320"/>
            <a:ext cx="795528" cy="566928"/>
          </a:xfrm>
          <a:prstGeom prst="rect">
            <a:avLst/>
          </a:prstGeom>
          <a:noFill/>
          <a:ln/>
        </p:spPr>
        <p:txBody>
          <a:bodyPr wrap="square" lIns="0" tIns="0" rIns="0" bIns="0" rtlCol="0" anchor="ctr"/>
          <a:lstStyle/>
          <a:p>
            <a:pPr indent="0" marL="0">
              <a:buNone/>
            </a:pPr>
            <a:r>
              <a:rPr lang="en-US" sz="1150" b="1" dirty="0">
                <a:solidFill>
                  <a:schemeClr val="tx1"/>
                </a:solidFill>
              </a:rPr>
              <a:t>Live official source</a:t>
            </a:r>
            <a:endParaRPr lang="en-US" sz="1150" dirty="0"/>
          </a:p>
        </p:txBody>
      </p:sp>
      <p:sp>
        <p:nvSpPr>
          <p:cNvPr id="60" name="link-459"/>
          <p:cNvSpPr/>
          <p:nvPr/>
        </p:nvSpPr>
        <p:spPr>
          <a:xfrm>
            <a:off x="8284464" y="5129784"/>
            <a:ext cx="211684" cy="0"/>
          </a:xfrm>
          <a:prstGeom prst="line">
            <a:avLst/>
          </a:prstGeom>
          <a:noFill/>
          <a:ln w="22225">
            <a:solidFill>
              <a:schemeClr val="accent1"/>
            </a:solidFill>
            <a:prstDash val="solid"/>
            <a:tailEnd type="triangle"/>
          </a:ln>
        </p:spPr>
      </p:sp>
      <p:sp>
        <p:nvSpPr>
          <p:cNvPr id="61" name="card-460"/>
          <p:cNvSpPr/>
          <p:nvPr/>
        </p:nvSpPr>
        <p:spPr>
          <a:xfrm>
            <a:off x="8532724" y="4846320"/>
            <a:ext cx="1298448" cy="566928"/>
          </a:xfrm>
          <a:prstGeom prst="roundRect">
            <a:avLst>
              <a:gd name="adj" fmla="val 12903"/>
            </a:avLst>
          </a:prstGeom>
          <a:solidFill>
            <a:schemeClr val="bg1"/>
          </a:solidFill>
          <a:ln/>
        </p:spPr>
      </p:sp>
      <p:sp>
        <p:nvSpPr>
          <p:cNvPr id="62" name="card-461"/>
          <p:cNvSpPr/>
          <p:nvPr/>
        </p:nvSpPr>
        <p:spPr>
          <a:xfrm>
            <a:off x="8624164" y="4974336"/>
            <a:ext cx="310896" cy="310896"/>
          </a:xfrm>
          <a:prstGeom prst="roundRect">
            <a:avLst>
              <a:gd name="adj" fmla="val 22000"/>
            </a:avLst>
          </a:prstGeom>
          <a:solidFill>
            <a:schemeClr val="accent1"/>
          </a:solidFill>
          <a:ln/>
        </p:spPr>
      </p:sp>
      <p:pic>
        <p:nvPicPr>
          <p:cNvPr id="63" name="icon-462" descr="Archive icon">    </p:cNvPr>
          <p:cNvPicPr>
            <a:picLocks noChangeAspect="1"/>
          </p:cNvPicPr>
          <p:nvPr/>
        </p:nvPicPr>
        <p:blipFill>
          <a:blip r:embed="rId2"/>
          <a:stretch>
            <a:fillRect/>
          </a:stretch>
        </p:blipFill>
        <p:spPr>
          <a:xfrm>
            <a:off x="8692561" y="5042733"/>
            <a:ext cx="174102" cy="174102"/>
          </a:xfrm>
          <a:prstGeom prst="rect">
            <a:avLst/>
          </a:prstGeom>
        </p:spPr>
      </p:pic>
      <p:sp>
        <p:nvSpPr>
          <p:cNvPr id="64" name="text-463"/>
          <p:cNvSpPr txBox="1"/>
          <p:nvPr/>
        </p:nvSpPr>
        <p:spPr>
          <a:xfrm>
            <a:off x="8989924" y="4846320"/>
            <a:ext cx="795528" cy="566928"/>
          </a:xfrm>
          <a:prstGeom prst="rect">
            <a:avLst/>
          </a:prstGeom>
          <a:noFill/>
          <a:ln/>
        </p:spPr>
        <p:txBody>
          <a:bodyPr wrap="square" lIns="0" tIns="0" rIns="0" bIns="0" rtlCol="0" anchor="ctr"/>
          <a:lstStyle/>
          <a:p>
            <a:pPr indent="0" marL="0">
              <a:buNone/>
            </a:pPr>
            <a:r>
              <a:rPr lang="en-US" sz="1150" b="1" dirty="0">
                <a:solidFill>
                  <a:schemeClr val="tx1"/>
                </a:solidFill>
              </a:rPr>
              <a:t>Cached snapshot</a:t>
            </a:r>
            <a:endParaRPr lang="en-US" sz="1150" dirty="0"/>
          </a:p>
        </p:txBody>
      </p:sp>
      <p:sp>
        <p:nvSpPr>
          <p:cNvPr id="65" name="link-464"/>
          <p:cNvSpPr/>
          <p:nvPr/>
        </p:nvSpPr>
        <p:spPr>
          <a:xfrm>
            <a:off x="9867748" y="5129784"/>
            <a:ext cx="211684" cy="0"/>
          </a:xfrm>
          <a:prstGeom prst="line">
            <a:avLst/>
          </a:prstGeom>
          <a:noFill/>
          <a:ln w="22225">
            <a:solidFill>
              <a:schemeClr val="accent1"/>
            </a:solidFill>
            <a:prstDash val="solid"/>
            <a:tailEnd type="triangle"/>
          </a:ln>
        </p:spPr>
      </p:sp>
      <p:sp>
        <p:nvSpPr>
          <p:cNvPr id="66" name="card-465"/>
          <p:cNvSpPr/>
          <p:nvPr/>
        </p:nvSpPr>
        <p:spPr>
          <a:xfrm>
            <a:off x="10116007" y="4846320"/>
            <a:ext cx="1298448" cy="566928"/>
          </a:xfrm>
          <a:prstGeom prst="roundRect">
            <a:avLst>
              <a:gd name="adj" fmla="val 12903"/>
            </a:avLst>
          </a:prstGeom>
          <a:solidFill>
            <a:schemeClr val="bg1"/>
          </a:solidFill>
          <a:ln/>
        </p:spPr>
      </p:sp>
      <p:sp>
        <p:nvSpPr>
          <p:cNvPr id="67" name="card-466"/>
          <p:cNvSpPr/>
          <p:nvPr/>
        </p:nvSpPr>
        <p:spPr>
          <a:xfrm>
            <a:off x="10207447" y="4974336"/>
            <a:ext cx="310896" cy="310896"/>
          </a:xfrm>
          <a:prstGeom prst="roundRect">
            <a:avLst>
              <a:gd name="adj" fmla="val 22000"/>
            </a:avLst>
          </a:prstGeom>
          <a:solidFill>
            <a:schemeClr val="accent2"/>
          </a:solidFill>
          <a:ln/>
        </p:spPr>
      </p:sp>
      <p:pic>
        <p:nvPicPr>
          <p:cNvPr id="68" name="icon-467" descr="CircleSlash icon">    </p:cNvPr>
          <p:cNvPicPr>
            <a:picLocks noChangeAspect="1"/>
          </p:cNvPicPr>
          <p:nvPr/>
        </p:nvPicPr>
        <p:blipFill>
          <a:blip r:embed="rId3"/>
          <a:stretch>
            <a:fillRect/>
          </a:stretch>
        </p:blipFill>
        <p:spPr>
          <a:xfrm>
            <a:off x="10275844" y="5042733"/>
            <a:ext cx="174102" cy="174102"/>
          </a:xfrm>
          <a:prstGeom prst="rect">
            <a:avLst/>
          </a:prstGeom>
        </p:spPr>
      </p:pic>
      <p:sp>
        <p:nvSpPr>
          <p:cNvPr id="69" name="text-468"/>
          <p:cNvSpPr txBox="1"/>
          <p:nvPr/>
        </p:nvSpPr>
        <p:spPr>
          <a:xfrm>
            <a:off x="10573207" y="4846320"/>
            <a:ext cx="795528" cy="566928"/>
          </a:xfrm>
          <a:prstGeom prst="rect">
            <a:avLst/>
          </a:prstGeom>
          <a:noFill/>
          <a:ln/>
        </p:spPr>
        <p:txBody>
          <a:bodyPr wrap="square" lIns="0" tIns="0" rIns="0" bIns="0" rtlCol="0" anchor="ctr"/>
          <a:lstStyle/>
          <a:p>
            <a:pPr indent="0" marL="0">
              <a:buNone/>
            </a:pPr>
            <a:r>
              <a:rPr lang="en-US" sz="1150" b="1" dirty="0">
                <a:solidFill>
                  <a:schemeClr val="tx1"/>
                </a:solidFill>
              </a:rPr>
              <a:t>Structured unavailable</a:t>
            </a:r>
            <a:endParaRPr lang="en-US" sz="1150" dirty="0"/>
          </a:p>
        </p:txBody>
      </p:sp>
      <p:sp>
        <p:nvSpPr>
          <p:cNvPr id="70" name="text-469"/>
          <p:cNvSpPr txBox="1"/>
          <p:nvPr/>
        </p:nvSpPr>
        <p:spPr>
          <a:xfrm>
            <a:off x="6949440" y="5532120"/>
            <a:ext cx="4465015" cy="457200"/>
          </a:xfrm>
          <a:prstGeom prst="rect">
            <a:avLst/>
          </a:prstGeom>
          <a:noFill/>
          <a:ln/>
        </p:spPr>
        <p:txBody>
          <a:bodyPr wrap="square" lIns="0" tIns="0" rIns="0" bIns="0" rtlCol="0" anchor="t"/>
          <a:lstStyle/>
          <a:p>
            <a:pPr indent="0" marL="0">
              <a:buNone/>
            </a:pPr>
            <a:r>
              <a:rPr lang="en-US" sz="1150" dirty="0">
                <a:solidFill>
                  <a:schemeClr val="tx2"/>
                </a:solidFill>
              </a:rPr>
              <a:t>Never an estimate. Each value keeps source URL, dataset, table, period, retrieval time and a record reference.</a:t>
            </a:r>
            <a:endParaRPr lang="en-US" sz="1150" dirty="0"/>
          </a:p>
        </p:txBody>
      </p:sp>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160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CAUSAL KNOWLEDGE GRAPH</a:t>
            </a:r>
            <a:endParaRPr lang="en-US" sz="1200" dirty="0"/>
          </a:p>
        </p:txBody>
      </p:sp>
      <p:sp>
        <p:nvSpPr>
          <p:cNvPr id="3" name="Text 0"/>
          <p:cNvSpPr/>
          <p:nvPr>
            <p:ph idx="101" type="title" hasCustomPrompt="1"/>
          </p:nvPr>
        </p:nvSpPr>
        <p:spPr>
          <a:xfrm>
            <a:off x="548640" y="676656"/>
            <a:ext cx="11094415" cy="713232"/>
          </a:xfrm>
          <a:prstGeom prst="rect">
            <a:avLst/>
          </a:prstGeom>
          <a:noFill/>
          <a:ln/>
        </p:spPr>
        <p:txBody>
          <a:bodyPr wrap="square" lIns="0" tIns="0" rIns="0" bIns="0" rtlCol="0" anchor="t"/>
          <a:lstStyle/>
          <a:p>
            <a:pPr algn="l" indent="0" marL="0">
              <a:buNone/>
            </a:pPr>
            <a:r>
              <a:rPr lang="en-US" sz="3600" b="1" dirty="0">
                <a:solidFill>
                  <a:schemeClr val="tx1"/>
                </a:solidFill>
              </a:rPr>
              <a:t>20 indicators, 12 typed transmission edges</a:t>
            </a:r>
            <a:endParaRPr lang="en-US" sz="3600" dirty="0"/>
          </a:p>
        </p:txBody>
      </p:sp>
      <p:sp>
        <p:nvSpPr>
          <p:cNvPr id="4" name="link-470"/>
          <p:cNvSpPr/>
          <p:nvPr/>
        </p:nvSpPr>
        <p:spPr>
          <a:xfrm>
            <a:off x="1837944" y="3072384"/>
            <a:ext cx="301752" cy="0"/>
          </a:xfrm>
          <a:prstGeom prst="line">
            <a:avLst/>
          </a:prstGeom>
          <a:noFill/>
          <a:ln w="25400">
            <a:solidFill>
              <a:schemeClr val="accent1"/>
            </a:solidFill>
            <a:prstDash val="solid"/>
            <a:tailEnd type="triangle"/>
          </a:ln>
        </p:spPr>
      </p:sp>
      <p:sp>
        <p:nvSpPr>
          <p:cNvPr id="5" name="text-471"/>
          <p:cNvSpPr txBox="1"/>
          <p:nvPr/>
        </p:nvSpPr>
        <p:spPr>
          <a:xfrm>
            <a:off x="1783080" y="2807208"/>
            <a:ext cx="411480" cy="182880"/>
          </a:xfrm>
          <a:prstGeom prst="rect">
            <a:avLst/>
          </a:prstGeom>
          <a:noFill/>
          <a:ln/>
        </p:spPr>
        <p:txBody>
          <a:bodyPr wrap="square" lIns="0" tIns="0" rIns="0" bIns="0" rtlCol="0" anchor="t"/>
          <a:lstStyle/>
          <a:p>
            <a:pPr algn="ctr" indent="0" marL="0">
              <a:buNone/>
            </a:pPr>
            <a:r>
              <a:rPr lang="en-US" sz="1000" b="1" dirty="0">
                <a:solidFill>
                  <a:schemeClr val="tx2"/>
                </a:solidFill>
              </a:rPr>
              <a:t>+1m</a:t>
            </a:r>
            <a:endParaRPr lang="en-US" sz="1000" dirty="0"/>
          </a:p>
        </p:txBody>
      </p:sp>
      <p:sp>
        <p:nvSpPr>
          <p:cNvPr id="6" name="link-472"/>
          <p:cNvSpPr/>
          <p:nvPr/>
        </p:nvSpPr>
        <p:spPr>
          <a:xfrm>
            <a:off x="3456432" y="3072384"/>
            <a:ext cx="301752" cy="0"/>
          </a:xfrm>
          <a:prstGeom prst="line">
            <a:avLst/>
          </a:prstGeom>
          <a:noFill/>
          <a:ln w="38100">
            <a:solidFill>
              <a:schemeClr val="accent1"/>
            </a:solidFill>
            <a:prstDash val="solid"/>
            <a:tailEnd type="triangle"/>
          </a:ln>
        </p:spPr>
      </p:sp>
      <p:sp>
        <p:nvSpPr>
          <p:cNvPr id="7" name="text-473"/>
          <p:cNvSpPr txBox="1"/>
          <p:nvPr/>
        </p:nvSpPr>
        <p:spPr>
          <a:xfrm>
            <a:off x="3401568" y="2807208"/>
            <a:ext cx="411480" cy="182880"/>
          </a:xfrm>
          <a:prstGeom prst="rect">
            <a:avLst/>
          </a:prstGeom>
          <a:noFill/>
          <a:ln/>
        </p:spPr>
        <p:txBody>
          <a:bodyPr wrap="square" lIns="0" tIns="0" rIns="0" bIns="0" rtlCol="0" anchor="t"/>
          <a:lstStyle/>
          <a:p>
            <a:pPr algn="ctr" indent="0" marL="0">
              <a:buNone/>
            </a:pPr>
            <a:r>
              <a:rPr lang="en-US" sz="1000" b="1" dirty="0">
                <a:solidFill>
                  <a:schemeClr val="tx2"/>
                </a:solidFill>
              </a:rPr>
              <a:t>+2m</a:t>
            </a:r>
            <a:endParaRPr lang="en-US" sz="1000" dirty="0"/>
          </a:p>
        </p:txBody>
      </p:sp>
      <p:sp>
        <p:nvSpPr>
          <p:cNvPr id="8" name="link-474"/>
          <p:cNvSpPr/>
          <p:nvPr/>
        </p:nvSpPr>
        <p:spPr>
          <a:xfrm>
            <a:off x="5074920" y="3072384"/>
            <a:ext cx="301752" cy="0"/>
          </a:xfrm>
          <a:prstGeom prst="line">
            <a:avLst/>
          </a:prstGeom>
          <a:noFill/>
          <a:ln w="44450">
            <a:solidFill>
              <a:schemeClr val="tx1"/>
            </a:solidFill>
            <a:prstDash val="solid"/>
            <a:tailEnd type="triangle"/>
          </a:ln>
        </p:spPr>
      </p:sp>
      <p:sp>
        <p:nvSpPr>
          <p:cNvPr id="9" name="text-475"/>
          <p:cNvSpPr txBox="1"/>
          <p:nvPr/>
        </p:nvSpPr>
        <p:spPr>
          <a:xfrm>
            <a:off x="5020056" y="2807208"/>
            <a:ext cx="411480" cy="182880"/>
          </a:xfrm>
          <a:prstGeom prst="rect">
            <a:avLst/>
          </a:prstGeom>
          <a:noFill/>
          <a:ln/>
        </p:spPr>
        <p:txBody>
          <a:bodyPr wrap="square" lIns="0" tIns="0" rIns="0" bIns="0" rtlCol="0" anchor="t"/>
          <a:lstStyle/>
          <a:p>
            <a:pPr algn="ctr" indent="0" marL="0">
              <a:buNone/>
            </a:pPr>
            <a:r>
              <a:rPr lang="en-US" sz="1000" b="1" dirty="0">
                <a:solidFill>
                  <a:schemeClr val="tx2"/>
                </a:solidFill>
              </a:rPr>
              <a:t>+1m</a:t>
            </a:r>
            <a:endParaRPr lang="en-US" sz="1000" dirty="0"/>
          </a:p>
        </p:txBody>
      </p:sp>
      <p:sp>
        <p:nvSpPr>
          <p:cNvPr id="10" name="link-476"/>
          <p:cNvSpPr/>
          <p:nvPr/>
        </p:nvSpPr>
        <p:spPr>
          <a:xfrm>
            <a:off x="6693408" y="3072384"/>
            <a:ext cx="301752" cy="0"/>
          </a:xfrm>
          <a:prstGeom prst="line">
            <a:avLst/>
          </a:prstGeom>
          <a:noFill/>
          <a:ln w="38100">
            <a:solidFill>
              <a:schemeClr val="accent1"/>
            </a:solidFill>
            <a:prstDash val="solid"/>
            <a:tailEnd type="triangle"/>
          </a:ln>
        </p:spPr>
      </p:sp>
      <p:sp>
        <p:nvSpPr>
          <p:cNvPr id="11" name="text-477"/>
          <p:cNvSpPr txBox="1"/>
          <p:nvPr/>
        </p:nvSpPr>
        <p:spPr>
          <a:xfrm>
            <a:off x="6638544" y="2807208"/>
            <a:ext cx="411480" cy="182880"/>
          </a:xfrm>
          <a:prstGeom prst="rect">
            <a:avLst/>
          </a:prstGeom>
          <a:noFill/>
          <a:ln/>
        </p:spPr>
        <p:txBody>
          <a:bodyPr wrap="square" lIns="0" tIns="0" rIns="0" bIns="0" rtlCol="0" anchor="t"/>
          <a:lstStyle/>
          <a:p>
            <a:pPr algn="ctr" indent="0" marL="0">
              <a:buNone/>
            </a:pPr>
            <a:r>
              <a:rPr lang="en-US" sz="1000" b="1" dirty="0">
                <a:solidFill>
                  <a:schemeClr val="tx2"/>
                </a:solidFill>
              </a:rPr>
              <a:t>−3m</a:t>
            </a:r>
            <a:endParaRPr lang="en-US" sz="1000" dirty="0"/>
          </a:p>
        </p:txBody>
      </p:sp>
      <p:sp>
        <p:nvSpPr>
          <p:cNvPr id="12" name="link-478"/>
          <p:cNvSpPr/>
          <p:nvPr/>
        </p:nvSpPr>
        <p:spPr>
          <a:xfrm>
            <a:off x="8311896" y="3072384"/>
            <a:ext cx="301752" cy="0"/>
          </a:xfrm>
          <a:prstGeom prst="line">
            <a:avLst/>
          </a:prstGeom>
          <a:noFill/>
          <a:ln w="15875">
            <a:solidFill>
              <a:schemeClr val="accent1"/>
            </a:solidFill>
            <a:prstDash val="solid"/>
            <a:tailEnd type="triangle"/>
          </a:ln>
        </p:spPr>
      </p:sp>
      <p:sp>
        <p:nvSpPr>
          <p:cNvPr id="13" name="text-479"/>
          <p:cNvSpPr txBox="1"/>
          <p:nvPr/>
        </p:nvSpPr>
        <p:spPr>
          <a:xfrm>
            <a:off x="8257032" y="2807208"/>
            <a:ext cx="411480" cy="182880"/>
          </a:xfrm>
          <a:prstGeom prst="rect">
            <a:avLst/>
          </a:prstGeom>
          <a:noFill/>
          <a:ln/>
        </p:spPr>
        <p:txBody>
          <a:bodyPr wrap="square" lIns="0" tIns="0" rIns="0" bIns="0" rtlCol="0" anchor="t"/>
          <a:lstStyle/>
          <a:p>
            <a:pPr algn="ctr" indent="0" marL="0">
              <a:buNone/>
            </a:pPr>
            <a:r>
              <a:rPr lang="en-US" sz="1000" b="1" dirty="0">
                <a:solidFill>
                  <a:schemeClr val="tx2"/>
                </a:solidFill>
              </a:rPr>
              <a:t>+2m</a:t>
            </a:r>
            <a:endParaRPr lang="en-US" sz="1000" dirty="0"/>
          </a:p>
        </p:txBody>
      </p:sp>
      <p:sp>
        <p:nvSpPr>
          <p:cNvPr id="14" name="link-480"/>
          <p:cNvSpPr/>
          <p:nvPr/>
        </p:nvSpPr>
        <p:spPr>
          <a:xfrm>
            <a:off x="9930384" y="3072384"/>
            <a:ext cx="301752" cy="0"/>
          </a:xfrm>
          <a:prstGeom prst="line">
            <a:avLst/>
          </a:prstGeom>
          <a:noFill/>
          <a:ln w="44450">
            <a:solidFill>
              <a:schemeClr val="tx1"/>
            </a:solidFill>
            <a:prstDash val="solid"/>
            <a:tailEnd type="triangle"/>
          </a:ln>
        </p:spPr>
      </p:sp>
      <p:sp>
        <p:nvSpPr>
          <p:cNvPr id="15" name="text-481"/>
          <p:cNvSpPr txBox="1"/>
          <p:nvPr/>
        </p:nvSpPr>
        <p:spPr>
          <a:xfrm>
            <a:off x="9875520" y="2807208"/>
            <a:ext cx="411480" cy="182880"/>
          </a:xfrm>
          <a:prstGeom prst="rect">
            <a:avLst/>
          </a:prstGeom>
          <a:noFill/>
          <a:ln/>
        </p:spPr>
        <p:txBody>
          <a:bodyPr wrap="square" lIns="0" tIns="0" rIns="0" bIns="0" rtlCol="0" anchor="t"/>
          <a:lstStyle/>
          <a:p>
            <a:pPr algn="ctr" indent="0" marL="0">
              <a:buNone/>
            </a:pPr>
            <a:r>
              <a:rPr lang="en-US" sz="1000" b="1" dirty="0">
                <a:solidFill>
                  <a:schemeClr val="tx2"/>
                </a:solidFill>
              </a:rPr>
              <a:t>+1m</a:t>
            </a:r>
            <a:endParaRPr lang="en-US" sz="1000" dirty="0"/>
          </a:p>
        </p:txBody>
      </p:sp>
      <p:sp>
        <p:nvSpPr>
          <p:cNvPr id="16" name="link-482"/>
          <p:cNvSpPr/>
          <p:nvPr/>
        </p:nvSpPr>
        <p:spPr>
          <a:xfrm flipV="1">
            <a:off x="1581912" y="2258568"/>
            <a:ext cx="813816" cy="530352"/>
          </a:xfrm>
          <a:prstGeom prst="line">
            <a:avLst/>
          </a:prstGeom>
          <a:noFill/>
          <a:ln w="15875">
            <a:solidFill>
              <a:schemeClr val="tx2"/>
            </a:solidFill>
            <a:prstDash val="dash"/>
            <a:tailEnd type="triangle"/>
          </a:ln>
        </p:spPr>
      </p:sp>
      <p:sp>
        <p:nvSpPr>
          <p:cNvPr id="17" name="text-483"/>
          <p:cNvSpPr txBox="1"/>
          <p:nvPr/>
        </p:nvSpPr>
        <p:spPr>
          <a:xfrm>
            <a:off x="2043684" y="2505456"/>
            <a:ext cx="411480" cy="182880"/>
          </a:xfrm>
          <a:prstGeom prst="rect">
            <a:avLst/>
          </a:prstGeom>
          <a:noFill/>
          <a:ln/>
        </p:spPr>
        <p:txBody>
          <a:bodyPr wrap="square" lIns="0" tIns="0" rIns="0" bIns="0" rtlCol="0" anchor="t"/>
          <a:lstStyle/>
          <a:p>
            <a:pPr indent="0" marL="0">
              <a:buNone/>
            </a:pPr>
            <a:r>
              <a:rPr lang="en-US" sz="1000" b="1" dirty="0">
                <a:solidFill>
                  <a:schemeClr val="tx2"/>
                </a:solidFill>
              </a:rPr>
              <a:t>−1m</a:t>
            </a:r>
            <a:endParaRPr lang="en-US" sz="1000" dirty="0"/>
          </a:p>
        </p:txBody>
      </p:sp>
      <p:sp>
        <p:nvSpPr>
          <p:cNvPr id="18" name="link-484"/>
          <p:cNvSpPr/>
          <p:nvPr/>
        </p:nvSpPr>
        <p:spPr>
          <a:xfrm>
            <a:off x="3456432" y="1975104"/>
            <a:ext cx="301752" cy="0"/>
          </a:xfrm>
          <a:prstGeom prst="line">
            <a:avLst/>
          </a:prstGeom>
          <a:noFill/>
          <a:ln w="15875">
            <a:solidFill>
              <a:schemeClr val="accent4"/>
            </a:solidFill>
            <a:prstDash val="solid"/>
            <a:tailEnd type="triangle"/>
          </a:ln>
        </p:spPr>
      </p:sp>
      <p:sp>
        <p:nvSpPr>
          <p:cNvPr id="19" name="text-485"/>
          <p:cNvSpPr txBox="1"/>
          <p:nvPr/>
        </p:nvSpPr>
        <p:spPr>
          <a:xfrm>
            <a:off x="3401568" y="1709928"/>
            <a:ext cx="411480" cy="182880"/>
          </a:xfrm>
          <a:prstGeom prst="rect">
            <a:avLst/>
          </a:prstGeom>
          <a:noFill/>
          <a:ln/>
        </p:spPr>
        <p:txBody>
          <a:bodyPr wrap="square" lIns="0" tIns="0" rIns="0" bIns="0" rtlCol="0" anchor="t"/>
          <a:lstStyle/>
          <a:p>
            <a:pPr algn="ctr" indent="0" marL="0">
              <a:buNone/>
            </a:pPr>
            <a:r>
              <a:rPr lang="en-US" sz="1000" b="1" dirty="0">
                <a:solidFill>
                  <a:schemeClr val="accent4"/>
                </a:solidFill>
              </a:rPr>
              <a:t>+1m</a:t>
            </a:r>
            <a:endParaRPr lang="en-US" sz="1000" dirty="0"/>
          </a:p>
        </p:txBody>
      </p:sp>
      <p:sp>
        <p:nvSpPr>
          <p:cNvPr id="20" name="link-486"/>
          <p:cNvSpPr/>
          <p:nvPr/>
        </p:nvSpPr>
        <p:spPr>
          <a:xfrm flipV="1">
            <a:off x="6437376" y="2258568"/>
            <a:ext cx="813816" cy="530352"/>
          </a:xfrm>
          <a:prstGeom prst="line">
            <a:avLst/>
          </a:prstGeom>
          <a:noFill/>
          <a:ln w="25400">
            <a:solidFill>
              <a:schemeClr val="accent1"/>
            </a:solidFill>
            <a:prstDash val="solid"/>
            <a:tailEnd type="triangle"/>
          </a:ln>
        </p:spPr>
      </p:sp>
      <p:sp>
        <p:nvSpPr>
          <p:cNvPr id="21" name="text-487"/>
          <p:cNvSpPr txBox="1"/>
          <p:nvPr/>
        </p:nvSpPr>
        <p:spPr>
          <a:xfrm>
            <a:off x="6899148" y="2505456"/>
            <a:ext cx="411480" cy="182880"/>
          </a:xfrm>
          <a:prstGeom prst="rect">
            <a:avLst/>
          </a:prstGeom>
          <a:noFill/>
          <a:ln/>
        </p:spPr>
        <p:txBody>
          <a:bodyPr wrap="square" lIns="0" tIns="0" rIns="0" bIns="0" rtlCol="0" anchor="t"/>
          <a:lstStyle/>
          <a:p>
            <a:pPr indent="0" marL="0">
              <a:buNone/>
            </a:pPr>
            <a:r>
              <a:rPr lang="en-US" sz="1000" b="1" dirty="0">
                <a:solidFill>
                  <a:schemeClr val="tx2"/>
                </a:solidFill>
              </a:rPr>
              <a:t>−1m</a:t>
            </a:r>
            <a:endParaRPr lang="en-US" sz="1000" dirty="0"/>
          </a:p>
        </p:txBody>
      </p:sp>
      <p:sp>
        <p:nvSpPr>
          <p:cNvPr id="22" name="link-488"/>
          <p:cNvSpPr/>
          <p:nvPr/>
        </p:nvSpPr>
        <p:spPr>
          <a:xfrm>
            <a:off x="8311896" y="4169664"/>
            <a:ext cx="301752" cy="0"/>
          </a:xfrm>
          <a:prstGeom prst="line">
            <a:avLst/>
          </a:prstGeom>
          <a:noFill/>
          <a:ln w="15875">
            <a:solidFill>
              <a:schemeClr val="tx2"/>
            </a:solidFill>
            <a:prstDash val="dash"/>
            <a:tailEnd type="triangle"/>
          </a:ln>
        </p:spPr>
      </p:sp>
      <p:sp>
        <p:nvSpPr>
          <p:cNvPr id="23" name="text-489"/>
          <p:cNvSpPr txBox="1"/>
          <p:nvPr/>
        </p:nvSpPr>
        <p:spPr>
          <a:xfrm>
            <a:off x="8257032" y="3904488"/>
            <a:ext cx="411480" cy="182880"/>
          </a:xfrm>
          <a:prstGeom prst="rect">
            <a:avLst/>
          </a:prstGeom>
          <a:noFill/>
          <a:ln/>
        </p:spPr>
        <p:txBody>
          <a:bodyPr wrap="square" lIns="0" tIns="0" rIns="0" bIns="0" rtlCol="0" anchor="t"/>
          <a:lstStyle/>
          <a:p>
            <a:pPr algn="ctr" indent="0" marL="0">
              <a:buNone/>
            </a:pPr>
            <a:r>
              <a:rPr lang="en-US" sz="1000" b="1" dirty="0">
                <a:solidFill>
                  <a:schemeClr val="tx2"/>
                </a:solidFill>
              </a:rPr>
              <a:t>+2m</a:t>
            </a:r>
            <a:endParaRPr lang="en-US" sz="1000" dirty="0"/>
          </a:p>
        </p:txBody>
      </p:sp>
      <p:sp>
        <p:nvSpPr>
          <p:cNvPr id="24" name="link-490"/>
          <p:cNvSpPr/>
          <p:nvPr/>
        </p:nvSpPr>
        <p:spPr>
          <a:xfrm>
            <a:off x="1837944" y="4169664"/>
            <a:ext cx="301752" cy="0"/>
          </a:xfrm>
          <a:prstGeom prst="line">
            <a:avLst/>
          </a:prstGeom>
          <a:noFill/>
          <a:ln w="15875">
            <a:solidFill>
              <a:schemeClr val="tx2"/>
            </a:solidFill>
            <a:prstDash val="dash"/>
            <a:tailEnd type="triangle"/>
          </a:ln>
        </p:spPr>
      </p:sp>
      <p:sp>
        <p:nvSpPr>
          <p:cNvPr id="25" name="text-491"/>
          <p:cNvSpPr txBox="1"/>
          <p:nvPr/>
        </p:nvSpPr>
        <p:spPr>
          <a:xfrm>
            <a:off x="1783080" y="3904488"/>
            <a:ext cx="411480" cy="182880"/>
          </a:xfrm>
          <a:prstGeom prst="rect">
            <a:avLst/>
          </a:prstGeom>
          <a:noFill/>
          <a:ln/>
        </p:spPr>
        <p:txBody>
          <a:bodyPr wrap="square" lIns="0" tIns="0" rIns="0" bIns="0" rtlCol="0" anchor="t"/>
          <a:lstStyle/>
          <a:p>
            <a:pPr algn="ctr" indent="0" marL="0">
              <a:buNone/>
            </a:pPr>
            <a:r>
              <a:rPr lang="en-US" sz="1000" b="1" dirty="0">
                <a:solidFill>
                  <a:schemeClr val="tx2"/>
                </a:solidFill>
              </a:rPr>
              <a:t>+3m</a:t>
            </a:r>
            <a:endParaRPr lang="en-US" sz="1000" dirty="0"/>
          </a:p>
        </p:txBody>
      </p:sp>
      <p:sp>
        <p:nvSpPr>
          <p:cNvPr id="26" name="link-492"/>
          <p:cNvSpPr/>
          <p:nvPr/>
        </p:nvSpPr>
        <p:spPr>
          <a:xfrm>
            <a:off x="3456432" y="4169664"/>
            <a:ext cx="301752" cy="0"/>
          </a:xfrm>
          <a:prstGeom prst="line">
            <a:avLst/>
          </a:prstGeom>
          <a:noFill/>
          <a:ln w="15875">
            <a:solidFill>
              <a:schemeClr val="accent1"/>
            </a:solidFill>
            <a:prstDash val="solid"/>
            <a:tailEnd type="triangle"/>
          </a:ln>
        </p:spPr>
      </p:sp>
      <p:sp>
        <p:nvSpPr>
          <p:cNvPr id="27" name="text-493"/>
          <p:cNvSpPr txBox="1"/>
          <p:nvPr/>
        </p:nvSpPr>
        <p:spPr>
          <a:xfrm>
            <a:off x="3401568" y="3904488"/>
            <a:ext cx="411480" cy="182880"/>
          </a:xfrm>
          <a:prstGeom prst="rect">
            <a:avLst/>
          </a:prstGeom>
          <a:noFill/>
          <a:ln/>
        </p:spPr>
        <p:txBody>
          <a:bodyPr wrap="square" lIns="0" tIns="0" rIns="0" bIns="0" rtlCol="0" anchor="t"/>
          <a:lstStyle/>
          <a:p>
            <a:pPr algn="ctr" indent="0" marL="0">
              <a:buNone/>
            </a:pPr>
            <a:r>
              <a:rPr lang="en-US" sz="1000" b="1" dirty="0">
                <a:solidFill>
                  <a:schemeClr val="tx2"/>
                </a:solidFill>
              </a:rPr>
              <a:t>−2m</a:t>
            </a:r>
            <a:endParaRPr lang="en-US" sz="1000" dirty="0"/>
          </a:p>
        </p:txBody>
      </p:sp>
      <p:sp>
        <p:nvSpPr>
          <p:cNvPr id="28" name="kg-node-brent"/>
          <p:cNvSpPr/>
          <p:nvPr/>
        </p:nvSpPr>
        <p:spPr>
          <a:xfrm>
            <a:off x="548640" y="2788920"/>
            <a:ext cx="1261872" cy="566928"/>
          </a:xfrm>
          <a:prstGeom prst="roundRect">
            <a:avLst>
              <a:gd name="adj" fmla="val 16129"/>
            </a:avLst>
          </a:prstGeom>
          <a:solidFill>
            <a:schemeClr val="accent2"/>
          </a:solidFill>
          <a:ln w="15875">
            <a:solidFill>
              <a:schemeClr val="accent2"/>
            </a:solidFill>
            <a:prstDash val="solid"/>
          </a:ln>
        </p:spPr>
      </p:sp>
      <p:sp>
        <p:nvSpPr>
          <p:cNvPr id="29" name="text-495"/>
          <p:cNvSpPr txBox="1"/>
          <p:nvPr/>
        </p:nvSpPr>
        <p:spPr>
          <a:xfrm>
            <a:off x="594360" y="2788920"/>
            <a:ext cx="1170432" cy="566928"/>
          </a:xfrm>
          <a:prstGeom prst="rect">
            <a:avLst/>
          </a:prstGeom>
          <a:noFill/>
          <a:ln/>
        </p:spPr>
        <p:txBody>
          <a:bodyPr wrap="square" lIns="0" tIns="0" rIns="0" bIns="0" rtlCol="0" anchor="ctr"/>
          <a:lstStyle/>
          <a:p>
            <a:pPr algn="ctr" indent="0" marL="0">
              <a:buNone/>
            </a:pPr>
            <a:r>
              <a:rPr lang="en-US" sz="1200" b="1" dirty="0">
                <a:solidFill>
                  <a:schemeClr val="tx1"/>
                </a:solidFill>
              </a:rPr>
              <a:t>Brent crude</a:t>
            </a:r>
            <a:endParaRPr lang="en-US" sz="1200" dirty="0"/>
          </a:p>
        </p:txBody>
      </p:sp>
      <p:sp>
        <p:nvSpPr>
          <p:cNvPr id="30" name="kg-node-wpi"/>
          <p:cNvSpPr/>
          <p:nvPr/>
        </p:nvSpPr>
        <p:spPr>
          <a:xfrm>
            <a:off x="2167128" y="2788920"/>
            <a:ext cx="1261872" cy="566928"/>
          </a:xfrm>
          <a:prstGeom prst="roundRect">
            <a:avLst>
              <a:gd name="adj" fmla="val 16129"/>
            </a:avLst>
          </a:prstGeom>
          <a:solidFill>
            <a:schemeClr val="bg1"/>
          </a:solidFill>
          <a:ln w="15875">
            <a:solidFill>
              <a:schemeClr val="accent1"/>
            </a:solidFill>
            <a:prstDash val="solid"/>
          </a:ln>
        </p:spPr>
      </p:sp>
      <p:sp>
        <p:nvSpPr>
          <p:cNvPr id="31" name="text-497"/>
          <p:cNvSpPr txBox="1"/>
          <p:nvPr/>
        </p:nvSpPr>
        <p:spPr>
          <a:xfrm>
            <a:off x="2212848" y="2788920"/>
            <a:ext cx="1170432" cy="566928"/>
          </a:xfrm>
          <a:prstGeom prst="rect">
            <a:avLst/>
          </a:prstGeom>
          <a:noFill/>
          <a:ln/>
        </p:spPr>
        <p:txBody>
          <a:bodyPr wrap="square" lIns="0" tIns="0" rIns="0" bIns="0" rtlCol="0" anchor="ctr"/>
          <a:lstStyle/>
          <a:p>
            <a:pPr algn="ctr" indent="0" marL="0">
              <a:buNone/>
            </a:pPr>
            <a:r>
              <a:rPr lang="en-US" sz="1200" b="1" dirty="0">
                <a:solidFill>
                  <a:schemeClr val="tx1"/>
                </a:solidFill>
              </a:rPr>
              <a:t>WPI inflation</a:t>
            </a:r>
            <a:endParaRPr lang="en-US" sz="1200" dirty="0"/>
          </a:p>
        </p:txBody>
      </p:sp>
      <p:sp>
        <p:nvSpPr>
          <p:cNvPr id="32" name="kg-node-cpi"/>
          <p:cNvSpPr/>
          <p:nvPr/>
        </p:nvSpPr>
        <p:spPr>
          <a:xfrm>
            <a:off x="3785616" y="2788920"/>
            <a:ext cx="1261872" cy="566928"/>
          </a:xfrm>
          <a:prstGeom prst="roundRect">
            <a:avLst>
              <a:gd name="adj" fmla="val 16129"/>
            </a:avLst>
          </a:prstGeom>
          <a:solidFill>
            <a:schemeClr val="bg1"/>
          </a:solidFill>
          <a:ln w="15875">
            <a:solidFill>
              <a:schemeClr val="accent1"/>
            </a:solidFill>
            <a:prstDash val="solid"/>
          </a:ln>
        </p:spPr>
      </p:sp>
      <p:sp>
        <p:nvSpPr>
          <p:cNvPr id="33" name="text-499"/>
          <p:cNvSpPr txBox="1"/>
          <p:nvPr/>
        </p:nvSpPr>
        <p:spPr>
          <a:xfrm>
            <a:off x="3831336" y="2788920"/>
            <a:ext cx="1170432" cy="566928"/>
          </a:xfrm>
          <a:prstGeom prst="rect">
            <a:avLst/>
          </a:prstGeom>
          <a:noFill/>
          <a:ln/>
        </p:spPr>
        <p:txBody>
          <a:bodyPr wrap="square" lIns="0" tIns="0" rIns="0" bIns="0" rtlCol="0" anchor="ctr"/>
          <a:lstStyle/>
          <a:p>
            <a:pPr algn="ctr" indent="0" marL="0">
              <a:buNone/>
            </a:pPr>
            <a:r>
              <a:rPr lang="en-US" sz="1200" b="1" dirty="0">
                <a:solidFill>
                  <a:schemeClr val="tx1"/>
                </a:solidFill>
              </a:rPr>
              <a:t>CPI headline</a:t>
            </a:r>
            <a:endParaRPr lang="en-US" sz="1200" dirty="0"/>
          </a:p>
        </p:txBody>
      </p:sp>
      <p:sp>
        <p:nvSpPr>
          <p:cNvPr id="34" name="kg-node-repo"/>
          <p:cNvSpPr/>
          <p:nvPr/>
        </p:nvSpPr>
        <p:spPr>
          <a:xfrm>
            <a:off x="5404104" y="2788920"/>
            <a:ext cx="1261872" cy="566928"/>
          </a:xfrm>
          <a:prstGeom prst="roundRect">
            <a:avLst>
              <a:gd name="adj" fmla="val 16129"/>
            </a:avLst>
          </a:prstGeom>
          <a:solidFill>
            <a:schemeClr val="bg1"/>
          </a:solidFill>
          <a:ln w="15875">
            <a:solidFill>
              <a:schemeClr val="accent1"/>
            </a:solidFill>
            <a:prstDash val="solid"/>
          </a:ln>
        </p:spPr>
      </p:sp>
      <p:sp>
        <p:nvSpPr>
          <p:cNvPr id="35" name="text-501"/>
          <p:cNvSpPr txBox="1"/>
          <p:nvPr/>
        </p:nvSpPr>
        <p:spPr>
          <a:xfrm>
            <a:off x="5449824" y="2788920"/>
            <a:ext cx="1170432" cy="566928"/>
          </a:xfrm>
          <a:prstGeom prst="rect">
            <a:avLst/>
          </a:prstGeom>
          <a:noFill/>
          <a:ln/>
        </p:spPr>
        <p:txBody>
          <a:bodyPr wrap="square" lIns="0" tIns="0" rIns="0" bIns="0" rtlCol="0" anchor="ctr"/>
          <a:lstStyle/>
          <a:p>
            <a:pPr algn="ctr" indent="0" marL="0">
              <a:buNone/>
            </a:pPr>
            <a:r>
              <a:rPr lang="en-US" sz="1200" b="1" dirty="0">
                <a:solidFill>
                  <a:schemeClr val="tx1"/>
                </a:solidFill>
              </a:rPr>
              <a:t>Repo rate</a:t>
            </a:r>
            <a:endParaRPr lang="en-US" sz="1200" dirty="0"/>
          </a:p>
        </p:txBody>
      </p:sp>
      <p:sp>
        <p:nvSpPr>
          <p:cNvPr id="36" name="kg-node-credit"/>
          <p:cNvSpPr/>
          <p:nvPr/>
        </p:nvSpPr>
        <p:spPr>
          <a:xfrm>
            <a:off x="7022592" y="2788920"/>
            <a:ext cx="1261872" cy="566928"/>
          </a:xfrm>
          <a:prstGeom prst="roundRect">
            <a:avLst>
              <a:gd name="adj" fmla="val 16129"/>
            </a:avLst>
          </a:prstGeom>
          <a:solidFill>
            <a:schemeClr val="bg1"/>
          </a:solidFill>
          <a:ln w="15875">
            <a:solidFill>
              <a:schemeClr val="accent1"/>
            </a:solidFill>
            <a:prstDash val="solid"/>
          </a:ln>
        </p:spPr>
      </p:sp>
      <p:sp>
        <p:nvSpPr>
          <p:cNvPr id="37" name="text-503"/>
          <p:cNvSpPr txBox="1"/>
          <p:nvPr/>
        </p:nvSpPr>
        <p:spPr>
          <a:xfrm>
            <a:off x="7068312" y="2788920"/>
            <a:ext cx="1170432" cy="566928"/>
          </a:xfrm>
          <a:prstGeom prst="rect">
            <a:avLst/>
          </a:prstGeom>
          <a:noFill/>
          <a:ln/>
        </p:spPr>
        <p:txBody>
          <a:bodyPr wrap="square" lIns="0" tIns="0" rIns="0" bIns="0" rtlCol="0" anchor="ctr"/>
          <a:lstStyle/>
          <a:p>
            <a:pPr algn="ctr" indent="0" marL="0">
              <a:buNone/>
            </a:pPr>
            <a:r>
              <a:rPr lang="en-US" sz="1200" b="1" dirty="0">
                <a:solidFill>
                  <a:schemeClr val="tx1"/>
                </a:solidFill>
              </a:rPr>
              <a:t>Bank credit growth</a:t>
            </a:r>
            <a:endParaRPr lang="en-US" sz="1200" dirty="0"/>
          </a:p>
        </p:txBody>
      </p:sp>
      <p:sp>
        <p:nvSpPr>
          <p:cNvPr id="38" name="kg-node-iip"/>
          <p:cNvSpPr/>
          <p:nvPr/>
        </p:nvSpPr>
        <p:spPr>
          <a:xfrm>
            <a:off x="8641080" y="2788920"/>
            <a:ext cx="1261872" cy="566928"/>
          </a:xfrm>
          <a:prstGeom prst="roundRect">
            <a:avLst>
              <a:gd name="adj" fmla="val 16129"/>
            </a:avLst>
          </a:prstGeom>
          <a:solidFill>
            <a:schemeClr val="bg1"/>
          </a:solidFill>
          <a:ln w="15875">
            <a:solidFill>
              <a:schemeClr val="accent1"/>
            </a:solidFill>
            <a:prstDash val="solid"/>
          </a:ln>
        </p:spPr>
      </p:sp>
      <p:sp>
        <p:nvSpPr>
          <p:cNvPr id="39" name="text-505"/>
          <p:cNvSpPr txBox="1"/>
          <p:nvPr/>
        </p:nvSpPr>
        <p:spPr>
          <a:xfrm>
            <a:off x="8686800" y="2788920"/>
            <a:ext cx="1170432" cy="566928"/>
          </a:xfrm>
          <a:prstGeom prst="rect">
            <a:avLst/>
          </a:prstGeom>
          <a:noFill/>
          <a:ln/>
        </p:spPr>
        <p:txBody>
          <a:bodyPr wrap="square" lIns="0" tIns="0" rIns="0" bIns="0" rtlCol="0" anchor="ctr"/>
          <a:lstStyle/>
          <a:p>
            <a:pPr algn="ctr" indent="0" marL="0">
              <a:buNone/>
            </a:pPr>
            <a:r>
              <a:rPr lang="en-US" sz="1200" b="1" dirty="0">
                <a:solidFill>
                  <a:schemeClr val="tx1"/>
                </a:solidFill>
              </a:rPr>
              <a:t>IIP growth</a:t>
            </a:r>
            <a:endParaRPr lang="en-US" sz="1200" dirty="0"/>
          </a:p>
        </p:txBody>
      </p:sp>
      <p:sp>
        <p:nvSpPr>
          <p:cNvPr id="40" name="kg-node-gdp"/>
          <p:cNvSpPr/>
          <p:nvPr/>
        </p:nvSpPr>
        <p:spPr>
          <a:xfrm>
            <a:off x="10259568" y="2788920"/>
            <a:ext cx="1261872" cy="566928"/>
          </a:xfrm>
          <a:prstGeom prst="roundRect">
            <a:avLst>
              <a:gd name="adj" fmla="val 16129"/>
            </a:avLst>
          </a:prstGeom>
          <a:solidFill>
            <a:schemeClr val="bg1"/>
          </a:solidFill>
          <a:ln w="15875">
            <a:solidFill>
              <a:schemeClr val="accent1"/>
            </a:solidFill>
            <a:prstDash val="solid"/>
          </a:ln>
        </p:spPr>
      </p:sp>
      <p:sp>
        <p:nvSpPr>
          <p:cNvPr id="41" name="text-507"/>
          <p:cNvSpPr txBox="1"/>
          <p:nvPr/>
        </p:nvSpPr>
        <p:spPr>
          <a:xfrm>
            <a:off x="10305288" y="2788920"/>
            <a:ext cx="1170432" cy="566928"/>
          </a:xfrm>
          <a:prstGeom prst="rect">
            <a:avLst/>
          </a:prstGeom>
          <a:noFill/>
          <a:ln/>
        </p:spPr>
        <p:txBody>
          <a:bodyPr wrap="square" lIns="0" tIns="0" rIns="0" bIns="0" rtlCol="0" anchor="ctr"/>
          <a:lstStyle/>
          <a:p>
            <a:pPr algn="ctr" indent="0" marL="0">
              <a:buNone/>
            </a:pPr>
            <a:r>
              <a:rPr lang="en-US" sz="1200" b="1" dirty="0">
                <a:solidFill>
                  <a:schemeClr val="tx1"/>
                </a:solidFill>
              </a:rPr>
              <a:t>GDP growth</a:t>
            </a:r>
            <a:endParaRPr lang="en-US" sz="1200" dirty="0"/>
          </a:p>
        </p:txBody>
      </p:sp>
      <p:sp>
        <p:nvSpPr>
          <p:cNvPr id="42" name="kg-node-trade"/>
          <p:cNvSpPr/>
          <p:nvPr/>
        </p:nvSpPr>
        <p:spPr>
          <a:xfrm>
            <a:off x="2167128" y="1691640"/>
            <a:ext cx="1261872" cy="566928"/>
          </a:xfrm>
          <a:prstGeom prst="roundRect">
            <a:avLst>
              <a:gd name="adj" fmla="val 16129"/>
            </a:avLst>
          </a:prstGeom>
          <a:solidFill>
            <a:schemeClr val="bg1"/>
          </a:solidFill>
          <a:ln w="15875">
            <a:solidFill>
              <a:schemeClr val="accent1"/>
            </a:solidFill>
            <a:prstDash val="solid"/>
          </a:ln>
        </p:spPr>
      </p:sp>
      <p:sp>
        <p:nvSpPr>
          <p:cNvPr id="43" name="text-509"/>
          <p:cNvSpPr txBox="1"/>
          <p:nvPr/>
        </p:nvSpPr>
        <p:spPr>
          <a:xfrm>
            <a:off x="2212848" y="1691640"/>
            <a:ext cx="1170432" cy="566928"/>
          </a:xfrm>
          <a:prstGeom prst="rect">
            <a:avLst/>
          </a:prstGeom>
          <a:noFill/>
          <a:ln/>
        </p:spPr>
        <p:txBody>
          <a:bodyPr wrap="square" lIns="0" tIns="0" rIns="0" bIns="0" rtlCol="0" anchor="ctr"/>
          <a:lstStyle/>
          <a:p>
            <a:pPr algn="ctr" indent="0" marL="0">
              <a:buNone/>
            </a:pPr>
            <a:r>
              <a:rPr lang="en-US" sz="1200" b="1" dirty="0">
                <a:solidFill>
                  <a:schemeClr val="tx1"/>
                </a:solidFill>
              </a:rPr>
              <a:t>Trade balance</a:t>
            </a:r>
            <a:endParaRPr lang="en-US" sz="1200" dirty="0"/>
          </a:p>
        </p:txBody>
      </p:sp>
      <p:sp>
        <p:nvSpPr>
          <p:cNvPr id="44" name="kg-node-usdinr"/>
          <p:cNvSpPr/>
          <p:nvPr/>
        </p:nvSpPr>
        <p:spPr>
          <a:xfrm>
            <a:off x="3785616" y="1691640"/>
            <a:ext cx="1261872" cy="566928"/>
          </a:xfrm>
          <a:prstGeom prst="roundRect">
            <a:avLst>
              <a:gd name="adj" fmla="val 16129"/>
            </a:avLst>
          </a:prstGeom>
          <a:solidFill>
            <a:schemeClr val="bg1"/>
          </a:solidFill>
          <a:ln w="15875">
            <a:solidFill>
              <a:schemeClr val="accent1"/>
            </a:solidFill>
            <a:prstDash val="solid"/>
          </a:ln>
        </p:spPr>
      </p:sp>
      <p:sp>
        <p:nvSpPr>
          <p:cNvPr id="45" name="text-511"/>
          <p:cNvSpPr txBox="1"/>
          <p:nvPr/>
        </p:nvSpPr>
        <p:spPr>
          <a:xfrm>
            <a:off x="3831336" y="1691640"/>
            <a:ext cx="1170432" cy="566928"/>
          </a:xfrm>
          <a:prstGeom prst="rect">
            <a:avLst/>
          </a:prstGeom>
          <a:noFill/>
          <a:ln/>
        </p:spPr>
        <p:txBody>
          <a:bodyPr wrap="square" lIns="0" tIns="0" rIns="0" bIns="0" rtlCol="0" anchor="ctr"/>
          <a:lstStyle/>
          <a:p>
            <a:pPr algn="ctr" indent="0" marL="0">
              <a:buNone/>
            </a:pPr>
            <a:r>
              <a:rPr lang="en-US" sz="1200" b="1" dirty="0">
                <a:solidFill>
                  <a:schemeClr val="tx1"/>
                </a:solidFill>
              </a:rPr>
              <a:t>USD/INR</a:t>
            </a:r>
            <a:endParaRPr lang="en-US" sz="1200" dirty="0"/>
          </a:p>
        </p:txBody>
      </p:sp>
      <p:sp>
        <p:nvSpPr>
          <p:cNvPr id="46" name="kg-node-banknifty"/>
          <p:cNvSpPr/>
          <p:nvPr/>
        </p:nvSpPr>
        <p:spPr>
          <a:xfrm>
            <a:off x="7022592" y="1691640"/>
            <a:ext cx="1261872" cy="566928"/>
          </a:xfrm>
          <a:prstGeom prst="roundRect">
            <a:avLst>
              <a:gd name="adj" fmla="val 16129"/>
            </a:avLst>
          </a:prstGeom>
          <a:solidFill>
            <a:schemeClr val="bg1"/>
          </a:solidFill>
          <a:ln w="15875">
            <a:solidFill>
              <a:schemeClr val="accent1"/>
            </a:solidFill>
            <a:prstDash val="solid"/>
          </a:ln>
        </p:spPr>
      </p:sp>
      <p:sp>
        <p:nvSpPr>
          <p:cNvPr id="47" name="text-513"/>
          <p:cNvSpPr txBox="1"/>
          <p:nvPr/>
        </p:nvSpPr>
        <p:spPr>
          <a:xfrm>
            <a:off x="7068312" y="1691640"/>
            <a:ext cx="1170432" cy="566928"/>
          </a:xfrm>
          <a:prstGeom prst="rect">
            <a:avLst/>
          </a:prstGeom>
          <a:noFill/>
          <a:ln/>
        </p:spPr>
        <p:txBody>
          <a:bodyPr wrap="square" lIns="0" tIns="0" rIns="0" bIns="0" rtlCol="0" anchor="ctr"/>
          <a:lstStyle/>
          <a:p>
            <a:pPr algn="ctr" indent="0" marL="0">
              <a:buNone/>
            </a:pPr>
            <a:r>
              <a:rPr lang="en-US" sz="1200" b="1" dirty="0">
                <a:solidFill>
                  <a:schemeClr val="tx1"/>
                </a:solidFill>
              </a:rPr>
              <a:t>Bank NIFTY</a:t>
            </a:r>
            <a:endParaRPr lang="en-US" sz="1200" dirty="0"/>
          </a:p>
        </p:txBody>
      </p:sp>
      <p:sp>
        <p:nvSpPr>
          <p:cNvPr id="48" name="kg-node-monsoon"/>
          <p:cNvSpPr/>
          <p:nvPr/>
        </p:nvSpPr>
        <p:spPr>
          <a:xfrm>
            <a:off x="548640" y="3886200"/>
            <a:ext cx="1261872" cy="566928"/>
          </a:xfrm>
          <a:prstGeom prst="roundRect">
            <a:avLst>
              <a:gd name="adj" fmla="val 16129"/>
            </a:avLst>
          </a:prstGeom>
          <a:solidFill>
            <a:schemeClr val="bg1"/>
          </a:solidFill>
          <a:ln w="15875">
            <a:solidFill>
              <a:schemeClr val="accent1"/>
            </a:solidFill>
            <a:prstDash val="solid"/>
          </a:ln>
        </p:spPr>
      </p:sp>
      <p:sp>
        <p:nvSpPr>
          <p:cNvPr id="49" name="text-515"/>
          <p:cNvSpPr txBox="1"/>
          <p:nvPr/>
        </p:nvSpPr>
        <p:spPr>
          <a:xfrm>
            <a:off x="594360" y="3886200"/>
            <a:ext cx="1170432" cy="566928"/>
          </a:xfrm>
          <a:prstGeom prst="rect">
            <a:avLst/>
          </a:prstGeom>
          <a:noFill/>
          <a:ln/>
        </p:spPr>
        <p:txBody>
          <a:bodyPr wrap="square" lIns="0" tIns="0" rIns="0" bIns="0" rtlCol="0" anchor="ctr"/>
          <a:lstStyle/>
          <a:p>
            <a:pPr algn="ctr" indent="0" marL="0">
              <a:buNone/>
            </a:pPr>
            <a:r>
              <a:rPr lang="en-US" sz="1200" b="1" dirty="0">
                <a:solidFill>
                  <a:schemeClr val="tx1"/>
                </a:solidFill>
              </a:rPr>
              <a:t>Monsoon departure</a:t>
            </a:r>
            <a:endParaRPr lang="en-US" sz="1200" dirty="0"/>
          </a:p>
        </p:txBody>
      </p:sp>
      <p:sp>
        <p:nvSpPr>
          <p:cNvPr id="50" name="kg-node-food"/>
          <p:cNvSpPr/>
          <p:nvPr/>
        </p:nvSpPr>
        <p:spPr>
          <a:xfrm>
            <a:off x="2167128" y="3886200"/>
            <a:ext cx="1261872" cy="566928"/>
          </a:xfrm>
          <a:prstGeom prst="roundRect">
            <a:avLst>
              <a:gd name="adj" fmla="val 16129"/>
            </a:avLst>
          </a:prstGeom>
          <a:solidFill>
            <a:schemeClr val="bg1"/>
          </a:solidFill>
          <a:ln w="15875">
            <a:solidFill>
              <a:schemeClr val="accent1"/>
            </a:solidFill>
            <a:prstDash val="solid"/>
          </a:ln>
        </p:spPr>
      </p:sp>
      <p:sp>
        <p:nvSpPr>
          <p:cNvPr id="51" name="text-517"/>
          <p:cNvSpPr txBox="1"/>
          <p:nvPr/>
        </p:nvSpPr>
        <p:spPr>
          <a:xfrm>
            <a:off x="2212848" y="3886200"/>
            <a:ext cx="1170432" cy="566928"/>
          </a:xfrm>
          <a:prstGeom prst="rect">
            <a:avLst/>
          </a:prstGeom>
          <a:noFill/>
          <a:ln/>
        </p:spPr>
        <p:txBody>
          <a:bodyPr wrap="square" lIns="0" tIns="0" rIns="0" bIns="0" rtlCol="0" anchor="ctr"/>
          <a:lstStyle/>
          <a:p>
            <a:pPr algn="ctr" indent="0" marL="0">
              <a:buNone/>
            </a:pPr>
            <a:r>
              <a:rPr lang="en-US" sz="1200" b="1" dirty="0">
                <a:solidFill>
                  <a:schemeClr val="tx1"/>
                </a:solidFill>
              </a:rPr>
              <a:t>Foodgrain output</a:t>
            </a:r>
            <a:endParaRPr lang="en-US" sz="1200" dirty="0"/>
          </a:p>
        </p:txBody>
      </p:sp>
      <p:sp>
        <p:nvSpPr>
          <p:cNvPr id="52" name="kg-node-cpifood"/>
          <p:cNvSpPr/>
          <p:nvPr/>
        </p:nvSpPr>
        <p:spPr>
          <a:xfrm>
            <a:off x="3785616" y="3886200"/>
            <a:ext cx="1261872" cy="566928"/>
          </a:xfrm>
          <a:prstGeom prst="roundRect">
            <a:avLst>
              <a:gd name="adj" fmla="val 16129"/>
            </a:avLst>
          </a:prstGeom>
          <a:solidFill>
            <a:schemeClr val="bg1"/>
          </a:solidFill>
          <a:ln w="15875">
            <a:solidFill>
              <a:schemeClr val="accent1"/>
            </a:solidFill>
            <a:prstDash val="solid"/>
          </a:ln>
        </p:spPr>
      </p:sp>
      <p:sp>
        <p:nvSpPr>
          <p:cNvPr id="53" name="text-519"/>
          <p:cNvSpPr txBox="1"/>
          <p:nvPr/>
        </p:nvSpPr>
        <p:spPr>
          <a:xfrm>
            <a:off x="3831336" y="3886200"/>
            <a:ext cx="1170432" cy="566928"/>
          </a:xfrm>
          <a:prstGeom prst="rect">
            <a:avLst/>
          </a:prstGeom>
          <a:noFill/>
          <a:ln/>
        </p:spPr>
        <p:txBody>
          <a:bodyPr wrap="square" lIns="0" tIns="0" rIns="0" bIns="0" rtlCol="0" anchor="ctr"/>
          <a:lstStyle/>
          <a:p>
            <a:pPr algn="ctr" indent="0" marL="0">
              <a:buNone/>
            </a:pPr>
            <a:r>
              <a:rPr lang="en-US" sz="1200" b="1" dirty="0">
                <a:solidFill>
                  <a:schemeClr val="tx1"/>
                </a:solidFill>
              </a:rPr>
              <a:t>CPI food</a:t>
            </a:r>
            <a:endParaRPr lang="en-US" sz="1200" dirty="0"/>
          </a:p>
        </p:txBody>
      </p:sp>
      <p:sp>
        <p:nvSpPr>
          <p:cNvPr id="54" name="kg-node-capex"/>
          <p:cNvSpPr/>
          <p:nvPr/>
        </p:nvSpPr>
        <p:spPr>
          <a:xfrm>
            <a:off x="7022592" y="3886200"/>
            <a:ext cx="1261872" cy="566928"/>
          </a:xfrm>
          <a:prstGeom prst="roundRect">
            <a:avLst>
              <a:gd name="adj" fmla="val 16129"/>
            </a:avLst>
          </a:prstGeom>
          <a:solidFill>
            <a:schemeClr val="bg1"/>
          </a:solidFill>
          <a:ln w="15875">
            <a:solidFill>
              <a:schemeClr val="accent1"/>
            </a:solidFill>
            <a:prstDash val="solid"/>
          </a:ln>
        </p:spPr>
      </p:sp>
      <p:sp>
        <p:nvSpPr>
          <p:cNvPr id="55" name="text-521"/>
          <p:cNvSpPr txBox="1"/>
          <p:nvPr/>
        </p:nvSpPr>
        <p:spPr>
          <a:xfrm>
            <a:off x="7068312" y="3886200"/>
            <a:ext cx="1170432" cy="566928"/>
          </a:xfrm>
          <a:prstGeom prst="rect">
            <a:avLst/>
          </a:prstGeom>
          <a:noFill/>
          <a:ln/>
        </p:spPr>
        <p:txBody>
          <a:bodyPr wrap="square" lIns="0" tIns="0" rIns="0" bIns="0" rtlCol="0" anchor="ctr"/>
          <a:lstStyle/>
          <a:p>
            <a:pPr algn="ctr" indent="0" marL="0">
              <a:buNone/>
            </a:pPr>
            <a:r>
              <a:rPr lang="en-US" sz="1200" b="1" dirty="0">
                <a:solidFill>
                  <a:schemeClr val="tx1"/>
                </a:solidFill>
              </a:rPr>
              <a:t>Central capex</a:t>
            </a:r>
            <a:endParaRPr lang="en-US" sz="1200" dirty="0"/>
          </a:p>
        </p:txBody>
      </p:sp>
      <p:sp>
        <p:nvSpPr>
          <p:cNvPr id="56" name="kg-node-gfcf"/>
          <p:cNvSpPr/>
          <p:nvPr/>
        </p:nvSpPr>
        <p:spPr>
          <a:xfrm>
            <a:off x="8641080" y="3886200"/>
            <a:ext cx="1261872" cy="566928"/>
          </a:xfrm>
          <a:prstGeom prst="roundRect">
            <a:avLst>
              <a:gd name="adj" fmla="val 16129"/>
            </a:avLst>
          </a:prstGeom>
          <a:solidFill>
            <a:schemeClr val="bg1"/>
          </a:solidFill>
          <a:ln w="15875">
            <a:solidFill>
              <a:schemeClr val="accent1"/>
            </a:solidFill>
            <a:prstDash val="solid"/>
          </a:ln>
        </p:spPr>
      </p:sp>
      <p:sp>
        <p:nvSpPr>
          <p:cNvPr id="57" name="text-523"/>
          <p:cNvSpPr txBox="1"/>
          <p:nvPr/>
        </p:nvSpPr>
        <p:spPr>
          <a:xfrm>
            <a:off x="8686800" y="3886200"/>
            <a:ext cx="1170432" cy="566928"/>
          </a:xfrm>
          <a:prstGeom prst="rect">
            <a:avLst/>
          </a:prstGeom>
          <a:noFill/>
          <a:ln/>
        </p:spPr>
        <p:txBody>
          <a:bodyPr wrap="square" lIns="0" tIns="0" rIns="0" bIns="0" rtlCol="0" anchor="ctr"/>
          <a:lstStyle/>
          <a:p>
            <a:pPr algn="ctr" indent="0" marL="0">
              <a:buNone/>
            </a:pPr>
            <a:r>
              <a:rPr lang="en-US" sz="1200" b="1" dirty="0">
                <a:solidFill>
                  <a:schemeClr val="tx1"/>
                </a:solidFill>
              </a:rPr>
              <a:t>GFCF investment</a:t>
            </a:r>
            <a:endParaRPr lang="en-US" sz="1200" dirty="0"/>
          </a:p>
        </p:txBody>
      </p:sp>
      <p:sp>
        <p:nvSpPr>
          <p:cNvPr id="58" name="text-524"/>
          <p:cNvSpPr txBox="1"/>
          <p:nvPr/>
        </p:nvSpPr>
        <p:spPr>
          <a:xfrm>
            <a:off x="3017520" y="2313432"/>
            <a:ext cx="1371600" cy="201168"/>
          </a:xfrm>
          <a:prstGeom prst="rect">
            <a:avLst/>
          </a:prstGeom>
          <a:noFill/>
          <a:ln/>
        </p:spPr>
        <p:txBody>
          <a:bodyPr wrap="square" lIns="0" tIns="0" rIns="0" bIns="0" rtlCol="0" anchor="t"/>
          <a:lstStyle/>
          <a:p>
            <a:pPr algn="ctr" indent="0" marL="0">
              <a:buNone/>
            </a:pPr>
            <a:r>
              <a:rPr lang="en-US" sz="1000" b="1" i="1" dirty="0">
                <a:solidFill>
                  <a:schemeClr val="accent4"/>
                </a:solidFill>
              </a:rPr>
              <a:t>sign under review</a:t>
            </a:r>
            <a:endParaRPr lang="en-US" sz="1000" dirty="0"/>
          </a:p>
        </p:txBody>
      </p:sp>
      <p:sp>
        <p:nvSpPr>
          <p:cNvPr id="59" name="text-525"/>
          <p:cNvSpPr txBox="1"/>
          <p:nvPr/>
        </p:nvSpPr>
        <p:spPr>
          <a:xfrm>
            <a:off x="548640" y="4645152"/>
            <a:ext cx="1097280" cy="310896"/>
          </a:xfrm>
          <a:prstGeom prst="rect">
            <a:avLst/>
          </a:prstGeom>
          <a:noFill/>
          <a:ln/>
        </p:spPr>
        <p:txBody>
          <a:bodyPr wrap="square" lIns="0" tIns="0" rIns="0" bIns="0" rtlCol="0" anchor="ctr"/>
          <a:lstStyle/>
          <a:p>
            <a:pPr indent="0" marL="0">
              <a:buNone/>
            </a:pPr>
            <a:r>
              <a:rPr lang="en-US" sz="1150" b="1" dirty="0">
                <a:solidFill>
                  <a:schemeClr val="tx2"/>
                </a:solidFill>
              </a:rPr>
              <a:t>No edges yet</a:t>
            </a:r>
            <a:endParaRPr lang="en-US" sz="1150" dirty="0"/>
          </a:p>
        </p:txBody>
      </p:sp>
      <p:sp>
        <p:nvSpPr>
          <p:cNvPr id="60" name="card-526"/>
          <p:cNvSpPr/>
          <p:nvPr/>
        </p:nvSpPr>
        <p:spPr>
          <a:xfrm>
            <a:off x="1691640" y="4672584"/>
            <a:ext cx="844906" cy="274320"/>
          </a:xfrm>
          <a:prstGeom prst="roundRect">
            <a:avLst>
              <a:gd name="adj" fmla="val 50000"/>
            </a:avLst>
          </a:prstGeom>
          <a:solidFill>
            <a:schemeClr val="bg1"/>
          </a:solidFill>
          <a:ln w="9525">
            <a:solidFill>
              <a:schemeClr val="tx2"/>
            </a:solidFill>
            <a:prstDash val="dash"/>
          </a:ln>
        </p:spPr>
      </p:sp>
      <p:sp>
        <p:nvSpPr>
          <p:cNvPr id="61" name="text-527"/>
          <p:cNvSpPr txBox="1"/>
          <p:nvPr/>
        </p:nvSpPr>
        <p:spPr>
          <a:xfrm>
            <a:off x="1691640" y="4672584"/>
            <a:ext cx="844906" cy="274320"/>
          </a:xfrm>
          <a:prstGeom prst="rect">
            <a:avLst/>
          </a:prstGeom>
          <a:noFill/>
          <a:ln/>
        </p:spPr>
        <p:txBody>
          <a:bodyPr wrap="square" lIns="0" tIns="0" rIns="0" bIns="0" rtlCol="0" anchor="ctr"/>
          <a:lstStyle/>
          <a:p>
            <a:pPr algn="ctr" indent="0" marL="0">
              <a:buNone/>
            </a:pPr>
            <a:r>
              <a:rPr lang="en-US" sz="1050" spc="50" kern="0" dirty="0">
                <a:solidFill>
                  <a:schemeClr val="tx2"/>
                </a:solidFill>
              </a:rPr>
              <a:t>NIFTY 50</a:t>
            </a:r>
            <a:endParaRPr lang="en-US" sz="1050" dirty="0"/>
          </a:p>
        </p:txBody>
      </p:sp>
      <p:sp>
        <p:nvSpPr>
          <p:cNvPr id="62" name="card-528"/>
          <p:cNvSpPr/>
          <p:nvPr/>
        </p:nvSpPr>
        <p:spPr>
          <a:xfrm>
            <a:off x="2646274" y="4672584"/>
            <a:ext cx="916229" cy="274320"/>
          </a:xfrm>
          <a:prstGeom prst="roundRect">
            <a:avLst>
              <a:gd name="adj" fmla="val 50000"/>
            </a:avLst>
          </a:prstGeom>
          <a:solidFill>
            <a:schemeClr val="bg1"/>
          </a:solidFill>
          <a:ln w="9525">
            <a:solidFill>
              <a:schemeClr val="tx2"/>
            </a:solidFill>
            <a:prstDash val="dash"/>
          </a:ln>
        </p:spPr>
      </p:sp>
      <p:sp>
        <p:nvSpPr>
          <p:cNvPr id="63" name="text-529"/>
          <p:cNvSpPr txBox="1"/>
          <p:nvPr/>
        </p:nvSpPr>
        <p:spPr>
          <a:xfrm>
            <a:off x="2646274" y="4672584"/>
            <a:ext cx="916229" cy="274320"/>
          </a:xfrm>
          <a:prstGeom prst="rect">
            <a:avLst/>
          </a:prstGeom>
          <a:noFill/>
          <a:ln/>
        </p:spPr>
        <p:txBody>
          <a:bodyPr wrap="square" lIns="0" tIns="0" rIns="0" bIns="0" rtlCol="0" anchor="ctr"/>
          <a:lstStyle/>
          <a:p>
            <a:pPr algn="ctr" indent="0" marL="0">
              <a:buNone/>
            </a:pPr>
            <a:r>
              <a:rPr lang="en-US" sz="1050" spc="50" kern="0" dirty="0">
                <a:solidFill>
                  <a:schemeClr val="tx2"/>
                </a:solidFill>
              </a:rPr>
              <a:t>India VIX</a:t>
            </a:r>
            <a:endParaRPr lang="en-US" sz="1050" dirty="0"/>
          </a:p>
        </p:txBody>
      </p:sp>
      <p:sp>
        <p:nvSpPr>
          <p:cNvPr id="64" name="card-530"/>
          <p:cNvSpPr/>
          <p:nvPr/>
        </p:nvSpPr>
        <p:spPr>
          <a:xfrm>
            <a:off x="3672230" y="4672584"/>
            <a:ext cx="1272845" cy="274320"/>
          </a:xfrm>
          <a:prstGeom prst="roundRect">
            <a:avLst>
              <a:gd name="adj" fmla="val 50000"/>
            </a:avLst>
          </a:prstGeom>
          <a:solidFill>
            <a:schemeClr val="bg1"/>
          </a:solidFill>
          <a:ln w="9525">
            <a:solidFill>
              <a:schemeClr val="tx2"/>
            </a:solidFill>
            <a:prstDash val="dash"/>
          </a:ln>
        </p:spPr>
      </p:sp>
      <p:sp>
        <p:nvSpPr>
          <p:cNvPr id="65" name="text-531"/>
          <p:cNvSpPr txBox="1"/>
          <p:nvPr/>
        </p:nvSpPr>
        <p:spPr>
          <a:xfrm>
            <a:off x="3672230" y="4672584"/>
            <a:ext cx="1272845" cy="274320"/>
          </a:xfrm>
          <a:prstGeom prst="rect">
            <a:avLst/>
          </a:prstGeom>
          <a:noFill/>
          <a:ln/>
        </p:spPr>
        <p:txBody>
          <a:bodyPr wrap="square" lIns="0" tIns="0" rIns="0" bIns="0" rtlCol="0" anchor="ctr"/>
          <a:lstStyle/>
          <a:p>
            <a:pPr algn="ctr" indent="0" marL="0">
              <a:buNone/>
            </a:pPr>
            <a:r>
              <a:rPr lang="en-US" sz="1050" spc="50" kern="0" dirty="0">
                <a:solidFill>
                  <a:schemeClr val="tx2"/>
                </a:solidFill>
              </a:rPr>
              <a:t>Forex reserves</a:t>
            </a:r>
            <a:endParaRPr lang="en-US" sz="1050" dirty="0"/>
          </a:p>
        </p:txBody>
      </p:sp>
      <p:sp>
        <p:nvSpPr>
          <p:cNvPr id="66" name="card-532"/>
          <p:cNvSpPr/>
          <p:nvPr/>
        </p:nvSpPr>
        <p:spPr>
          <a:xfrm>
            <a:off x="5054803" y="4672584"/>
            <a:ext cx="1058875" cy="274320"/>
          </a:xfrm>
          <a:prstGeom prst="roundRect">
            <a:avLst>
              <a:gd name="adj" fmla="val 50000"/>
            </a:avLst>
          </a:prstGeom>
          <a:solidFill>
            <a:schemeClr val="bg1"/>
          </a:solidFill>
          <a:ln w="9525">
            <a:solidFill>
              <a:schemeClr val="tx2"/>
            </a:solidFill>
            <a:prstDash val="dash"/>
          </a:ln>
        </p:spPr>
      </p:sp>
      <p:sp>
        <p:nvSpPr>
          <p:cNvPr id="67" name="text-533"/>
          <p:cNvSpPr txBox="1"/>
          <p:nvPr/>
        </p:nvSpPr>
        <p:spPr>
          <a:xfrm>
            <a:off x="5054803" y="4672584"/>
            <a:ext cx="1058875" cy="274320"/>
          </a:xfrm>
          <a:prstGeom prst="rect">
            <a:avLst/>
          </a:prstGeom>
          <a:noFill/>
          <a:ln/>
        </p:spPr>
        <p:txBody>
          <a:bodyPr wrap="square" lIns="0" tIns="0" rIns="0" bIns="0" rtlCol="0" anchor="ctr"/>
          <a:lstStyle/>
          <a:p>
            <a:pPr algn="ctr" indent="0" marL="0">
              <a:buNone/>
            </a:pPr>
            <a:r>
              <a:rPr lang="en-US" sz="1050" spc="50" kern="0" dirty="0">
                <a:solidFill>
                  <a:schemeClr val="tx2"/>
                </a:solidFill>
              </a:rPr>
              <a:t>Debt-to-GDP</a:t>
            </a:r>
            <a:endParaRPr lang="en-US" sz="1050" dirty="0"/>
          </a:p>
        </p:txBody>
      </p:sp>
      <p:sp>
        <p:nvSpPr>
          <p:cNvPr id="68" name="card-534"/>
          <p:cNvSpPr/>
          <p:nvPr/>
        </p:nvSpPr>
        <p:spPr>
          <a:xfrm>
            <a:off x="6223406" y="4672584"/>
            <a:ext cx="1272845" cy="274320"/>
          </a:xfrm>
          <a:prstGeom prst="roundRect">
            <a:avLst>
              <a:gd name="adj" fmla="val 50000"/>
            </a:avLst>
          </a:prstGeom>
          <a:solidFill>
            <a:schemeClr val="bg1"/>
          </a:solidFill>
          <a:ln w="9525">
            <a:solidFill>
              <a:schemeClr val="tx2"/>
            </a:solidFill>
            <a:prstDash val="dash"/>
          </a:ln>
        </p:spPr>
      </p:sp>
      <p:sp>
        <p:nvSpPr>
          <p:cNvPr id="69" name="text-535"/>
          <p:cNvSpPr txBox="1"/>
          <p:nvPr/>
        </p:nvSpPr>
        <p:spPr>
          <a:xfrm>
            <a:off x="6223406" y="4672584"/>
            <a:ext cx="1272845" cy="274320"/>
          </a:xfrm>
          <a:prstGeom prst="rect">
            <a:avLst/>
          </a:prstGeom>
          <a:noFill/>
          <a:ln/>
        </p:spPr>
        <p:txBody>
          <a:bodyPr wrap="square" lIns="0" tIns="0" rIns="0" bIns="0" rtlCol="0" anchor="ctr"/>
          <a:lstStyle/>
          <a:p>
            <a:pPr algn="ctr" indent="0" marL="0">
              <a:buNone/>
            </a:pPr>
            <a:r>
              <a:rPr lang="en-US" sz="1050" spc="50" kern="0" dirty="0">
                <a:solidFill>
                  <a:schemeClr val="tx2"/>
                </a:solidFill>
              </a:rPr>
              <a:t>EPFO additions</a:t>
            </a:r>
            <a:endParaRPr lang="en-US" sz="1050" dirty="0"/>
          </a:p>
        </p:txBody>
      </p:sp>
      <p:sp>
        <p:nvSpPr>
          <p:cNvPr id="70" name="card-536"/>
          <p:cNvSpPr/>
          <p:nvPr/>
        </p:nvSpPr>
        <p:spPr>
          <a:xfrm>
            <a:off x="548640" y="5120640"/>
            <a:ext cx="11094415" cy="1005840"/>
          </a:xfrm>
          <a:prstGeom prst="roundRect">
            <a:avLst>
              <a:gd name="adj" fmla="val 10909"/>
            </a:avLst>
          </a:prstGeom>
          <a:solidFill>
            <a:schemeClr val="bg2"/>
          </a:solidFill>
          <a:ln/>
        </p:spPr>
      </p:sp>
      <p:sp>
        <p:nvSpPr>
          <p:cNvPr id="71" name="text-537"/>
          <p:cNvSpPr txBox="1"/>
          <p:nvPr/>
        </p:nvSpPr>
        <p:spPr>
          <a:xfrm>
            <a:off x="777240" y="5230368"/>
            <a:ext cx="5120640" cy="219456"/>
          </a:xfrm>
          <a:prstGeom prst="rect">
            <a:avLst/>
          </a:prstGeom>
          <a:noFill/>
          <a:ln/>
        </p:spPr>
        <p:txBody>
          <a:bodyPr wrap="square" lIns="0" tIns="0" rIns="0" bIns="0" rtlCol="0" anchor="t"/>
          <a:lstStyle/>
          <a:p>
            <a:pPr indent="0" marL="0">
              <a:buNone/>
            </a:pPr>
            <a:r>
              <a:rPr lang="en-US" sz="1050" b="1" spc="100" kern="0" dirty="0">
                <a:solidFill>
                  <a:schemeClr val="accent1"/>
                </a:solidFill>
              </a:rPr>
              <a:t>EVIDENCE TIER, AS TYPED IN THE ONTOLOGY (PRIORS)</a:t>
            </a:r>
            <a:endParaRPr lang="en-US" sz="1050" dirty="0"/>
          </a:p>
        </p:txBody>
      </p:sp>
      <p:sp>
        <p:nvSpPr>
          <p:cNvPr id="72" name="link-538"/>
          <p:cNvSpPr/>
          <p:nvPr/>
        </p:nvSpPr>
        <p:spPr>
          <a:xfrm>
            <a:off x="777240" y="5650992"/>
            <a:ext cx="384048" cy="0"/>
          </a:xfrm>
          <a:prstGeom prst="line">
            <a:avLst/>
          </a:prstGeom>
          <a:noFill/>
          <a:ln w="15875">
            <a:solidFill>
              <a:schemeClr val="tx2"/>
            </a:solidFill>
            <a:prstDash val="dash"/>
          </a:ln>
        </p:spPr>
      </p:sp>
      <p:sp>
        <p:nvSpPr>
          <p:cNvPr id="73" name="text-539"/>
          <p:cNvSpPr txBox="1"/>
          <p:nvPr/>
        </p:nvSpPr>
        <p:spPr>
          <a:xfrm>
            <a:off x="1234440" y="5559552"/>
            <a:ext cx="1645920" cy="182880"/>
          </a:xfrm>
          <a:prstGeom prst="rect">
            <a:avLst/>
          </a:prstGeom>
          <a:noFill/>
          <a:ln/>
        </p:spPr>
        <p:txBody>
          <a:bodyPr wrap="square" lIns="0" tIns="0" rIns="0" bIns="0" rtlCol="0" anchor="ctr"/>
          <a:lstStyle/>
          <a:p>
            <a:pPr indent="0" marL="0">
              <a:buNone/>
            </a:pPr>
            <a:r>
              <a:rPr lang="en-US" sz="1100" dirty="0">
                <a:solidFill>
                  <a:schemeClr val="tx1"/>
                </a:solidFill>
              </a:rPr>
              <a:t>Theory</a:t>
            </a:r>
            <a:endParaRPr lang="en-US" sz="1100" dirty="0"/>
          </a:p>
        </p:txBody>
      </p:sp>
      <p:sp>
        <p:nvSpPr>
          <p:cNvPr id="74" name="link-540"/>
          <p:cNvSpPr/>
          <p:nvPr/>
        </p:nvSpPr>
        <p:spPr>
          <a:xfrm>
            <a:off x="2606040" y="5650992"/>
            <a:ext cx="384048" cy="0"/>
          </a:xfrm>
          <a:prstGeom prst="line">
            <a:avLst/>
          </a:prstGeom>
          <a:noFill/>
          <a:ln w="15875">
            <a:solidFill>
              <a:schemeClr val="accent1"/>
            </a:solidFill>
            <a:prstDash val="solid"/>
          </a:ln>
        </p:spPr>
      </p:sp>
      <p:sp>
        <p:nvSpPr>
          <p:cNvPr id="75" name="text-541"/>
          <p:cNvSpPr txBox="1"/>
          <p:nvPr/>
        </p:nvSpPr>
        <p:spPr>
          <a:xfrm>
            <a:off x="3063240" y="5559552"/>
            <a:ext cx="1645920" cy="182880"/>
          </a:xfrm>
          <a:prstGeom prst="rect">
            <a:avLst/>
          </a:prstGeom>
          <a:noFill/>
          <a:ln/>
        </p:spPr>
        <p:txBody>
          <a:bodyPr wrap="square" lIns="0" tIns="0" rIns="0" bIns="0" rtlCol="0" anchor="ctr"/>
          <a:lstStyle/>
          <a:p>
            <a:pPr indent="0" marL="0">
              <a:buNone/>
            </a:pPr>
            <a:r>
              <a:rPr lang="en-US" sz="1100" dirty="0">
                <a:solidFill>
                  <a:schemeClr val="tx1"/>
                </a:solidFill>
              </a:rPr>
              <a:t>Statistical association</a:t>
            </a:r>
            <a:endParaRPr lang="en-US" sz="1100" dirty="0"/>
          </a:p>
        </p:txBody>
      </p:sp>
      <p:sp>
        <p:nvSpPr>
          <p:cNvPr id="76" name="link-542"/>
          <p:cNvSpPr/>
          <p:nvPr/>
        </p:nvSpPr>
        <p:spPr>
          <a:xfrm>
            <a:off x="4754880" y="5650992"/>
            <a:ext cx="384048" cy="0"/>
          </a:xfrm>
          <a:prstGeom prst="line">
            <a:avLst/>
          </a:prstGeom>
          <a:noFill/>
          <a:ln w="25400">
            <a:solidFill>
              <a:schemeClr val="accent1"/>
            </a:solidFill>
            <a:prstDash val="solid"/>
          </a:ln>
        </p:spPr>
      </p:sp>
      <p:sp>
        <p:nvSpPr>
          <p:cNvPr id="77" name="text-543"/>
          <p:cNvSpPr txBox="1"/>
          <p:nvPr/>
        </p:nvSpPr>
        <p:spPr>
          <a:xfrm>
            <a:off x="5212080" y="5559552"/>
            <a:ext cx="1645920" cy="182880"/>
          </a:xfrm>
          <a:prstGeom prst="rect">
            <a:avLst/>
          </a:prstGeom>
          <a:noFill/>
          <a:ln/>
        </p:spPr>
        <p:txBody>
          <a:bodyPr wrap="square" lIns="0" tIns="0" rIns="0" bIns="0" rtlCol="0" anchor="ctr"/>
          <a:lstStyle/>
          <a:p>
            <a:pPr indent="0" marL="0">
              <a:buNone/>
            </a:pPr>
            <a:r>
              <a:rPr lang="en-US" sz="1100" dirty="0">
                <a:solidFill>
                  <a:schemeClr val="tx1"/>
                </a:solidFill>
              </a:rPr>
              <a:t>Lagged relationship</a:t>
            </a:r>
            <a:endParaRPr lang="en-US" sz="1100" dirty="0"/>
          </a:p>
        </p:txBody>
      </p:sp>
      <p:sp>
        <p:nvSpPr>
          <p:cNvPr id="78" name="link-544"/>
          <p:cNvSpPr/>
          <p:nvPr/>
        </p:nvSpPr>
        <p:spPr>
          <a:xfrm>
            <a:off x="777240" y="5925312"/>
            <a:ext cx="384048" cy="0"/>
          </a:xfrm>
          <a:prstGeom prst="line">
            <a:avLst/>
          </a:prstGeom>
          <a:noFill/>
          <a:ln w="38100">
            <a:solidFill>
              <a:schemeClr val="accent1"/>
            </a:solidFill>
            <a:prstDash val="solid"/>
          </a:ln>
        </p:spPr>
      </p:sp>
      <p:sp>
        <p:nvSpPr>
          <p:cNvPr id="79" name="text-545"/>
          <p:cNvSpPr txBox="1"/>
          <p:nvPr/>
        </p:nvSpPr>
        <p:spPr>
          <a:xfrm>
            <a:off x="1234440" y="5833872"/>
            <a:ext cx="1645920" cy="182880"/>
          </a:xfrm>
          <a:prstGeom prst="rect">
            <a:avLst/>
          </a:prstGeom>
          <a:noFill/>
          <a:ln/>
        </p:spPr>
        <p:txBody>
          <a:bodyPr wrap="square" lIns="0" tIns="0" rIns="0" bIns="0" rtlCol="0" anchor="ctr"/>
          <a:lstStyle/>
          <a:p>
            <a:pPr indent="0" marL="0">
              <a:buNone/>
            </a:pPr>
            <a:r>
              <a:rPr lang="en-US" sz="1100" dirty="0">
                <a:solidFill>
                  <a:schemeClr val="tx1"/>
                </a:solidFill>
              </a:rPr>
              <a:t>Granger predictive</a:t>
            </a:r>
            <a:endParaRPr lang="en-US" sz="1100" dirty="0"/>
          </a:p>
        </p:txBody>
      </p:sp>
      <p:sp>
        <p:nvSpPr>
          <p:cNvPr id="80" name="link-546"/>
          <p:cNvSpPr/>
          <p:nvPr/>
        </p:nvSpPr>
        <p:spPr>
          <a:xfrm>
            <a:off x="2606040" y="5925312"/>
            <a:ext cx="384048" cy="0"/>
          </a:xfrm>
          <a:prstGeom prst="line">
            <a:avLst/>
          </a:prstGeom>
          <a:noFill/>
          <a:ln w="44450">
            <a:solidFill>
              <a:schemeClr val="tx1"/>
            </a:solidFill>
            <a:prstDash val="solid"/>
          </a:ln>
        </p:spPr>
      </p:sp>
      <p:sp>
        <p:nvSpPr>
          <p:cNvPr id="81" name="text-547"/>
          <p:cNvSpPr txBox="1"/>
          <p:nvPr/>
        </p:nvSpPr>
        <p:spPr>
          <a:xfrm>
            <a:off x="3063240" y="5833872"/>
            <a:ext cx="1645920" cy="182880"/>
          </a:xfrm>
          <a:prstGeom prst="rect">
            <a:avLst/>
          </a:prstGeom>
          <a:noFill/>
          <a:ln/>
        </p:spPr>
        <p:txBody>
          <a:bodyPr wrap="square" lIns="0" tIns="0" rIns="0" bIns="0" rtlCol="0" anchor="ctr"/>
          <a:lstStyle/>
          <a:p>
            <a:pPr indent="0" marL="0">
              <a:buNone/>
            </a:pPr>
            <a:r>
              <a:rPr lang="en-US" sz="1100" dirty="0">
                <a:solidFill>
                  <a:schemeClr val="tx1"/>
                </a:solidFill>
              </a:rPr>
              <a:t>Structural causal model</a:t>
            </a:r>
            <a:endParaRPr lang="en-US" sz="1100" dirty="0"/>
          </a:p>
        </p:txBody>
      </p:sp>
      <p:sp>
        <p:nvSpPr>
          <p:cNvPr id="82" name="text-548"/>
          <p:cNvSpPr txBox="1"/>
          <p:nvPr/>
        </p:nvSpPr>
        <p:spPr>
          <a:xfrm>
            <a:off x="6812280" y="5230368"/>
            <a:ext cx="2743200" cy="219456"/>
          </a:xfrm>
          <a:prstGeom prst="rect">
            <a:avLst/>
          </a:prstGeom>
          <a:noFill/>
          <a:ln/>
        </p:spPr>
        <p:txBody>
          <a:bodyPr wrap="square" lIns="0" tIns="0" rIns="0" bIns="0" rtlCol="0" anchor="t"/>
          <a:lstStyle/>
          <a:p>
            <a:pPr indent="0" marL="0">
              <a:buNone/>
            </a:pPr>
            <a:r>
              <a:rPr lang="en-US" sz="1050" b="1" spc="100" kern="0" dirty="0">
                <a:solidFill>
                  <a:schemeClr val="accent1"/>
                </a:solidFill>
              </a:rPr>
              <a:t>EDGE ANATOMY</a:t>
            </a:r>
            <a:endParaRPr lang="en-US" sz="1050" dirty="0"/>
          </a:p>
        </p:txBody>
      </p:sp>
      <p:sp>
        <p:nvSpPr>
          <p:cNvPr id="83" name="text-549"/>
          <p:cNvSpPr txBox="1"/>
          <p:nvPr/>
        </p:nvSpPr>
        <p:spPr>
          <a:xfrm>
            <a:off x="6812280" y="5504688"/>
            <a:ext cx="4709160" cy="585216"/>
          </a:xfrm>
          <a:prstGeom prst="rect">
            <a:avLst/>
          </a:prstGeom>
          <a:noFill/>
          <a:ln/>
        </p:spPr>
        <p:txBody>
          <a:bodyPr wrap="square" lIns="0" tIns="0" rIns="0" bIns="0" rtlCol="0" anchor="t"/>
          <a:lstStyle/>
          <a:p>
            <a:pPr indent="0" marL="0">
              <a:spcAft>
                <a:spcPts val="100"/>
              </a:spcAft>
              <a:buNone/>
            </a:pPr>
            <a:r>
              <a:rPr lang="en-US" sz="1100" dirty="0">
                <a:solidFill>
                  <a:schemeClr val="tx1"/>
                </a:solidFill>
              </a:rPr>
              <a:t>Each edge: stable rel-id, lag, sign, confidence and mechanism</a:t>
            </a:r>
            <a:endParaRPr lang="en-US" sz="1100" dirty="0"/>
          </a:p>
          <a:p>
            <a:pPr indent="0" marL="0">
              <a:spcAft>
                <a:spcPts val="100"/>
              </a:spcAft>
              <a:buNone/>
            </a:pPr>
            <a:r>
              <a:rPr lang="en-US" sz="1100" dirty="0">
                <a:solidFill>
                  <a:schemeClr val="tx1"/>
                </a:solidFill>
              </a:rPr>
              <a:t>Checked on load: no self-loops, unknown endpoints, duplicates</a:t>
            </a:r>
            <a:endParaRPr lang="en-US" sz="1100" dirty="0"/>
          </a:p>
          <a:p>
            <a:pPr indent="0" marL="0">
              <a:spcAft>
                <a:spcPts val="100"/>
              </a:spcAft>
              <a:buNone/>
            </a:pPr>
            <a:r>
              <a:rPr lang="en-US" sz="1100" dirty="0">
                <a:solidFill>
                  <a:schemeClr val="tx1"/>
                </a:solidFill>
              </a:rPr>
              <a:t>NetworkX answers path and impact queries; Neo4j mirror optional</a:t>
            </a:r>
            <a:endParaRPr lang="en-US" sz="1100" dirty="0"/>
          </a:p>
        </p:txBody>
      </p:sp>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160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SCENARIO ENGINE</a:t>
            </a:r>
            <a:endParaRPr lang="en-US" sz="1200" dirty="0"/>
          </a:p>
        </p:txBody>
      </p:sp>
      <p:sp>
        <p:nvSpPr>
          <p:cNvPr id="3" name="Text 0"/>
          <p:cNvSpPr/>
          <p:nvPr>
            <p:ph idx="101" type="title" hasCustomPrompt="1"/>
          </p:nvPr>
        </p:nvSpPr>
        <p:spPr>
          <a:xfrm>
            <a:off x="548640" y="676656"/>
            <a:ext cx="11094415" cy="713232"/>
          </a:xfrm>
          <a:prstGeom prst="rect">
            <a:avLst/>
          </a:prstGeom>
          <a:noFill/>
          <a:ln/>
        </p:spPr>
        <p:txBody>
          <a:bodyPr wrap="square" lIns="0" tIns="0" rIns="0" bIns="0" rtlCol="0" anchor="t"/>
          <a:lstStyle/>
          <a:p>
            <a:pPr algn="l" indent="0" marL="0">
              <a:buNone/>
            </a:pPr>
            <a:r>
              <a:rPr lang="en-US" sz="3600" b="1" dirty="0">
                <a:solidFill>
                  <a:schemeClr val="tx1"/>
                </a:solidFill>
              </a:rPr>
              <a:t>Tracing a $20 oil shock, hop by hop</a:t>
            </a:r>
            <a:endParaRPr lang="en-US" sz="3600" dirty="0"/>
          </a:p>
        </p:txBody>
      </p:sp>
      <p:sp>
        <p:nvSpPr>
          <p:cNvPr id="4" name="card-550"/>
          <p:cNvSpPr/>
          <p:nvPr/>
        </p:nvSpPr>
        <p:spPr>
          <a:xfrm>
            <a:off x="548640" y="1600200"/>
            <a:ext cx="4343400" cy="2395728"/>
          </a:xfrm>
          <a:prstGeom prst="roundRect">
            <a:avLst>
              <a:gd name="adj" fmla="val 5344"/>
            </a:avLst>
          </a:prstGeom>
          <a:solidFill>
            <a:schemeClr val="tx1"/>
          </a:solidFill>
          <a:ln/>
        </p:spPr>
      </p:sp>
      <p:sp>
        <p:nvSpPr>
          <p:cNvPr id="5" name="text-551"/>
          <p:cNvSpPr txBox="1"/>
          <p:nvPr/>
        </p:nvSpPr>
        <p:spPr>
          <a:xfrm>
            <a:off x="822960" y="1783080"/>
            <a:ext cx="3657600" cy="228600"/>
          </a:xfrm>
          <a:prstGeom prst="rect">
            <a:avLst/>
          </a:prstGeom>
          <a:noFill/>
          <a:ln/>
        </p:spPr>
        <p:txBody>
          <a:bodyPr wrap="square" lIns="0" tIns="0" rIns="0" bIns="0" rtlCol="0" anchor="t"/>
          <a:lstStyle/>
          <a:p>
            <a:pPr indent="0" marL="0">
              <a:buNone/>
            </a:pPr>
            <a:r>
              <a:rPr lang="en-US" sz="1100" b="1" spc="200" kern="0" dirty="0">
                <a:solidFill>
                  <a:schemeClr val="accent6"/>
                </a:solidFill>
              </a:rPr>
              <a:t>PROPAGATION RULE</a:t>
            </a:r>
            <a:endParaRPr lang="en-US" sz="1100" dirty="0"/>
          </a:p>
        </p:txBody>
      </p:sp>
      <p:sp>
        <p:nvSpPr>
          <p:cNvPr id="6" name="text-552"/>
          <p:cNvSpPr txBox="1"/>
          <p:nvPr/>
        </p:nvSpPr>
        <p:spPr>
          <a:xfrm>
            <a:off x="822960" y="2075688"/>
            <a:ext cx="3886200" cy="713232"/>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Δ target = shock × Π (sign × 0.55 × confidence) × 0.15</a:t>
            </a:r>
            <a:endParaRPr lang="en-US" sz="1800" dirty="0"/>
          </a:p>
        </p:txBody>
      </p:sp>
      <p:sp>
        <p:nvSpPr>
          <p:cNvPr id="7" name="text-553"/>
          <p:cNvSpPr txBox="1"/>
          <p:nvPr/>
        </p:nvSpPr>
        <p:spPr>
          <a:xfrm>
            <a:off x="822960" y="2816352"/>
            <a:ext cx="3886200" cy="457200"/>
          </a:xfrm>
          <a:prstGeom prst="rect">
            <a:avLst/>
          </a:prstGeom>
          <a:noFill/>
          <a:ln/>
        </p:spPr>
        <p:txBody>
          <a:bodyPr wrap="square" lIns="0" tIns="0" rIns="0" bIns="0" rtlCol="0" anchor="t"/>
          <a:lstStyle/>
          <a:p>
            <a:pPr indent="0" marL="0">
              <a:buNone/>
            </a:pPr>
            <a:r>
              <a:rPr lang="en-US" sz="1250" dirty="0">
                <a:solidFill>
                  <a:schemeClr val="bg1">
                    <a:alpha val="80000"/>
                  </a:schemeClr>
                </a:solidFill>
              </a:rPr>
              <a:t>Lags add up along the path, confidence multiplies, and the band is ±25% of Δ.</a:t>
            </a:r>
            <a:endParaRPr lang="en-US" sz="1250" dirty="0"/>
          </a:p>
        </p:txBody>
      </p:sp>
      <p:sp>
        <p:nvSpPr>
          <p:cNvPr id="8" name="text-554"/>
          <p:cNvSpPr txBox="1"/>
          <p:nvPr/>
        </p:nvSpPr>
        <p:spPr>
          <a:xfrm>
            <a:off x="822960" y="3346704"/>
            <a:ext cx="3886200" cy="457200"/>
          </a:xfrm>
          <a:prstGeom prst="rect">
            <a:avLst/>
          </a:prstGeom>
          <a:noFill/>
          <a:ln/>
        </p:spPr>
        <p:txBody>
          <a:bodyPr wrap="square" lIns="0" tIns="0" rIns="0" bIns="0" rtlCol="0" anchor="t"/>
          <a:lstStyle/>
          <a:p>
            <a:pPr indent="0" marL="0">
              <a:buNone/>
            </a:pPr>
            <a:r>
              <a:rPr lang="en-US" sz="1250" b="1" dirty="0">
                <a:solidFill>
                  <a:schemeClr val="accent2"/>
                </a:solidFill>
              </a:rPr>
              <a:t>Hop 1: 20 × (0.55 × 0.95) × 0.15 = +1.57</a:t>
            </a:r>
            <a:endParaRPr lang="en-US" sz="1250" dirty="0"/>
          </a:p>
          <a:p>
            <a:pPr indent="0" marL="0">
              <a:buNone/>
            </a:pPr>
            <a:r>
              <a:rPr lang="en-US" sz="1250" b="1" dirty="0">
                <a:solidFill>
                  <a:schemeClr val="accent2"/>
                </a:solidFill>
              </a:rPr>
              <a:t>so WPI moves from 2.45 to 4.02</a:t>
            </a:r>
            <a:endParaRPr lang="en-US" sz="1250" dirty="0"/>
          </a:p>
        </p:txBody>
      </p:sp>
      <p:sp>
        <p:nvSpPr>
          <p:cNvPr id="9" name="card-555"/>
          <p:cNvSpPr/>
          <p:nvPr/>
        </p:nvSpPr>
        <p:spPr>
          <a:xfrm>
            <a:off x="548640" y="4160520"/>
            <a:ext cx="4343400" cy="932688"/>
          </a:xfrm>
          <a:prstGeom prst="roundRect">
            <a:avLst>
              <a:gd name="adj" fmla="val 11765"/>
            </a:avLst>
          </a:prstGeom>
          <a:solidFill>
            <a:schemeClr val="bg2"/>
          </a:solidFill>
          <a:ln/>
        </p:spPr>
      </p:sp>
      <p:sp>
        <p:nvSpPr>
          <p:cNvPr id="10" name="card-556"/>
          <p:cNvSpPr/>
          <p:nvPr/>
        </p:nvSpPr>
        <p:spPr>
          <a:xfrm>
            <a:off x="777240" y="4297680"/>
            <a:ext cx="1097280" cy="256032"/>
          </a:xfrm>
          <a:prstGeom prst="roundRect">
            <a:avLst>
              <a:gd name="adj" fmla="val 50000"/>
            </a:avLst>
          </a:prstGeom>
          <a:solidFill>
            <a:schemeClr val="accent2"/>
          </a:solidFill>
          <a:ln/>
        </p:spPr>
      </p:sp>
      <p:sp>
        <p:nvSpPr>
          <p:cNvPr id="11" name="text-557"/>
          <p:cNvSpPr txBox="1"/>
          <p:nvPr/>
        </p:nvSpPr>
        <p:spPr>
          <a:xfrm>
            <a:off x="777240" y="4297680"/>
            <a:ext cx="1097280" cy="256032"/>
          </a:xfrm>
          <a:prstGeom prst="rect">
            <a:avLst/>
          </a:prstGeom>
          <a:noFill/>
          <a:ln/>
        </p:spPr>
        <p:txBody>
          <a:bodyPr wrap="square" lIns="0" tIns="0" rIns="0" bIns="0" rtlCol="0" anchor="ctr"/>
          <a:lstStyle/>
          <a:p>
            <a:pPr algn="ctr" indent="0" marL="0">
              <a:buNone/>
            </a:pPr>
            <a:r>
              <a:rPr lang="en-US" sz="1050" b="1" spc="50" kern="0" dirty="0">
                <a:solidFill>
                  <a:schemeClr val="tx1"/>
                </a:solidFill>
              </a:rPr>
              <a:t>SIMULATED</a:t>
            </a:r>
            <a:endParaRPr lang="en-US" sz="1050" dirty="0"/>
          </a:p>
        </p:txBody>
      </p:sp>
      <p:sp>
        <p:nvSpPr>
          <p:cNvPr id="12" name="text-558"/>
          <p:cNvSpPr txBox="1"/>
          <p:nvPr/>
        </p:nvSpPr>
        <p:spPr>
          <a:xfrm>
            <a:off x="777240" y="4608576"/>
            <a:ext cx="3931920" cy="438912"/>
          </a:xfrm>
          <a:prstGeom prst="rect">
            <a:avLst/>
          </a:prstGeom>
          <a:noFill/>
          <a:ln/>
        </p:spPr>
        <p:txBody>
          <a:bodyPr wrap="square" lIns="0" tIns="0" rIns="0" bIns="0" rtlCol="0" anchor="t"/>
          <a:lstStyle/>
          <a:p>
            <a:pPr indent="0" marL="0">
              <a:buNone/>
            </a:pPr>
            <a:r>
              <a:rPr lang="en-US" sz="1200" dirty="0">
                <a:solidFill>
                  <a:schemeClr val="tx1"/>
                </a:solidFill>
              </a:rPr>
              <a:t>A transparent heuristic, not a VAR: the constants are design choices and deltas stay in each indicator’s own unit.</a:t>
            </a:r>
            <a:endParaRPr lang="en-US" sz="1200" dirty="0"/>
          </a:p>
        </p:txBody>
      </p:sp>
      <p:sp>
        <p:nvSpPr>
          <p:cNvPr id="13" name="card-559"/>
          <p:cNvSpPr/>
          <p:nvPr/>
        </p:nvSpPr>
        <p:spPr>
          <a:xfrm>
            <a:off x="548640" y="5257800"/>
            <a:ext cx="4343400" cy="868680"/>
          </a:xfrm>
          <a:prstGeom prst="roundRect">
            <a:avLst>
              <a:gd name="adj" fmla="val 12632"/>
            </a:avLst>
          </a:prstGeom>
          <a:solidFill>
            <a:schemeClr val="accent4">
              <a:alpha val="10000"/>
            </a:schemeClr>
          </a:solidFill>
          <a:ln/>
        </p:spPr>
      </p:sp>
      <p:pic>
        <p:nvPicPr>
          <p:cNvPr id="14" name="icon-560" descr="Warning">    </p:cNvPr>
          <p:cNvPicPr>
            <a:picLocks noChangeAspect="1"/>
          </p:cNvPicPr>
          <p:nvPr/>
        </p:nvPicPr>
        <p:blipFill>
          <a:blip r:embed="rId1"/>
          <a:stretch>
            <a:fillRect/>
          </a:stretch>
        </p:blipFill>
        <p:spPr>
          <a:xfrm>
            <a:off x="758952" y="5394960"/>
            <a:ext cx="292608" cy="292608"/>
          </a:xfrm>
          <a:prstGeom prst="rect">
            <a:avLst/>
          </a:prstGeom>
        </p:spPr>
      </p:pic>
      <p:sp>
        <p:nvSpPr>
          <p:cNvPr id="15" name="text-561"/>
          <p:cNvSpPr txBox="1"/>
          <p:nvPr/>
        </p:nvSpPr>
        <p:spPr>
          <a:xfrm>
            <a:off x="1161288" y="5349240"/>
            <a:ext cx="3611880" cy="713232"/>
          </a:xfrm>
          <a:prstGeom prst="rect">
            <a:avLst/>
          </a:prstGeom>
          <a:noFill/>
          <a:ln/>
        </p:spPr>
        <p:txBody>
          <a:bodyPr wrap="square" lIns="0" tIns="0" rIns="0" bIns="0" rtlCol="0" anchor="ctr"/>
          <a:lstStyle/>
          <a:p>
            <a:pPr indent="0" marL="0">
              <a:buNone/>
            </a:pPr>
            <a:r>
              <a:rPr lang="en-US" sz="1200" dirty="0">
                <a:solidFill>
                  <a:schemeClr val="tx1"/>
                </a:solidFill>
              </a:rPr>
              <a:t>USD/INR falls after the oil shock, which is implausible: the run exposed a doubtful + sign on trade balance → USD/INR.</a:t>
            </a:r>
            <a:endParaRPr lang="en-US" sz="1200" dirty="0"/>
          </a:p>
        </p:txBody>
      </p:sp>
      <p:graphicFrame>
        <p:nvGraphicFramePr>
          <p:cNvPr id="16" name="scenario-chart" descr=""/>
          <p:cNvGraphicFramePr/>
          <p:nvPr/>
        </p:nvGraphicFramePr>
        <p:xfrm>
          <a:off x="5166360" y="1554480"/>
          <a:ext cx="6476695" cy="3840480"/>
        </p:xfrm>
        <a:graphic xmlns:a="http://schemas.openxmlformats.org/drawingml/2006/main">
          <a:graphicData uri="http://schemas.openxmlformats.org/drawingml/2006/chart">
            <c:chart xmlns:c="http://schemas.openxmlformats.org/drawingml/2006/chart" r:id="rId2"/>
          </a:graphicData>
        </a:graphic>
      </p:graphicFrame>
      <p:sp>
        <p:nvSpPr>
          <p:cNvPr id="17" name="text-562"/>
          <p:cNvSpPr txBox="1"/>
          <p:nvPr/>
        </p:nvSpPr>
        <p:spPr>
          <a:xfrm>
            <a:off x="5257800" y="5522976"/>
            <a:ext cx="6385255" cy="256032"/>
          </a:xfrm>
          <a:prstGeom prst="rect">
            <a:avLst/>
          </a:prstGeom>
          <a:noFill/>
          <a:ln/>
        </p:spPr>
        <p:txBody>
          <a:bodyPr wrap="square" lIns="0" tIns="0" rIns="0" bIns="0" rtlCol="0" anchor="t"/>
          <a:lstStyle/>
          <a:p>
            <a:pPr indent="0" marL="0">
              <a:buNone/>
            </a:pPr>
            <a:r>
              <a:rPr lang="en-US" sz="1200" b="1" dirty="0">
                <a:solidFill>
                  <a:schemeClr val="tx1"/>
                </a:solidFill>
              </a:rPr>
              <a:t>Path confidence  </a:t>
            </a:r>
            <a:pPr indent="0" marL="0">
              <a:buNone/>
            </a:pPr>
            <a:r>
              <a:rPr lang="en-US" sz="1200" dirty="0">
                <a:solidFill>
                  <a:schemeClr val="tx2"/>
                </a:solidFill>
              </a:rPr>
              <a:t>0.95 → 0.85 → 0.81 → 0.71 → 0.59 → 0.57 over six hops</a:t>
            </a:r>
            <a:endParaRPr lang="en-US" sz="1200" dirty="0"/>
          </a:p>
        </p:txBody>
      </p:sp>
      <p:sp>
        <p:nvSpPr>
          <p:cNvPr id="18" name="text-563"/>
          <p:cNvSpPr txBox="1"/>
          <p:nvPr/>
        </p:nvSpPr>
        <p:spPr>
          <a:xfrm>
            <a:off x="5257800" y="5833872"/>
            <a:ext cx="6385255" cy="256032"/>
          </a:xfrm>
          <a:prstGeom prst="rect">
            <a:avLst/>
          </a:prstGeom>
          <a:noFill/>
          <a:ln/>
        </p:spPr>
        <p:txBody>
          <a:bodyPr wrap="square" lIns="0" tIns="0" rIns="0" bIns="0" rtlCol="0" anchor="t"/>
          <a:lstStyle/>
          <a:p>
            <a:pPr indent="0" marL="0">
              <a:buNone/>
            </a:pPr>
            <a:r>
              <a:rPr lang="en-US" sz="1200" b="1" dirty="0">
                <a:solidFill>
                  <a:schemeClr val="tx1"/>
                </a:solidFill>
              </a:rPr>
              <a:t>Live baselines  </a:t>
            </a:r>
            <a:pPr indent="0" marL="0">
              <a:buNone/>
            </a:pPr>
            <a:r>
              <a:rPr lang="en-US" sz="1200" dirty="0">
                <a:solidFill>
                  <a:schemeClr val="tx2"/>
                </a:solidFill>
              </a:rPr>
              <a:t>live CPI 5.54% (MoSPI, Sep 2026) replaces the default; peak 6.32%</a:t>
            </a:r>
            <a:endParaRPr lang="en-US" sz="1200" dirty="0"/>
          </a:p>
        </p:txBody>
      </p:sp>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160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CAUSAL LAB</a:t>
            </a:r>
            <a:endParaRPr lang="en-US" sz="1200" dirty="0"/>
          </a:p>
        </p:txBody>
      </p:sp>
      <p:sp>
        <p:nvSpPr>
          <p:cNvPr id="3" name="Text 0"/>
          <p:cNvSpPr/>
          <p:nvPr>
            <p:ph idx="101" type="title" hasCustomPrompt="1"/>
          </p:nvPr>
        </p:nvSpPr>
        <p:spPr>
          <a:xfrm>
            <a:off x="548640" y="676656"/>
            <a:ext cx="11094415" cy="713232"/>
          </a:xfrm>
          <a:prstGeom prst="rect">
            <a:avLst/>
          </a:prstGeom>
          <a:noFill/>
          <a:ln/>
        </p:spPr>
        <p:txBody>
          <a:bodyPr wrap="square" lIns="0" tIns="0" rIns="0" bIns="0" rtlCol="0" anchor="t"/>
          <a:lstStyle/>
          <a:p>
            <a:pPr algn="l" indent="0" marL="0">
              <a:buNone/>
            </a:pPr>
            <a:r>
              <a:rPr lang="en-US" sz="3600" b="1" dirty="0">
                <a:solidFill>
                  <a:schemeClr val="tx1"/>
                </a:solidFill>
              </a:rPr>
              <a:t>A lab that tests its own assumptions</a:t>
            </a:r>
            <a:endParaRPr lang="en-US" sz="3600" dirty="0"/>
          </a:p>
        </p:txBody>
      </p:sp>
      <p:sp>
        <p:nvSpPr>
          <p:cNvPr id="4" name="card-564"/>
          <p:cNvSpPr/>
          <p:nvPr/>
        </p:nvSpPr>
        <p:spPr>
          <a:xfrm>
            <a:off x="548640" y="1600200"/>
            <a:ext cx="5440680" cy="3633597"/>
          </a:xfrm>
          <a:prstGeom prst="roundRect">
            <a:avLst>
              <a:gd name="adj" fmla="val 2265"/>
            </a:avLst>
          </a:prstGeom>
          <a:solidFill>
            <a:schemeClr val="tx1"/>
          </a:solidFill>
          <a:ln/>
          <a:effectLst>
            <a:outerShdw sx="100000" sy="100000" kx="0" ky="0" algn="bl" rotWithShape="0" blurRad="177800" dist="50800" dir="5400000">
              <a:srgbClr val="0B1630">
                <a:alpha val="22000"/>
              </a:srgbClr>
            </a:outerShdw>
          </a:effectLst>
        </p:spPr>
      </p:sp>
      <p:sp>
        <p:nvSpPr>
          <p:cNvPr id="5" name="dot-565"/>
          <p:cNvSpPr/>
          <p:nvPr/>
        </p:nvSpPr>
        <p:spPr>
          <a:xfrm>
            <a:off x="676656" y="1687068"/>
            <a:ext cx="77724" cy="77724"/>
          </a:xfrm>
          <a:prstGeom prst="ellipse">
            <a:avLst/>
          </a:prstGeom>
          <a:solidFill>
            <a:schemeClr val="accent4"/>
          </a:solidFill>
          <a:ln/>
        </p:spPr>
      </p:sp>
      <p:sp>
        <p:nvSpPr>
          <p:cNvPr id="6" name="dot-566"/>
          <p:cNvSpPr/>
          <p:nvPr/>
        </p:nvSpPr>
        <p:spPr>
          <a:xfrm>
            <a:off x="813816" y="1687068"/>
            <a:ext cx="77724" cy="77724"/>
          </a:xfrm>
          <a:prstGeom prst="ellipse">
            <a:avLst/>
          </a:prstGeom>
          <a:solidFill>
            <a:schemeClr val="accent2"/>
          </a:solidFill>
          <a:ln/>
        </p:spPr>
      </p:sp>
      <p:sp>
        <p:nvSpPr>
          <p:cNvPr id="7" name="dot-567"/>
          <p:cNvSpPr/>
          <p:nvPr/>
        </p:nvSpPr>
        <p:spPr>
          <a:xfrm>
            <a:off x="950976" y="1687068"/>
            <a:ext cx="77724" cy="77724"/>
          </a:xfrm>
          <a:prstGeom prst="ellipse">
            <a:avLst/>
          </a:prstGeom>
          <a:solidFill>
            <a:schemeClr val="accent3"/>
          </a:solidFill>
          <a:ln/>
        </p:spPr>
      </p:sp>
      <p:sp>
        <p:nvSpPr>
          <p:cNvPr id="8" name="text-568"/>
          <p:cNvSpPr txBox="1"/>
          <p:nvPr/>
        </p:nvSpPr>
        <p:spPr>
          <a:xfrm>
            <a:off x="1115568" y="1632204"/>
            <a:ext cx="4709160" cy="182880"/>
          </a:xfrm>
          <a:prstGeom prst="rect">
            <a:avLst/>
          </a:prstGeom>
          <a:noFill/>
          <a:ln/>
        </p:spPr>
        <p:txBody>
          <a:bodyPr wrap="square" lIns="0" tIns="0" rIns="0" bIns="0" rtlCol="0" anchor="ctr"/>
          <a:lstStyle/>
          <a:p>
            <a:pPr indent="0" marL="0">
              <a:buNone/>
            </a:pPr>
            <a:r>
              <a:rPr lang="en-US" sz="950" dirty="0">
                <a:solidFill>
                  <a:schemeClr val="bg1">
                    <a:alpha val="60000"/>
                  </a:schemeClr>
                </a:solidFill>
              </a:rPr>
              <a:t>Causal Lab  ·  Shockwave  ·  Brent crude +20</a:t>
            </a:r>
            <a:endParaRPr lang="en-US" sz="950" dirty="0"/>
          </a:p>
        </p:txBody>
      </p:sp>
      <p:pic>
        <p:nvPicPr>
          <p:cNvPr id="9" name="screenshot-569" descr="Shockwave tab animating a Brent crude shock through the causal graph">    </p:cNvPr>
          <p:cNvPicPr>
            <a:picLocks noChangeAspect="1"/>
          </p:cNvPicPr>
          <p:nvPr/>
        </p:nvPicPr>
        <p:blipFill>
          <a:blip r:embed="rId1"/>
          <a:stretch>
            <a:fillRect/>
          </a:stretch>
        </p:blipFill>
        <p:spPr>
          <a:xfrm>
            <a:off x="603504" y="1847088"/>
            <a:ext cx="5330952" cy="3331845"/>
          </a:xfrm>
          <a:prstGeom prst="rect">
            <a:avLst/>
          </a:prstGeom>
        </p:spPr>
      </p:pic>
      <p:sp>
        <p:nvSpPr>
          <p:cNvPr id="10" name="card-570"/>
          <p:cNvSpPr/>
          <p:nvPr/>
        </p:nvSpPr>
        <p:spPr>
          <a:xfrm>
            <a:off x="6202375" y="1600200"/>
            <a:ext cx="5440680" cy="3633597"/>
          </a:xfrm>
          <a:prstGeom prst="roundRect">
            <a:avLst>
              <a:gd name="adj" fmla="val 2265"/>
            </a:avLst>
          </a:prstGeom>
          <a:solidFill>
            <a:schemeClr val="tx1"/>
          </a:solidFill>
          <a:ln/>
          <a:effectLst>
            <a:outerShdw sx="100000" sy="100000" kx="0" ky="0" algn="bl" rotWithShape="0" blurRad="177800" dist="50800" dir="5400000">
              <a:srgbClr val="0B1630">
                <a:alpha val="22000"/>
              </a:srgbClr>
            </a:outerShdw>
          </a:effectLst>
        </p:spPr>
      </p:sp>
      <p:sp>
        <p:nvSpPr>
          <p:cNvPr id="11" name="dot-571"/>
          <p:cNvSpPr/>
          <p:nvPr/>
        </p:nvSpPr>
        <p:spPr>
          <a:xfrm>
            <a:off x="6330391" y="1687068"/>
            <a:ext cx="77724" cy="77724"/>
          </a:xfrm>
          <a:prstGeom prst="ellipse">
            <a:avLst/>
          </a:prstGeom>
          <a:solidFill>
            <a:schemeClr val="accent4"/>
          </a:solidFill>
          <a:ln/>
        </p:spPr>
      </p:sp>
      <p:sp>
        <p:nvSpPr>
          <p:cNvPr id="12" name="dot-572"/>
          <p:cNvSpPr/>
          <p:nvPr/>
        </p:nvSpPr>
        <p:spPr>
          <a:xfrm>
            <a:off x="6467551" y="1687068"/>
            <a:ext cx="77724" cy="77724"/>
          </a:xfrm>
          <a:prstGeom prst="ellipse">
            <a:avLst/>
          </a:prstGeom>
          <a:solidFill>
            <a:schemeClr val="accent2"/>
          </a:solidFill>
          <a:ln/>
        </p:spPr>
      </p:sp>
      <p:sp>
        <p:nvSpPr>
          <p:cNvPr id="13" name="dot-573"/>
          <p:cNvSpPr/>
          <p:nvPr/>
        </p:nvSpPr>
        <p:spPr>
          <a:xfrm>
            <a:off x="6604711" y="1687068"/>
            <a:ext cx="77724" cy="77724"/>
          </a:xfrm>
          <a:prstGeom prst="ellipse">
            <a:avLst/>
          </a:prstGeom>
          <a:solidFill>
            <a:schemeClr val="accent3"/>
          </a:solidFill>
          <a:ln/>
        </p:spPr>
      </p:sp>
      <p:sp>
        <p:nvSpPr>
          <p:cNvPr id="14" name="text-574"/>
          <p:cNvSpPr txBox="1"/>
          <p:nvPr/>
        </p:nvSpPr>
        <p:spPr>
          <a:xfrm>
            <a:off x="6769303" y="1632204"/>
            <a:ext cx="4709160" cy="182880"/>
          </a:xfrm>
          <a:prstGeom prst="rect">
            <a:avLst/>
          </a:prstGeom>
          <a:noFill/>
          <a:ln/>
        </p:spPr>
        <p:txBody>
          <a:bodyPr wrap="square" lIns="0" tIns="0" rIns="0" bIns="0" rtlCol="0" anchor="ctr"/>
          <a:lstStyle/>
          <a:p>
            <a:pPr indent="0" marL="0">
              <a:buNone/>
            </a:pPr>
            <a:r>
              <a:rPr lang="en-US" sz="950" dirty="0">
                <a:solidFill>
                  <a:schemeClr val="bg1">
                    <a:alpha val="60000"/>
                  </a:schemeClr>
                </a:solidFill>
              </a:rPr>
              <a:t>Causal Lab  ·  MPC  ·  rule-based mode</a:t>
            </a:r>
            <a:endParaRPr lang="en-US" sz="950" dirty="0"/>
          </a:p>
        </p:txBody>
      </p:sp>
      <p:pic>
        <p:nvPicPr>
          <p:cNvPr id="15" name="screenshot-575" descr="Simulated six-seat monetary policy committee, labelled simulated">    </p:cNvPr>
          <p:cNvPicPr>
            <a:picLocks noChangeAspect="1"/>
          </p:cNvPicPr>
          <p:nvPr/>
        </p:nvPicPr>
        <p:blipFill>
          <a:blip r:embed="rId2"/>
          <a:stretch>
            <a:fillRect/>
          </a:stretch>
        </p:blipFill>
        <p:spPr>
          <a:xfrm>
            <a:off x="6257239" y="1847088"/>
            <a:ext cx="5330952" cy="3331845"/>
          </a:xfrm>
          <a:prstGeom prst="rect">
            <a:avLst/>
          </a:prstGeom>
        </p:spPr>
      </p:pic>
      <p:sp>
        <p:nvSpPr>
          <p:cNvPr id="16" name="dot-576"/>
          <p:cNvSpPr/>
          <p:nvPr/>
        </p:nvSpPr>
        <p:spPr>
          <a:xfrm>
            <a:off x="566928" y="5468112"/>
            <a:ext cx="91440" cy="91440"/>
          </a:xfrm>
          <a:prstGeom prst="ellipse">
            <a:avLst/>
          </a:prstGeom>
          <a:solidFill>
            <a:schemeClr val="accent1"/>
          </a:solidFill>
          <a:ln/>
        </p:spPr>
      </p:sp>
      <p:sp>
        <p:nvSpPr>
          <p:cNvPr id="17" name="text-577"/>
          <p:cNvSpPr txBox="1"/>
          <p:nvPr/>
        </p:nvSpPr>
        <p:spPr>
          <a:xfrm>
            <a:off x="749808" y="5394960"/>
            <a:ext cx="5212080" cy="237744"/>
          </a:xfrm>
          <a:prstGeom prst="rect">
            <a:avLst/>
          </a:prstGeom>
          <a:noFill/>
          <a:ln/>
        </p:spPr>
        <p:txBody>
          <a:bodyPr wrap="square" lIns="0" tIns="0" rIns="0" bIns="0" rtlCol="0" anchor="ctr"/>
          <a:lstStyle/>
          <a:p>
            <a:pPr indent="0" marL="0">
              <a:buNone/>
            </a:pPr>
            <a:r>
              <a:rPr lang="en-US" sz="1350" b="1" dirty="0">
                <a:solidFill>
                  <a:schemeClr val="accent1"/>
                </a:solidFill>
              </a:rPr>
              <a:t>Path  </a:t>
            </a:r>
            <a:pPr indent="0" marL="0">
              <a:buNone/>
            </a:pPr>
            <a:r>
              <a:rPr lang="en-US" sz="1350" dirty="0">
                <a:solidFill>
                  <a:schemeClr val="tx1"/>
                </a:solidFill>
              </a:rPr>
              <a:t>shortest route and cumulative lag</a:t>
            </a:r>
            <a:endParaRPr lang="en-US" sz="1350" dirty="0"/>
          </a:p>
        </p:txBody>
      </p:sp>
      <p:sp>
        <p:nvSpPr>
          <p:cNvPr id="18" name="dot-578"/>
          <p:cNvSpPr/>
          <p:nvPr/>
        </p:nvSpPr>
        <p:spPr>
          <a:xfrm>
            <a:off x="566928" y="5724144"/>
            <a:ext cx="91440" cy="91440"/>
          </a:xfrm>
          <a:prstGeom prst="ellipse">
            <a:avLst/>
          </a:prstGeom>
          <a:solidFill>
            <a:schemeClr val="accent1"/>
          </a:solidFill>
          <a:ln/>
        </p:spPr>
      </p:sp>
      <p:sp>
        <p:nvSpPr>
          <p:cNvPr id="19" name="text-579"/>
          <p:cNvSpPr txBox="1"/>
          <p:nvPr/>
        </p:nvSpPr>
        <p:spPr>
          <a:xfrm>
            <a:off x="749808" y="5650992"/>
            <a:ext cx="5212080" cy="237744"/>
          </a:xfrm>
          <a:prstGeom prst="rect">
            <a:avLst/>
          </a:prstGeom>
          <a:noFill/>
          <a:ln/>
        </p:spPr>
        <p:txBody>
          <a:bodyPr wrap="square" lIns="0" tIns="0" rIns="0" bIns="0" rtlCol="0" anchor="ctr"/>
          <a:lstStyle/>
          <a:p>
            <a:pPr indent="0" marL="0">
              <a:buNone/>
            </a:pPr>
            <a:r>
              <a:rPr lang="en-US" sz="1350" b="1" dirty="0">
                <a:solidFill>
                  <a:schemeClr val="accent1"/>
                </a:solidFill>
              </a:rPr>
              <a:t>Shockwave  </a:t>
            </a:r>
            <a:pPr indent="0" marL="0">
              <a:buNone/>
            </a:pPr>
            <a:r>
              <a:rPr lang="en-US" sz="1350" dirty="0">
                <a:solidFill>
                  <a:schemeClr val="tx1"/>
                </a:solidFill>
              </a:rPr>
              <a:t>month-by-month propagation, step or decay</a:t>
            </a:r>
            <a:endParaRPr lang="en-US" sz="1350" dirty="0"/>
          </a:p>
        </p:txBody>
      </p:sp>
      <p:sp>
        <p:nvSpPr>
          <p:cNvPr id="20" name="dot-580"/>
          <p:cNvSpPr/>
          <p:nvPr/>
        </p:nvSpPr>
        <p:spPr>
          <a:xfrm>
            <a:off x="566928" y="5980176"/>
            <a:ext cx="91440" cy="91440"/>
          </a:xfrm>
          <a:prstGeom prst="ellipse">
            <a:avLst/>
          </a:prstGeom>
          <a:solidFill>
            <a:schemeClr val="accent1"/>
          </a:solidFill>
          <a:ln/>
        </p:spPr>
      </p:sp>
      <p:sp>
        <p:nvSpPr>
          <p:cNvPr id="21" name="text-581"/>
          <p:cNvSpPr txBox="1"/>
          <p:nvPr/>
        </p:nvSpPr>
        <p:spPr>
          <a:xfrm>
            <a:off x="749808" y="5907024"/>
            <a:ext cx="5212080" cy="237744"/>
          </a:xfrm>
          <a:prstGeom prst="rect">
            <a:avLst/>
          </a:prstGeom>
          <a:noFill/>
          <a:ln/>
        </p:spPr>
        <p:txBody>
          <a:bodyPr wrap="square" lIns="0" tIns="0" rIns="0" bIns="0" rtlCol="0" anchor="ctr"/>
          <a:lstStyle/>
          <a:p>
            <a:pPr indent="0" marL="0">
              <a:buNone/>
            </a:pPr>
            <a:r>
              <a:rPr lang="en-US" sz="1350" b="1" dirty="0">
                <a:solidFill>
                  <a:schemeClr val="accent1"/>
                </a:solidFill>
              </a:rPr>
              <a:t>Twin  </a:t>
            </a:r>
            <a:pPr indent="0" marL="0">
              <a:buNone/>
            </a:pPr>
            <a:r>
              <a:rPr lang="en-US" sz="1350" dirty="0">
                <a:solidFill>
                  <a:schemeClr val="tx1"/>
                </a:solidFill>
              </a:rPr>
              <a:t>base vs shocked world, weakest hop</a:t>
            </a:r>
            <a:endParaRPr lang="en-US" sz="1350" dirty="0"/>
          </a:p>
        </p:txBody>
      </p:sp>
      <p:sp>
        <p:nvSpPr>
          <p:cNvPr id="22" name="dot-582"/>
          <p:cNvSpPr/>
          <p:nvPr/>
        </p:nvSpPr>
        <p:spPr>
          <a:xfrm>
            <a:off x="6220663" y="5468112"/>
            <a:ext cx="91440" cy="91440"/>
          </a:xfrm>
          <a:prstGeom prst="ellipse">
            <a:avLst/>
          </a:prstGeom>
          <a:solidFill>
            <a:schemeClr val="accent1"/>
          </a:solidFill>
          <a:ln/>
        </p:spPr>
      </p:sp>
      <p:sp>
        <p:nvSpPr>
          <p:cNvPr id="23" name="text-583"/>
          <p:cNvSpPr txBox="1"/>
          <p:nvPr/>
        </p:nvSpPr>
        <p:spPr>
          <a:xfrm>
            <a:off x="6403543" y="5394960"/>
            <a:ext cx="5212080" cy="237744"/>
          </a:xfrm>
          <a:prstGeom prst="rect">
            <a:avLst/>
          </a:prstGeom>
          <a:noFill/>
          <a:ln/>
        </p:spPr>
        <p:txBody>
          <a:bodyPr wrap="square" lIns="0" tIns="0" rIns="0" bIns="0" rtlCol="0" anchor="ctr"/>
          <a:lstStyle/>
          <a:p>
            <a:pPr indent="0" marL="0">
              <a:buNone/>
            </a:pPr>
            <a:r>
              <a:rPr lang="en-US" sz="1350" b="1" dirty="0">
                <a:solidFill>
                  <a:schemeClr val="accent1"/>
                </a:solidFill>
              </a:rPr>
              <a:t>MPC  </a:t>
            </a:r>
            <a:pPr indent="0" marL="0">
              <a:buNone/>
            </a:pPr>
            <a:r>
              <a:rPr lang="en-US" sz="1350" dirty="0">
                <a:solidFill>
                  <a:schemeClr val="tx1"/>
                </a:solidFill>
              </a:rPr>
              <a:t>six simulated seats vs a rule baseline</a:t>
            </a:r>
            <a:endParaRPr lang="en-US" sz="1350" dirty="0"/>
          </a:p>
        </p:txBody>
      </p:sp>
      <p:sp>
        <p:nvSpPr>
          <p:cNvPr id="24" name="dot-584"/>
          <p:cNvSpPr/>
          <p:nvPr/>
        </p:nvSpPr>
        <p:spPr>
          <a:xfrm>
            <a:off x="6220663" y="5724144"/>
            <a:ext cx="91440" cy="91440"/>
          </a:xfrm>
          <a:prstGeom prst="ellipse">
            <a:avLst/>
          </a:prstGeom>
          <a:solidFill>
            <a:schemeClr val="accent1"/>
          </a:solidFill>
          <a:ln/>
        </p:spPr>
      </p:sp>
      <p:sp>
        <p:nvSpPr>
          <p:cNvPr id="25" name="text-585"/>
          <p:cNvSpPr txBox="1"/>
          <p:nvPr/>
        </p:nvSpPr>
        <p:spPr>
          <a:xfrm>
            <a:off x="6403543" y="5650992"/>
            <a:ext cx="5212080" cy="237744"/>
          </a:xfrm>
          <a:prstGeom prst="rect">
            <a:avLst/>
          </a:prstGeom>
          <a:noFill/>
          <a:ln/>
        </p:spPr>
        <p:txBody>
          <a:bodyPr wrap="square" lIns="0" tIns="0" rIns="0" bIns="0" rtlCol="0" anchor="ctr"/>
          <a:lstStyle/>
          <a:p>
            <a:pPr indent="0" marL="0">
              <a:buNone/>
            </a:pPr>
            <a:r>
              <a:rPr lang="en-US" sz="1350" b="1" dirty="0">
                <a:solidFill>
                  <a:schemeClr val="accent1"/>
                </a:solidFill>
              </a:rPr>
              <a:t>Radar  </a:t>
            </a:r>
            <a:pPr indent="0" marL="0">
              <a:buNone/>
            </a:pPr>
            <a:r>
              <a:rPr lang="en-US" sz="1350" dirty="0">
                <a:solidFill>
                  <a:schemeClr val="tx1"/>
                </a:solidFill>
              </a:rPr>
              <a:t>z-score anomalies, propagating or isolated</a:t>
            </a:r>
            <a:endParaRPr lang="en-US" sz="1350" dirty="0"/>
          </a:p>
        </p:txBody>
      </p:sp>
      <p:sp>
        <p:nvSpPr>
          <p:cNvPr id="26" name="dot-586"/>
          <p:cNvSpPr/>
          <p:nvPr/>
        </p:nvSpPr>
        <p:spPr>
          <a:xfrm>
            <a:off x="6220663" y="5980176"/>
            <a:ext cx="91440" cy="91440"/>
          </a:xfrm>
          <a:prstGeom prst="ellipse">
            <a:avLst/>
          </a:prstGeom>
          <a:solidFill>
            <a:schemeClr val="accent1"/>
          </a:solidFill>
          <a:ln/>
        </p:spPr>
      </p:sp>
      <p:sp>
        <p:nvSpPr>
          <p:cNvPr id="27" name="text-587"/>
          <p:cNvSpPr txBox="1"/>
          <p:nvPr/>
        </p:nvSpPr>
        <p:spPr>
          <a:xfrm>
            <a:off x="6403543" y="5907024"/>
            <a:ext cx="5212080" cy="237744"/>
          </a:xfrm>
          <a:prstGeom prst="rect">
            <a:avLst/>
          </a:prstGeom>
          <a:noFill/>
          <a:ln/>
        </p:spPr>
        <p:txBody>
          <a:bodyPr wrap="square" lIns="0" tIns="0" rIns="0" bIns="0" rtlCol="0" anchor="ctr"/>
          <a:lstStyle/>
          <a:p>
            <a:pPr indent="0" marL="0">
              <a:buNone/>
            </a:pPr>
            <a:r>
              <a:rPr lang="en-US" sz="1350" b="1" dirty="0">
                <a:solidFill>
                  <a:schemeClr val="accent1"/>
                </a:solidFill>
              </a:rPr>
              <a:t>Edge audit  </a:t>
            </a:r>
            <a:pPr indent="0" marL="0">
              <a:buNone/>
            </a:pPr>
            <a:r>
              <a:rPr lang="en-US" sz="1350" dirty="0">
                <a:solidFill>
                  <a:schemeClr val="tx1"/>
                </a:solidFill>
              </a:rPr>
              <a:t>Granger re-test: SEEDED or EMPIRICAL</a:t>
            </a:r>
            <a:endParaRPr lang="en-US" sz="1350" dirty="0"/>
          </a:p>
        </p:txBody>
      </p:sp>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160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PRODUCT SHOWCASE</a:t>
            </a:r>
            <a:endParaRPr lang="en-US" sz="1200" dirty="0"/>
          </a:p>
        </p:txBody>
      </p:sp>
      <p:sp>
        <p:nvSpPr>
          <p:cNvPr id="3" name="Text 0"/>
          <p:cNvSpPr/>
          <p:nvPr>
            <p:ph idx="101" type="title" hasCustomPrompt="1"/>
          </p:nvPr>
        </p:nvSpPr>
        <p:spPr>
          <a:xfrm>
            <a:off x="548640" y="676656"/>
            <a:ext cx="11094415" cy="713232"/>
          </a:xfrm>
          <a:prstGeom prst="rect">
            <a:avLst/>
          </a:prstGeom>
          <a:noFill/>
          <a:ln/>
        </p:spPr>
        <p:txBody>
          <a:bodyPr wrap="square" lIns="0" tIns="0" rIns="0" bIns="0" rtlCol="0" anchor="t"/>
          <a:lstStyle/>
          <a:p>
            <a:pPr algn="l" indent="0" marL="0">
              <a:buNone/>
            </a:pPr>
            <a:r>
              <a:rPr lang="en-US" sz="3600" b="1" dirty="0">
                <a:solidFill>
                  <a:schemeClr val="bg1"/>
                </a:solidFill>
              </a:rPr>
              <a:t>A working product, not a notebook</a:t>
            </a:r>
            <a:endParaRPr lang="en-US" sz="3600" dirty="0"/>
          </a:p>
        </p:txBody>
      </p:sp>
      <p:sp>
        <p:nvSpPr>
          <p:cNvPr id="4" name="card-588"/>
          <p:cNvSpPr/>
          <p:nvPr/>
        </p:nvSpPr>
        <p:spPr>
          <a:xfrm>
            <a:off x="548640" y="1600200"/>
            <a:ext cx="3520440" cy="2982951"/>
          </a:xfrm>
          <a:prstGeom prst="roundRect">
            <a:avLst>
              <a:gd name="adj" fmla="val 2759"/>
            </a:avLst>
          </a:prstGeom>
          <a:solidFill>
            <a:schemeClr val="accent5"/>
          </a:solidFill>
          <a:ln w="9525">
            <a:solidFill>
              <a:schemeClr val="accent6">
                <a:alpha val="35000"/>
              </a:schemeClr>
            </a:solidFill>
            <a:prstDash val="solid"/>
          </a:ln>
        </p:spPr>
      </p:sp>
      <p:sp>
        <p:nvSpPr>
          <p:cNvPr id="5" name="dot-589"/>
          <p:cNvSpPr/>
          <p:nvPr/>
        </p:nvSpPr>
        <p:spPr>
          <a:xfrm>
            <a:off x="676656" y="1687068"/>
            <a:ext cx="77724" cy="77724"/>
          </a:xfrm>
          <a:prstGeom prst="ellipse">
            <a:avLst/>
          </a:prstGeom>
          <a:solidFill>
            <a:schemeClr val="accent4"/>
          </a:solidFill>
          <a:ln/>
        </p:spPr>
      </p:sp>
      <p:sp>
        <p:nvSpPr>
          <p:cNvPr id="6" name="dot-590"/>
          <p:cNvSpPr/>
          <p:nvPr/>
        </p:nvSpPr>
        <p:spPr>
          <a:xfrm>
            <a:off x="813816" y="1687068"/>
            <a:ext cx="77724" cy="77724"/>
          </a:xfrm>
          <a:prstGeom prst="ellipse">
            <a:avLst/>
          </a:prstGeom>
          <a:solidFill>
            <a:schemeClr val="accent2"/>
          </a:solidFill>
          <a:ln/>
        </p:spPr>
      </p:sp>
      <p:sp>
        <p:nvSpPr>
          <p:cNvPr id="7" name="dot-591"/>
          <p:cNvSpPr/>
          <p:nvPr/>
        </p:nvSpPr>
        <p:spPr>
          <a:xfrm>
            <a:off x="950976" y="1687068"/>
            <a:ext cx="77724" cy="77724"/>
          </a:xfrm>
          <a:prstGeom prst="ellipse">
            <a:avLst/>
          </a:prstGeom>
          <a:solidFill>
            <a:schemeClr val="accent3"/>
          </a:solidFill>
          <a:ln/>
        </p:spPr>
      </p:sp>
      <p:sp>
        <p:nvSpPr>
          <p:cNvPr id="8" name="text-592"/>
          <p:cNvSpPr txBox="1"/>
          <p:nvPr/>
        </p:nvSpPr>
        <p:spPr>
          <a:xfrm>
            <a:off x="1115568" y="1632204"/>
            <a:ext cx="2788920" cy="182880"/>
          </a:xfrm>
          <a:prstGeom prst="rect">
            <a:avLst/>
          </a:prstGeom>
          <a:noFill/>
          <a:ln/>
        </p:spPr>
        <p:txBody>
          <a:bodyPr wrap="square" lIns="0" tIns="0" rIns="0" bIns="0" rtlCol="0" anchor="ctr"/>
          <a:lstStyle/>
          <a:p>
            <a:pPr indent="0" marL="0">
              <a:buNone/>
            </a:pPr>
            <a:r>
              <a:rPr lang="en-US" sz="950" dirty="0">
                <a:solidFill>
                  <a:schemeClr val="bg1">
                    <a:alpha val="60000"/>
                  </a:schemeClr>
                </a:solidFill>
              </a:rPr>
              <a:t>Dashboard  ·  All sectors</a:t>
            </a:r>
            <a:endParaRPr lang="en-US" sz="950" dirty="0"/>
          </a:p>
        </p:txBody>
      </p:sp>
      <p:pic>
        <p:nvPicPr>
          <p:cNvPr id="9" name="screenshot-593" descr="Cross-sector dashboard with ticker and early-warning brief">    </p:cNvPr>
          <p:cNvPicPr>
            <a:picLocks noChangeAspect="1"/>
          </p:cNvPicPr>
          <p:nvPr/>
        </p:nvPicPr>
        <p:blipFill>
          <a:blip r:embed="rId1"/>
          <a:stretch>
            <a:fillRect/>
          </a:stretch>
        </p:blipFill>
        <p:spPr>
          <a:xfrm>
            <a:off x="603504" y="1847088"/>
            <a:ext cx="3410712" cy="2681199"/>
          </a:xfrm>
          <a:prstGeom prst="rect">
            <a:avLst/>
          </a:prstGeom>
        </p:spPr>
      </p:pic>
      <p:sp>
        <p:nvSpPr>
          <p:cNvPr id="10" name="text-594"/>
          <p:cNvSpPr txBox="1"/>
          <p:nvPr/>
        </p:nvSpPr>
        <p:spPr>
          <a:xfrm>
            <a:off x="548640" y="4766031"/>
            <a:ext cx="3520440" cy="292608"/>
          </a:xfrm>
          <a:prstGeom prst="rect">
            <a:avLst/>
          </a:prstGeom>
          <a:noFill/>
          <a:ln/>
        </p:spPr>
        <p:txBody>
          <a:bodyPr wrap="square" lIns="0" tIns="0" rIns="0" bIns="0" rtlCol="0" anchor="t"/>
          <a:lstStyle/>
          <a:p>
            <a:pPr indent="0" marL="0">
              <a:buNone/>
            </a:pPr>
            <a:r>
              <a:rPr lang="en-US" sz="1550" b="1" dirty="0">
                <a:solidFill>
                  <a:schemeClr val="bg1"/>
                </a:solidFill>
              </a:rPr>
              <a:t>Cross-sector dashboard</a:t>
            </a:r>
            <a:endParaRPr lang="en-US" sz="1550" dirty="0"/>
          </a:p>
        </p:txBody>
      </p:sp>
      <p:sp>
        <p:nvSpPr>
          <p:cNvPr id="11" name="text-595"/>
          <p:cNvSpPr txBox="1"/>
          <p:nvPr/>
        </p:nvSpPr>
        <p:spPr>
          <a:xfrm>
            <a:off x="548640" y="5067783"/>
            <a:ext cx="3520440" cy="566928"/>
          </a:xfrm>
          <a:prstGeom prst="rect">
            <a:avLst/>
          </a:prstGeom>
          <a:noFill/>
          <a:ln/>
        </p:spPr>
        <p:txBody>
          <a:bodyPr wrap="square" lIns="0" tIns="0" rIns="0" bIns="0" rtlCol="0" anchor="t"/>
          <a:lstStyle/>
          <a:p>
            <a:pPr indent="0" marL="0">
              <a:buNone/>
            </a:pPr>
            <a:r>
              <a:rPr lang="en-US" sz="1250" dirty="0">
                <a:solidFill>
                  <a:schemeClr val="bg1">
                    <a:alpha val="78000"/>
                  </a:schemeClr>
                </a:solidFill>
              </a:rPr>
              <a:t>Live ticker, early-warning brief and sector tabs; KPIs carry their table and period.</a:t>
            </a:r>
            <a:endParaRPr lang="en-US" sz="1250" dirty="0"/>
          </a:p>
        </p:txBody>
      </p:sp>
      <p:sp>
        <p:nvSpPr>
          <p:cNvPr id="12" name="card-596"/>
          <p:cNvSpPr/>
          <p:nvPr/>
        </p:nvSpPr>
        <p:spPr>
          <a:xfrm>
            <a:off x="4335628" y="1600200"/>
            <a:ext cx="3520440" cy="2982951"/>
          </a:xfrm>
          <a:prstGeom prst="roundRect">
            <a:avLst>
              <a:gd name="adj" fmla="val 2759"/>
            </a:avLst>
          </a:prstGeom>
          <a:solidFill>
            <a:schemeClr val="accent5"/>
          </a:solidFill>
          <a:ln w="9525">
            <a:solidFill>
              <a:schemeClr val="accent6">
                <a:alpha val="35000"/>
              </a:schemeClr>
            </a:solidFill>
            <a:prstDash val="solid"/>
          </a:ln>
        </p:spPr>
      </p:sp>
      <p:sp>
        <p:nvSpPr>
          <p:cNvPr id="13" name="dot-597"/>
          <p:cNvSpPr/>
          <p:nvPr/>
        </p:nvSpPr>
        <p:spPr>
          <a:xfrm>
            <a:off x="4463644" y="1687068"/>
            <a:ext cx="77724" cy="77724"/>
          </a:xfrm>
          <a:prstGeom prst="ellipse">
            <a:avLst/>
          </a:prstGeom>
          <a:solidFill>
            <a:schemeClr val="accent4"/>
          </a:solidFill>
          <a:ln/>
        </p:spPr>
      </p:sp>
      <p:sp>
        <p:nvSpPr>
          <p:cNvPr id="14" name="dot-598"/>
          <p:cNvSpPr/>
          <p:nvPr/>
        </p:nvSpPr>
        <p:spPr>
          <a:xfrm>
            <a:off x="4600804" y="1687068"/>
            <a:ext cx="77724" cy="77724"/>
          </a:xfrm>
          <a:prstGeom prst="ellipse">
            <a:avLst/>
          </a:prstGeom>
          <a:solidFill>
            <a:schemeClr val="accent2"/>
          </a:solidFill>
          <a:ln/>
        </p:spPr>
      </p:sp>
      <p:sp>
        <p:nvSpPr>
          <p:cNvPr id="15" name="dot-599"/>
          <p:cNvSpPr/>
          <p:nvPr/>
        </p:nvSpPr>
        <p:spPr>
          <a:xfrm>
            <a:off x="4737964" y="1687068"/>
            <a:ext cx="77724" cy="77724"/>
          </a:xfrm>
          <a:prstGeom prst="ellipse">
            <a:avLst/>
          </a:prstGeom>
          <a:solidFill>
            <a:schemeClr val="accent3"/>
          </a:solidFill>
          <a:ln/>
        </p:spPr>
      </p:sp>
      <p:sp>
        <p:nvSpPr>
          <p:cNvPr id="16" name="text-600"/>
          <p:cNvSpPr txBox="1"/>
          <p:nvPr/>
        </p:nvSpPr>
        <p:spPr>
          <a:xfrm>
            <a:off x="4902556" y="1632204"/>
            <a:ext cx="2788920" cy="182880"/>
          </a:xfrm>
          <a:prstGeom prst="rect">
            <a:avLst/>
          </a:prstGeom>
          <a:noFill/>
          <a:ln/>
        </p:spPr>
        <p:txBody>
          <a:bodyPr wrap="square" lIns="0" tIns="0" rIns="0" bIns="0" rtlCol="0" anchor="ctr"/>
          <a:lstStyle/>
          <a:p>
            <a:pPr indent="0" marL="0">
              <a:buNone/>
            </a:pPr>
            <a:r>
              <a:rPr lang="en-US" sz="950" dirty="0">
                <a:solidFill>
                  <a:schemeClr val="bg1">
                    <a:alpha val="60000"/>
                  </a:schemeClr>
                </a:solidFill>
              </a:rPr>
              <a:t>Dashboard  ·  Finance &amp; banking</a:t>
            </a:r>
            <a:endParaRPr lang="en-US" sz="950" dirty="0"/>
          </a:p>
        </p:txBody>
      </p:sp>
      <p:pic>
        <p:nvPicPr>
          <p:cNvPr id="17" name="screenshot-601" descr="Finance and banking tab with RBI DBIE indicators">    </p:cNvPr>
          <p:cNvPicPr>
            <a:picLocks noChangeAspect="1"/>
          </p:cNvPicPr>
          <p:nvPr/>
        </p:nvPicPr>
        <p:blipFill>
          <a:blip r:embed="rId2"/>
          <a:stretch>
            <a:fillRect/>
          </a:stretch>
        </p:blipFill>
        <p:spPr>
          <a:xfrm>
            <a:off x="4390492" y="1847088"/>
            <a:ext cx="3410712" cy="2681199"/>
          </a:xfrm>
          <a:prstGeom prst="rect">
            <a:avLst/>
          </a:prstGeom>
        </p:spPr>
      </p:pic>
      <p:sp>
        <p:nvSpPr>
          <p:cNvPr id="18" name="text-602"/>
          <p:cNvSpPr txBox="1"/>
          <p:nvPr/>
        </p:nvSpPr>
        <p:spPr>
          <a:xfrm>
            <a:off x="4335628" y="4766031"/>
            <a:ext cx="3520440" cy="292608"/>
          </a:xfrm>
          <a:prstGeom prst="rect">
            <a:avLst/>
          </a:prstGeom>
          <a:noFill/>
          <a:ln/>
        </p:spPr>
        <p:txBody>
          <a:bodyPr wrap="square" lIns="0" tIns="0" rIns="0" bIns="0" rtlCol="0" anchor="t"/>
          <a:lstStyle/>
          <a:p>
            <a:pPr indent="0" marL="0">
              <a:buNone/>
            </a:pPr>
            <a:r>
              <a:rPr lang="en-US" sz="1550" b="1" dirty="0">
                <a:solidFill>
                  <a:schemeClr val="bg1"/>
                </a:solidFill>
              </a:rPr>
              <a:t>Finance and banking</a:t>
            </a:r>
            <a:endParaRPr lang="en-US" sz="1550" dirty="0"/>
          </a:p>
        </p:txBody>
      </p:sp>
      <p:sp>
        <p:nvSpPr>
          <p:cNvPr id="19" name="text-603"/>
          <p:cNvSpPr txBox="1"/>
          <p:nvPr/>
        </p:nvSpPr>
        <p:spPr>
          <a:xfrm>
            <a:off x="4335628" y="5067783"/>
            <a:ext cx="3520440" cy="566928"/>
          </a:xfrm>
          <a:prstGeom prst="rect">
            <a:avLst/>
          </a:prstGeom>
          <a:noFill/>
          <a:ln/>
        </p:spPr>
        <p:txBody>
          <a:bodyPr wrap="square" lIns="0" tIns="0" rIns="0" bIns="0" rtlCol="0" anchor="t"/>
          <a:lstStyle/>
          <a:p>
            <a:pPr indent="0" marL="0">
              <a:buNone/>
            </a:pPr>
            <a:r>
              <a:rPr lang="en-US" sz="1250" dirty="0">
                <a:solidFill>
                  <a:schemeClr val="bg1">
                    <a:alpha val="78000"/>
                  </a:schemeClr>
                </a:solidFill>
              </a:rPr>
              <a:t>Credit, asset quality and capital gauges from RBI DBIE tables r539, r330, r531 and r689.</a:t>
            </a:r>
            <a:endParaRPr lang="en-US" sz="1250" dirty="0"/>
          </a:p>
        </p:txBody>
      </p:sp>
      <p:sp>
        <p:nvSpPr>
          <p:cNvPr id="20" name="card-604"/>
          <p:cNvSpPr/>
          <p:nvPr/>
        </p:nvSpPr>
        <p:spPr>
          <a:xfrm>
            <a:off x="8122615" y="1600200"/>
            <a:ext cx="3520440" cy="2982951"/>
          </a:xfrm>
          <a:prstGeom prst="roundRect">
            <a:avLst>
              <a:gd name="adj" fmla="val 2759"/>
            </a:avLst>
          </a:prstGeom>
          <a:solidFill>
            <a:schemeClr val="accent5"/>
          </a:solidFill>
          <a:ln w="9525">
            <a:solidFill>
              <a:schemeClr val="accent6">
                <a:alpha val="35000"/>
              </a:schemeClr>
            </a:solidFill>
            <a:prstDash val="solid"/>
          </a:ln>
        </p:spPr>
      </p:sp>
      <p:sp>
        <p:nvSpPr>
          <p:cNvPr id="21" name="dot-605"/>
          <p:cNvSpPr/>
          <p:nvPr/>
        </p:nvSpPr>
        <p:spPr>
          <a:xfrm>
            <a:off x="8250631" y="1687068"/>
            <a:ext cx="77724" cy="77724"/>
          </a:xfrm>
          <a:prstGeom prst="ellipse">
            <a:avLst/>
          </a:prstGeom>
          <a:solidFill>
            <a:schemeClr val="accent4"/>
          </a:solidFill>
          <a:ln/>
        </p:spPr>
      </p:sp>
      <p:sp>
        <p:nvSpPr>
          <p:cNvPr id="22" name="dot-606"/>
          <p:cNvSpPr/>
          <p:nvPr/>
        </p:nvSpPr>
        <p:spPr>
          <a:xfrm>
            <a:off x="8387791" y="1687068"/>
            <a:ext cx="77724" cy="77724"/>
          </a:xfrm>
          <a:prstGeom prst="ellipse">
            <a:avLst/>
          </a:prstGeom>
          <a:solidFill>
            <a:schemeClr val="accent2"/>
          </a:solidFill>
          <a:ln/>
        </p:spPr>
      </p:sp>
      <p:sp>
        <p:nvSpPr>
          <p:cNvPr id="23" name="dot-607"/>
          <p:cNvSpPr/>
          <p:nvPr/>
        </p:nvSpPr>
        <p:spPr>
          <a:xfrm>
            <a:off x="8524951" y="1687068"/>
            <a:ext cx="77724" cy="77724"/>
          </a:xfrm>
          <a:prstGeom prst="ellipse">
            <a:avLst/>
          </a:prstGeom>
          <a:solidFill>
            <a:schemeClr val="accent3"/>
          </a:solidFill>
          <a:ln/>
        </p:spPr>
      </p:sp>
      <p:sp>
        <p:nvSpPr>
          <p:cNvPr id="24" name="text-608"/>
          <p:cNvSpPr txBox="1"/>
          <p:nvPr/>
        </p:nvSpPr>
        <p:spPr>
          <a:xfrm>
            <a:off x="8689543" y="1632204"/>
            <a:ext cx="2788920" cy="182880"/>
          </a:xfrm>
          <a:prstGeom prst="rect">
            <a:avLst/>
          </a:prstGeom>
          <a:noFill/>
          <a:ln/>
        </p:spPr>
        <p:txBody>
          <a:bodyPr wrap="square" lIns="0" tIns="0" rIns="0" bIns="0" rtlCol="0" anchor="ctr"/>
          <a:lstStyle/>
          <a:p>
            <a:pPr indent="0" marL="0">
              <a:buNone/>
            </a:pPr>
            <a:r>
              <a:rPr lang="en-US" sz="950" dirty="0">
                <a:solidFill>
                  <a:schemeClr val="bg1">
                    <a:alpha val="60000"/>
                  </a:schemeClr>
                </a:solidFill>
              </a:rPr>
              <a:t>A2A agent registry</a:t>
            </a:r>
            <a:endParaRPr lang="en-US" sz="950" dirty="0"/>
          </a:p>
        </p:txBody>
      </p:sp>
      <p:pic>
        <p:nvPicPr>
          <p:cNvPr id="25" name="screenshot-609" descr="A2A registry listing sector Agent Cards">    </p:cNvPr>
          <p:cNvPicPr>
            <a:picLocks noChangeAspect="1"/>
          </p:cNvPicPr>
          <p:nvPr/>
        </p:nvPicPr>
        <p:blipFill>
          <a:blip r:embed="rId3"/>
          <a:stretch>
            <a:fillRect/>
          </a:stretch>
        </p:blipFill>
        <p:spPr>
          <a:xfrm>
            <a:off x="8177479" y="1847088"/>
            <a:ext cx="3410712" cy="2681199"/>
          </a:xfrm>
          <a:prstGeom prst="rect">
            <a:avLst/>
          </a:prstGeom>
        </p:spPr>
      </p:pic>
      <p:sp>
        <p:nvSpPr>
          <p:cNvPr id="26" name="text-610"/>
          <p:cNvSpPr txBox="1"/>
          <p:nvPr/>
        </p:nvSpPr>
        <p:spPr>
          <a:xfrm>
            <a:off x="8122615" y="4766031"/>
            <a:ext cx="3520440" cy="292608"/>
          </a:xfrm>
          <a:prstGeom prst="rect">
            <a:avLst/>
          </a:prstGeom>
          <a:noFill/>
          <a:ln/>
        </p:spPr>
        <p:txBody>
          <a:bodyPr wrap="square" lIns="0" tIns="0" rIns="0" bIns="0" rtlCol="0" anchor="t"/>
          <a:lstStyle/>
          <a:p>
            <a:pPr indent="0" marL="0">
              <a:buNone/>
            </a:pPr>
            <a:r>
              <a:rPr lang="en-US" sz="1550" b="1" dirty="0">
                <a:solidFill>
                  <a:schemeClr val="bg1"/>
                </a:solidFill>
              </a:rPr>
              <a:t>A2A agent registry</a:t>
            </a:r>
            <a:endParaRPr lang="en-US" sz="1550" dirty="0"/>
          </a:p>
        </p:txBody>
      </p:sp>
      <p:sp>
        <p:nvSpPr>
          <p:cNvPr id="27" name="text-611"/>
          <p:cNvSpPr txBox="1"/>
          <p:nvPr/>
        </p:nvSpPr>
        <p:spPr>
          <a:xfrm>
            <a:off x="8122615" y="5067783"/>
            <a:ext cx="3520440" cy="566928"/>
          </a:xfrm>
          <a:prstGeom prst="rect">
            <a:avLst/>
          </a:prstGeom>
          <a:noFill/>
          <a:ln/>
        </p:spPr>
        <p:txBody>
          <a:bodyPr wrap="square" lIns="0" tIns="0" rIns="0" bIns="0" rtlCol="0" anchor="t"/>
          <a:lstStyle/>
          <a:p>
            <a:pPr indent="0" marL="0">
              <a:buNone/>
            </a:pPr>
            <a:r>
              <a:rPr lang="en-US" sz="1250" dirty="0">
                <a:solidFill>
                  <a:schemeClr val="bg1">
                    <a:alpha val="78000"/>
                  </a:schemeClr>
                </a:solidFill>
              </a:rPr>
              <a:t>Agent Cards with skills, A2A tasks and the declared peer edges between sectors.</a:t>
            </a:r>
            <a:endParaRPr lang="en-US" sz="1250" dirty="0"/>
          </a:p>
        </p:txBody>
      </p:sp>
      <p:sp>
        <p:nvSpPr>
          <p:cNvPr id="28" name="card-612"/>
          <p:cNvSpPr/>
          <p:nvPr/>
        </p:nvSpPr>
        <p:spPr>
          <a:xfrm>
            <a:off x="548640" y="5779008"/>
            <a:ext cx="11094415" cy="402336"/>
          </a:xfrm>
          <a:prstGeom prst="roundRect">
            <a:avLst>
              <a:gd name="adj" fmla="val 50000"/>
            </a:avLst>
          </a:prstGeom>
          <a:solidFill>
            <a:schemeClr val="accent5"/>
          </a:solidFill>
          <a:ln/>
        </p:spPr>
      </p:sp>
      <p:sp>
        <p:nvSpPr>
          <p:cNvPr id="29" name="text-613"/>
          <p:cNvSpPr txBox="1"/>
          <p:nvPr/>
        </p:nvSpPr>
        <p:spPr>
          <a:xfrm>
            <a:off x="822960" y="5779008"/>
            <a:ext cx="10545775" cy="402336"/>
          </a:xfrm>
          <a:prstGeom prst="rect">
            <a:avLst/>
          </a:prstGeom>
          <a:noFill/>
          <a:ln/>
        </p:spPr>
        <p:txBody>
          <a:bodyPr wrap="square" lIns="0" tIns="0" rIns="0" bIns="0" rtlCol="0" anchor="ctr"/>
          <a:lstStyle/>
          <a:p>
            <a:pPr indent="0" marL="0">
              <a:buNone/>
            </a:pPr>
            <a:r>
              <a:rPr lang="en-US" sz="1200" b="1" spc="150" kern="0" dirty="0">
                <a:solidFill>
                  <a:schemeClr val="accent6"/>
                </a:solidFill>
              </a:rPr>
              <a:t>ALSO IN THE APP   </a:t>
            </a:r>
            <a:pPr indent="0" marL="0">
              <a:buNone/>
            </a:pPr>
            <a:r>
              <a:rPr lang="en-US" sz="1200" dirty="0">
                <a:solidFill>
                  <a:schemeClr val="bg1">
                    <a:alpha val="85000"/>
                  </a:schemeClr>
                </a:solidFill>
              </a:rPr>
              <a:t>Streaming chat with a live A2A trace  ·  Evidence drawer  ·  Knowledge-graph explorer  ·  Google sign-in  ·  Command palette</a:t>
            </a:r>
            <a:endParaRPr lang="en-US" sz="1200" dirty="0"/>
          </a:p>
        </p:txBody>
      </p:sp>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FFFFF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RESULTS</a:t>
            </a:r>
            <a:endParaRPr lang="en-US" sz="1200" dirty="0"/>
          </a:p>
        </p:txBody>
      </p:sp>
      <p:sp>
        <p:nvSpPr>
          <p:cNvPr id="3" name="Text 0"/>
          <p:cNvSpPr/>
          <p:nvPr>
            <p:ph idx="101" type="title" hasCustomPrompt="1"/>
          </p:nvPr>
        </p:nvSpPr>
        <p:spPr>
          <a:xfrm>
            <a:off x="548640" y="676656"/>
            <a:ext cx="11094415" cy="713232"/>
          </a:xfrm>
          <a:prstGeom prst="rect">
            <a:avLst/>
          </a:prstGeom>
          <a:noFill/>
          <a:ln/>
        </p:spPr>
        <p:txBody>
          <a:bodyPr wrap="square" lIns="0" tIns="0" rIns="0" bIns="0" rtlCol="0" anchor="t"/>
          <a:lstStyle/>
          <a:p>
            <a:pPr algn="l" indent="0" marL="0">
              <a:buNone/>
            </a:pPr>
            <a:r>
              <a:rPr lang="en-US" sz="3600" b="1" dirty="0">
                <a:solidFill>
                  <a:schemeClr val="tx1"/>
                </a:solidFill>
              </a:rPr>
              <a:t>What the measurements show</a:t>
            </a:r>
            <a:endParaRPr lang="en-US" sz="3600" dirty="0"/>
          </a:p>
        </p:txBody>
      </p:sp>
      <p:sp>
        <p:nvSpPr>
          <p:cNvPr id="4" name="card-614"/>
          <p:cNvSpPr/>
          <p:nvPr/>
        </p:nvSpPr>
        <p:spPr>
          <a:xfrm>
            <a:off x="548640" y="1600200"/>
            <a:ext cx="2715768" cy="2148840"/>
          </a:xfrm>
          <a:prstGeom prst="roundRect">
            <a:avLst>
              <a:gd name="adj" fmla="val 5106"/>
            </a:avLst>
          </a:prstGeom>
          <a:solidFill>
            <a:schemeClr val="bg2"/>
          </a:solidFill>
          <a:ln/>
        </p:spPr>
      </p:sp>
      <p:sp>
        <p:nvSpPr>
          <p:cNvPr id="5" name="text-615"/>
          <p:cNvSpPr txBox="1"/>
          <p:nvPr/>
        </p:nvSpPr>
        <p:spPr>
          <a:xfrm>
            <a:off x="777240" y="1783080"/>
            <a:ext cx="2350008" cy="68580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550 / 551</a:t>
            </a:r>
            <a:endParaRPr lang="en-US" sz="4000" dirty="0"/>
          </a:p>
        </p:txBody>
      </p:sp>
      <p:sp>
        <p:nvSpPr>
          <p:cNvPr id="6" name="text-616"/>
          <p:cNvSpPr txBox="1"/>
          <p:nvPr/>
        </p:nvSpPr>
        <p:spPr>
          <a:xfrm>
            <a:off x="777240" y="2514600"/>
            <a:ext cx="2350008" cy="777240"/>
          </a:xfrm>
          <a:prstGeom prst="rect">
            <a:avLst/>
          </a:prstGeom>
          <a:noFill/>
          <a:ln/>
        </p:spPr>
        <p:txBody>
          <a:bodyPr wrap="square" lIns="0" tIns="0" rIns="0" bIns="0" rtlCol="0" anchor="t"/>
          <a:lstStyle/>
          <a:p>
            <a:pPr indent="0" marL="0">
              <a:buNone/>
            </a:pPr>
            <a:r>
              <a:rPr lang="en-US" sz="1300" dirty="0">
                <a:solidFill>
                  <a:schemeClr val="tx1"/>
                </a:solidFill>
              </a:rPr>
              <a:t>test cases passed across all ten</a:t>
            </a:r>
            <a:endParaRPr lang="en-US" sz="1300" dirty="0"/>
          </a:p>
          <a:p>
            <a:pPr indent="0" marL="0">
              <a:buNone/>
            </a:pPr>
            <a:r>
              <a:rPr lang="en-US" sz="1300" dirty="0">
                <a:solidFill>
                  <a:schemeClr val="tx1"/>
                </a:solidFill>
              </a:rPr>
              <a:t>sector suites (455 test functions)</a:t>
            </a:r>
            <a:endParaRPr lang="en-US" sz="1300" dirty="0"/>
          </a:p>
        </p:txBody>
      </p:sp>
      <p:sp>
        <p:nvSpPr>
          <p:cNvPr id="7" name="card-617"/>
          <p:cNvSpPr/>
          <p:nvPr/>
        </p:nvSpPr>
        <p:spPr>
          <a:xfrm>
            <a:off x="777240" y="3337560"/>
            <a:ext cx="1762963" cy="256032"/>
          </a:xfrm>
          <a:prstGeom prst="roundRect">
            <a:avLst>
              <a:gd name="adj" fmla="val 50000"/>
            </a:avLst>
          </a:prstGeom>
          <a:solidFill>
            <a:schemeClr val="bg1"/>
          </a:solidFill>
          <a:ln/>
        </p:spPr>
      </p:sp>
      <p:sp>
        <p:nvSpPr>
          <p:cNvPr id="8" name="text-618"/>
          <p:cNvSpPr txBox="1"/>
          <p:nvPr/>
        </p:nvSpPr>
        <p:spPr>
          <a:xfrm>
            <a:off x="777240" y="3337560"/>
            <a:ext cx="1762963" cy="256032"/>
          </a:xfrm>
          <a:prstGeom prst="rect">
            <a:avLst/>
          </a:prstGeom>
          <a:noFill/>
          <a:ln/>
        </p:spPr>
        <p:txBody>
          <a:bodyPr wrap="square" lIns="0" tIns="0" rIns="0" bIns="0" rtlCol="0" anchor="ctr"/>
          <a:lstStyle/>
          <a:p>
            <a:pPr algn="ctr" indent="0" marL="0">
              <a:buNone/>
            </a:pPr>
            <a:r>
              <a:rPr lang="en-US" sz="950" b="1" spc="50" kern="0" dirty="0">
                <a:solidFill>
                  <a:schemeClr val="accent1"/>
                </a:solidFill>
              </a:rPr>
              <a:t>PYTEST  ·  12 OCT 2026</a:t>
            </a:r>
            <a:endParaRPr lang="en-US" sz="950" dirty="0"/>
          </a:p>
        </p:txBody>
      </p:sp>
      <p:sp>
        <p:nvSpPr>
          <p:cNvPr id="9" name="card-619"/>
          <p:cNvSpPr/>
          <p:nvPr/>
        </p:nvSpPr>
        <p:spPr>
          <a:xfrm>
            <a:off x="3401568" y="1600200"/>
            <a:ext cx="2715768" cy="2148840"/>
          </a:xfrm>
          <a:prstGeom prst="roundRect">
            <a:avLst>
              <a:gd name="adj" fmla="val 5106"/>
            </a:avLst>
          </a:prstGeom>
          <a:solidFill>
            <a:schemeClr val="bg2"/>
          </a:solidFill>
          <a:ln/>
        </p:spPr>
      </p:sp>
      <p:sp>
        <p:nvSpPr>
          <p:cNvPr id="10" name="text-620"/>
          <p:cNvSpPr txBox="1"/>
          <p:nvPr/>
        </p:nvSpPr>
        <p:spPr>
          <a:xfrm>
            <a:off x="3630168" y="1783080"/>
            <a:ext cx="2350008" cy="68580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 11 s</a:t>
            </a:r>
            <a:endParaRPr lang="en-US" sz="4000" dirty="0"/>
          </a:p>
        </p:txBody>
      </p:sp>
      <p:sp>
        <p:nvSpPr>
          <p:cNvPr id="11" name="text-621"/>
          <p:cNvSpPr txBox="1"/>
          <p:nvPr/>
        </p:nvSpPr>
        <p:spPr>
          <a:xfrm>
            <a:off x="3630168" y="2514600"/>
            <a:ext cx="2350008" cy="777240"/>
          </a:xfrm>
          <a:prstGeom prst="rect">
            <a:avLst/>
          </a:prstGeom>
          <a:noFill/>
          <a:ln/>
        </p:spPr>
        <p:txBody>
          <a:bodyPr wrap="square" lIns="0" tIns="0" rIns="0" bIns="0" rtlCol="0" anchor="t"/>
          <a:lstStyle/>
          <a:p>
            <a:pPr indent="0" marL="0">
              <a:buNone/>
            </a:pPr>
            <a:r>
              <a:rPr lang="en-US" sz="1300" dirty="0">
                <a:solidFill>
                  <a:schemeClr val="tx1"/>
                </a:solidFill>
              </a:rPr>
              <a:t>cross-sector answer with live</a:t>
            </a:r>
            <a:endParaRPr lang="en-US" sz="1300" dirty="0"/>
          </a:p>
          <a:p>
            <a:pPr indent="0" marL="0">
              <a:buNone/>
            </a:pPr>
            <a:r>
              <a:rPr lang="en-US" sz="1300" dirty="0">
                <a:solidFill>
                  <a:schemeClr val="tx1"/>
                </a:solidFill>
              </a:rPr>
              <a:t>official data and no LLM key</a:t>
            </a:r>
            <a:endParaRPr lang="en-US" sz="1300" dirty="0"/>
          </a:p>
        </p:txBody>
      </p:sp>
      <p:sp>
        <p:nvSpPr>
          <p:cNvPr id="12" name="card-622"/>
          <p:cNvSpPr/>
          <p:nvPr/>
        </p:nvSpPr>
        <p:spPr>
          <a:xfrm>
            <a:off x="3630168" y="3337560"/>
            <a:ext cx="1221638" cy="256032"/>
          </a:xfrm>
          <a:prstGeom prst="roundRect">
            <a:avLst>
              <a:gd name="adj" fmla="val 50000"/>
            </a:avLst>
          </a:prstGeom>
          <a:solidFill>
            <a:schemeClr val="bg1"/>
          </a:solidFill>
          <a:ln/>
        </p:spPr>
      </p:sp>
      <p:sp>
        <p:nvSpPr>
          <p:cNvPr id="13" name="text-623"/>
          <p:cNvSpPr txBox="1"/>
          <p:nvPr/>
        </p:nvSpPr>
        <p:spPr>
          <a:xfrm>
            <a:off x="3630168" y="3337560"/>
            <a:ext cx="1221638" cy="256032"/>
          </a:xfrm>
          <a:prstGeom prst="rect">
            <a:avLst/>
          </a:prstGeom>
          <a:noFill/>
          <a:ln/>
        </p:spPr>
        <p:txBody>
          <a:bodyPr wrap="square" lIns="0" tIns="0" rIns="0" bIns="0" rtlCol="0" anchor="ctr"/>
          <a:lstStyle/>
          <a:p>
            <a:pPr algn="ctr" indent="0" marL="0">
              <a:buNone/>
            </a:pPr>
            <a:r>
              <a:rPr lang="en-US" sz="950" b="1" spc="50" kern="0" dirty="0">
                <a:solidFill>
                  <a:schemeClr val="accent1"/>
                </a:solidFill>
              </a:rPr>
              <a:t>END-TO-END RUN</a:t>
            </a:r>
            <a:endParaRPr lang="en-US" sz="950" dirty="0"/>
          </a:p>
        </p:txBody>
      </p:sp>
      <p:sp>
        <p:nvSpPr>
          <p:cNvPr id="14" name="card-624"/>
          <p:cNvSpPr/>
          <p:nvPr/>
        </p:nvSpPr>
        <p:spPr>
          <a:xfrm>
            <a:off x="548640" y="3886200"/>
            <a:ext cx="2715768" cy="2148840"/>
          </a:xfrm>
          <a:prstGeom prst="roundRect">
            <a:avLst>
              <a:gd name="adj" fmla="val 5106"/>
            </a:avLst>
          </a:prstGeom>
          <a:solidFill>
            <a:schemeClr val="bg2"/>
          </a:solidFill>
          <a:ln/>
        </p:spPr>
      </p:sp>
      <p:sp>
        <p:nvSpPr>
          <p:cNvPr id="15" name="text-625"/>
          <p:cNvSpPr txBox="1"/>
          <p:nvPr/>
        </p:nvSpPr>
        <p:spPr>
          <a:xfrm>
            <a:off x="777240" y="4069080"/>
            <a:ext cx="2350008" cy="68580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48.9k</a:t>
            </a:r>
            <a:endParaRPr lang="en-US" sz="4000" dirty="0"/>
          </a:p>
        </p:txBody>
      </p:sp>
      <p:sp>
        <p:nvSpPr>
          <p:cNvPr id="16" name="text-626"/>
          <p:cNvSpPr txBox="1"/>
          <p:nvPr/>
        </p:nvSpPr>
        <p:spPr>
          <a:xfrm>
            <a:off x="777240" y="4800600"/>
            <a:ext cx="2350008" cy="777240"/>
          </a:xfrm>
          <a:prstGeom prst="rect">
            <a:avLst/>
          </a:prstGeom>
          <a:noFill/>
          <a:ln/>
        </p:spPr>
        <p:txBody>
          <a:bodyPr wrap="square" lIns="0" tIns="0" rIns="0" bIns="0" rtlCol="0" anchor="t"/>
          <a:lstStyle/>
          <a:p>
            <a:pPr indent="0" marL="0">
              <a:buNone/>
            </a:pPr>
            <a:r>
              <a:rPr lang="en-US" sz="1300" dirty="0">
                <a:solidFill>
                  <a:schemeClr val="tx1"/>
                </a:solidFill>
              </a:rPr>
              <a:t>lines of code, excluding tests:</a:t>
            </a:r>
            <a:endParaRPr lang="en-US" sz="1300" dirty="0"/>
          </a:p>
          <a:p>
            <a:pPr indent="0" marL="0">
              <a:buNone/>
            </a:pPr>
            <a:r>
              <a:rPr lang="en-US" sz="1300" dirty="0">
                <a:solidFill>
                  <a:schemeClr val="tx1"/>
                </a:solidFill>
              </a:rPr>
              <a:t>37.6k Python and</a:t>
            </a:r>
            <a:endParaRPr lang="en-US" sz="1300" dirty="0"/>
          </a:p>
          <a:p>
            <a:pPr indent="0" marL="0">
              <a:buNone/>
            </a:pPr>
            <a:r>
              <a:rPr lang="en-US" sz="1300" dirty="0">
                <a:solidFill>
                  <a:schemeClr val="tx1"/>
                </a:solidFill>
              </a:rPr>
              <a:t>11.3k TypeScript</a:t>
            </a:r>
            <a:endParaRPr lang="en-US" sz="1300" dirty="0"/>
          </a:p>
        </p:txBody>
      </p:sp>
      <p:sp>
        <p:nvSpPr>
          <p:cNvPr id="17" name="card-627"/>
          <p:cNvSpPr/>
          <p:nvPr/>
        </p:nvSpPr>
        <p:spPr>
          <a:xfrm>
            <a:off x="777240" y="5623560"/>
            <a:ext cx="1356970" cy="256032"/>
          </a:xfrm>
          <a:prstGeom prst="roundRect">
            <a:avLst>
              <a:gd name="adj" fmla="val 50000"/>
            </a:avLst>
          </a:prstGeom>
          <a:solidFill>
            <a:schemeClr val="bg1"/>
          </a:solidFill>
          <a:ln/>
        </p:spPr>
      </p:sp>
      <p:sp>
        <p:nvSpPr>
          <p:cNvPr id="18" name="text-628"/>
          <p:cNvSpPr txBox="1"/>
          <p:nvPr/>
        </p:nvSpPr>
        <p:spPr>
          <a:xfrm>
            <a:off x="777240" y="5623560"/>
            <a:ext cx="1356970" cy="256032"/>
          </a:xfrm>
          <a:prstGeom prst="rect">
            <a:avLst/>
          </a:prstGeom>
          <a:noFill/>
          <a:ln/>
        </p:spPr>
        <p:txBody>
          <a:bodyPr wrap="square" lIns="0" tIns="0" rIns="0" bIns="0" rtlCol="0" anchor="ctr"/>
          <a:lstStyle/>
          <a:p>
            <a:pPr algn="ctr" indent="0" marL="0">
              <a:buNone/>
            </a:pPr>
            <a:r>
              <a:rPr lang="en-US" sz="950" b="1" spc="50" kern="0" dirty="0">
                <a:solidFill>
                  <a:schemeClr val="accent1"/>
                </a:solidFill>
              </a:rPr>
              <a:t>REPOSITORY COUNT</a:t>
            </a:r>
            <a:endParaRPr lang="en-US" sz="950" dirty="0"/>
          </a:p>
        </p:txBody>
      </p:sp>
      <p:sp>
        <p:nvSpPr>
          <p:cNvPr id="19" name="card-629"/>
          <p:cNvSpPr/>
          <p:nvPr/>
        </p:nvSpPr>
        <p:spPr>
          <a:xfrm>
            <a:off x="3401568" y="3886200"/>
            <a:ext cx="2715768" cy="2148840"/>
          </a:xfrm>
          <a:prstGeom prst="roundRect">
            <a:avLst>
              <a:gd name="adj" fmla="val 5106"/>
            </a:avLst>
          </a:prstGeom>
          <a:solidFill>
            <a:schemeClr val="bg2"/>
          </a:solidFill>
          <a:ln/>
        </p:spPr>
      </p:sp>
      <p:sp>
        <p:nvSpPr>
          <p:cNvPr id="20" name="text-630"/>
          <p:cNvSpPr txBox="1"/>
          <p:nvPr/>
        </p:nvSpPr>
        <p:spPr>
          <a:xfrm>
            <a:off x="3630168" y="4069080"/>
            <a:ext cx="2350008" cy="685800"/>
          </a:xfrm>
          <a:prstGeom prst="rect">
            <a:avLst/>
          </a:prstGeom>
          <a:noFill/>
          <a:ln/>
        </p:spPr>
        <p:txBody>
          <a:bodyPr wrap="square" lIns="0" tIns="0" rIns="0" bIns="0" rtlCol="0" anchor="ctr"/>
          <a:lstStyle/>
          <a:p>
            <a:pPr indent="0" marL="0">
              <a:buNone/>
            </a:pPr>
            <a:r>
              <a:rPr lang="en-US" sz="4000" b="1" dirty="0">
                <a:solidFill>
                  <a:schemeClr val="accent4"/>
                </a:solidFill>
                <a:latin typeface="+mj-lt" pitchFamily="34" charset="0"/>
                <a:ea typeface="+mj-lt" pitchFamily="34" charset="-122"/>
                <a:cs typeface="+mj-lt" pitchFamily="34" charset="-120"/>
              </a:rPr>
              <a:t>0 / 12</a:t>
            </a:r>
            <a:endParaRPr lang="en-US" sz="4000" dirty="0"/>
          </a:p>
        </p:txBody>
      </p:sp>
      <p:sp>
        <p:nvSpPr>
          <p:cNvPr id="21" name="text-631"/>
          <p:cNvSpPr txBox="1"/>
          <p:nvPr/>
        </p:nvSpPr>
        <p:spPr>
          <a:xfrm>
            <a:off x="3630168" y="4800600"/>
            <a:ext cx="2350008" cy="777240"/>
          </a:xfrm>
          <a:prstGeom prst="rect">
            <a:avLst/>
          </a:prstGeom>
          <a:noFill/>
          <a:ln/>
        </p:spPr>
        <p:txBody>
          <a:bodyPr wrap="square" lIns="0" tIns="0" rIns="0" bIns="0" rtlCol="0" anchor="t"/>
          <a:lstStyle/>
          <a:p>
            <a:pPr indent="0" marL="0">
              <a:buNone/>
            </a:pPr>
            <a:r>
              <a:rPr lang="en-US" sz="1300" dirty="0">
                <a:solidFill>
                  <a:schemeClr val="tx1"/>
                </a:solidFill>
              </a:rPr>
              <a:t>causal edges testable today:</a:t>
            </a:r>
            <a:endParaRPr lang="en-US" sz="1300" dirty="0"/>
          </a:p>
          <a:p>
            <a:pPr indent="0" marL="0">
              <a:buNone/>
            </a:pPr>
            <a:r>
              <a:rPr lang="en-US" sz="1300" dirty="0">
                <a:solidFill>
                  <a:schemeClr val="tx1"/>
                </a:solidFill>
              </a:rPr>
              <a:t>series overlap at most 2 of the</a:t>
            </a:r>
            <a:endParaRPr lang="en-US" sz="1300" dirty="0"/>
          </a:p>
          <a:p>
            <a:pPr indent="0" marL="0">
              <a:buNone/>
            </a:pPr>
            <a:r>
              <a:rPr lang="en-US" sz="1300" dirty="0">
                <a:solidFill>
                  <a:schemeClr val="tx1"/>
                </a:solidFill>
              </a:rPr>
              <a:t>10 months required</a:t>
            </a:r>
            <a:endParaRPr lang="en-US" sz="1300" dirty="0"/>
          </a:p>
        </p:txBody>
      </p:sp>
      <p:sp>
        <p:nvSpPr>
          <p:cNvPr id="22" name="card-632"/>
          <p:cNvSpPr/>
          <p:nvPr/>
        </p:nvSpPr>
        <p:spPr>
          <a:xfrm>
            <a:off x="3630168" y="5623560"/>
            <a:ext cx="1559966" cy="256032"/>
          </a:xfrm>
          <a:prstGeom prst="roundRect">
            <a:avLst>
              <a:gd name="adj" fmla="val 50000"/>
            </a:avLst>
          </a:prstGeom>
          <a:solidFill>
            <a:schemeClr val="bg1"/>
          </a:solidFill>
          <a:ln/>
        </p:spPr>
      </p:sp>
      <p:sp>
        <p:nvSpPr>
          <p:cNvPr id="23" name="text-633"/>
          <p:cNvSpPr txBox="1"/>
          <p:nvPr/>
        </p:nvSpPr>
        <p:spPr>
          <a:xfrm>
            <a:off x="3630168" y="5623560"/>
            <a:ext cx="1559966" cy="256032"/>
          </a:xfrm>
          <a:prstGeom prst="rect">
            <a:avLst/>
          </a:prstGeom>
          <a:noFill/>
          <a:ln/>
        </p:spPr>
        <p:txBody>
          <a:bodyPr wrap="square" lIns="0" tIns="0" rIns="0" bIns="0" rtlCol="0" anchor="ctr"/>
          <a:lstStyle/>
          <a:p>
            <a:pPr algn="ctr" indent="0" marL="0">
              <a:buNone/>
            </a:pPr>
            <a:r>
              <a:rPr lang="en-US" sz="950" b="1" spc="50" kern="0" dirty="0">
                <a:solidFill>
                  <a:schemeClr val="accent1"/>
                </a:solidFill>
              </a:rPr>
              <a:t>EDGE EVIDENCE AUDIT</a:t>
            </a:r>
            <a:endParaRPr lang="en-US" sz="950" dirty="0"/>
          </a:p>
        </p:txBody>
      </p:sp>
      <p:graphicFrame>
        <p:nvGraphicFramePr>
          <p:cNvPr id="24" name="tests-chart" descr=""/>
          <p:cNvGraphicFramePr/>
          <p:nvPr/>
        </p:nvGraphicFramePr>
        <p:xfrm>
          <a:off x="6355080" y="1554480"/>
          <a:ext cx="5287975" cy="3200400"/>
        </p:xfrm>
        <a:graphic xmlns:a="http://schemas.openxmlformats.org/drawingml/2006/main">
          <a:graphicData uri="http://schemas.openxmlformats.org/drawingml/2006/chart">
            <c:chart xmlns:c="http://schemas.openxmlformats.org/drawingml/2006/chart" r:id="rId1"/>
          </a:graphicData>
        </a:graphic>
      </p:graphicFrame>
      <p:sp>
        <p:nvSpPr>
          <p:cNvPr id="25" name="card-634"/>
          <p:cNvSpPr/>
          <p:nvPr/>
        </p:nvSpPr>
        <p:spPr>
          <a:xfrm>
            <a:off x="6355080" y="4873752"/>
            <a:ext cx="2575408" cy="1252728"/>
          </a:xfrm>
          <a:prstGeom prst="roundRect">
            <a:avLst>
              <a:gd name="adj" fmla="val 8759"/>
            </a:avLst>
          </a:prstGeom>
          <a:solidFill>
            <a:schemeClr val="bg2"/>
          </a:solidFill>
          <a:ln/>
        </p:spPr>
      </p:sp>
      <p:sp>
        <p:nvSpPr>
          <p:cNvPr id="26" name="card-635"/>
          <p:cNvSpPr/>
          <p:nvPr/>
        </p:nvSpPr>
        <p:spPr>
          <a:xfrm>
            <a:off x="6519672" y="5038344"/>
            <a:ext cx="365760" cy="365760"/>
          </a:xfrm>
          <a:prstGeom prst="roundRect">
            <a:avLst>
              <a:gd name="adj" fmla="val 22000"/>
            </a:avLst>
          </a:prstGeom>
          <a:solidFill>
            <a:schemeClr val="accent1"/>
          </a:solidFill>
          <a:ln/>
        </p:spPr>
      </p:sp>
      <p:pic>
        <p:nvPicPr>
          <p:cNvPr id="27" name="icon-636" descr="Radar icon">    </p:cNvPr>
          <p:cNvPicPr>
            <a:picLocks noChangeAspect="1"/>
          </p:cNvPicPr>
          <p:nvPr/>
        </p:nvPicPr>
        <p:blipFill>
          <a:blip r:embed="rId2"/>
          <a:stretch>
            <a:fillRect/>
          </a:stretch>
        </p:blipFill>
        <p:spPr>
          <a:xfrm>
            <a:off x="6600139" y="5118811"/>
            <a:ext cx="204826" cy="204826"/>
          </a:xfrm>
          <a:prstGeom prst="rect">
            <a:avLst/>
          </a:prstGeom>
        </p:spPr>
      </p:pic>
      <p:sp>
        <p:nvSpPr>
          <p:cNvPr id="28" name="text-637"/>
          <p:cNvSpPr txBox="1"/>
          <p:nvPr/>
        </p:nvSpPr>
        <p:spPr>
          <a:xfrm>
            <a:off x="6976872" y="5038344"/>
            <a:ext cx="1843888" cy="365760"/>
          </a:xfrm>
          <a:prstGeom prst="rect">
            <a:avLst/>
          </a:prstGeom>
          <a:noFill/>
          <a:ln/>
        </p:spPr>
        <p:txBody>
          <a:bodyPr wrap="square" lIns="0" tIns="0" rIns="0" bIns="0" rtlCol="0" anchor="ctr"/>
          <a:lstStyle/>
          <a:p>
            <a:pPr indent="0" marL="0">
              <a:buNone/>
            </a:pPr>
            <a:r>
              <a:rPr lang="en-US" sz="1350" b="1" dirty="0">
                <a:solidFill>
                  <a:schemeClr val="tx1"/>
                </a:solidFill>
              </a:rPr>
              <a:t>Anomaly radar</a:t>
            </a:r>
            <a:endParaRPr lang="en-US" sz="1350" dirty="0"/>
          </a:p>
        </p:txBody>
      </p:sp>
      <p:sp>
        <p:nvSpPr>
          <p:cNvPr id="29" name="text-638"/>
          <p:cNvSpPr txBox="1"/>
          <p:nvPr/>
        </p:nvSpPr>
        <p:spPr>
          <a:xfrm>
            <a:off x="6519672" y="5495544"/>
            <a:ext cx="2301088" cy="566928"/>
          </a:xfrm>
          <a:prstGeom prst="rect">
            <a:avLst/>
          </a:prstGeom>
          <a:noFill/>
          <a:ln/>
        </p:spPr>
        <p:txBody>
          <a:bodyPr wrap="square" lIns="0" tIns="0" rIns="0" bIns="0" rtlCol="0" anchor="t"/>
          <a:lstStyle/>
          <a:p>
            <a:pPr indent="0" marL="0">
              <a:buNone/>
            </a:pPr>
            <a:r>
              <a:rPr lang="en-US" sz="1150" dirty="0">
                <a:solidFill>
                  <a:schemeClr val="tx2"/>
                </a:solidFill>
              </a:rPr>
              <a:t>18 series scanned, 8 long enough</a:t>
            </a:r>
            <a:endParaRPr lang="en-US" sz="1150" dirty="0"/>
          </a:p>
          <a:p>
            <a:pPr indent="0" marL="0">
              <a:buNone/>
            </a:pPr>
            <a:r>
              <a:rPr lang="en-US" sz="1150" dirty="0">
                <a:solidFill>
                  <a:schemeClr val="tx2"/>
                </a:solidFill>
              </a:rPr>
              <a:t>Trade balance, Aug 2024: z = −2.65</a:t>
            </a:r>
            <a:endParaRPr lang="en-US" sz="1150" dirty="0"/>
          </a:p>
          <a:p>
            <a:pPr indent="0" marL="0">
              <a:buNone/>
            </a:pPr>
            <a:r>
              <a:rPr lang="en-US" sz="1150" dirty="0">
                <a:solidFill>
                  <a:schemeClr val="tx2"/>
                </a:solidFill>
              </a:rPr>
              <a:t>classified as isolated</a:t>
            </a:r>
            <a:endParaRPr lang="en-US" sz="1150" dirty="0"/>
          </a:p>
        </p:txBody>
      </p:sp>
      <p:sp>
        <p:nvSpPr>
          <p:cNvPr id="30" name="card-639"/>
          <p:cNvSpPr/>
          <p:nvPr/>
        </p:nvSpPr>
        <p:spPr>
          <a:xfrm>
            <a:off x="9067648" y="4873752"/>
            <a:ext cx="2575408" cy="1252728"/>
          </a:xfrm>
          <a:prstGeom prst="roundRect">
            <a:avLst>
              <a:gd name="adj" fmla="val 8759"/>
            </a:avLst>
          </a:prstGeom>
          <a:solidFill>
            <a:schemeClr val="bg2"/>
          </a:solidFill>
          <a:ln/>
        </p:spPr>
      </p:sp>
      <p:sp>
        <p:nvSpPr>
          <p:cNvPr id="31" name="card-640"/>
          <p:cNvSpPr/>
          <p:nvPr/>
        </p:nvSpPr>
        <p:spPr>
          <a:xfrm>
            <a:off x="9232240" y="5038344"/>
            <a:ext cx="365760" cy="365760"/>
          </a:xfrm>
          <a:prstGeom prst="roundRect">
            <a:avLst>
              <a:gd name="adj" fmla="val 22000"/>
            </a:avLst>
          </a:prstGeom>
          <a:solidFill>
            <a:schemeClr val="accent1"/>
          </a:solidFill>
          <a:ln/>
        </p:spPr>
      </p:sp>
      <p:pic>
        <p:nvPicPr>
          <p:cNvPr id="32" name="icon-641" descr="Vote icon">    </p:cNvPr>
          <p:cNvPicPr>
            <a:picLocks noChangeAspect="1"/>
          </p:cNvPicPr>
          <p:nvPr/>
        </p:nvPicPr>
        <p:blipFill>
          <a:blip r:embed="rId3"/>
          <a:stretch>
            <a:fillRect/>
          </a:stretch>
        </p:blipFill>
        <p:spPr>
          <a:xfrm>
            <a:off x="9312707" y="5118811"/>
            <a:ext cx="204826" cy="204826"/>
          </a:xfrm>
          <a:prstGeom prst="rect">
            <a:avLst/>
          </a:prstGeom>
        </p:spPr>
      </p:pic>
      <p:sp>
        <p:nvSpPr>
          <p:cNvPr id="33" name="text-642"/>
          <p:cNvSpPr txBox="1"/>
          <p:nvPr/>
        </p:nvSpPr>
        <p:spPr>
          <a:xfrm>
            <a:off x="9689440" y="5038344"/>
            <a:ext cx="1843888" cy="365760"/>
          </a:xfrm>
          <a:prstGeom prst="rect">
            <a:avLst/>
          </a:prstGeom>
          <a:noFill/>
          <a:ln/>
        </p:spPr>
        <p:txBody>
          <a:bodyPr wrap="square" lIns="0" tIns="0" rIns="0" bIns="0" rtlCol="0" anchor="ctr"/>
          <a:lstStyle/>
          <a:p>
            <a:pPr indent="0" marL="0">
              <a:buNone/>
            </a:pPr>
            <a:r>
              <a:rPr lang="en-US" sz="1350" b="1" dirty="0">
                <a:solidFill>
                  <a:schemeClr val="tx1"/>
                </a:solidFill>
              </a:rPr>
              <a:t>Simulated MPC</a:t>
            </a:r>
            <a:endParaRPr lang="en-US" sz="1350" dirty="0"/>
          </a:p>
        </p:txBody>
      </p:sp>
      <p:sp>
        <p:nvSpPr>
          <p:cNvPr id="34" name="text-643"/>
          <p:cNvSpPr txBox="1"/>
          <p:nvPr/>
        </p:nvSpPr>
        <p:spPr>
          <a:xfrm>
            <a:off x="9232240" y="5495544"/>
            <a:ext cx="2301088" cy="566928"/>
          </a:xfrm>
          <a:prstGeom prst="rect">
            <a:avLst/>
          </a:prstGeom>
          <a:noFill/>
          <a:ln/>
        </p:spPr>
        <p:txBody>
          <a:bodyPr wrap="square" lIns="0" tIns="0" rIns="0" bIns="0" rtlCol="0" anchor="t"/>
          <a:lstStyle/>
          <a:p>
            <a:pPr indent="0" marL="0">
              <a:buNone/>
            </a:pPr>
            <a:r>
              <a:rPr lang="en-US" sz="1150" dirty="0">
                <a:solidFill>
                  <a:schemeClr val="tx2"/>
                </a:solidFill>
              </a:rPr>
              <a:t>HOLD by 4 to 2, dissent 0.33</a:t>
            </a:r>
            <a:endParaRPr lang="en-US" sz="1150" dirty="0"/>
          </a:p>
          <a:p>
            <a:pPr indent="0" marL="0">
              <a:buNone/>
            </a:pPr>
            <a:r>
              <a:rPr lang="en-US" sz="1150" dirty="0">
                <a:solidFill>
                  <a:schemeClr val="tx2"/>
                </a:solidFill>
              </a:rPr>
              <a:t>matches the rule-only baseline</a:t>
            </a:r>
            <a:endParaRPr lang="en-US" sz="1150" dirty="0"/>
          </a:p>
        </p:txBody>
      </p:sp>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1607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LIMITATIONS &amp; ROADMAP</a:t>
            </a:r>
            <a:endParaRPr lang="en-US" sz="1200" dirty="0"/>
          </a:p>
        </p:txBody>
      </p:sp>
      <p:sp>
        <p:nvSpPr>
          <p:cNvPr id="3" name="Text 0"/>
          <p:cNvSpPr/>
          <p:nvPr>
            <p:ph idx="101" type="title" hasCustomPrompt="1"/>
          </p:nvPr>
        </p:nvSpPr>
        <p:spPr>
          <a:xfrm>
            <a:off x="548640" y="676656"/>
            <a:ext cx="11094415" cy="713232"/>
          </a:xfrm>
          <a:prstGeom prst="rect">
            <a:avLst/>
          </a:prstGeom>
          <a:noFill/>
          <a:ln/>
        </p:spPr>
        <p:txBody>
          <a:bodyPr wrap="square" lIns="0" tIns="0" rIns="0" bIns="0" rtlCol="0" anchor="t"/>
          <a:lstStyle/>
          <a:p>
            <a:pPr algn="l" indent="0" marL="0">
              <a:buNone/>
            </a:pPr>
            <a:r>
              <a:rPr lang="en-US" sz="3600" b="1" dirty="0">
                <a:solidFill>
                  <a:schemeClr val="tx1"/>
                </a:solidFill>
              </a:rPr>
              <a:t>Honest limits, concrete next steps</a:t>
            </a:r>
            <a:endParaRPr lang="en-US" sz="3600" dirty="0"/>
          </a:p>
        </p:txBody>
      </p:sp>
      <p:sp>
        <p:nvSpPr>
          <p:cNvPr id="4" name="text-644"/>
          <p:cNvSpPr txBox="1"/>
          <p:nvPr/>
        </p:nvSpPr>
        <p:spPr>
          <a:xfrm>
            <a:off x="548640" y="1600200"/>
            <a:ext cx="5120640" cy="292608"/>
          </a:xfrm>
          <a:prstGeom prst="rect">
            <a:avLst/>
          </a:prstGeom>
          <a:noFill/>
          <a:ln/>
        </p:spPr>
        <p:txBody>
          <a:bodyPr wrap="square" lIns="0" tIns="0" rIns="0" bIns="0" rtlCol="0" anchor="t"/>
          <a:lstStyle/>
          <a:p>
            <a:pPr indent="0" marL="0">
              <a:buNone/>
            </a:pPr>
            <a:r>
              <a:rPr lang="en-US" sz="1500" b="1" dirty="0">
                <a:solidFill>
                  <a:schemeClr val="tx1"/>
                </a:solidFill>
              </a:rPr>
              <a:t>Known limitations</a:t>
            </a:r>
            <a:endParaRPr lang="en-US" sz="1500" dirty="0"/>
          </a:p>
        </p:txBody>
      </p:sp>
      <p:pic>
        <p:nvPicPr>
          <p:cNvPr id="5" name="icon-645" descr="Limitation">    </p:cNvPr>
          <p:cNvPicPr>
            <a:picLocks noChangeAspect="1"/>
          </p:cNvPicPr>
          <p:nvPr/>
        </p:nvPicPr>
        <p:blipFill>
          <a:blip r:embed="rId1"/>
          <a:stretch>
            <a:fillRect/>
          </a:stretch>
        </p:blipFill>
        <p:spPr>
          <a:xfrm>
            <a:off x="548640" y="2029968"/>
            <a:ext cx="256032" cy="256032"/>
          </a:xfrm>
          <a:prstGeom prst="rect">
            <a:avLst/>
          </a:prstGeom>
        </p:spPr>
      </p:pic>
      <p:sp>
        <p:nvSpPr>
          <p:cNvPr id="6" name="text-646"/>
          <p:cNvSpPr txBox="1"/>
          <p:nvPr/>
        </p:nvSpPr>
        <p:spPr>
          <a:xfrm>
            <a:off x="932688" y="2011680"/>
            <a:ext cx="4846320" cy="256032"/>
          </a:xfrm>
          <a:prstGeom prst="rect">
            <a:avLst/>
          </a:prstGeom>
          <a:noFill/>
          <a:ln/>
        </p:spPr>
        <p:txBody>
          <a:bodyPr wrap="square" lIns="0" tIns="0" rIns="0" bIns="0" rtlCol="0" anchor="t"/>
          <a:lstStyle/>
          <a:p>
            <a:pPr indent="0" marL="0">
              <a:buNone/>
            </a:pPr>
            <a:r>
              <a:rPr lang="en-US" sz="1350" b="1" dirty="0">
                <a:solidFill>
                  <a:schemeClr val="tx1"/>
                </a:solidFill>
              </a:rPr>
              <a:t>Seeded edge statistics</a:t>
            </a:r>
            <a:endParaRPr lang="en-US" sz="1350" dirty="0"/>
          </a:p>
        </p:txBody>
      </p:sp>
      <p:sp>
        <p:nvSpPr>
          <p:cNvPr id="7" name="text-647"/>
          <p:cNvSpPr txBox="1"/>
          <p:nvPr/>
        </p:nvSpPr>
        <p:spPr>
          <a:xfrm>
            <a:off x="932688" y="2276856"/>
            <a:ext cx="4846320" cy="246888"/>
          </a:xfrm>
          <a:prstGeom prst="rect">
            <a:avLst/>
          </a:prstGeom>
          <a:noFill/>
          <a:ln/>
        </p:spPr>
        <p:txBody>
          <a:bodyPr wrap="square" lIns="0" tIns="0" rIns="0" bIns="0" rtlCol="0" anchor="t"/>
          <a:lstStyle/>
          <a:p>
            <a:pPr indent="0" marL="0">
              <a:buNone/>
            </a:pPr>
            <a:r>
              <a:rPr lang="en-US" sz="1200" dirty="0">
                <a:solidFill>
                  <a:schemeClr val="tx2"/>
                </a:solidFill>
              </a:rPr>
              <a:t>Confidences and p-values are curated priors; none testable yet</a:t>
            </a:r>
            <a:endParaRPr lang="en-US" sz="1200" dirty="0"/>
          </a:p>
        </p:txBody>
      </p:sp>
      <p:pic>
        <p:nvPicPr>
          <p:cNvPr id="8" name="icon-648" descr="Limitation">    </p:cNvPr>
          <p:cNvPicPr>
            <a:picLocks noChangeAspect="1"/>
          </p:cNvPicPr>
          <p:nvPr/>
        </p:nvPicPr>
        <p:blipFill>
          <a:blip r:embed="rId2"/>
          <a:stretch>
            <a:fillRect/>
          </a:stretch>
        </p:blipFill>
        <p:spPr>
          <a:xfrm>
            <a:off x="548640" y="2651760"/>
            <a:ext cx="256032" cy="256032"/>
          </a:xfrm>
          <a:prstGeom prst="rect">
            <a:avLst/>
          </a:prstGeom>
        </p:spPr>
      </p:pic>
      <p:sp>
        <p:nvSpPr>
          <p:cNvPr id="9" name="text-649"/>
          <p:cNvSpPr txBox="1"/>
          <p:nvPr/>
        </p:nvSpPr>
        <p:spPr>
          <a:xfrm>
            <a:off x="932688" y="2633472"/>
            <a:ext cx="4846320" cy="256032"/>
          </a:xfrm>
          <a:prstGeom prst="rect">
            <a:avLst/>
          </a:prstGeom>
          <a:noFill/>
          <a:ln/>
        </p:spPr>
        <p:txBody>
          <a:bodyPr wrap="square" lIns="0" tIns="0" rIns="0" bIns="0" rtlCol="0" anchor="t"/>
          <a:lstStyle/>
          <a:p>
            <a:pPr indent="0" marL="0">
              <a:buNone/>
            </a:pPr>
            <a:r>
              <a:rPr lang="en-US" sz="1350" b="1" dirty="0">
                <a:solidFill>
                  <a:schemeClr val="tx1"/>
                </a:solidFill>
              </a:rPr>
              <a:t>Heuristic scenario engine</a:t>
            </a:r>
            <a:endParaRPr lang="en-US" sz="1350" dirty="0"/>
          </a:p>
        </p:txBody>
      </p:sp>
      <p:sp>
        <p:nvSpPr>
          <p:cNvPr id="10" name="text-650"/>
          <p:cNvSpPr txBox="1"/>
          <p:nvPr/>
        </p:nvSpPr>
        <p:spPr>
          <a:xfrm>
            <a:off x="932688" y="2898648"/>
            <a:ext cx="4846320" cy="246888"/>
          </a:xfrm>
          <a:prstGeom prst="rect">
            <a:avLst/>
          </a:prstGeom>
          <a:noFill/>
          <a:ln/>
        </p:spPr>
        <p:txBody>
          <a:bodyPr wrap="square" lIns="0" tIns="0" rIns="0" bIns="0" rtlCol="0" anchor="t"/>
          <a:lstStyle/>
          <a:p>
            <a:pPr indent="0" marL="0">
              <a:buNone/>
            </a:pPr>
            <a:r>
              <a:rPr lang="en-US" sz="1200" dirty="0">
                <a:solidFill>
                  <a:schemeClr val="tx2"/>
                </a:solidFill>
              </a:rPr>
              <a:t>Fixed 0.55 and 0.15 constants, unit-blind deltas, band is not a CI</a:t>
            </a:r>
            <a:endParaRPr lang="en-US" sz="1200" dirty="0"/>
          </a:p>
        </p:txBody>
      </p:sp>
      <p:pic>
        <p:nvPicPr>
          <p:cNvPr id="11" name="icon-651" descr="Limitation">    </p:cNvPr>
          <p:cNvPicPr>
            <a:picLocks noChangeAspect="1"/>
          </p:cNvPicPr>
          <p:nvPr/>
        </p:nvPicPr>
        <p:blipFill>
          <a:blip r:embed="rId3"/>
          <a:stretch>
            <a:fillRect/>
          </a:stretch>
        </p:blipFill>
        <p:spPr>
          <a:xfrm>
            <a:off x="548640" y="3273552"/>
            <a:ext cx="256032" cy="256032"/>
          </a:xfrm>
          <a:prstGeom prst="rect">
            <a:avLst/>
          </a:prstGeom>
        </p:spPr>
      </p:pic>
      <p:sp>
        <p:nvSpPr>
          <p:cNvPr id="12" name="text-652"/>
          <p:cNvSpPr txBox="1"/>
          <p:nvPr/>
        </p:nvSpPr>
        <p:spPr>
          <a:xfrm>
            <a:off x="932688" y="3255264"/>
            <a:ext cx="4846320" cy="256032"/>
          </a:xfrm>
          <a:prstGeom prst="rect">
            <a:avLst/>
          </a:prstGeom>
          <a:noFill/>
          <a:ln/>
        </p:spPr>
        <p:txBody>
          <a:bodyPr wrap="square" lIns="0" tIns="0" rIns="0" bIns="0" rtlCol="0" anchor="t"/>
          <a:lstStyle/>
          <a:p>
            <a:pPr indent="0" marL="0">
              <a:buNone/>
            </a:pPr>
            <a:r>
              <a:rPr lang="en-US" sz="1350" b="1" dirty="0">
                <a:solidFill>
                  <a:schemeClr val="tx1"/>
                </a:solidFill>
              </a:rPr>
              <a:t>Verifier not in the answer path</a:t>
            </a:r>
            <a:endParaRPr lang="en-US" sz="1350" dirty="0"/>
          </a:p>
        </p:txBody>
      </p:sp>
      <p:sp>
        <p:nvSpPr>
          <p:cNvPr id="13" name="text-653"/>
          <p:cNvSpPr txBox="1"/>
          <p:nvPr/>
        </p:nvSpPr>
        <p:spPr>
          <a:xfrm>
            <a:off x="932688" y="3520440"/>
            <a:ext cx="4846320" cy="246888"/>
          </a:xfrm>
          <a:prstGeom prst="rect">
            <a:avLst/>
          </a:prstGeom>
          <a:noFill/>
          <a:ln/>
        </p:spPr>
        <p:txBody>
          <a:bodyPr wrap="square" lIns="0" tIns="0" rIns="0" bIns="0" rtlCol="0" anchor="t"/>
          <a:lstStyle/>
          <a:p>
            <a:pPr indent="0" marL="0">
              <a:buNone/>
            </a:pPr>
            <a:r>
              <a:rPr lang="en-US" sz="1200" dirty="0">
                <a:solidFill>
                  <a:schemeClr val="tx2"/>
                </a:solidFill>
              </a:rPr>
              <a:t>Claim verification is tested, but no live answer calls it yet</a:t>
            </a:r>
            <a:endParaRPr lang="en-US" sz="1200" dirty="0"/>
          </a:p>
        </p:txBody>
      </p:sp>
      <p:pic>
        <p:nvPicPr>
          <p:cNvPr id="14" name="icon-654" descr="Limitation">    </p:cNvPr>
          <p:cNvPicPr>
            <a:picLocks noChangeAspect="1"/>
          </p:cNvPicPr>
          <p:nvPr/>
        </p:nvPicPr>
        <p:blipFill>
          <a:blip r:embed="rId4"/>
          <a:stretch>
            <a:fillRect/>
          </a:stretch>
        </p:blipFill>
        <p:spPr>
          <a:xfrm>
            <a:off x="548640" y="3895344"/>
            <a:ext cx="256032" cy="256032"/>
          </a:xfrm>
          <a:prstGeom prst="rect">
            <a:avLst/>
          </a:prstGeom>
        </p:spPr>
      </p:pic>
      <p:sp>
        <p:nvSpPr>
          <p:cNvPr id="15" name="text-655"/>
          <p:cNvSpPr txBox="1"/>
          <p:nvPr/>
        </p:nvSpPr>
        <p:spPr>
          <a:xfrm>
            <a:off x="932688" y="3877056"/>
            <a:ext cx="4846320" cy="256032"/>
          </a:xfrm>
          <a:prstGeom prst="rect">
            <a:avLst/>
          </a:prstGeom>
          <a:noFill/>
          <a:ln/>
        </p:spPr>
        <p:txBody>
          <a:bodyPr wrap="square" lIns="0" tIns="0" rIns="0" bIns="0" rtlCol="0" anchor="t"/>
          <a:lstStyle/>
          <a:p>
            <a:pPr indent="0" marL="0">
              <a:buNone/>
            </a:pPr>
            <a:r>
              <a:rPr lang="en-US" sz="1350" b="1" dirty="0">
                <a:solidFill>
                  <a:schemeClr val="tx1"/>
                </a:solidFill>
              </a:rPr>
              <a:t>Short histories</a:t>
            </a:r>
            <a:endParaRPr lang="en-US" sz="1350" dirty="0"/>
          </a:p>
        </p:txBody>
      </p:sp>
      <p:sp>
        <p:nvSpPr>
          <p:cNvPr id="16" name="text-656"/>
          <p:cNvSpPr txBox="1"/>
          <p:nvPr/>
        </p:nvSpPr>
        <p:spPr>
          <a:xfrm>
            <a:off x="932688" y="4142232"/>
            <a:ext cx="4846320" cy="246888"/>
          </a:xfrm>
          <a:prstGeom prst="rect">
            <a:avLst/>
          </a:prstGeom>
          <a:noFill/>
          <a:ln/>
        </p:spPr>
        <p:txBody>
          <a:bodyPr wrap="square" lIns="0" tIns="0" rIns="0" bIns="0" rtlCol="0" anchor="t"/>
          <a:lstStyle/>
          <a:p>
            <a:pPr indent="0" marL="0">
              <a:buNone/>
            </a:pPr>
            <a:r>
              <a:rPr lang="en-US" sz="1200" dirty="0">
                <a:solidFill>
                  <a:schemeClr val="tx2"/>
                </a:solidFill>
              </a:rPr>
              <a:t>10 of 18 radar series have fewer than 8 observations</a:t>
            </a:r>
            <a:endParaRPr lang="en-US" sz="1200" dirty="0"/>
          </a:p>
        </p:txBody>
      </p:sp>
      <p:pic>
        <p:nvPicPr>
          <p:cNvPr id="17" name="icon-657" descr="Limitation">    </p:cNvPr>
          <p:cNvPicPr>
            <a:picLocks noChangeAspect="1"/>
          </p:cNvPicPr>
          <p:nvPr/>
        </p:nvPicPr>
        <p:blipFill>
          <a:blip r:embed="rId5"/>
          <a:stretch>
            <a:fillRect/>
          </a:stretch>
        </p:blipFill>
        <p:spPr>
          <a:xfrm>
            <a:off x="548640" y="4517136"/>
            <a:ext cx="256032" cy="256032"/>
          </a:xfrm>
          <a:prstGeom prst="rect">
            <a:avLst/>
          </a:prstGeom>
        </p:spPr>
      </p:pic>
      <p:sp>
        <p:nvSpPr>
          <p:cNvPr id="18" name="text-658"/>
          <p:cNvSpPr txBox="1"/>
          <p:nvPr/>
        </p:nvSpPr>
        <p:spPr>
          <a:xfrm>
            <a:off x="932688" y="4498848"/>
            <a:ext cx="4846320" cy="256032"/>
          </a:xfrm>
          <a:prstGeom prst="rect">
            <a:avLst/>
          </a:prstGeom>
          <a:noFill/>
          <a:ln/>
        </p:spPr>
        <p:txBody>
          <a:bodyPr wrap="square" lIns="0" tIns="0" rIns="0" bIns="0" rtlCol="0" anchor="t"/>
          <a:lstStyle/>
          <a:p>
            <a:pPr indent="0" marL="0">
              <a:buNone/>
            </a:pPr>
            <a:r>
              <a:rPr lang="en-US" sz="1350" b="1" dirty="0">
                <a:solidFill>
                  <a:schemeClr val="tx1"/>
                </a:solidFill>
              </a:rPr>
              <a:t>No documentary retrieval</a:t>
            </a:r>
            <a:endParaRPr lang="en-US" sz="1350" dirty="0"/>
          </a:p>
        </p:txBody>
      </p:sp>
      <p:sp>
        <p:nvSpPr>
          <p:cNvPr id="19" name="text-659"/>
          <p:cNvSpPr txBox="1"/>
          <p:nvPr/>
        </p:nvSpPr>
        <p:spPr>
          <a:xfrm>
            <a:off x="932688" y="4764024"/>
            <a:ext cx="4846320" cy="246888"/>
          </a:xfrm>
          <a:prstGeom prst="rect">
            <a:avLst/>
          </a:prstGeom>
          <a:noFill/>
          <a:ln/>
        </p:spPr>
        <p:txBody>
          <a:bodyPr wrap="square" lIns="0" tIns="0" rIns="0" bIns="0" rtlCol="0" anchor="t"/>
          <a:lstStyle/>
          <a:p>
            <a:pPr indent="0" marL="0">
              <a:buNone/>
            </a:pPr>
            <a:r>
              <a:rPr lang="en-US" sz="1200" dirty="0">
                <a:solidFill>
                  <a:schemeClr val="tx2"/>
                </a:solidFill>
              </a:rPr>
              <a:t>RBI minutes and the Economic Survey are not indexed</a:t>
            </a:r>
            <a:endParaRPr lang="en-US" sz="1200" dirty="0"/>
          </a:p>
        </p:txBody>
      </p:sp>
      <p:pic>
        <p:nvPicPr>
          <p:cNvPr id="20" name="icon-660" descr="Limitation">    </p:cNvPr>
          <p:cNvPicPr>
            <a:picLocks noChangeAspect="1"/>
          </p:cNvPicPr>
          <p:nvPr/>
        </p:nvPicPr>
        <p:blipFill>
          <a:blip r:embed="rId6"/>
          <a:stretch>
            <a:fillRect/>
          </a:stretch>
        </p:blipFill>
        <p:spPr>
          <a:xfrm>
            <a:off x="548640" y="5138928"/>
            <a:ext cx="256032" cy="256032"/>
          </a:xfrm>
          <a:prstGeom prst="rect">
            <a:avLst/>
          </a:prstGeom>
        </p:spPr>
      </p:pic>
      <p:sp>
        <p:nvSpPr>
          <p:cNvPr id="21" name="text-661"/>
          <p:cNvSpPr txBox="1"/>
          <p:nvPr/>
        </p:nvSpPr>
        <p:spPr>
          <a:xfrm>
            <a:off x="932688" y="5120640"/>
            <a:ext cx="4846320" cy="256032"/>
          </a:xfrm>
          <a:prstGeom prst="rect">
            <a:avLst/>
          </a:prstGeom>
          <a:noFill/>
          <a:ln/>
        </p:spPr>
        <p:txBody>
          <a:bodyPr wrap="square" lIns="0" tIns="0" rIns="0" bIns="0" rtlCol="0" anchor="t"/>
          <a:lstStyle/>
          <a:p>
            <a:pPr indent="0" marL="0">
              <a:buNone/>
            </a:pPr>
            <a:r>
              <a:rPr lang="en-US" sz="1350" b="1" dirty="0">
                <a:solidFill>
                  <a:schemeClr val="tx1"/>
                </a:solidFill>
              </a:rPr>
              <a:t>Open cost-bearing endpoints</a:t>
            </a:r>
            <a:endParaRPr lang="en-US" sz="1350" dirty="0"/>
          </a:p>
        </p:txBody>
      </p:sp>
      <p:sp>
        <p:nvSpPr>
          <p:cNvPr id="22" name="text-662"/>
          <p:cNvSpPr txBox="1"/>
          <p:nvPr/>
        </p:nvSpPr>
        <p:spPr>
          <a:xfrm>
            <a:off x="932688" y="5385816"/>
            <a:ext cx="4846320" cy="246888"/>
          </a:xfrm>
          <a:prstGeom prst="rect">
            <a:avLst/>
          </a:prstGeom>
          <a:noFill/>
          <a:ln/>
        </p:spPr>
        <p:txBody>
          <a:bodyPr wrap="square" lIns="0" tIns="0" rIns="0" bIns="0" rtlCol="0" anchor="t"/>
          <a:lstStyle/>
          <a:p>
            <a:pPr indent="0" marL="0">
              <a:buNone/>
            </a:pPr>
            <a:r>
              <a:rPr lang="en-US" sz="1200" dirty="0">
                <a:solidFill>
                  <a:schemeClr val="tx2"/>
                </a:solidFill>
              </a:rPr>
              <a:t>Chat, brief and MPC routes lack auth and rate limits</a:t>
            </a:r>
            <a:endParaRPr lang="en-US" sz="1200" dirty="0"/>
          </a:p>
        </p:txBody>
      </p:sp>
      <p:sp>
        <p:nvSpPr>
          <p:cNvPr id="23" name="text-663"/>
          <p:cNvSpPr txBox="1"/>
          <p:nvPr/>
        </p:nvSpPr>
        <p:spPr>
          <a:xfrm>
            <a:off x="548640" y="5760720"/>
            <a:ext cx="5257800" cy="365760"/>
          </a:xfrm>
          <a:prstGeom prst="rect">
            <a:avLst/>
          </a:prstGeom>
          <a:noFill/>
          <a:ln/>
        </p:spPr>
        <p:txBody>
          <a:bodyPr wrap="square" lIns="0" tIns="0" rIns="0" bIns="0" rtlCol="0" anchor="t"/>
          <a:lstStyle/>
          <a:p>
            <a:pPr indent="0" marL="0">
              <a:buNone/>
            </a:pPr>
            <a:r>
              <a:rPr lang="en-US" sz="1150" i="1" dirty="0">
                <a:solidFill>
                  <a:schemeClr val="tx2"/>
                </a:solidFill>
              </a:rPr>
              <a:t>Also logged from the live run: “None%” shown for M3,</a:t>
            </a:r>
            <a:endParaRPr lang="en-US" sz="1150" dirty="0"/>
          </a:p>
          <a:p>
            <a:pPr indent="0" marL="0">
              <a:buNone/>
            </a:pPr>
            <a:r>
              <a:rPr lang="en-US" sz="1150" i="1" dirty="0">
                <a:solidFill>
                  <a:schemeClr val="tx2"/>
                </a:solidFill>
              </a:rPr>
              <a:t>permissive agriculture routing, a misleading no-key log line.</a:t>
            </a:r>
            <a:endParaRPr lang="en-US" sz="1150" dirty="0"/>
          </a:p>
        </p:txBody>
      </p:sp>
      <p:sp>
        <p:nvSpPr>
          <p:cNvPr id="24" name="text-664"/>
          <p:cNvSpPr txBox="1"/>
          <p:nvPr/>
        </p:nvSpPr>
        <p:spPr>
          <a:xfrm>
            <a:off x="6172200" y="1600200"/>
            <a:ext cx="5394960" cy="292608"/>
          </a:xfrm>
          <a:prstGeom prst="rect">
            <a:avLst/>
          </a:prstGeom>
          <a:noFill/>
          <a:ln/>
        </p:spPr>
        <p:txBody>
          <a:bodyPr wrap="square" lIns="0" tIns="0" rIns="0" bIns="0" rtlCol="0" anchor="t"/>
          <a:lstStyle/>
          <a:p>
            <a:pPr indent="0" marL="0">
              <a:buNone/>
            </a:pPr>
            <a:r>
              <a:rPr lang="en-US" sz="1500" b="1" dirty="0">
                <a:solidFill>
                  <a:schemeClr val="tx1"/>
                </a:solidFill>
              </a:rPr>
              <a:t>Twelve-week roadmap</a:t>
            </a:r>
            <a:endParaRPr lang="en-US" sz="1500" dirty="0"/>
          </a:p>
        </p:txBody>
      </p:sp>
      <p:sp>
        <p:nvSpPr>
          <p:cNvPr id="25" name="link-665"/>
          <p:cNvSpPr/>
          <p:nvPr/>
        </p:nvSpPr>
        <p:spPr>
          <a:xfrm>
            <a:off x="6400800" y="2103120"/>
            <a:ext cx="0" cy="3017520"/>
          </a:xfrm>
          <a:prstGeom prst="line">
            <a:avLst/>
          </a:prstGeom>
          <a:noFill/>
          <a:ln w="25400">
            <a:solidFill>
              <a:schemeClr val="accent1">
                <a:alpha val="45000"/>
              </a:schemeClr>
            </a:solidFill>
            <a:prstDash val="solid"/>
          </a:ln>
        </p:spPr>
      </p:sp>
      <p:sp>
        <p:nvSpPr>
          <p:cNvPr id="26" name="dot-666"/>
          <p:cNvSpPr/>
          <p:nvPr/>
        </p:nvSpPr>
        <p:spPr>
          <a:xfrm>
            <a:off x="6172200" y="2057400"/>
            <a:ext cx="457200" cy="457200"/>
          </a:xfrm>
          <a:prstGeom prst="ellipse">
            <a:avLst/>
          </a:prstGeom>
          <a:solidFill>
            <a:schemeClr val="accent1"/>
          </a:solidFill>
          <a:ln/>
        </p:spPr>
      </p:sp>
      <p:pic>
        <p:nvPicPr>
          <p:cNvPr id="27" name="icon-667" descr="ShieldCheck icon">    </p:cNvPr>
          <p:cNvPicPr>
            <a:picLocks noChangeAspect="1"/>
          </p:cNvPicPr>
          <p:nvPr/>
        </p:nvPicPr>
        <p:blipFill>
          <a:blip r:embed="rId7"/>
          <a:stretch>
            <a:fillRect/>
          </a:stretch>
        </p:blipFill>
        <p:spPr>
          <a:xfrm>
            <a:off x="6281928" y="2167128"/>
            <a:ext cx="237744" cy="237744"/>
          </a:xfrm>
          <a:prstGeom prst="rect">
            <a:avLst/>
          </a:prstGeom>
        </p:spPr>
      </p:pic>
      <p:sp>
        <p:nvSpPr>
          <p:cNvPr id="28" name="card-668"/>
          <p:cNvSpPr/>
          <p:nvPr/>
        </p:nvSpPr>
        <p:spPr>
          <a:xfrm>
            <a:off x="6812280" y="2011680"/>
            <a:ext cx="4830775" cy="896112"/>
          </a:xfrm>
          <a:prstGeom prst="roundRect">
            <a:avLst>
              <a:gd name="adj" fmla="val 10204"/>
            </a:avLst>
          </a:prstGeom>
          <a:solidFill>
            <a:schemeClr val="bg2"/>
          </a:solidFill>
          <a:ln/>
        </p:spPr>
      </p:sp>
      <p:sp>
        <p:nvSpPr>
          <p:cNvPr id="29" name="text-669"/>
          <p:cNvSpPr txBox="1"/>
          <p:nvPr/>
        </p:nvSpPr>
        <p:spPr>
          <a:xfrm>
            <a:off x="6995160" y="2084832"/>
            <a:ext cx="4526280" cy="292608"/>
          </a:xfrm>
          <a:prstGeom prst="rect">
            <a:avLst/>
          </a:prstGeom>
          <a:noFill/>
          <a:ln/>
        </p:spPr>
        <p:txBody>
          <a:bodyPr wrap="square" lIns="0" tIns="0" rIns="0" bIns="0" rtlCol="0" anchor="ctr"/>
          <a:lstStyle/>
          <a:p>
            <a:pPr indent="0" marL="0">
              <a:buNone/>
            </a:pPr>
            <a:r>
              <a:rPr lang="en-US" sz="1100" b="1" spc="100" kern="0" dirty="0">
                <a:solidFill>
                  <a:schemeClr val="accent1"/>
                </a:solidFill>
              </a:rPr>
              <a:t>WEEKS 1–2   </a:t>
            </a:r>
            <a:pPr indent="0" marL="0">
              <a:buNone/>
            </a:pPr>
            <a:r>
              <a:rPr lang="en-US" sz="1400" b="1" dirty="0">
                <a:solidFill>
                  <a:schemeClr val="tx1"/>
                </a:solidFill>
              </a:rPr>
              <a:t>Credibility fixes</a:t>
            </a:r>
            <a:endParaRPr lang="en-US" sz="1400" dirty="0"/>
          </a:p>
        </p:txBody>
      </p:sp>
      <p:sp>
        <p:nvSpPr>
          <p:cNvPr id="30" name="text-670"/>
          <p:cNvSpPr txBox="1"/>
          <p:nvPr/>
        </p:nvSpPr>
        <p:spPr>
          <a:xfrm>
            <a:off x="6995160" y="2395728"/>
            <a:ext cx="4526280" cy="475488"/>
          </a:xfrm>
          <a:prstGeom prst="rect">
            <a:avLst/>
          </a:prstGeom>
          <a:noFill/>
          <a:ln/>
        </p:spPr>
        <p:txBody>
          <a:bodyPr wrap="square" lIns="0" tIns="0" rIns="0" bIns="0" rtlCol="0" anchor="t"/>
          <a:lstStyle/>
          <a:p>
            <a:pPr indent="0" marL="0">
              <a:buNone/>
            </a:pPr>
            <a:r>
              <a:rPr lang="en-US" sz="1200" dirty="0">
                <a:solidFill>
                  <a:schemeClr val="tx2"/>
                </a:solidFill>
              </a:rPr>
              <a:t>Wire claim verification into synthesis, fix the edge sign,</a:t>
            </a:r>
            <a:endParaRPr lang="en-US" sz="1200" dirty="0"/>
          </a:p>
          <a:p>
            <a:pPr indent="0" marL="0">
              <a:buNone/>
            </a:pPr>
            <a:r>
              <a:rPr lang="en-US" sz="1200" dirty="0">
                <a:solidFill>
                  <a:schemeClr val="tx2"/>
                </a:solidFill>
              </a:rPr>
              <a:t>surface silent failures, repair the failing test</a:t>
            </a:r>
            <a:endParaRPr lang="en-US" sz="1200" dirty="0"/>
          </a:p>
        </p:txBody>
      </p:sp>
      <p:sp>
        <p:nvSpPr>
          <p:cNvPr id="31" name="dot-671"/>
          <p:cNvSpPr/>
          <p:nvPr/>
        </p:nvSpPr>
        <p:spPr>
          <a:xfrm>
            <a:off x="6172200" y="3063240"/>
            <a:ext cx="457200" cy="457200"/>
          </a:xfrm>
          <a:prstGeom prst="ellipse">
            <a:avLst/>
          </a:prstGeom>
          <a:solidFill>
            <a:schemeClr val="accent1"/>
          </a:solidFill>
          <a:ln/>
        </p:spPr>
      </p:sp>
      <p:pic>
        <p:nvPicPr>
          <p:cNvPr id="32" name="icon-672" descr="Sigma icon">    </p:cNvPr>
          <p:cNvPicPr>
            <a:picLocks noChangeAspect="1"/>
          </p:cNvPicPr>
          <p:nvPr/>
        </p:nvPicPr>
        <p:blipFill>
          <a:blip r:embed="rId8"/>
          <a:stretch>
            <a:fillRect/>
          </a:stretch>
        </p:blipFill>
        <p:spPr>
          <a:xfrm>
            <a:off x="6281928" y="3172968"/>
            <a:ext cx="237744" cy="237744"/>
          </a:xfrm>
          <a:prstGeom prst="rect">
            <a:avLst/>
          </a:prstGeom>
        </p:spPr>
      </p:pic>
      <p:sp>
        <p:nvSpPr>
          <p:cNvPr id="33" name="card-673"/>
          <p:cNvSpPr/>
          <p:nvPr/>
        </p:nvSpPr>
        <p:spPr>
          <a:xfrm>
            <a:off x="6812280" y="3017520"/>
            <a:ext cx="4830775" cy="896112"/>
          </a:xfrm>
          <a:prstGeom prst="roundRect">
            <a:avLst>
              <a:gd name="adj" fmla="val 10204"/>
            </a:avLst>
          </a:prstGeom>
          <a:solidFill>
            <a:schemeClr val="bg2"/>
          </a:solidFill>
          <a:ln/>
        </p:spPr>
      </p:sp>
      <p:sp>
        <p:nvSpPr>
          <p:cNvPr id="34" name="text-674"/>
          <p:cNvSpPr txBox="1"/>
          <p:nvPr/>
        </p:nvSpPr>
        <p:spPr>
          <a:xfrm>
            <a:off x="6995160" y="3090672"/>
            <a:ext cx="4526280" cy="292608"/>
          </a:xfrm>
          <a:prstGeom prst="rect">
            <a:avLst/>
          </a:prstGeom>
          <a:noFill/>
          <a:ln/>
        </p:spPr>
        <p:txBody>
          <a:bodyPr wrap="square" lIns="0" tIns="0" rIns="0" bIns="0" rtlCol="0" anchor="ctr"/>
          <a:lstStyle/>
          <a:p>
            <a:pPr indent="0" marL="0">
              <a:buNone/>
            </a:pPr>
            <a:r>
              <a:rPr lang="en-US" sz="1100" b="1" spc="100" kern="0" dirty="0">
                <a:solidFill>
                  <a:schemeClr val="accent1"/>
                </a:solidFill>
              </a:rPr>
              <a:t>WEEKS 3–6   </a:t>
            </a:r>
            <a:pPr indent="0" marL="0">
              <a:buNone/>
            </a:pPr>
            <a:r>
              <a:rPr lang="en-US" sz="1400" b="1" dirty="0">
                <a:solidFill>
                  <a:schemeClr val="tx1"/>
                </a:solidFill>
              </a:rPr>
              <a:t>Causal modelling</a:t>
            </a:r>
            <a:endParaRPr lang="en-US" sz="1400" dirty="0"/>
          </a:p>
        </p:txBody>
      </p:sp>
      <p:sp>
        <p:nvSpPr>
          <p:cNvPr id="35" name="text-675"/>
          <p:cNvSpPr txBox="1"/>
          <p:nvPr/>
        </p:nvSpPr>
        <p:spPr>
          <a:xfrm>
            <a:off x="6995160" y="3401568"/>
            <a:ext cx="4526280" cy="475488"/>
          </a:xfrm>
          <a:prstGeom prst="rect">
            <a:avLst/>
          </a:prstGeom>
          <a:noFill/>
          <a:ln/>
        </p:spPr>
        <p:txBody>
          <a:bodyPr wrap="square" lIns="0" tIns="0" rIns="0" bIns="0" rtlCol="0" anchor="t"/>
          <a:lstStyle/>
          <a:p>
            <a:pPr indent="0" marL="0">
              <a:buNone/>
            </a:pPr>
            <a:r>
              <a:rPr lang="en-US" sz="1200" dirty="0">
                <a:solidFill>
                  <a:schemeClr val="tx2"/>
                </a:solidFill>
              </a:rPr>
              <a:t>Estimate edges from long series (ADF, BH-corrected Granger,</a:t>
            </a:r>
            <a:endParaRPr lang="en-US" sz="1200" dirty="0"/>
          </a:p>
          <a:p>
            <a:pPr indent="0" marL="0">
              <a:buNone/>
            </a:pPr>
            <a:r>
              <a:rPr lang="en-US" sz="1200" dirty="0">
                <a:solidFill>
                  <a:schemeClr val="tx2"/>
                </a:solidFill>
              </a:rPr>
              <a:t>local projections); back-tested LP or BVAR scenarios</a:t>
            </a:r>
            <a:endParaRPr lang="en-US" sz="1200" dirty="0"/>
          </a:p>
        </p:txBody>
      </p:sp>
      <p:sp>
        <p:nvSpPr>
          <p:cNvPr id="36" name="dot-676"/>
          <p:cNvSpPr/>
          <p:nvPr/>
        </p:nvSpPr>
        <p:spPr>
          <a:xfrm>
            <a:off x="6172200" y="4069080"/>
            <a:ext cx="457200" cy="457200"/>
          </a:xfrm>
          <a:prstGeom prst="ellipse">
            <a:avLst/>
          </a:prstGeom>
          <a:solidFill>
            <a:schemeClr val="accent1"/>
          </a:solidFill>
          <a:ln/>
        </p:spPr>
      </p:sp>
      <p:pic>
        <p:nvPicPr>
          <p:cNvPr id="37" name="icon-677" descr="Target icon">    </p:cNvPr>
          <p:cNvPicPr>
            <a:picLocks noChangeAspect="1"/>
          </p:cNvPicPr>
          <p:nvPr/>
        </p:nvPicPr>
        <p:blipFill>
          <a:blip r:embed="rId9"/>
          <a:stretch>
            <a:fillRect/>
          </a:stretch>
        </p:blipFill>
        <p:spPr>
          <a:xfrm>
            <a:off x="6281928" y="4178808"/>
            <a:ext cx="237744" cy="237744"/>
          </a:xfrm>
          <a:prstGeom prst="rect">
            <a:avLst/>
          </a:prstGeom>
        </p:spPr>
      </p:pic>
      <p:sp>
        <p:nvSpPr>
          <p:cNvPr id="38" name="card-678"/>
          <p:cNvSpPr/>
          <p:nvPr/>
        </p:nvSpPr>
        <p:spPr>
          <a:xfrm>
            <a:off x="6812280" y="4023360"/>
            <a:ext cx="4830775" cy="896112"/>
          </a:xfrm>
          <a:prstGeom prst="roundRect">
            <a:avLst>
              <a:gd name="adj" fmla="val 10204"/>
            </a:avLst>
          </a:prstGeom>
          <a:solidFill>
            <a:schemeClr val="bg2"/>
          </a:solidFill>
          <a:ln/>
        </p:spPr>
      </p:sp>
      <p:sp>
        <p:nvSpPr>
          <p:cNvPr id="39" name="text-679"/>
          <p:cNvSpPr txBox="1"/>
          <p:nvPr/>
        </p:nvSpPr>
        <p:spPr>
          <a:xfrm>
            <a:off x="6995160" y="4096512"/>
            <a:ext cx="4526280" cy="292608"/>
          </a:xfrm>
          <a:prstGeom prst="rect">
            <a:avLst/>
          </a:prstGeom>
          <a:noFill/>
          <a:ln/>
        </p:spPr>
        <p:txBody>
          <a:bodyPr wrap="square" lIns="0" tIns="0" rIns="0" bIns="0" rtlCol="0" anchor="ctr"/>
          <a:lstStyle/>
          <a:p>
            <a:pPr indent="0" marL="0">
              <a:buNone/>
            </a:pPr>
            <a:r>
              <a:rPr lang="en-US" sz="1100" b="1" spc="100" kern="0" dirty="0">
                <a:solidFill>
                  <a:schemeClr val="accent1"/>
                </a:solidFill>
              </a:rPr>
              <a:t>WEEKS 5–8   </a:t>
            </a:r>
            <a:pPr indent="0" marL="0">
              <a:buNone/>
            </a:pPr>
            <a:r>
              <a:rPr lang="en-US" sz="1400" b="1" dirty="0">
                <a:solidFill>
                  <a:schemeClr val="tx1"/>
                </a:solidFill>
              </a:rPr>
              <a:t>Evaluation</a:t>
            </a:r>
            <a:endParaRPr lang="en-US" sz="1400" dirty="0"/>
          </a:p>
        </p:txBody>
      </p:sp>
      <p:sp>
        <p:nvSpPr>
          <p:cNvPr id="40" name="text-680"/>
          <p:cNvSpPr txBox="1"/>
          <p:nvPr/>
        </p:nvSpPr>
        <p:spPr>
          <a:xfrm>
            <a:off x="6995160" y="4407408"/>
            <a:ext cx="4526280" cy="475488"/>
          </a:xfrm>
          <a:prstGeom prst="rect">
            <a:avLst/>
          </a:prstGeom>
          <a:noFill/>
          <a:ln/>
        </p:spPr>
        <p:txBody>
          <a:bodyPr wrap="square" lIns="0" tIns="0" rIns="0" bIns="0" rtlCol="0" anchor="t"/>
          <a:lstStyle/>
          <a:p>
            <a:pPr indent="0" marL="0">
              <a:buNone/>
            </a:pPr>
            <a:r>
              <a:rPr lang="en-US" sz="1200" dirty="0">
                <a:solidFill>
                  <a:schemeClr val="tx2"/>
                </a:solidFill>
              </a:rPr>
              <a:t>About 250 questions with gold answers, five baselines and</a:t>
            </a:r>
            <a:endParaRPr lang="en-US" sz="1200" dirty="0"/>
          </a:p>
          <a:p>
            <a:pPr indent="0" marL="0">
              <a:buNone/>
            </a:pPr>
            <a:r>
              <a:rPr lang="en-US" sz="1200" dirty="0">
                <a:solidFill>
                  <a:schemeClr val="tx2"/>
                </a:solidFill>
              </a:rPr>
              <a:t>ablations; point-in-time MPC benchmark</a:t>
            </a:r>
            <a:endParaRPr lang="en-US" sz="1200" dirty="0"/>
          </a:p>
        </p:txBody>
      </p:sp>
      <p:sp>
        <p:nvSpPr>
          <p:cNvPr id="41" name="dot-681"/>
          <p:cNvSpPr/>
          <p:nvPr/>
        </p:nvSpPr>
        <p:spPr>
          <a:xfrm>
            <a:off x="6172200" y="5074920"/>
            <a:ext cx="457200" cy="457200"/>
          </a:xfrm>
          <a:prstGeom prst="ellipse">
            <a:avLst/>
          </a:prstGeom>
          <a:solidFill>
            <a:schemeClr val="accent1"/>
          </a:solidFill>
          <a:ln/>
        </p:spPr>
      </p:sp>
      <p:pic>
        <p:nvPicPr>
          <p:cNvPr id="42" name="icon-682" descr="Rocket icon">    </p:cNvPr>
          <p:cNvPicPr>
            <a:picLocks noChangeAspect="1"/>
          </p:cNvPicPr>
          <p:nvPr/>
        </p:nvPicPr>
        <p:blipFill>
          <a:blip r:embed="rId10"/>
          <a:stretch>
            <a:fillRect/>
          </a:stretch>
        </p:blipFill>
        <p:spPr>
          <a:xfrm>
            <a:off x="6281928" y="5184648"/>
            <a:ext cx="237744" cy="237744"/>
          </a:xfrm>
          <a:prstGeom prst="rect">
            <a:avLst/>
          </a:prstGeom>
        </p:spPr>
      </p:pic>
      <p:sp>
        <p:nvSpPr>
          <p:cNvPr id="43" name="card-683"/>
          <p:cNvSpPr/>
          <p:nvPr/>
        </p:nvSpPr>
        <p:spPr>
          <a:xfrm>
            <a:off x="6812280" y="5029200"/>
            <a:ext cx="4830775" cy="896112"/>
          </a:xfrm>
          <a:prstGeom prst="roundRect">
            <a:avLst>
              <a:gd name="adj" fmla="val 10204"/>
            </a:avLst>
          </a:prstGeom>
          <a:solidFill>
            <a:schemeClr val="bg2"/>
          </a:solidFill>
          <a:ln/>
        </p:spPr>
      </p:sp>
      <p:sp>
        <p:nvSpPr>
          <p:cNvPr id="44" name="text-684"/>
          <p:cNvSpPr txBox="1"/>
          <p:nvPr/>
        </p:nvSpPr>
        <p:spPr>
          <a:xfrm>
            <a:off x="6995160" y="5102352"/>
            <a:ext cx="4526280" cy="292608"/>
          </a:xfrm>
          <a:prstGeom prst="rect">
            <a:avLst/>
          </a:prstGeom>
          <a:noFill/>
          <a:ln/>
        </p:spPr>
        <p:txBody>
          <a:bodyPr wrap="square" lIns="0" tIns="0" rIns="0" bIns="0" rtlCol="0" anchor="ctr"/>
          <a:lstStyle/>
          <a:p>
            <a:pPr indent="0" marL="0">
              <a:buNone/>
            </a:pPr>
            <a:r>
              <a:rPr lang="en-US" sz="1100" b="1" spc="100" kern="0" dirty="0">
                <a:solidFill>
                  <a:schemeClr val="accent1"/>
                </a:solidFill>
              </a:rPr>
              <a:t>WEEKS 9–12   </a:t>
            </a:r>
            <a:pPr indent="0" marL="0">
              <a:buNone/>
            </a:pPr>
            <a:r>
              <a:rPr lang="en-US" sz="1400" b="1" dirty="0">
                <a:solidFill>
                  <a:schemeClr val="tx1"/>
                </a:solidFill>
              </a:rPr>
              <a:t>Consolidation</a:t>
            </a:r>
            <a:endParaRPr lang="en-US" sz="1400" dirty="0"/>
          </a:p>
        </p:txBody>
      </p:sp>
      <p:sp>
        <p:nvSpPr>
          <p:cNvPr id="45" name="text-685"/>
          <p:cNvSpPr txBox="1"/>
          <p:nvPr/>
        </p:nvSpPr>
        <p:spPr>
          <a:xfrm>
            <a:off x="6995160" y="5413248"/>
            <a:ext cx="4526280" cy="475488"/>
          </a:xfrm>
          <a:prstGeom prst="rect">
            <a:avLst/>
          </a:prstGeom>
          <a:noFill/>
          <a:ln/>
        </p:spPr>
        <p:txBody>
          <a:bodyPr wrap="square" lIns="0" tIns="0" rIns="0" bIns="0" rtlCol="0" anchor="t"/>
          <a:lstStyle/>
          <a:p>
            <a:pPr indent="0" marL="0">
              <a:buNone/>
            </a:pPr>
            <a:r>
              <a:rPr lang="en-US" sz="1200" dirty="0">
                <a:solidFill>
                  <a:schemeClr val="tx2"/>
                </a:solidFill>
              </a:rPr>
              <a:t>Results analysis, endpoint hardening,</a:t>
            </a:r>
            <a:endParaRPr lang="en-US" sz="1200" dirty="0"/>
          </a:p>
          <a:p>
            <a:pPr indent="0" marL="0">
              <a:buNone/>
            </a:pPr>
            <a:r>
              <a:rPr lang="en-US" sz="1200" dirty="0">
                <a:solidFill>
                  <a:schemeClr val="tx2"/>
                </a:solidFill>
              </a:rPr>
              <a:t>documentation and a workshop paper draft</a:t>
            </a:r>
            <a:endParaRPr lang="en-US" sz="1200" dirty="0"/>
          </a:p>
        </p:txBody>
      </p:sp>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1607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CONCLUSION</a:t>
            </a:r>
            <a:endParaRPr lang="en-US" sz="1200" dirty="0"/>
          </a:p>
        </p:txBody>
      </p:sp>
      <p:sp>
        <p:nvSpPr>
          <p:cNvPr id="3" name="Text 0"/>
          <p:cNvSpPr/>
          <p:nvPr>
            <p:ph idx="101" type="title" hasCustomPrompt="1"/>
          </p:nvPr>
        </p:nvSpPr>
        <p:spPr>
          <a:xfrm>
            <a:off x="548640" y="676656"/>
            <a:ext cx="11094415" cy="713232"/>
          </a:xfrm>
          <a:prstGeom prst="rect">
            <a:avLst/>
          </a:prstGeom>
          <a:noFill/>
          <a:ln/>
        </p:spPr>
        <p:txBody>
          <a:bodyPr wrap="square" lIns="0" tIns="0" rIns="0" bIns="0" rtlCol="0" anchor="t"/>
          <a:lstStyle/>
          <a:p>
            <a:pPr algn="l" indent="0" marL="0">
              <a:buNone/>
            </a:pPr>
            <a:r>
              <a:rPr lang="en-US" sz="3600" b="1" dirty="0">
                <a:solidFill>
                  <a:schemeClr val="bg1"/>
                </a:solidFill>
              </a:rPr>
              <a:t>Every number has an owner and a source</a:t>
            </a:r>
            <a:endParaRPr lang="en-US" sz="3600" dirty="0"/>
          </a:p>
        </p:txBody>
      </p:sp>
      <p:sp>
        <p:nvSpPr>
          <p:cNvPr id="4" name="card-686"/>
          <p:cNvSpPr/>
          <p:nvPr/>
        </p:nvSpPr>
        <p:spPr>
          <a:xfrm>
            <a:off x="548640" y="1645920"/>
            <a:ext cx="1490472" cy="987552"/>
          </a:xfrm>
          <a:prstGeom prst="roundRect">
            <a:avLst>
              <a:gd name="adj" fmla="val 9259"/>
            </a:avLst>
          </a:prstGeom>
          <a:solidFill>
            <a:schemeClr val="accent5"/>
          </a:solidFill>
          <a:ln/>
        </p:spPr>
      </p:sp>
      <p:sp>
        <p:nvSpPr>
          <p:cNvPr id="5" name="text-687"/>
          <p:cNvSpPr txBox="1"/>
          <p:nvPr/>
        </p:nvSpPr>
        <p:spPr>
          <a:xfrm>
            <a:off x="685800" y="1755648"/>
            <a:ext cx="548640" cy="219456"/>
          </a:xfrm>
          <a:prstGeom prst="rect">
            <a:avLst/>
          </a:prstGeom>
          <a:noFill/>
          <a:ln/>
        </p:spPr>
        <p:txBody>
          <a:bodyPr wrap="square" lIns="0" tIns="0" rIns="0" bIns="0" rtlCol="0" anchor="t"/>
          <a:lstStyle/>
          <a:p>
            <a:pPr indent="0" marL="0">
              <a:buNone/>
            </a:pPr>
            <a:r>
              <a:rPr lang="en-US" sz="1200" b="1" dirty="0">
                <a:solidFill>
                  <a:schemeClr val="accent6"/>
                </a:solidFill>
              </a:rPr>
              <a:t>O1</a:t>
            </a:r>
            <a:endParaRPr lang="en-US" sz="1200" dirty="0"/>
          </a:p>
        </p:txBody>
      </p:sp>
      <p:sp>
        <p:nvSpPr>
          <p:cNvPr id="6" name="text-688"/>
          <p:cNvSpPr txBox="1"/>
          <p:nvPr/>
        </p:nvSpPr>
        <p:spPr>
          <a:xfrm>
            <a:off x="685800" y="1993392"/>
            <a:ext cx="1261872" cy="237744"/>
          </a:xfrm>
          <a:prstGeom prst="rect">
            <a:avLst/>
          </a:prstGeom>
          <a:noFill/>
          <a:ln/>
        </p:spPr>
        <p:txBody>
          <a:bodyPr wrap="square" lIns="0" tIns="0" rIns="0" bIns="0" rtlCol="0" anchor="t"/>
          <a:lstStyle/>
          <a:p>
            <a:pPr indent="0" marL="0">
              <a:buNone/>
            </a:pPr>
            <a:r>
              <a:rPr lang="en-US" sz="1150" dirty="0">
                <a:solidFill>
                  <a:schemeClr val="bg1"/>
                </a:solidFill>
              </a:rPr>
              <a:t>Data access</a:t>
            </a:r>
            <a:endParaRPr lang="en-US" sz="1150" dirty="0"/>
          </a:p>
        </p:txBody>
      </p:sp>
      <p:sp>
        <p:nvSpPr>
          <p:cNvPr id="7" name="card-689"/>
          <p:cNvSpPr/>
          <p:nvPr/>
        </p:nvSpPr>
        <p:spPr>
          <a:xfrm>
            <a:off x="685800" y="2286000"/>
            <a:ext cx="830275" cy="228600"/>
          </a:xfrm>
          <a:prstGeom prst="roundRect">
            <a:avLst>
              <a:gd name="adj" fmla="val 50000"/>
            </a:avLst>
          </a:prstGeom>
          <a:solidFill>
            <a:schemeClr val="accent3"/>
          </a:solidFill>
          <a:ln/>
        </p:spPr>
      </p:sp>
      <p:sp>
        <p:nvSpPr>
          <p:cNvPr id="8" name="text-690"/>
          <p:cNvSpPr txBox="1"/>
          <p:nvPr/>
        </p:nvSpPr>
        <p:spPr>
          <a:xfrm>
            <a:off x="685800" y="2286000"/>
            <a:ext cx="830275" cy="228600"/>
          </a:xfrm>
          <a:prstGeom prst="rect">
            <a:avLst/>
          </a:prstGeom>
          <a:noFill/>
          <a:ln/>
        </p:spPr>
        <p:txBody>
          <a:bodyPr wrap="square" lIns="0" tIns="0" rIns="0" bIns="0" rtlCol="0" anchor="ctr"/>
          <a:lstStyle/>
          <a:p>
            <a:pPr algn="ctr" indent="0" marL="0">
              <a:buNone/>
            </a:pPr>
            <a:r>
              <a:rPr lang="en-US" sz="900" b="1" spc="50" kern="0" dirty="0">
                <a:solidFill>
                  <a:schemeClr val="bg1"/>
                </a:solidFill>
              </a:rPr>
              <a:t>DELIVERED</a:t>
            </a:r>
            <a:endParaRPr lang="en-US" sz="900" dirty="0"/>
          </a:p>
        </p:txBody>
      </p:sp>
      <p:sp>
        <p:nvSpPr>
          <p:cNvPr id="9" name="card-691"/>
          <p:cNvSpPr/>
          <p:nvPr/>
        </p:nvSpPr>
        <p:spPr>
          <a:xfrm>
            <a:off x="2149297" y="1645920"/>
            <a:ext cx="1490472" cy="987552"/>
          </a:xfrm>
          <a:prstGeom prst="roundRect">
            <a:avLst>
              <a:gd name="adj" fmla="val 9259"/>
            </a:avLst>
          </a:prstGeom>
          <a:solidFill>
            <a:schemeClr val="accent5"/>
          </a:solidFill>
          <a:ln/>
        </p:spPr>
      </p:sp>
      <p:sp>
        <p:nvSpPr>
          <p:cNvPr id="10" name="text-692"/>
          <p:cNvSpPr txBox="1"/>
          <p:nvPr/>
        </p:nvSpPr>
        <p:spPr>
          <a:xfrm>
            <a:off x="2286457" y="1755648"/>
            <a:ext cx="548640" cy="219456"/>
          </a:xfrm>
          <a:prstGeom prst="rect">
            <a:avLst/>
          </a:prstGeom>
          <a:noFill/>
          <a:ln/>
        </p:spPr>
        <p:txBody>
          <a:bodyPr wrap="square" lIns="0" tIns="0" rIns="0" bIns="0" rtlCol="0" anchor="t"/>
          <a:lstStyle/>
          <a:p>
            <a:pPr indent="0" marL="0">
              <a:buNone/>
            </a:pPr>
            <a:r>
              <a:rPr lang="en-US" sz="1200" b="1" dirty="0">
                <a:solidFill>
                  <a:schemeClr val="accent6"/>
                </a:solidFill>
              </a:rPr>
              <a:t>O2</a:t>
            </a:r>
            <a:endParaRPr lang="en-US" sz="1200" dirty="0"/>
          </a:p>
        </p:txBody>
      </p:sp>
      <p:sp>
        <p:nvSpPr>
          <p:cNvPr id="11" name="text-693"/>
          <p:cNvSpPr txBox="1"/>
          <p:nvPr/>
        </p:nvSpPr>
        <p:spPr>
          <a:xfrm>
            <a:off x="2286457" y="1993392"/>
            <a:ext cx="1261872" cy="237744"/>
          </a:xfrm>
          <a:prstGeom prst="rect">
            <a:avLst/>
          </a:prstGeom>
          <a:noFill/>
          <a:ln/>
        </p:spPr>
        <p:txBody>
          <a:bodyPr wrap="square" lIns="0" tIns="0" rIns="0" bIns="0" rtlCol="0" anchor="t"/>
          <a:lstStyle/>
          <a:p>
            <a:pPr indent="0" marL="0">
              <a:buNone/>
            </a:pPr>
            <a:r>
              <a:rPr lang="en-US" sz="1150" dirty="0">
                <a:solidFill>
                  <a:schemeClr val="bg1"/>
                </a:solidFill>
              </a:rPr>
              <a:t>Coordination</a:t>
            </a:r>
            <a:endParaRPr lang="en-US" sz="1150" dirty="0"/>
          </a:p>
        </p:txBody>
      </p:sp>
      <p:sp>
        <p:nvSpPr>
          <p:cNvPr id="12" name="card-694"/>
          <p:cNvSpPr/>
          <p:nvPr/>
        </p:nvSpPr>
        <p:spPr>
          <a:xfrm>
            <a:off x="2286457" y="2286000"/>
            <a:ext cx="830275" cy="228600"/>
          </a:xfrm>
          <a:prstGeom prst="roundRect">
            <a:avLst>
              <a:gd name="adj" fmla="val 50000"/>
            </a:avLst>
          </a:prstGeom>
          <a:solidFill>
            <a:schemeClr val="accent3"/>
          </a:solidFill>
          <a:ln/>
        </p:spPr>
      </p:sp>
      <p:sp>
        <p:nvSpPr>
          <p:cNvPr id="13" name="text-695"/>
          <p:cNvSpPr txBox="1"/>
          <p:nvPr/>
        </p:nvSpPr>
        <p:spPr>
          <a:xfrm>
            <a:off x="2286457" y="2286000"/>
            <a:ext cx="830275" cy="228600"/>
          </a:xfrm>
          <a:prstGeom prst="rect">
            <a:avLst/>
          </a:prstGeom>
          <a:noFill/>
          <a:ln/>
        </p:spPr>
        <p:txBody>
          <a:bodyPr wrap="square" lIns="0" tIns="0" rIns="0" bIns="0" rtlCol="0" anchor="ctr"/>
          <a:lstStyle/>
          <a:p>
            <a:pPr algn="ctr" indent="0" marL="0">
              <a:buNone/>
            </a:pPr>
            <a:r>
              <a:rPr lang="en-US" sz="900" b="1" spc="50" kern="0" dirty="0">
                <a:solidFill>
                  <a:schemeClr val="bg1"/>
                </a:solidFill>
              </a:rPr>
              <a:t>DELIVERED</a:t>
            </a:r>
            <a:endParaRPr lang="en-US" sz="900" dirty="0"/>
          </a:p>
        </p:txBody>
      </p:sp>
      <p:sp>
        <p:nvSpPr>
          <p:cNvPr id="14" name="card-696"/>
          <p:cNvSpPr/>
          <p:nvPr/>
        </p:nvSpPr>
        <p:spPr>
          <a:xfrm>
            <a:off x="3749954" y="1645920"/>
            <a:ext cx="1490472" cy="987552"/>
          </a:xfrm>
          <a:prstGeom prst="roundRect">
            <a:avLst>
              <a:gd name="adj" fmla="val 9259"/>
            </a:avLst>
          </a:prstGeom>
          <a:solidFill>
            <a:schemeClr val="accent5"/>
          </a:solidFill>
          <a:ln/>
        </p:spPr>
      </p:sp>
      <p:sp>
        <p:nvSpPr>
          <p:cNvPr id="15" name="text-697"/>
          <p:cNvSpPr txBox="1"/>
          <p:nvPr/>
        </p:nvSpPr>
        <p:spPr>
          <a:xfrm>
            <a:off x="3887114" y="1755648"/>
            <a:ext cx="548640" cy="219456"/>
          </a:xfrm>
          <a:prstGeom prst="rect">
            <a:avLst/>
          </a:prstGeom>
          <a:noFill/>
          <a:ln/>
        </p:spPr>
        <p:txBody>
          <a:bodyPr wrap="square" lIns="0" tIns="0" rIns="0" bIns="0" rtlCol="0" anchor="t"/>
          <a:lstStyle/>
          <a:p>
            <a:pPr indent="0" marL="0">
              <a:buNone/>
            </a:pPr>
            <a:r>
              <a:rPr lang="en-US" sz="1200" b="1" dirty="0">
                <a:solidFill>
                  <a:schemeClr val="accent6"/>
                </a:solidFill>
              </a:rPr>
              <a:t>O3</a:t>
            </a:r>
            <a:endParaRPr lang="en-US" sz="1200" dirty="0"/>
          </a:p>
        </p:txBody>
      </p:sp>
      <p:sp>
        <p:nvSpPr>
          <p:cNvPr id="16" name="text-698"/>
          <p:cNvSpPr txBox="1"/>
          <p:nvPr/>
        </p:nvSpPr>
        <p:spPr>
          <a:xfrm>
            <a:off x="3887114" y="1993392"/>
            <a:ext cx="1261872" cy="237744"/>
          </a:xfrm>
          <a:prstGeom prst="rect">
            <a:avLst/>
          </a:prstGeom>
          <a:noFill/>
          <a:ln/>
        </p:spPr>
        <p:txBody>
          <a:bodyPr wrap="square" lIns="0" tIns="0" rIns="0" bIns="0" rtlCol="0" anchor="t"/>
          <a:lstStyle/>
          <a:p>
            <a:pPr indent="0" marL="0">
              <a:buNone/>
            </a:pPr>
            <a:r>
              <a:rPr lang="en-US" sz="1150" dirty="0">
                <a:solidFill>
                  <a:schemeClr val="bg1"/>
                </a:solidFill>
              </a:rPr>
              <a:t>Grounded answers</a:t>
            </a:r>
            <a:endParaRPr lang="en-US" sz="1150" dirty="0"/>
          </a:p>
        </p:txBody>
      </p:sp>
      <p:sp>
        <p:nvSpPr>
          <p:cNvPr id="17" name="card-699"/>
          <p:cNvSpPr/>
          <p:nvPr/>
        </p:nvSpPr>
        <p:spPr>
          <a:xfrm>
            <a:off x="3887114" y="2286000"/>
            <a:ext cx="632765" cy="228600"/>
          </a:xfrm>
          <a:prstGeom prst="roundRect">
            <a:avLst>
              <a:gd name="adj" fmla="val 50000"/>
            </a:avLst>
          </a:prstGeom>
          <a:solidFill>
            <a:schemeClr val="accent2"/>
          </a:solidFill>
          <a:ln/>
        </p:spPr>
      </p:sp>
      <p:sp>
        <p:nvSpPr>
          <p:cNvPr id="18" name="text-700"/>
          <p:cNvSpPr txBox="1"/>
          <p:nvPr/>
        </p:nvSpPr>
        <p:spPr>
          <a:xfrm>
            <a:off x="3887114" y="2286000"/>
            <a:ext cx="632765" cy="228600"/>
          </a:xfrm>
          <a:prstGeom prst="rect">
            <a:avLst/>
          </a:prstGeom>
          <a:noFill/>
          <a:ln/>
        </p:spPr>
        <p:txBody>
          <a:bodyPr wrap="square" lIns="0" tIns="0" rIns="0" bIns="0" rtlCol="0" anchor="ctr"/>
          <a:lstStyle/>
          <a:p>
            <a:pPr algn="ctr" indent="0" marL="0">
              <a:buNone/>
            </a:pPr>
            <a:r>
              <a:rPr lang="en-US" sz="900" b="1" spc="50" kern="0" dirty="0">
                <a:solidFill>
                  <a:schemeClr val="tx1"/>
                </a:solidFill>
              </a:rPr>
              <a:t>PARTLY</a:t>
            </a:r>
            <a:endParaRPr lang="en-US" sz="900" dirty="0"/>
          </a:p>
        </p:txBody>
      </p:sp>
      <p:sp>
        <p:nvSpPr>
          <p:cNvPr id="19" name="card-701"/>
          <p:cNvSpPr/>
          <p:nvPr/>
        </p:nvSpPr>
        <p:spPr>
          <a:xfrm>
            <a:off x="5350612" y="1645920"/>
            <a:ext cx="1490472" cy="987552"/>
          </a:xfrm>
          <a:prstGeom prst="roundRect">
            <a:avLst>
              <a:gd name="adj" fmla="val 9259"/>
            </a:avLst>
          </a:prstGeom>
          <a:solidFill>
            <a:schemeClr val="accent5"/>
          </a:solidFill>
          <a:ln/>
        </p:spPr>
      </p:sp>
      <p:sp>
        <p:nvSpPr>
          <p:cNvPr id="20" name="text-702"/>
          <p:cNvSpPr txBox="1"/>
          <p:nvPr/>
        </p:nvSpPr>
        <p:spPr>
          <a:xfrm>
            <a:off x="5487772" y="1755648"/>
            <a:ext cx="548640" cy="219456"/>
          </a:xfrm>
          <a:prstGeom prst="rect">
            <a:avLst/>
          </a:prstGeom>
          <a:noFill/>
          <a:ln/>
        </p:spPr>
        <p:txBody>
          <a:bodyPr wrap="square" lIns="0" tIns="0" rIns="0" bIns="0" rtlCol="0" anchor="t"/>
          <a:lstStyle/>
          <a:p>
            <a:pPr indent="0" marL="0">
              <a:buNone/>
            </a:pPr>
            <a:r>
              <a:rPr lang="en-US" sz="1200" b="1" dirty="0">
                <a:solidFill>
                  <a:schemeClr val="accent6"/>
                </a:solidFill>
              </a:rPr>
              <a:t>O4</a:t>
            </a:r>
            <a:endParaRPr lang="en-US" sz="1200" dirty="0"/>
          </a:p>
        </p:txBody>
      </p:sp>
      <p:sp>
        <p:nvSpPr>
          <p:cNvPr id="21" name="text-703"/>
          <p:cNvSpPr txBox="1"/>
          <p:nvPr/>
        </p:nvSpPr>
        <p:spPr>
          <a:xfrm>
            <a:off x="5487772" y="1993392"/>
            <a:ext cx="1261872" cy="237744"/>
          </a:xfrm>
          <a:prstGeom prst="rect">
            <a:avLst/>
          </a:prstGeom>
          <a:noFill/>
          <a:ln/>
        </p:spPr>
        <p:txBody>
          <a:bodyPr wrap="square" lIns="0" tIns="0" rIns="0" bIns="0" rtlCol="0" anchor="t"/>
          <a:lstStyle/>
          <a:p>
            <a:pPr indent="0" marL="0">
              <a:buNone/>
            </a:pPr>
            <a:r>
              <a:rPr lang="en-US" sz="1150" dirty="0">
                <a:solidFill>
                  <a:schemeClr val="bg1"/>
                </a:solidFill>
              </a:rPr>
              <a:t>Causal model</a:t>
            </a:r>
            <a:endParaRPr lang="en-US" sz="1150" dirty="0"/>
          </a:p>
        </p:txBody>
      </p:sp>
      <p:sp>
        <p:nvSpPr>
          <p:cNvPr id="22" name="card-704"/>
          <p:cNvSpPr/>
          <p:nvPr/>
        </p:nvSpPr>
        <p:spPr>
          <a:xfrm>
            <a:off x="5487772" y="2286000"/>
            <a:ext cx="632765" cy="228600"/>
          </a:xfrm>
          <a:prstGeom prst="roundRect">
            <a:avLst>
              <a:gd name="adj" fmla="val 50000"/>
            </a:avLst>
          </a:prstGeom>
          <a:solidFill>
            <a:schemeClr val="accent2"/>
          </a:solidFill>
          <a:ln/>
        </p:spPr>
      </p:sp>
      <p:sp>
        <p:nvSpPr>
          <p:cNvPr id="23" name="text-705"/>
          <p:cNvSpPr txBox="1"/>
          <p:nvPr/>
        </p:nvSpPr>
        <p:spPr>
          <a:xfrm>
            <a:off x="5487772" y="2286000"/>
            <a:ext cx="632765" cy="228600"/>
          </a:xfrm>
          <a:prstGeom prst="rect">
            <a:avLst/>
          </a:prstGeom>
          <a:noFill/>
          <a:ln/>
        </p:spPr>
        <p:txBody>
          <a:bodyPr wrap="square" lIns="0" tIns="0" rIns="0" bIns="0" rtlCol="0" anchor="ctr"/>
          <a:lstStyle/>
          <a:p>
            <a:pPr algn="ctr" indent="0" marL="0">
              <a:buNone/>
            </a:pPr>
            <a:r>
              <a:rPr lang="en-US" sz="900" b="1" spc="50" kern="0" dirty="0">
                <a:solidFill>
                  <a:schemeClr val="tx1"/>
                </a:solidFill>
              </a:rPr>
              <a:t>PARTLY</a:t>
            </a:r>
            <a:endParaRPr lang="en-US" sz="900" dirty="0"/>
          </a:p>
        </p:txBody>
      </p:sp>
      <p:sp>
        <p:nvSpPr>
          <p:cNvPr id="24" name="card-706"/>
          <p:cNvSpPr/>
          <p:nvPr/>
        </p:nvSpPr>
        <p:spPr>
          <a:xfrm>
            <a:off x="6951269" y="1645920"/>
            <a:ext cx="1490472" cy="987552"/>
          </a:xfrm>
          <a:prstGeom prst="roundRect">
            <a:avLst>
              <a:gd name="adj" fmla="val 9259"/>
            </a:avLst>
          </a:prstGeom>
          <a:solidFill>
            <a:schemeClr val="accent5"/>
          </a:solidFill>
          <a:ln/>
        </p:spPr>
      </p:sp>
      <p:sp>
        <p:nvSpPr>
          <p:cNvPr id="25" name="text-707"/>
          <p:cNvSpPr txBox="1"/>
          <p:nvPr/>
        </p:nvSpPr>
        <p:spPr>
          <a:xfrm>
            <a:off x="7088429" y="1755648"/>
            <a:ext cx="548640" cy="219456"/>
          </a:xfrm>
          <a:prstGeom prst="rect">
            <a:avLst/>
          </a:prstGeom>
          <a:noFill/>
          <a:ln/>
        </p:spPr>
        <p:txBody>
          <a:bodyPr wrap="square" lIns="0" tIns="0" rIns="0" bIns="0" rtlCol="0" anchor="t"/>
          <a:lstStyle/>
          <a:p>
            <a:pPr indent="0" marL="0">
              <a:buNone/>
            </a:pPr>
            <a:r>
              <a:rPr lang="en-US" sz="1200" b="1" dirty="0">
                <a:solidFill>
                  <a:schemeClr val="accent6"/>
                </a:solidFill>
              </a:rPr>
              <a:t>O5</a:t>
            </a:r>
            <a:endParaRPr lang="en-US" sz="1200" dirty="0"/>
          </a:p>
        </p:txBody>
      </p:sp>
      <p:sp>
        <p:nvSpPr>
          <p:cNvPr id="26" name="text-708"/>
          <p:cNvSpPr txBox="1"/>
          <p:nvPr/>
        </p:nvSpPr>
        <p:spPr>
          <a:xfrm>
            <a:off x="7088429" y="1993392"/>
            <a:ext cx="1261872" cy="237744"/>
          </a:xfrm>
          <a:prstGeom prst="rect">
            <a:avLst/>
          </a:prstGeom>
          <a:noFill/>
          <a:ln/>
        </p:spPr>
        <p:txBody>
          <a:bodyPr wrap="square" lIns="0" tIns="0" rIns="0" bIns="0" rtlCol="0" anchor="t"/>
          <a:lstStyle/>
          <a:p>
            <a:pPr indent="0" marL="0">
              <a:buNone/>
            </a:pPr>
            <a:r>
              <a:rPr lang="en-US" sz="1150" dirty="0">
                <a:solidFill>
                  <a:schemeClr val="bg1"/>
                </a:solidFill>
              </a:rPr>
              <a:t>Provenance</a:t>
            </a:r>
            <a:endParaRPr lang="en-US" sz="1150" dirty="0"/>
          </a:p>
        </p:txBody>
      </p:sp>
      <p:sp>
        <p:nvSpPr>
          <p:cNvPr id="27" name="card-709"/>
          <p:cNvSpPr/>
          <p:nvPr/>
        </p:nvSpPr>
        <p:spPr>
          <a:xfrm>
            <a:off x="7088429" y="2286000"/>
            <a:ext cx="830275" cy="228600"/>
          </a:xfrm>
          <a:prstGeom prst="roundRect">
            <a:avLst>
              <a:gd name="adj" fmla="val 50000"/>
            </a:avLst>
          </a:prstGeom>
          <a:solidFill>
            <a:schemeClr val="accent3"/>
          </a:solidFill>
          <a:ln/>
        </p:spPr>
      </p:sp>
      <p:sp>
        <p:nvSpPr>
          <p:cNvPr id="28" name="text-710"/>
          <p:cNvSpPr txBox="1"/>
          <p:nvPr/>
        </p:nvSpPr>
        <p:spPr>
          <a:xfrm>
            <a:off x="7088429" y="2286000"/>
            <a:ext cx="830275" cy="228600"/>
          </a:xfrm>
          <a:prstGeom prst="rect">
            <a:avLst/>
          </a:prstGeom>
          <a:noFill/>
          <a:ln/>
        </p:spPr>
        <p:txBody>
          <a:bodyPr wrap="square" lIns="0" tIns="0" rIns="0" bIns="0" rtlCol="0" anchor="ctr"/>
          <a:lstStyle/>
          <a:p>
            <a:pPr algn="ctr" indent="0" marL="0">
              <a:buNone/>
            </a:pPr>
            <a:r>
              <a:rPr lang="en-US" sz="900" b="1" spc="50" kern="0" dirty="0">
                <a:solidFill>
                  <a:schemeClr val="bg1"/>
                </a:solidFill>
              </a:rPr>
              <a:t>DELIVERED</a:t>
            </a:r>
            <a:endParaRPr lang="en-US" sz="900" dirty="0"/>
          </a:p>
        </p:txBody>
      </p:sp>
      <p:sp>
        <p:nvSpPr>
          <p:cNvPr id="29" name="card-711"/>
          <p:cNvSpPr/>
          <p:nvPr/>
        </p:nvSpPr>
        <p:spPr>
          <a:xfrm>
            <a:off x="8551926" y="1645920"/>
            <a:ext cx="1490472" cy="987552"/>
          </a:xfrm>
          <a:prstGeom prst="roundRect">
            <a:avLst>
              <a:gd name="adj" fmla="val 9259"/>
            </a:avLst>
          </a:prstGeom>
          <a:solidFill>
            <a:schemeClr val="accent5"/>
          </a:solidFill>
          <a:ln/>
        </p:spPr>
      </p:sp>
      <p:sp>
        <p:nvSpPr>
          <p:cNvPr id="30" name="text-712"/>
          <p:cNvSpPr txBox="1"/>
          <p:nvPr/>
        </p:nvSpPr>
        <p:spPr>
          <a:xfrm>
            <a:off x="8689086" y="1755648"/>
            <a:ext cx="548640" cy="219456"/>
          </a:xfrm>
          <a:prstGeom prst="rect">
            <a:avLst/>
          </a:prstGeom>
          <a:noFill/>
          <a:ln/>
        </p:spPr>
        <p:txBody>
          <a:bodyPr wrap="square" lIns="0" tIns="0" rIns="0" bIns="0" rtlCol="0" anchor="t"/>
          <a:lstStyle/>
          <a:p>
            <a:pPr indent="0" marL="0">
              <a:buNone/>
            </a:pPr>
            <a:r>
              <a:rPr lang="en-US" sz="1200" b="1" dirty="0">
                <a:solidFill>
                  <a:schemeClr val="accent6"/>
                </a:solidFill>
              </a:rPr>
              <a:t>O6</a:t>
            </a:r>
            <a:endParaRPr lang="en-US" sz="1200" dirty="0"/>
          </a:p>
        </p:txBody>
      </p:sp>
      <p:sp>
        <p:nvSpPr>
          <p:cNvPr id="31" name="text-713"/>
          <p:cNvSpPr txBox="1"/>
          <p:nvPr/>
        </p:nvSpPr>
        <p:spPr>
          <a:xfrm>
            <a:off x="8689086" y="1993392"/>
            <a:ext cx="1261872" cy="237744"/>
          </a:xfrm>
          <a:prstGeom prst="rect">
            <a:avLst/>
          </a:prstGeom>
          <a:noFill/>
          <a:ln/>
        </p:spPr>
        <p:txBody>
          <a:bodyPr wrap="square" lIns="0" tIns="0" rIns="0" bIns="0" rtlCol="0" anchor="t"/>
          <a:lstStyle/>
          <a:p>
            <a:pPr indent="0" marL="0">
              <a:buNone/>
            </a:pPr>
            <a:r>
              <a:rPr lang="en-US" sz="1150" dirty="0">
                <a:solidFill>
                  <a:schemeClr val="bg1"/>
                </a:solidFill>
              </a:rPr>
              <a:t>Research tools</a:t>
            </a:r>
            <a:endParaRPr lang="en-US" sz="1150" dirty="0"/>
          </a:p>
        </p:txBody>
      </p:sp>
      <p:sp>
        <p:nvSpPr>
          <p:cNvPr id="32" name="card-714"/>
          <p:cNvSpPr/>
          <p:nvPr/>
        </p:nvSpPr>
        <p:spPr>
          <a:xfrm>
            <a:off x="8689086" y="2286000"/>
            <a:ext cx="896112" cy="228600"/>
          </a:xfrm>
          <a:prstGeom prst="roundRect">
            <a:avLst>
              <a:gd name="adj" fmla="val 50000"/>
            </a:avLst>
          </a:prstGeom>
          <a:solidFill>
            <a:schemeClr val="accent2"/>
          </a:solidFill>
          <a:ln/>
        </p:spPr>
      </p:sp>
      <p:sp>
        <p:nvSpPr>
          <p:cNvPr id="33" name="text-715"/>
          <p:cNvSpPr txBox="1"/>
          <p:nvPr/>
        </p:nvSpPr>
        <p:spPr>
          <a:xfrm>
            <a:off x="8689086" y="2286000"/>
            <a:ext cx="896112" cy="228600"/>
          </a:xfrm>
          <a:prstGeom prst="rect">
            <a:avLst/>
          </a:prstGeom>
          <a:noFill/>
          <a:ln/>
        </p:spPr>
        <p:txBody>
          <a:bodyPr wrap="square" lIns="0" tIns="0" rIns="0" bIns="0" rtlCol="0" anchor="ctr"/>
          <a:lstStyle/>
          <a:p>
            <a:pPr algn="ctr" indent="0" marL="0">
              <a:buNone/>
            </a:pPr>
            <a:r>
              <a:rPr lang="en-US" sz="900" b="1" spc="50" kern="0" dirty="0">
                <a:solidFill>
                  <a:schemeClr val="tx1"/>
                </a:solidFill>
              </a:rPr>
              <a:t>PROTOTYPES</a:t>
            </a:r>
            <a:endParaRPr lang="en-US" sz="900" dirty="0"/>
          </a:p>
        </p:txBody>
      </p:sp>
      <p:sp>
        <p:nvSpPr>
          <p:cNvPr id="34" name="card-716"/>
          <p:cNvSpPr/>
          <p:nvPr/>
        </p:nvSpPr>
        <p:spPr>
          <a:xfrm>
            <a:off x="10152583" y="1645920"/>
            <a:ext cx="1490472" cy="987552"/>
          </a:xfrm>
          <a:prstGeom prst="roundRect">
            <a:avLst>
              <a:gd name="adj" fmla="val 9259"/>
            </a:avLst>
          </a:prstGeom>
          <a:solidFill>
            <a:schemeClr val="accent5"/>
          </a:solidFill>
          <a:ln/>
        </p:spPr>
      </p:sp>
      <p:sp>
        <p:nvSpPr>
          <p:cNvPr id="35" name="text-717"/>
          <p:cNvSpPr txBox="1"/>
          <p:nvPr/>
        </p:nvSpPr>
        <p:spPr>
          <a:xfrm>
            <a:off x="10289743" y="1755648"/>
            <a:ext cx="548640" cy="219456"/>
          </a:xfrm>
          <a:prstGeom prst="rect">
            <a:avLst/>
          </a:prstGeom>
          <a:noFill/>
          <a:ln/>
        </p:spPr>
        <p:txBody>
          <a:bodyPr wrap="square" lIns="0" tIns="0" rIns="0" bIns="0" rtlCol="0" anchor="t"/>
          <a:lstStyle/>
          <a:p>
            <a:pPr indent="0" marL="0">
              <a:buNone/>
            </a:pPr>
            <a:r>
              <a:rPr lang="en-US" sz="1200" b="1" dirty="0">
                <a:solidFill>
                  <a:schemeClr val="accent6"/>
                </a:solidFill>
              </a:rPr>
              <a:t>O7</a:t>
            </a:r>
            <a:endParaRPr lang="en-US" sz="1200" dirty="0"/>
          </a:p>
        </p:txBody>
      </p:sp>
      <p:sp>
        <p:nvSpPr>
          <p:cNvPr id="36" name="text-718"/>
          <p:cNvSpPr txBox="1"/>
          <p:nvPr/>
        </p:nvSpPr>
        <p:spPr>
          <a:xfrm>
            <a:off x="10289743" y="1993392"/>
            <a:ext cx="1261872" cy="237744"/>
          </a:xfrm>
          <a:prstGeom prst="rect">
            <a:avLst/>
          </a:prstGeom>
          <a:noFill/>
          <a:ln/>
        </p:spPr>
        <p:txBody>
          <a:bodyPr wrap="square" lIns="0" tIns="0" rIns="0" bIns="0" rtlCol="0" anchor="t"/>
          <a:lstStyle/>
          <a:p>
            <a:pPr indent="0" marL="0">
              <a:buNone/>
            </a:pPr>
            <a:r>
              <a:rPr lang="en-US" sz="1150" dirty="0">
                <a:solidFill>
                  <a:schemeClr val="bg1"/>
                </a:solidFill>
              </a:rPr>
              <a:t>Interface</a:t>
            </a:r>
            <a:endParaRPr lang="en-US" sz="1150" dirty="0"/>
          </a:p>
        </p:txBody>
      </p:sp>
      <p:sp>
        <p:nvSpPr>
          <p:cNvPr id="37" name="card-719"/>
          <p:cNvSpPr/>
          <p:nvPr/>
        </p:nvSpPr>
        <p:spPr>
          <a:xfrm>
            <a:off x="10289743" y="2286000"/>
            <a:ext cx="830275" cy="228600"/>
          </a:xfrm>
          <a:prstGeom prst="roundRect">
            <a:avLst>
              <a:gd name="adj" fmla="val 50000"/>
            </a:avLst>
          </a:prstGeom>
          <a:solidFill>
            <a:schemeClr val="accent3"/>
          </a:solidFill>
          <a:ln/>
        </p:spPr>
      </p:sp>
      <p:sp>
        <p:nvSpPr>
          <p:cNvPr id="38" name="text-720"/>
          <p:cNvSpPr txBox="1"/>
          <p:nvPr/>
        </p:nvSpPr>
        <p:spPr>
          <a:xfrm>
            <a:off x="10289743" y="2286000"/>
            <a:ext cx="830275" cy="228600"/>
          </a:xfrm>
          <a:prstGeom prst="rect">
            <a:avLst/>
          </a:prstGeom>
          <a:noFill/>
          <a:ln/>
        </p:spPr>
        <p:txBody>
          <a:bodyPr wrap="square" lIns="0" tIns="0" rIns="0" bIns="0" rtlCol="0" anchor="ctr"/>
          <a:lstStyle/>
          <a:p>
            <a:pPr algn="ctr" indent="0" marL="0">
              <a:buNone/>
            </a:pPr>
            <a:r>
              <a:rPr lang="en-US" sz="900" b="1" spc="50" kern="0" dirty="0">
                <a:solidFill>
                  <a:schemeClr val="bg1"/>
                </a:solidFill>
              </a:rPr>
              <a:t>DELIVERED</a:t>
            </a:r>
            <a:endParaRPr lang="en-US" sz="900" dirty="0"/>
          </a:p>
        </p:txBody>
      </p:sp>
      <p:sp>
        <p:nvSpPr>
          <p:cNvPr id="39" name="text-721"/>
          <p:cNvSpPr txBox="1"/>
          <p:nvPr/>
        </p:nvSpPr>
        <p:spPr>
          <a:xfrm>
            <a:off x="548640" y="2926080"/>
            <a:ext cx="7178040" cy="1691640"/>
          </a:xfrm>
          <a:prstGeom prst="rect">
            <a:avLst/>
          </a:prstGeom>
          <a:noFill/>
          <a:ln/>
        </p:spPr>
        <p:txBody>
          <a:bodyPr wrap="square" lIns="0" tIns="0" rIns="0" bIns="0" rtlCol="0" anchor="t"/>
          <a:lstStyle/>
          <a:p>
            <a:pPr indent="0" marL="0">
              <a:buNone/>
            </a:pPr>
            <a:r>
              <a:rPr lang="en-US" sz="2100" i="1" dirty="0">
                <a:solidFill>
                  <a:schemeClr val="bg1"/>
                </a:solidFill>
                <a:latin typeface="+mj-lt" pitchFamily="34" charset="0"/>
                <a:ea typeface="+mj-lt" pitchFamily="34" charset="-122"/>
                <a:cs typeface="+mj-lt" pitchFamily="34" charset="-120"/>
              </a:rPr>
              <a:t>Responsibility for each number lies with one agent, every number travels with its source, and missing evidence is reported openly, while the platform’s own audit shows how much of the causal reasoning still rests on assumptions.</a:t>
            </a:r>
            <a:endParaRPr lang="en-US" sz="2100" dirty="0"/>
          </a:p>
        </p:txBody>
      </p:sp>
      <p:sp>
        <p:nvSpPr>
          <p:cNvPr id="40" name="card-722"/>
          <p:cNvSpPr/>
          <p:nvPr/>
        </p:nvSpPr>
        <p:spPr>
          <a:xfrm>
            <a:off x="8183880" y="2926080"/>
            <a:ext cx="3459175" cy="1463040"/>
          </a:xfrm>
          <a:prstGeom prst="roundRect">
            <a:avLst>
              <a:gd name="adj" fmla="val 7500"/>
            </a:avLst>
          </a:prstGeom>
          <a:solidFill>
            <a:schemeClr val="accent5"/>
          </a:solidFill>
          <a:ln/>
        </p:spPr>
      </p:sp>
      <p:sp>
        <p:nvSpPr>
          <p:cNvPr id="41" name="text-723"/>
          <p:cNvSpPr txBox="1"/>
          <p:nvPr/>
        </p:nvSpPr>
        <p:spPr>
          <a:xfrm>
            <a:off x="8412480" y="3072384"/>
            <a:ext cx="2743200" cy="219456"/>
          </a:xfrm>
          <a:prstGeom prst="rect">
            <a:avLst/>
          </a:prstGeom>
          <a:noFill/>
          <a:ln/>
        </p:spPr>
        <p:txBody>
          <a:bodyPr wrap="square" lIns="0" tIns="0" rIns="0" bIns="0" rtlCol="0" anchor="t"/>
          <a:lstStyle/>
          <a:p>
            <a:pPr indent="0" marL="0">
              <a:buNone/>
            </a:pPr>
            <a:r>
              <a:rPr lang="en-US" sz="1100" b="1" spc="200" kern="0" dirty="0">
                <a:solidFill>
                  <a:schemeClr val="accent6"/>
                </a:solidFill>
              </a:rPr>
              <a:t>NEXT</a:t>
            </a:r>
            <a:endParaRPr lang="en-US" sz="1100" dirty="0"/>
          </a:p>
        </p:txBody>
      </p:sp>
      <p:sp>
        <p:nvSpPr>
          <p:cNvPr id="42" name="text-724"/>
          <p:cNvSpPr txBox="1"/>
          <p:nvPr/>
        </p:nvSpPr>
        <p:spPr>
          <a:xfrm>
            <a:off x="8412480" y="3383280"/>
            <a:ext cx="3108960" cy="1097280"/>
          </a:xfrm>
          <a:prstGeom prst="rect">
            <a:avLst/>
          </a:prstGeom>
          <a:noFill/>
          <a:ln/>
        </p:spPr>
        <p:txBody>
          <a:bodyPr wrap="square" lIns="0" tIns="0" rIns="0" bIns="0" rtlCol="0" anchor="t"/>
          <a:lstStyle/>
          <a:p>
            <a:pPr indent="0" marL="0">
              <a:spcAft>
                <a:spcPts val="600"/>
              </a:spcAft>
              <a:buNone/>
            </a:pPr>
            <a:r>
              <a:rPr lang="en-US" sz="1300" dirty="0">
                <a:solidFill>
                  <a:schemeClr val="bg1"/>
                </a:solidFill>
              </a:rPr>
              <a:t>1   Verify every claim before it is shown</a:t>
            </a:r>
            <a:endParaRPr lang="en-US" sz="1300" dirty="0"/>
          </a:p>
          <a:p>
            <a:pPr indent="0" marL="0">
              <a:spcAft>
                <a:spcPts val="600"/>
              </a:spcAft>
              <a:buNone/>
            </a:pPr>
            <a:r>
              <a:rPr lang="en-US" sz="1300" dirty="0">
                <a:solidFill>
                  <a:schemeClr val="bg1"/>
                </a:solidFill>
              </a:rPr>
              <a:t>2   Estimate edges from long series</a:t>
            </a:r>
            <a:endParaRPr lang="en-US" sz="1300" dirty="0"/>
          </a:p>
          <a:p>
            <a:pPr indent="0" marL="0">
              <a:spcAft>
                <a:spcPts val="600"/>
              </a:spcAft>
              <a:buNone/>
            </a:pPr>
            <a:r>
              <a:rPr lang="en-US" sz="1300" dirty="0">
                <a:solidFill>
                  <a:schemeClr val="bg1"/>
                </a:solidFill>
              </a:rPr>
              <a:t>3   Benchmark against five baselines</a:t>
            </a:r>
            <a:endParaRPr lang="en-US" sz="1300" dirty="0"/>
          </a:p>
        </p:txBody>
      </p:sp>
      <p:sp>
        <p:nvSpPr>
          <p:cNvPr id="43" name="text-725"/>
          <p:cNvSpPr txBox="1"/>
          <p:nvPr/>
        </p:nvSpPr>
        <p:spPr>
          <a:xfrm>
            <a:off x="548640" y="4892040"/>
            <a:ext cx="5029200" cy="731520"/>
          </a:xfrm>
          <a:prstGeom prst="rect">
            <a:avLst/>
          </a:prstGeom>
          <a:noFill/>
          <a:ln/>
        </p:spPr>
        <p:txBody>
          <a:bodyPr wrap="square" lIns="0" tIns="0" rIns="0" bIns="0" rtlCol="0" anchor="t"/>
          <a:lstStyle/>
          <a:p>
            <a:pPr indent="0" marL="0">
              <a:buNone/>
            </a:pPr>
            <a:r>
              <a:rPr lang="en-US" sz="4400" b="1" dirty="0">
                <a:solidFill>
                  <a:schemeClr val="bg1"/>
                </a:solidFill>
                <a:latin typeface="+mj-lt" pitchFamily="34" charset="0"/>
                <a:ea typeface="+mj-lt" pitchFamily="34" charset="-122"/>
                <a:cs typeface="+mj-lt" pitchFamily="34" charset="-120"/>
              </a:rPr>
              <a:t>Thank you</a:t>
            </a:r>
            <a:endParaRPr lang="en-US" sz="4400" dirty="0"/>
          </a:p>
        </p:txBody>
      </p:sp>
      <p:sp>
        <p:nvSpPr>
          <p:cNvPr id="44" name="text-726"/>
          <p:cNvSpPr txBox="1"/>
          <p:nvPr/>
        </p:nvSpPr>
        <p:spPr>
          <a:xfrm>
            <a:off x="548640" y="5650992"/>
            <a:ext cx="5029200" cy="292608"/>
          </a:xfrm>
          <a:prstGeom prst="rect">
            <a:avLst/>
          </a:prstGeom>
          <a:noFill/>
          <a:ln/>
        </p:spPr>
        <p:txBody>
          <a:bodyPr wrap="square" lIns="0" tIns="0" rIns="0" bIns="0" rtlCol="0" anchor="t"/>
          <a:lstStyle/>
          <a:p>
            <a:pPr indent="0" marL="0">
              <a:buNone/>
            </a:pPr>
            <a:r>
              <a:rPr lang="en-US" sz="1500" dirty="0">
                <a:solidFill>
                  <a:schemeClr val="accent6"/>
                </a:solidFill>
              </a:rPr>
              <a:t>Questions and discussion welcome</a:t>
            </a:r>
            <a:endParaRPr lang="en-US" sz="1500" dirty="0"/>
          </a:p>
        </p:txBody>
      </p:sp>
      <p:pic>
        <p:nvPicPr>
          <p:cNvPr id="45" name="icon-727" descr="GitHub">    </p:cNvPr>
          <p:cNvPicPr>
            <a:picLocks noChangeAspect="1"/>
          </p:cNvPicPr>
          <p:nvPr/>
        </p:nvPicPr>
        <p:blipFill>
          <a:blip r:embed="rId1"/>
          <a:stretch>
            <a:fillRect/>
          </a:stretch>
        </p:blipFill>
        <p:spPr>
          <a:xfrm>
            <a:off x="7498080" y="5138928"/>
            <a:ext cx="292608" cy="292608"/>
          </a:xfrm>
          <a:prstGeom prst="rect">
            <a:avLst/>
          </a:prstGeom>
        </p:spPr>
      </p:pic>
      <p:sp>
        <p:nvSpPr>
          <p:cNvPr id="46" name="text-728"/>
          <p:cNvSpPr txBox="1"/>
          <p:nvPr/>
        </p:nvSpPr>
        <p:spPr>
          <a:xfrm>
            <a:off x="7882128" y="5102352"/>
            <a:ext cx="3749040" cy="365760"/>
          </a:xfrm>
          <a:prstGeom prst="rect">
            <a:avLst/>
          </a:prstGeom>
          <a:noFill/>
          <a:ln/>
        </p:spPr>
        <p:txBody>
          <a:bodyPr wrap="square" lIns="0" tIns="0" rIns="0" bIns="0" rtlCol="0" anchor="ctr"/>
          <a:lstStyle/>
          <a:p>
            <a:pPr indent="0" marL="0">
              <a:buNone/>
            </a:pPr>
            <a:r>
              <a:rPr lang="en-US" sz="1400" dirty="0">
                <a:solidFill>
                  <a:schemeClr val="bg1"/>
                </a:solidFill>
              </a:rPr>
              <a:t>github.com/Hariprasaadh/macrograph-ai</a:t>
            </a:r>
            <a:endParaRPr lang="en-US" sz="1400" dirty="0"/>
          </a:p>
        </p:txBody>
      </p:sp>
      <p:sp>
        <p:nvSpPr>
          <p:cNvPr id="47" name="text-729"/>
          <p:cNvSpPr txBox="1"/>
          <p:nvPr/>
        </p:nvSpPr>
        <p:spPr>
          <a:xfrm>
            <a:off x="7882128" y="5486400"/>
            <a:ext cx="3749040" cy="292608"/>
          </a:xfrm>
          <a:prstGeom prst="rect">
            <a:avLst/>
          </a:prstGeom>
          <a:noFill/>
          <a:ln/>
        </p:spPr>
        <p:txBody>
          <a:bodyPr wrap="square" lIns="0" tIns="0" rIns="0" bIns="0" rtlCol="0" anchor="ctr"/>
          <a:lstStyle/>
          <a:p>
            <a:pPr indent="0" marL="0">
              <a:buNone/>
            </a:pPr>
            <a:r>
              <a:rPr lang="en-US" sz="1250" dirty="0">
                <a:solidFill>
                  <a:schemeClr val="bg1">
                    <a:alpha val="70000"/>
                  </a:schemeClr>
                </a:solidFill>
              </a:rPr>
              <a:t>Hariprasaadh K  ·  23BAI1061  ·  VIT Chennai</a:t>
            </a:r>
            <a:endParaRPr lang="en-US" sz="1250" dirty="0"/>
          </a:p>
        </p:txBody>
      </p:sp>
      <p:sp>
        <p:nvSpPr>
          <p:cNvPr id="25" name="Slide Number Placeholder 0"/>
          <p:cNvSpPr>
            <a:spLocks noGrp="1"/>
          </p:cNvSpPr>
          <p:nvPr>
            <p:ph type="sldNum" sz="quarter" idx="4294967295"/>
          </p:nvPr>
        </p:nvSpPr>
        <p:spPr>
          <a:xfrm>
            <a:off x="11091672" y="644652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FFFFFF"/>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Macrograph">
  <a:themeElements>
    <a:clrScheme name="Macrograph">
      <a:dk1>
        <a:srgbClr val="0B1630"/>
      </a:dk1>
      <a:lt1>
        <a:srgbClr val="FFFFFF"/>
      </a:lt1>
      <a:dk2>
        <a:srgbClr val="51607A"/>
      </a:dk2>
      <a:lt2>
        <a:srgbClr val="EFF3F8"/>
      </a:lt2>
      <a:accent1>
        <a:srgbClr val="0F766E"/>
      </a:accent1>
      <a:accent2>
        <a:srgbClr val="F59E0B"/>
      </a:accent2>
      <a:accent3>
        <a:srgbClr val="15803D"/>
      </a:accent3>
      <a:accent4>
        <a:srgbClr val="DC2626"/>
      </a:accent4>
      <a:accent5>
        <a:srgbClr val="172A4E"/>
      </a:accent5>
      <a:accent6>
        <a:srgbClr val="5EEAD4"/>
      </a:accent6>
      <a:hlink>
        <a:srgbClr val="0F766E"/>
      </a:hlink>
      <a:folHlink>
        <a:srgbClr val="51607A"/>
      </a:folHlink>
    </a:clrScheme>
    <a:fontScheme name="Macrograp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VIT Chennai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Macrograph AI</dc:title>
  <dc:subject>B.Tech final year project presentation</dc:subject>
  <dc:creator>Hariprasaadh K</dc:creator>
  <cp:lastModifiedBy>Hariprasaadh K</cp:lastModifiedBy>
  <cp:revision>1</cp:revision>
  <dcterms:created xsi:type="dcterms:W3CDTF">2026-10-17T18:10:29Z</dcterms:created>
  <dcterms:modified xsi:type="dcterms:W3CDTF">2026-10-17T18:10:29Z</dcterms:modified>
</cp:coreProperties>
</file>